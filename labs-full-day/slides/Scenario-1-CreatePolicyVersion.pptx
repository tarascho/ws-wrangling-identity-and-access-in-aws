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8"/>
    <p:sldId id="257" r:id="rId19"/>
    <p:sldId id="258" r:id="rId20"/>
    <p:sldId id="259" r:id="rId21"/>
    <p:sldId id="260" r:id="rId22"/>
  </p:sldIdLst>
  <p:sldSz cy="10287000" cx="18288000"/>
  <p:notesSz cx="6858000" cy="9144000"/>
  <p:embeddedFontLst>
    <p:embeddedFont>
      <p:font typeface="Arim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Assistant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u3iHEyULb6y8uBKm1Lf/FTOz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643B1D-9803-458B-AC4E-7CA0FF1CF9E7}">
  <a:tblStyle styleId="{79643B1D-9803-458B-AC4E-7CA0FF1CF9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30" Type="http://schemas.openxmlformats.org/officeDocument/2006/relationships/font" Target="fonts/Arimo-regular.fntdata"/><Relationship Id="rId31" Type="http://schemas.openxmlformats.org/officeDocument/2006/relationships/font" Target="fonts/Arimo-bold.fntdata"/><Relationship Id="rId32" Type="http://schemas.openxmlformats.org/officeDocument/2006/relationships/font" Target="fonts/Arimo-italic.fntdata"/><Relationship Id="rId33" Type="http://schemas.openxmlformats.org/officeDocument/2006/relationships/font" Target="fonts/Arimo-boldItalic.fntdata"/><Relationship Id="rId34" Type="http://schemas.openxmlformats.org/officeDocument/2006/relationships/font" Target="fonts/Montserrat-regular.fntdata"/><Relationship Id="rId35" Type="http://schemas.openxmlformats.org/officeDocument/2006/relationships/font" Target="fonts/Montserrat-bold.fntdata"/><Relationship Id="rId36" Type="http://schemas.openxmlformats.org/officeDocument/2006/relationships/font" Target="fonts/Montserrat-italic.fntdata"/><Relationship Id="rId37" Type="http://schemas.openxmlformats.org/officeDocument/2006/relationships/font" Target="fonts/Montserrat-boldItalic.fntdata"/><Relationship Id="rId38" Type="http://schemas.openxmlformats.org/officeDocument/2006/relationships/font" Target="fonts/Assistant-regular.fntdata"/><Relationship Id="rId39" Type="http://schemas.openxmlformats.org/officeDocument/2006/relationships/font" Target="fonts/Assistant-bold.fntdata"/><Relationship Id="rId4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C6D26"/>
                </a:solidFill>
                <a:latin typeface="Assistant"/>
              </a:rPr>
              <a:t>SCENARIO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7190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0" b="1">
                <a:solidFill>
                  <a:srgbClr val="FFFFFF"/>
                </a:solidFill>
                <a:latin typeface="Assistant"/>
              </a:rPr>
              <a:t>Self-Service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577840"/>
            <a:ext cx="1719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ssistant"/>
              </a:rPr>
              <a:t>Privilege escalation via </a:t>
            </a:r>
            <a:r>
              <a:rPr sz="4200" b="1">
                <a:solidFill>
                  <a:srgbClr val="FC6D26"/>
                </a:solidFill>
                <a:latin typeface="Assistant"/>
              </a:rPr>
              <a:t>iam:CreatePolicyVersion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0"/>
            <a:ext cx="1719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onsolas"/>
              </a:rPr>
              <a:t>STARTING IDENTITY  </a:t>
            </a:r>
            <a:r>
              <a:rPr sz="1600" b="0">
                <a:solidFill>
                  <a:srgbClr val="CBD5E1"/>
                </a:solidFill>
                <a:latin typeface="Consolas"/>
              </a:rPr>
              <a:t>user/iamws-policy-developer-user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TARGET  </a:t>
            </a:r>
            <a:r>
              <a:rPr sz="1600" b="0">
                <a:solidFill>
                  <a:srgbClr val="CBD5E1"/>
                </a:solidFill>
                <a:latin typeface="Consolas"/>
              </a:rPr>
              <a:t>crown jewels in S3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CATEGORY  </a:t>
            </a:r>
            <a:r>
              <a:rPr sz="1600" b="0">
                <a:solidFill>
                  <a:srgbClr val="CBD5E1"/>
                </a:solidFill>
                <a:latin typeface="Consolas"/>
              </a:rPr>
              <a:t>Self-Escalation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7190720" cy="731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A platform engineer owns </a:t>
            </a:r>
            <a:r>
              <a:rPr sz="3000" b="1">
                <a:solidFill>
                  <a:srgbClr val="FC6D26"/>
                </a:solidFill>
                <a:latin typeface="Assistant"/>
              </a:rPr>
              <a:t>developer-tools-policy</a:t>
            </a:r>
            <a:r>
              <a:rPr sz="3000" b="1">
                <a:solidFill>
                  <a:srgbClr val="FFFFFF"/>
                </a:solidFill>
                <a:latin typeface="Assistant"/>
              </a:rPr>
              <a:t> — the customer-managed policy the platform team attaches to every engineer's user, including their own, for SDK access, logging, and ECR pulls.</a:t>
            </a:r>
          </a:p>
          <a:p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They have </a:t>
            </a:r>
            <a:r>
              <a:rPr sz="3000" b="1">
                <a:solidFill>
                  <a:srgbClr val="FC6D26"/>
                </a:solidFill>
                <a:latin typeface="Assistant"/>
              </a:rPr>
              <a:t>iam:CreatePolicyVersion</a:t>
            </a:r>
            <a:r>
              <a:rPr sz="3000" b="1">
                <a:solidFill>
                  <a:srgbClr val="FFFFFF"/>
                </a:solidFill>
                <a:latin typeface="Assistant"/>
              </a:rPr>
              <a:t> on it so they can ship updates without filing a security ticket every time the team needs a new permission.</a:t>
            </a:r>
          </a:p>
          <a:p/>
          <a:p>
            <a:pPr algn="l"/>
            <a:r>
              <a:rPr sz="1400" b="0">
                <a:solidFill>
                  <a:srgbClr val="FFFFFF"/>
                </a:solidFill>
                <a:latin typeface="Assistant"/>
              </a:rPr>
              <a:t/>
            </a:r>
          </a:p>
          <a:p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Security signed off on the original policy and treats versioning as routine maintenance.</a:t>
            </a:r>
          </a:p>
          <a:p/>
          <a:p>
            <a:pPr algn="l">
              <a:lnSpc>
                <a:spcPct val="125000"/>
              </a:lnSpc>
            </a:pPr>
            <a:r>
              <a:rPr sz="3000" b="1">
                <a:solidFill>
                  <a:srgbClr val="94A3B8"/>
                </a:solidFill>
                <a:latin typeface="Assistant"/>
              </a:rPr>
              <a:t>From the engineer's seat, every permission they grant the team also lands on their own user.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The misconfiguration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iamws-developer-tools-policy</a:t>
            </a:r>
            <a:r>
              <a:rPr sz="2200" b="0">
                <a:solidFill>
                  <a:srgbClr val="94A3B8"/>
                </a:solidFill>
                <a:latin typeface="Consolas"/>
              </a:rPr>
              <a:t>  —  attached to the engineer's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Assistant"/>
              </a:rPr>
              <a:t>v1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currently the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71800"/>
            <a:ext cx="822960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6440" y="3149600"/>
            <a:ext cx="787400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"Version": "2012-10-17",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"Statement": [{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"Sid": "AllowDeveloperTools",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"Effect": "Allow",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"Action": [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  </a:t>
            </a:r>
            <a:r>
              <a:rPr sz="2200">
                <a:solidFill>
                  <a:srgbClr val="22D3EE"/>
                </a:solidFill>
                <a:latin typeface="Consolas"/>
              </a:rPr>
              <a:t>"ec2:DescribeInstances"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],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"Resource": "*"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}]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1381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94A3B8"/>
                </a:solidFill>
                <a:latin typeface="Assistant"/>
              </a:rPr>
              <a:t>Read-only EC2 — limited.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23960" y="4846320"/>
            <a:ext cx="640080" cy="548640"/>
          </a:xfrm>
          <a:prstGeom prst="rightArrow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0" y="23774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7171"/>
                </a:solidFill>
                <a:latin typeface="Assistant"/>
              </a:rPr>
              <a:t>v2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created by the attacker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2971800"/>
            <a:ext cx="822960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87560" y="3149600"/>
            <a:ext cx="787400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"Version": "2012-10-17",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"Statement": [{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"Effect": "Allow",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"Action": </a:t>
            </a:r>
            <a:r>
              <a:rPr sz="2200">
                <a:solidFill>
                  <a:srgbClr val="F87171"/>
                </a:solidFill>
                <a:latin typeface="Consolas"/>
              </a:rPr>
              <a:t>"*"</a:t>
            </a:r>
            <a:r>
              <a:rPr sz="22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"Resource": </a:t>
            </a:r>
            <a:r>
              <a:rPr sz="2200">
                <a:solidFill>
                  <a:srgbClr val="F87171"/>
                </a:solidFill>
                <a:latin typeface="Consolas"/>
              </a:rPr>
              <a:t>"*"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}]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81381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94A3B8"/>
                </a:solidFill>
                <a:latin typeface="Assistant"/>
              </a:rPr>
              <a:t>Full administrator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905256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The engineer also holds </a:t>
            </a:r>
            <a:r>
              <a:rPr sz="2200" b="1">
                <a:solidFill>
                  <a:srgbClr val="FC6D26"/>
                </a:solidFill>
                <a:latin typeface="Assistant"/>
              </a:rPr>
              <a:t>iam:CreatePolicyVersion</a:t>
            </a:r>
            <a:r>
              <a:rPr sz="2200" b="1">
                <a:solidFill>
                  <a:srgbClr val="FFFFFF"/>
                </a:solidFill>
                <a:latin typeface="Assistant"/>
              </a:rPr>
              <a:t> with </a:t>
            </a:r>
            <a:r>
              <a:rPr sz="2200" b="1">
                <a:solidFill>
                  <a:srgbClr val="FC6D26"/>
                </a:solidFill>
                <a:latin typeface="Assistant"/>
              </a:rPr>
              <a:t>Resource: "*"</a:t>
            </a:r>
            <a:r>
              <a:rPr sz="2200" b="1">
                <a:solidFill>
                  <a:srgbClr val="FFFFFF"/>
                </a:solidFill>
                <a:latin typeface="Assistant"/>
              </a:rPr>
              <a:t> — so v1 → v2 is one API call away, and </a:t>
            </a:r>
            <a:r>
              <a:rPr sz="2200" b="1">
                <a:solidFill>
                  <a:srgbClr val="FC6D26"/>
                </a:solidFill>
                <a:latin typeface="Assistant"/>
              </a:rPr>
              <a:t>the policy is attached to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Privilege escalation path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488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Write a v2 policy that allows *:*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0632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Set the new version as default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9776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Walk into the crown jewels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12080"/>
            <a:ext cx="9692640" cy="237744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6440" y="5389880"/>
            <a:ext cx="9337040" cy="202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aws iam </a:t>
            </a:r>
            <a:r>
              <a:rPr sz="1800">
                <a:solidFill>
                  <a:srgbClr val="22D3EE"/>
                </a:solidFill>
                <a:latin typeface="Consolas"/>
              </a:rPr>
              <a:t>create-policy-version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--policy-arn </a:t>
            </a:r>
            <a:r>
              <a:rPr sz="1800">
                <a:solidFill>
                  <a:srgbClr val="A78BFA"/>
                </a:solidFill>
                <a:latin typeface="Consolas"/>
              </a:rPr>
              <a:t>arn:aws:iam::ACCT:policy/developer-tools-policy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--policy-document </a:t>
            </a:r>
            <a:r>
              <a:rPr sz="1800">
                <a:solidFill>
                  <a:srgbClr val="F87171"/>
                </a:solidFill>
                <a:latin typeface="Consolas"/>
              </a:rPr>
              <a:t>'{... "Action":"*", "Resource":"*" ...}'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--set-as-default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7724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94A3B8"/>
                </a:solidFill>
                <a:latin typeface="Assistant"/>
              </a:rPr>
              <a:t>No new principal, no role chaining, no PassRole. Just a version bump on a policy the user already has on their 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07040" y="2103120"/>
            <a:ext cx="7132320" cy="6858000"/>
          </a:xfrm>
          <a:prstGeom prst="rect">
            <a:avLst/>
          </a:prstGeom>
          <a:solidFill>
            <a:srgbClr val="0F172A"/>
          </a:solidFill>
          <a:ln w="2540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07040" y="2103120"/>
            <a:ext cx="71323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ssistant"/>
              </a:rPr>
              <a:t>[ INSERT pathfinding.cloud</a:t>
            </a:r>
          </a:p>
          <a:p/>
          <a:p>
            <a:pPr algn="ctr"/>
            <a:r>
              <a:rPr sz="2400" b="1">
                <a:solidFill>
                  <a:srgbClr val="94A3B8"/>
                </a:solidFill>
                <a:latin typeface="Assistant"/>
              </a:rPr>
              <a:t>diagram for </a:t>
            </a:r>
            <a:r>
              <a:rPr sz="2400" b="1">
                <a:solidFill>
                  <a:srgbClr val="FC6D26"/>
                </a:solidFill>
                <a:latin typeface="Assistant"/>
              </a:rPr>
              <a:t>iam-001</a:t>
            </a:r>
            <a:r>
              <a:rPr sz="2400" b="1">
                <a:solidFill>
                  <a:srgbClr val="94A3B8"/>
                </a:solidFill>
                <a:latin typeface="Assistant"/>
              </a:rPr>
              <a:t> ]</a:t>
            </a:r>
          </a:p>
          <a:p/>
          <a:p>
            <a:pPr algn="l"/>
            <a:r>
              <a:rPr sz="1000" b="0">
                <a:solidFill>
                  <a:srgbClr val="94A3B8"/>
                </a:solidFill>
                <a:latin typeface="Assistant"/>
              </a:rPr>
              <a:t/>
            </a:r>
          </a:p>
          <a:p/>
          <a:p>
            <a:pPr algn="ctr"/>
            <a:r>
              <a:rPr sz="1600" b="0">
                <a:solidFill>
                  <a:srgbClr val="CBD5E1"/>
                </a:solidFill>
                <a:latin typeface="Consolas"/>
              </a:rPr>
              <a:t>https://www.pathfinding.cloud/paths/iam-001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Similar API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719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ssistant"/>
              </a:rPr>
              <a:t>CreatePolicyVersion is one of several IAM verbs that all yield the same outcome: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C6D26"/>
                </a:solidFill>
                <a:latin typeface="Assistant"/>
              </a:rPr>
              <a:t>"if you can mutate any IAM thing attached to yourself, you are admin."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3291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WHAT IT GIVES THE ATTACKER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46600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8404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iam:CreatePolicyVersion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84048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Bump a managed policy attached to your user / role / group.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278120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457200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iam:PutUserPolicy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57200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Inline-attach a new admin statement to your own user.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009640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530352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iam:PutRolePolicy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30352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Inline-attach to a role you can already assume.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741160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03504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iam:AttachUserPolicy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603504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Attach AdministratorAccess (or any policy) to your user.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iam:UpdateAssumeRolePolicy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676656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Rewrite a privileged role's trust policy to trust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877824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The right defense isn't blocking individual verbs — it's a </a:t>
            </a:r>
            <a:r>
              <a:rPr sz="2200" b="1">
                <a:solidFill>
                  <a:srgbClr val="FC6D26"/>
                </a:solidFill>
                <a:latin typeface="Assistant"/>
              </a:rPr>
              <a:t>permissions boundary</a:t>
            </a:r>
            <a:r>
              <a:rPr sz="2200" b="1">
                <a:solidFill>
                  <a:srgbClr val="FFFFFF"/>
                </a:solidFill>
                <a:latin typeface="Assistant"/>
              </a:rPr>
              <a:t> that caps what the user can do regardless of what their identity policy says. We'll do that hands-on at 11:15.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