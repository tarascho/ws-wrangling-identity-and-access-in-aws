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8"/>
    <p:sldId id="257" r:id="rId19"/>
    <p:sldId id="258" r:id="rId20"/>
    <p:sldId id="259" r:id="rId21"/>
    <p:sldId id="260" r:id="rId22"/>
  </p:sldIdLst>
  <p:sldSz cy="10287000" cx="18288000"/>
  <p:notesSz cx="6858000" cy="9144000"/>
  <p:embeddedFontLst>
    <p:embeddedFont>
      <p:font typeface="Arim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Assistan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u3iHEyULb6y8uBKm1Lf/FTOz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643B1D-9803-458B-AC4E-7CA0FF1CF9E7}">
  <a:tblStyle styleId="{79643B1D-9803-458B-AC4E-7CA0FF1CF9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30" Type="http://schemas.openxmlformats.org/officeDocument/2006/relationships/font" Target="fonts/Arimo-regular.fntdata"/><Relationship Id="rId31" Type="http://schemas.openxmlformats.org/officeDocument/2006/relationships/font" Target="fonts/Arimo-bold.fntdata"/><Relationship Id="rId32" Type="http://schemas.openxmlformats.org/officeDocument/2006/relationships/font" Target="fonts/Arimo-italic.fntdata"/><Relationship Id="rId33" Type="http://schemas.openxmlformats.org/officeDocument/2006/relationships/font" Target="fonts/Arimo-boldItalic.fntdata"/><Relationship Id="rId34" Type="http://schemas.openxmlformats.org/officeDocument/2006/relationships/font" Target="fonts/Montserrat-regular.fntdata"/><Relationship Id="rId35" Type="http://schemas.openxmlformats.org/officeDocument/2006/relationships/font" Target="fonts/Montserrat-bold.fntdata"/><Relationship Id="rId36" Type="http://schemas.openxmlformats.org/officeDocument/2006/relationships/font" Target="fonts/Montserrat-italic.fntdata"/><Relationship Id="rId37" Type="http://schemas.openxmlformats.org/officeDocument/2006/relationships/font" Target="fonts/Montserrat-boldItalic.fntdata"/><Relationship Id="rId38" Type="http://schemas.openxmlformats.org/officeDocument/2006/relationships/font" Target="fonts/Assistant-regular.fntdata"/><Relationship Id="rId39" Type="http://schemas.openxmlformats.org/officeDocument/2006/relationships/font" Target="fonts/Assistant-bold.fntdata"/><Relationship Id="rId4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C6D26"/>
                </a:solidFill>
                <a:latin typeface="Assistant"/>
              </a:rPr>
              <a:t>SCENARIO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7190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Assistant"/>
              </a:rPr>
              <a:t>Read-Only Isn't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0"/>
            <a:ext cx="1719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ssistant"/>
              </a:rPr>
              <a:t>Credential access via </a:t>
            </a:r>
            <a:r>
              <a:rPr sz="4200" b="1">
                <a:solidFill>
                  <a:srgbClr val="FC6D26"/>
                </a:solidFill>
                <a:latin typeface="Assistant"/>
              </a:rPr>
              <a:t>lambda:GetFunctionConfiguration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onsolas"/>
              </a:rPr>
              <a:t>STARTING IDENTITY  </a:t>
            </a:r>
            <a:r>
              <a:rPr sz="1600" b="0">
                <a:solidFill>
                  <a:srgbClr val="CBD5E1"/>
                </a:solidFill>
                <a:latin typeface="Consolas"/>
              </a:rPr>
              <a:t>user/iamws-secrets-reader-user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TARGET  </a:t>
            </a:r>
            <a:r>
              <a:rPr sz="1600" b="0">
                <a:solidFill>
                  <a:srgbClr val="CBD5E1"/>
                </a:solidFill>
                <a:latin typeface="Consolas"/>
              </a:rPr>
              <a:t>5 plaintext secrets in iamws-app-with-secrets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CATEGORY  </a:t>
            </a:r>
            <a:r>
              <a:rPr sz="1600" b="0">
                <a:solidFill>
                  <a:srgbClr val="CBD5E1"/>
                </a:solidFill>
                <a:latin typeface="Consolas"/>
              </a:rPr>
              <a:t>Credential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7190720" cy="777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Storing secrets in Lambda environment variables is </a:t>
            </a:r>
            <a:r>
              <a:rPr sz="2800" b="1">
                <a:solidFill>
                  <a:srgbClr val="FC6D26"/>
                </a:solidFill>
                <a:latin typeface="Assistant"/>
              </a:rPr>
              <a:t>one of the most common findings in cloud pen tests</a:t>
            </a:r>
            <a:r>
              <a:rPr sz="2800" b="1">
                <a:solidFill>
                  <a:srgbClr val="FFFFFF"/>
                </a:solidFill>
                <a:latin typeface="Assistant"/>
              </a:rPr>
              <a:t>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Why developers do it: env vars are right there in the console, no extra service to configure. </a:t>
            </a:r>
            <a:r>
              <a:rPr sz="2800" b="1">
                <a:solidFill>
                  <a:srgbClr val="FC6D26"/>
                </a:solidFill>
                <a:latin typeface="Assistant"/>
              </a:rPr>
              <a:t>Path of least resistance.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Assistant"/>
              </a:rPr>
              <a:t>Why the blast radius is huge: </a:t>
            </a:r>
            <a:r>
              <a:rPr sz="2800" b="1">
                <a:solidFill>
                  <a:srgbClr val="FC6D26"/>
                </a:solidFill>
                <a:latin typeface="Assistant"/>
              </a:rPr>
              <a:t>lambda:GetFunctionConfiguration</a:t>
            </a:r>
            <a:r>
              <a:rPr sz="2800" b="1">
                <a:solidFill>
                  <a:srgbClr val="FFFFFF"/>
                </a:solidFill>
                <a:latin typeface="Assistant"/>
              </a:rPr>
              <a:t> gets handed out widely — support engineers, on-call rotations, monitoring tools, “read-only” auditor roles. </a:t>
            </a:r>
            <a:r>
              <a:rPr sz="2800" b="1">
                <a:solidFill>
                  <a:srgbClr val="FC6D26"/>
                </a:solidFill>
                <a:latin typeface="Assistant"/>
              </a:rPr>
              <a:t>Anyone with it dumps every secret in plaintext with one API call.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800" b="1">
                <a:solidFill>
                  <a:srgbClr val="94A3B8"/>
                </a:solidFill>
                <a:latin typeface="Assistant"/>
              </a:rPr>
              <a:t>Why IAM can't save you: the leaked secrets are usually credentials for things </a:t>
            </a:r>
            <a:r>
              <a:rPr sz="2800" b="1">
                <a:solidFill>
                  <a:srgbClr val="FC6D26"/>
                </a:solidFill>
                <a:latin typeface="Assistant"/>
              </a:rPr>
              <a:t>outside AWS</a:t>
            </a:r>
            <a:r>
              <a:rPr sz="2800" b="1">
                <a:solidFill>
                  <a:srgbClr val="94A3B8"/>
                </a:solidFill>
                <a:latin typeface="Assistant"/>
              </a:rPr>
              <a:t> — database passwords, SaaS API keys, third-party admin logins. Once they're out, AWS IAM can't gate the blast.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The misconfiguration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iamws-app-with-secrets</a:t>
            </a:r>
            <a:r>
              <a:rPr sz="2200" b="0">
                <a:solidFill>
                  <a:srgbClr val="94A3B8"/>
                </a:solidFill>
                <a:latin typeface="Consolas"/>
              </a:rPr>
              <a:t>  +  </a:t>
            </a:r>
            <a:r>
              <a:rPr sz="2200" b="0">
                <a:solidFill>
                  <a:srgbClr val="FC6D26"/>
                </a:solidFill>
                <a:latin typeface="Consolas"/>
              </a:rPr>
              <a:t>iamws-secrets-reader-user</a:t>
            </a:r>
            <a:r>
              <a:rPr sz="2200" b="0">
                <a:solidFill>
                  <a:srgbClr val="94A3B8"/>
                </a:solidFill>
                <a:latin typeface="Consolas"/>
              </a:rPr>
              <a:t>   —   neither alarming on its 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ssistant"/>
              </a:rPr>
              <a:t>Lambda environment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on iamws-app-with-secrets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1005840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6440" y="3149600"/>
            <a:ext cx="970280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environment {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variables = {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DB_HOST           = </a:t>
            </a:r>
            <a:r>
              <a:rPr sz="2000">
                <a:solidFill>
                  <a:srgbClr val="F87171"/>
                </a:solidFill>
                <a:latin typeface="Consolas"/>
              </a:rPr>
              <a:t>"prod-db.example.internal"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DB_USERNAME       = </a:t>
            </a:r>
            <a:r>
              <a:rPr sz="2000">
                <a:solidFill>
                  <a:srgbClr val="F87171"/>
                </a:solidFill>
                <a:latin typeface="Consolas"/>
              </a:rPr>
              <a:t>"app_service_account"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DB_PASSWORD       = </a:t>
            </a:r>
            <a:r>
              <a:rPr sz="2000">
                <a:solidFill>
                  <a:srgbClr val="F87171"/>
                </a:solidFill>
                <a:latin typeface="Consolas"/>
              </a:rPr>
              <a:t>"SuperSecretPassword123!"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API_KEY           = </a:t>
            </a:r>
            <a:r>
              <a:rPr sz="2000">
                <a:solidFill>
                  <a:srgbClr val="F87171"/>
                </a:solidFill>
                <a:latin typeface="Consolas"/>
              </a:rPr>
              <a:t>"sk-prod-api-key-do-not-expose"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  ADMIN_CREDENTIALS = </a:t>
            </a:r>
            <a:r>
              <a:rPr sz="2000">
                <a:solidFill>
                  <a:srgbClr val="F87171"/>
                </a:solidFill>
                <a:latin typeface="Consolas"/>
              </a:rPr>
              <a:t>"admin:P@ssw0rd!"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}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1381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Five plaintext credentials sitting in the function's configuration. Visible to </a:t>
            </a:r>
            <a:r>
              <a:rPr sz="2200" b="1">
                <a:solidFill>
                  <a:srgbClr val="F87171"/>
                </a:solidFill>
                <a:latin typeface="Assistant"/>
              </a:rPr>
              <a:t>anyone</a:t>
            </a:r>
            <a:r>
              <a:rPr sz="2200" b="1">
                <a:solidFill>
                  <a:srgbClr val="FFFFFF"/>
                </a:solidFill>
                <a:latin typeface="Assistant"/>
              </a:rPr>
              <a:t> who can read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237744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C6D26"/>
                </a:solidFill>
                <a:latin typeface="Assistant"/>
              </a:rPr>
              <a:t>Identity policy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on the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0" y="2971800"/>
            <a:ext cx="658368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33480" y="3149600"/>
            <a:ext cx="622808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"Sid": "AllowLambdaRead",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"Effect": "Allow",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"Action": [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"lambda:GetFunction",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</a:t>
            </a:r>
            <a:r>
              <a:rPr sz="1800">
                <a:solidFill>
                  <a:srgbClr val="F87171"/>
                </a:solidFill>
                <a:latin typeface="Consolas"/>
              </a:rPr>
              <a:t>"lambda:GetFunctionConfiguration"</a:t>
            </a:r>
            <a:r>
              <a:rPr sz="18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"lambda:ListFunctions"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],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"Resource": "*"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813816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The kind of policy you'd hand a support engineer or monitoring tool. </a:t>
            </a:r>
            <a:r>
              <a:rPr sz="2200" b="1">
                <a:solidFill>
                  <a:srgbClr val="FC6D26"/>
                </a:solidFill>
                <a:latin typeface="Assistant"/>
              </a:rPr>
              <a:t>Looks harmless.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50976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The fix is architectural, not a policy edit. The secrets shouldn't be in the env block at all — </a:t>
            </a:r>
            <a:r>
              <a:rPr sz="2200" b="1">
                <a:solidFill>
                  <a:srgbClr val="FC6D26"/>
                </a:solidFill>
                <a:latin typeface="Assistant"/>
              </a:rPr>
              <a:t>Secrets Manager + a SECRET_NAME pointer</a:t>
            </a:r>
            <a:r>
              <a:rPr sz="2200" b="1">
                <a:solidFill>
                  <a:srgbClr val="FFFFFF"/>
                </a:solidFill>
                <a:latin typeface="Assistant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Credential disclosure path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488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ListFunctions  →  filter to functions with env vars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GetFunctionConfiguration on the candidate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776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Read five plaintext credentials. No invocation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9692640" cy="219456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6440" y="5389880"/>
            <a:ext cx="9337040" cy="18389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aws lambda </a:t>
            </a:r>
            <a:r>
              <a:rPr sz="1800">
                <a:solidFill>
                  <a:srgbClr val="22D3EE"/>
                </a:solidFill>
                <a:latin typeface="Consolas"/>
              </a:rPr>
              <a:t>get-function-configuration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--function-name </a:t>
            </a:r>
            <a:r>
              <a:rPr sz="1800">
                <a:solidFill>
                  <a:srgbClr val="F87171"/>
                </a:solidFill>
                <a:latin typeface="Consolas"/>
              </a:rPr>
              <a:t>iamws-app-with-secrets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--query </a:t>
            </a:r>
            <a:r>
              <a:rPr sz="1800">
                <a:solidFill>
                  <a:srgbClr val="A78BFA"/>
                </a:solidFill>
                <a:latin typeface="Consolas"/>
              </a:rPr>
              <a:t>Environment.Variables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58952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94A3B8"/>
                </a:solidFill>
                <a:latin typeface="Assistant"/>
              </a:rPr>
              <a:t>No execution. No code change. No alert. Just a single read API call.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182880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94A3B8"/>
                </a:solidFill>
                <a:latin typeface="Assistant"/>
              </a:rPr>
              <a:t>What comes 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0" y="2331720"/>
            <a:ext cx="7132320" cy="54864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784840" y="2509520"/>
            <a:ext cx="6776720" cy="5130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"DB_HOST": </a:t>
            </a:r>
            <a:r>
              <a:rPr sz="2000">
                <a:solidFill>
                  <a:srgbClr val="F87171"/>
                </a:solidFill>
                <a:latin typeface="Consolas"/>
              </a:rPr>
              <a:t>"prod-db.example.internal"</a:t>
            </a:r>
            <a:r>
              <a:rPr sz="20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"DB_USERNAME": </a:t>
            </a:r>
            <a:r>
              <a:rPr sz="2000">
                <a:solidFill>
                  <a:srgbClr val="F87171"/>
                </a:solidFill>
                <a:latin typeface="Consolas"/>
              </a:rPr>
              <a:t>"app_service_account"</a:t>
            </a:r>
            <a:r>
              <a:rPr sz="20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"DB_PASSWORD": </a:t>
            </a:r>
            <a:r>
              <a:rPr sz="2000">
                <a:solidFill>
                  <a:srgbClr val="F87171"/>
                </a:solidFill>
                <a:latin typeface="Consolas"/>
              </a:rPr>
              <a:t>"SuperSecretPassword123!"</a:t>
            </a:r>
            <a:r>
              <a:rPr sz="20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"API_KEY": </a:t>
            </a:r>
            <a:r>
              <a:rPr sz="2000">
                <a:solidFill>
                  <a:srgbClr val="F87171"/>
                </a:solidFill>
                <a:latin typeface="Consolas"/>
              </a:rPr>
              <a:t>"sk-prod-api-key-do-not-expose"</a:t>
            </a:r>
            <a:r>
              <a:rPr sz="20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  "ADMIN_CREDENTIALS": </a:t>
            </a:r>
            <a:r>
              <a:rPr sz="2000">
                <a:solidFill>
                  <a:srgbClr val="F87171"/>
                </a:solidFill>
                <a:latin typeface="Consolas"/>
              </a:rPr>
              <a:t>"admin:P@ssw0rd!"</a:t>
            </a:r>
          </a:p>
          <a:p>
            <a:pPr algn="l"/>
            <a:r>
              <a:rPr sz="20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7955279"/>
            <a:ext cx="7132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No pathfinding diagram for this one.</a:t>
            </a: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94A3B8"/>
                </a:solidFill>
                <a:latin typeface="Assistant"/>
              </a:rPr>
              <a:t>iam-recon's pathfinding catalog covers privesc, not credential access. Graph tools model what permissions can chain into; they don't model what data sits in plaintext config. </a:t>
            </a:r>
            <a:r>
              <a:rPr sz="1800" b="1">
                <a:solidFill>
                  <a:srgbClr val="FC6D26"/>
                </a:solidFill>
                <a:latin typeface="Assistant"/>
              </a:rPr>
              <a:t>Coverage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Other Places Secrets Leak in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Lambda env vars are the most familiar offender. Any “configuration” surface that takes a string can become a secrets surface: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0" y="2560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WHY IT LEAKS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705352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017520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Lambda env vars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3017520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ssistant"/>
              </a:rPr>
              <a:t>GetFunctionConfiguration returns them in plaintext.  (This lab.)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418584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730752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ECS / Fargate task definitions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30752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ssistant"/>
              </a:rPr>
              <a:t>DescribeTaskDefinition returns the env block — same exposure shape, different service.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131816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443984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EC2 user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4443984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ssistant"/>
              </a:rPr>
              <a:t>DescribeInstanceAttribute returns the bootstrap script. Often contains injected creds.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5845048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157216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CloudFormation parameters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5157216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ssistant"/>
              </a:rPr>
              <a:t>Without NoEcho, parameter values appear in DescribeStacks and event history.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558280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870448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SSM Parameter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5870448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ssistant"/>
              </a:rPr>
              <a:t>Type: String parameters are not encrypted. Use SecureString + KMS.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7271512"/>
            <a:ext cx="1719072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83680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CodeBuild project env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6583680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ssistant"/>
              </a:rPr>
              <a:t>BatchGetProjects exposes plaintext env vars; PLAINTEXT vs SECRETS_MANAGER type matters.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7296912"/>
            <a:ext cx="6858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C6D26"/>
                </a:solidFill>
                <a:latin typeface="Assistant"/>
              </a:rPr>
              <a:t>Source code / repo 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7296912"/>
            <a:ext cx="100584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ssistant"/>
              </a:rPr>
              <a:t>git-secrets / detect-secrets / GitHub secret scanning catch the obvious ones, not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877824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All blocked by the same pattern: store secrets in a real secrets store (</a:t>
            </a:r>
            <a:r>
              <a:rPr sz="2200" b="1">
                <a:solidFill>
                  <a:srgbClr val="FC6D26"/>
                </a:solidFill>
                <a:latin typeface="Assistant"/>
              </a:rPr>
              <a:t>Secrets Manager</a:t>
            </a:r>
            <a:r>
              <a:rPr sz="2200" b="1">
                <a:solidFill>
                  <a:srgbClr val="FFFFFF"/>
                </a:solidFill>
                <a:latin typeface="Assistant"/>
              </a:rPr>
              <a:t> or </a:t>
            </a:r>
            <a:r>
              <a:rPr sz="2200" b="1">
                <a:solidFill>
                  <a:srgbClr val="FC6D26"/>
                </a:solidFill>
                <a:latin typeface="Assistant"/>
              </a:rPr>
              <a:t>SecureString Parameter Store</a:t>
            </a:r>
            <a:r>
              <a:rPr sz="2200" b="1">
                <a:solidFill>
                  <a:srgbClr val="FFFFFF"/>
                </a:solidFill>
                <a:latin typeface="Assistant"/>
              </a:rPr>
              <a:t>), grant per-secret access via IAM, fetch at runtime — never bake secrets into config.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