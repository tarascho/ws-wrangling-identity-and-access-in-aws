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Arimo"/>
      <p:regular r:id="rId30"/>
      <p:bold r:id="rId31"/>
      <p:italic r:id="rId32"/>
      <p:boldItalic r:id="rId33"/>
    </p:embeddedFont>
    <p:embeddedFont>
      <p:font typeface="Montserrat"/>
      <p:regular r:id="rId34"/>
      <p:bold r:id="rId35"/>
      <p:italic r:id="rId36"/>
      <p:boldItalic r:id="rId37"/>
    </p:embeddedFont>
    <p:embeddedFont>
      <p:font typeface="Assistant"/>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0" roundtripDataSignature="AMtx7miu3iHEyULb6y8uBKm1Lf/FTOzt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643B1D-9803-458B-AC4E-7CA0FF1CF9E7}">
  <a:tblStyle styleId="{79643B1D-9803-458B-AC4E-7CA0FF1CF9E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bold.fntdata"/><Relationship Id="rId30" Type="http://schemas.openxmlformats.org/officeDocument/2006/relationships/font" Target="fonts/Arimo-regular.fntdata"/><Relationship Id="rId11" Type="http://schemas.openxmlformats.org/officeDocument/2006/relationships/slide" Target="slides/slide5.xml"/><Relationship Id="rId33" Type="http://schemas.openxmlformats.org/officeDocument/2006/relationships/font" Target="fonts/Arimo-boldItalic.fntdata"/><Relationship Id="rId10" Type="http://schemas.openxmlformats.org/officeDocument/2006/relationships/slide" Target="slides/slide4.xml"/><Relationship Id="rId32" Type="http://schemas.openxmlformats.org/officeDocument/2006/relationships/font" Target="fonts/Arimo-italic.fntdata"/><Relationship Id="rId13" Type="http://schemas.openxmlformats.org/officeDocument/2006/relationships/slide" Target="slides/slide7.xml"/><Relationship Id="rId35" Type="http://schemas.openxmlformats.org/officeDocument/2006/relationships/font" Target="fonts/Montserrat-bold.fntdata"/><Relationship Id="rId12" Type="http://schemas.openxmlformats.org/officeDocument/2006/relationships/slide" Target="slides/slide6.xml"/><Relationship Id="rId34" Type="http://schemas.openxmlformats.org/officeDocument/2006/relationships/font" Target="fonts/Montserrat-regular.fntdata"/><Relationship Id="rId15" Type="http://schemas.openxmlformats.org/officeDocument/2006/relationships/slide" Target="slides/slide9.xml"/><Relationship Id="rId37" Type="http://schemas.openxmlformats.org/officeDocument/2006/relationships/font" Target="fonts/Montserrat-boldItalic.fntdata"/><Relationship Id="rId14" Type="http://schemas.openxmlformats.org/officeDocument/2006/relationships/slide" Target="slides/slide8.xml"/><Relationship Id="rId36" Type="http://schemas.openxmlformats.org/officeDocument/2006/relationships/font" Target="fonts/Montserrat-italic.fntdata"/><Relationship Id="rId17" Type="http://schemas.openxmlformats.org/officeDocument/2006/relationships/slide" Target="slides/slide11.xml"/><Relationship Id="rId39" Type="http://schemas.openxmlformats.org/officeDocument/2006/relationships/font" Target="fonts/Assistant-bold.fntdata"/><Relationship Id="rId16" Type="http://schemas.openxmlformats.org/officeDocument/2006/relationships/slide" Target="slides/slide10.xml"/><Relationship Id="rId38" Type="http://schemas.openxmlformats.org/officeDocument/2006/relationships/font" Target="fonts/Assistan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ysdig.com/blog/ai-assisted-cloud-intrusion-achieves-admin-access-in-8-minute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it42.paloaltonetworks.com/autonomous-ai-cloud-attack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01" name="Google Shape;10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02" name="Google Shape;102;p2: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parts - lecture than lab model</a:t>
            </a:r>
            <a:endParaRPr/>
          </a:p>
        </p:txBody>
      </p:sp>
      <p:sp>
        <p:nvSpPr>
          <p:cNvPr id="104" name="Google Shape;104;p2: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05" name="Google Shape;105;p2: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34" name="Google Shape;134;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35" name="Google Shape;135;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https://docs.aws.amazon.com/IAM/latest/UserGuide/introduction.html</a:t>
            </a:r>
            <a:endParaRPr/>
          </a:p>
        </p:txBody>
      </p:sp>
      <p:sp>
        <p:nvSpPr>
          <p:cNvPr id="137" name="Google Shape;137;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38" name="Google Shape;138;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0f43c0e71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7" name="Google Shape;147;g3e0f43c0e71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8" name="Google Shape;148;g3e0f43c0e71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0f43c0e71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whenever you are doing anything in the cloud, you are interacting with cloud provider APIs.</a:t>
            </a:r>
            <a:endParaRPr/>
          </a:p>
        </p:txBody>
      </p:sp>
      <p:sp>
        <p:nvSpPr>
          <p:cNvPr id="150" name="Google Shape;150;g3e0f43c0e71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1" name="Google Shape;151;g3e0f43c0e71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0f43c0e71_0_8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1" name="Google Shape;161;g3e0f43c0e71_0_8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2" name="Google Shape;162;g3e0f43c0e71_0_88: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e0f43c0e71_0_8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whenever you are doing anything in the cloud, you are interacting with cloud provider APIs.</a:t>
            </a:r>
            <a:endParaRPr/>
          </a:p>
        </p:txBody>
      </p:sp>
      <p:sp>
        <p:nvSpPr>
          <p:cNvPr id="164" name="Google Shape;164;g3e0f43c0e71_0_8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g3e0f43c0e71_0_8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94" name="Google Shape;194;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95" name="Google Shape;195;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https://www.datadoghq.com/state-of-cloud-security/</a:t>
            </a:r>
            <a:endParaRPr/>
          </a:p>
        </p:txBody>
      </p:sp>
      <p:sp>
        <p:nvSpPr>
          <p:cNvPr id="197" name="Google Shape;197;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98" name="Google Shape;198;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0f43c0e71_0_54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0f43c0e71_0_542: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e0f43c0e71_0_542: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24" name="Google Shape;22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25" name="Google Shape;225;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https://www.sysdig.com/blog/ai-assisted-cloud-intrusion-achieves-admin-access-in-8-minutes</a:t>
            </a:r>
            <a:r>
              <a:rPr lang="en-US"/>
              <a:t> - published November 2025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threat actor infiltrated the victim’s environments using valid test credentials stolen from public S3 buckets. These buckets contained Retrieval-Augmented Generation (RAG) data for AI models, and the compromised credentials belonged to an Identity and Access Management (IAM) user that had multiple read and write permissions on AWS Lambda and restricted permissions on AWS Bedrock. This user was likely intentionally created by the victim organization to automate Bedrock tasks with Lambda functions across the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It is also important to note that the affected S3 buckets were named using common AI tool naming conventions, which the attackers actively searched for during reconnaissance.Amazon Bedrock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After enumerating IAM roles, the threat actor unsuccessfully attempted to assume roles with names typically associated with administrative privileges (e.g., sysadmin,netadmin). Since the compromised user had UpdateFunctionCode and UpdateFunctionConfiguration permissions on Lambda, the threat actor pivoted to privilege escalation through Lambda function code injection.Role</a:t>
            </a:r>
            <a:endParaRPr/>
          </a:p>
        </p:txBody>
      </p:sp>
      <p:sp>
        <p:nvSpPr>
          <p:cNvPr id="227" name="Google Shape;22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28" name="Google Shape;22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0f43c0e71_0_59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1" name="Google Shape;291;g3e0f43c0e71_0_59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92" name="Google Shape;292;g3e0f43c0e71_0_592: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e0f43c0e71_0_59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en-US" u="sng">
                <a:solidFill>
                  <a:schemeClr val="hlink"/>
                </a:solidFill>
                <a:hlinkClick r:id="rId2"/>
              </a:rPr>
              <a:t>https://unit42.paloaltonetworks.com/autonomous-ai-cloud-attacks/-</a:t>
            </a:r>
            <a:r>
              <a:rPr lang="en-US"/>
              <a:t> published April 2026</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en-US"/>
              <a:t>Purpose built Autonomous Cloud Offensive Multi-Agent System - this example, Zealot, built for offensive security (good) but replicates the tooling bad actors can use just as easily (bad)</a:t>
            </a:r>
            <a:endParaRPr/>
          </a:p>
          <a:p>
            <a:pPr indent="0" lvl="0" marL="0" rtl="0" algn="l">
              <a:spcBef>
                <a:spcPts val="0"/>
              </a:spcBef>
              <a:spcAft>
                <a:spcPts val="0"/>
              </a:spcAft>
              <a:buSzPts val="1400"/>
              <a:buNone/>
            </a:pPr>
            <a:r>
              <a:rPr lang="en-US"/>
              <a:t>Example from Palo Alto Networks is GCP but just as applicable to AWS - I’ve mapped the logos for comparable AWS services </a:t>
            </a:r>
            <a:endParaRPr/>
          </a:p>
        </p:txBody>
      </p:sp>
      <p:sp>
        <p:nvSpPr>
          <p:cNvPr id="294" name="Google Shape;294;g3e0f43c0e71_0_592: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5" name="Google Shape;295;g3e0f43c0e71_0_592: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0f43c0e71_0_77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30" name="Google Shape;330;g3e0f43c0e71_0_77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31" name="Google Shape;331;g3e0f43c0e71_0_77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e0f43c0e71_0_77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today’s training, we will learn lots of ways to proactively “break the chain”</a:t>
            </a:r>
            <a:endParaRPr/>
          </a:p>
        </p:txBody>
      </p:sp>
      <p:sp>
        <p:nvSpPr>
          <p:cNvPr id="333" name="Google Shape;333;g3e0f43c0e71_0_77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34" name="Google Shape;334;g3e0f43c0e71_0_77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50" name="Google Shape;350;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51" name="Google Shape;351;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 how did AWS evaluate each of these actions in the previous attack and decide what to allow or deny - the PARC model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PARC refers to the four objects in IAM policy language: principal, action, resource, and condition.</a:t>
            </a:r>
            <a:endParaRPr/>
          </a:p>
        </p:txBody>
      </p:sp>
      <p:sp>
        <p:nvSpPr>
          <p:cNvPr id="353" name="Google Shape;353;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54" name="Google Shape;354;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67" name="Google Shape;367;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68" name="Google Shape;368;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PARC refers to the four objects in IAM policy language: principal, action, resource, and condition.</a:t>
            </a:r>
            <a:endParaRPr/>
          </a:p>
        </p:txBody>
      </p:sp>
      <p:sp>
        <p:nvSpPr>
          <p:cNvPr id="370" name="Google Shape;370;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71" name="Google Shape;371;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30" name="Google Shape;43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31" name="Google Shape;431;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34" name="Google Shape;43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6" name="Google Shape;46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67" name="Google Shape;46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PARC refers to the four objects in IAM policy language: principal, action, resource, and condition.</a:t>
            </a:r>
            <a:endParaRPr/>
          </a:p>
        </p:txBody>
      </p:sp>
      <p:sp>
        <p:nvSpPr>
          <p:cNvPr id="469" name="Google Shape;46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70" name="Google Shape;47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98" name="Google Shape;498;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99" name="Google Shape;499;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PARC refers to the four objects in IAM policy language: principal, action, resource, and condition.</a:t>
            </a:r>
            <a:endParaRPr/>
          </a:p>
        </p:txBody>
      </p:sp>
      <p:sp>
        <p:nvSpPr>
          <p:cNvPr id="501" name="Google Shape;501;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02" name="Google Shape;502;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58" name="Google Shape;558;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59" name="Google Shape;559;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You will see this diagram a lot in AWS Documents this is the single account level model</a:t>
            </a:r>
            <a:endParaRPr/>
          </a:p>
        </p:txBody>
      </p:sp>
      <p:sp>
        <p:nvSpPr>
          <p:cNvPr id="561" name="Google Shape;561;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62" name="Google Shape;562;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71" name="Google Shape;571;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72" name="Google Shape;572;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75" name="Google Shape;575;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08" name="Google Shape;608;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09" name="Google Shape;609;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12" name="Google Shape;612;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bdc728e12b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38" name="Google Shape;638;g3bdc728e12b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39" name="Google Shape;639;g3bdc728e12b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3bdc728e12b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https://docs.aws.amazon.com/IAM/latest/UserGuide/introduction_attribute-based-access-control.html</a:t>
            </a:r>
            <a:endParaRPr/>
          </a:p>
        </p:txBody>
      </p:sp>
      <p:sp>
        <p:nvSpPr>
          <p:cNvPr id="641" name="Google Shape;641;g3bdc728e12b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42" name="Google Shape;642;g3bdc728e12b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50" name="Google Shape;650;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51" name="Google Shape;651;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 how did AWS evaluate each of these actions in the previous attack and decide what to allow or deny - the PARC model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PARC refers to the four objects in IAM policy language: principal, action, resource, and condition.</a:t>
            </a:r>
            <a:endParaRPr/>
          </a:p>
        </p:txBody>
      </p:sp>
      <p:sp>
        <p:nvSpPr>
          <p:cNvPr id="653" name="Google Shape;653;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54" name="Google Shape;654;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62" name="Google Shape;662;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63" name="Google Shape;663;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You will try most of these strategies hands-on in the workshop</a:t>
            </a:r>
            <a:endParaRPr/>
          </a:p>
        </p:txBody>
      </p:sp>
      <p:sp>
        <p:nvSpPr>
          <p:cNvPr id="665" name="Google Shape;665;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66" name="Google Shape;666;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78" name="Google Shape;678;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79" name="Google Shape;679;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Defenders check off items on lists; attackers find paths between weaknesses. One missed connection is all it takes, so defenders need to start thinking about relationships between things, not just the things themselves.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why we will use graph based tools in this workshop</a:t>
            </a:r>
            <a:endParaRPr/>
          </a:p>
        </p:txBody>
      </p:sp>
      <p:sp>
        <p:nvSpPr>
          <p:cNvPr id="681" name="Google Shape;681;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82" name="Google Shape;682;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e1abbeaaa8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97" name="Google Shape;697;g3e1abbeaaa8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98" name="Google Shape;698;g3e1abbeaaa8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g3e1abbeaaa8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e1abbeaaa8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01" name="Google Shape;701;g3e1abbeaaa8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jp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4.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15.png"/><Relationship Id="rId13" Type="http://schemas.openxmlformats.org/officeDocument/2006/relationships/image" Target="../media/image35.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4.png"/><Relationship Id="rId9" Type="http://schemas.openxmlformats.org/officeDocument/2006/relationships/image" Target="../media/image8.png"/><Relationship Id="rId15" Type="http://schemas.openxmlformats.org/officeDocument/2006/relationships/image" Target="../media/image28.png"/><Relationship Id="rId14"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44.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27.png"/><Relationship Id="rId5" Type="http://schemas.openxmlformats.org/officeDocument/2006/relationships/image" Target="../media/image34.png"/></Relationships>
</file>

<file path=ppt/slides/_rels/slide8.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26.png"/><Relationship Id="rId13" Type="http://schemas.openxmlformats.org/officeDocument/2006/relationships/image" Target="../media/image39.pn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30.png"/><Relationship Id="rId9" Type="http://schemas.openxmlformats.org/officeDocument/2006/relationships/image" Target="../media/image29.png"/><Relationship Id="rId15" Type="http://schemas.openxmlformats.org/officeDocument/2006/relationships/image" Target="../media/image40.png"/><Relationship Id="rId14" Type="http://schemas.openxmlformats.org/officeDocument/2006/relationships/image" Target="../media/image42.png"/><Relationship Id="rId17" Type="http://schemas.openxmlformats.org/officeDocument/2006/relationships/image" Target="../media/image43.png"/><Relationship Id="rId16" Type="http://schemas.openxmlformats.org/officeDocument/2006/relationships/image" Target="../media/image36.png"/><Relationship Id="rId5" Type="http://schemas.openxmlformats.org/officeDocument/2006/relationships/image" Target="../media/image23.png"/><Relationship Id="rId6" Type="http://schemas.openxmlformats.org/officeDocument/2006/relationships/image" Target="../media/image24.png"/><Relationship Id="rId18" Type="http://schemas.openxmlformats.org/officeDocument/2006/relationships/image" Target="../media/image41.png"/><Relationship Id="rId7" Type="http://schemas.openxmlformats.org/officeDocument/2006/relationships/image" Target="../media/image22.png"/><Relationship Id="rId8"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6.png"/><Relationship Id="rId9"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47.png"/><Relationship Id="rId7" Type="http://schemas.openxmlformats.org/officeDocument/2006/relationships/image" Target="../media/image30.png"/><Relationship Id="rId8"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7.jpg"/><Relationship Id="rId4" Type="http://schemas.openxmlformats.org/officeDocument/2006/relationships/image" Target="../media/image1.jpg"/><Relationship Id="rId5"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7.jpg"/><Relationship Id="rId4" Type="http://schemas.openxmlformats.org/officeDocument/2006/relationships/image" Target="../media/image1.jpg"/><Relationship Id="rId5" Type="http://schemas.openxmlformats.org/officeDocument/2006/relationships/image" Target="../media/image49.png"/><Relationship Id="rId6"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jpg"/><Relationship Id="rId4" Type="http://schemas.openxmlformats.org/officeDocument/2006/relationships/image" Target="../media/image1.jpg"/><Relationship Id="rId5"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7.jpg"/><Relationship Id="rId4" Type="http://schemas.openxmlformats.org/officeDocument/2006/relationships/image" Target="../media/image1.jpg"/><Relationship Id="rId5" Type="http://schemas.openxmlformats.org/officeDocument/2006/relationships/image" Target="../media/image43.png"/><Relationship Id="rId6" Type="http://schemas.openxmlformats.org/officeDocument/2006/relationships/image" Target="../media/image52.png"/><Relationship Id="rId7"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jpg"/><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7.jpg"/><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7.jpg"/><Relationship Id="rId4" Type="http://schemas.openxmlformats.org/officeDocument/2006/relationships/image" Target="../media/image1.jpg"/><Relationship Id="rId5"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7.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pSp>
        <p:nvGrpSpPr>
          <p:cNvPr id="92" name="Google Shape;92;p1"/>
          <p:cNvGrpSpPr/>
          <p:nvPr/>
        </p:nvGrpSpPr>
        <p:grpSpPr>
          <a:xfrm>
            <a:off x="-219297" y="1451305"/>
            <a:ext cx="11438450" cy="6795225"/>
            <a:chOff x="0" y="-104775"/>
            <a:chExt cx="15251267" cy="9060300"/>
          </a:xfrm>
        </p:grpSpPr>
        <p:sp>
          <p:nvSpPr>
            <p:cNvPr id="93" name="Google Shape;93;p1"/>
            <p:cNvSpPr/>
            <p:nvPr/>
          </p:nvSpPr>
          <p:spPr>
            <a:xfrm>
              <a:off x="0" y="0"/>
              <a:ext cx="14249623" cy="8955430"/>
            </a:xfrm>
            <a:custGeom>
              <a:rect b="b" l="l" r="r" t="t"/>
              <a:pathLst>
                <a:path extrusionOk="0" h="8955430" w="14249623">
                  <a:moveTo>
                    <a:pt x="0" y="0"/>
                  </a:moveTo>
                  <a:lnTo>
                    <a:pt x="14249623" y="0"/>
                  </a:lnTo>
                  <a:lnTo>
                    <a:pt x="14249623" y="8955430"/>
                  </a:lnTo>
                  <a:lnTo>
                    <a:pt x="0" y="8955430"/>
                  </a:lnTo>
                  <a:close/>
                </a:path>
              </a:pathLst>
            </a:custGeom>
            <a:blipFill rotWithShape="1">
              <a:blip r:embed="rId3">
                <a:alphaModFix amt="0"/>
              </a:blip>
              <a:stretch>
                <a:fillRect b="27674" l="0" r="-45448" t="-178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1001567" y="-104775"/>
              <a:ext cx="14249700" cy="906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rgbClr val="FFFFFF"/>
                  </a:solidFill>
                  <a:latin typeface="Montserrat"/>
                  <a:ea typeface="Montserrat"/>
                  <a:cs typeface="Montserrat"/>
                  <a:sym typeface="Montserrat"/>
                </a:rPr>
                <a:t>Wrangling Identity</a:t>
              </a:r>
              <a:endParaRPr b="0" i="0" sz="1400" u="none" cap="none" strike="noStrike">
                <a:solidFill>
                  <a:srgbClr val="000000"/>
                </a:solidFill>
                <a:latin typeface="Arial"/>
                <a:ea typeface="Arial"/>
                <a:cs typeface="Arial"/>
                <a:sym typeface="Arial"/>
              </a:endParaRPr>
            </a:p>
            <a:p>
              <a:pPr indent="0" lvl="0" marL="0" marR="0" rtl="0" algn="ctr">
                <a:lnSpc>
                  <a:spcPct val="132000"/>
                </a:lnSpc>
                <a:spcBef>
                  <a:spcPts val="0"/>
                </a:spcBef>
                <a:spcAft>
                  <a:spcPts val="0"/>
                </a:spcAft>
                <a:buClr>
                  <a:srgbClr val="000000"/>
                </a:buClr>
                <a:buSzPts val="9600"/>
                <a:buFont typeface="Arial"/>
                <a:buNone/>
              </a:pPr>
              <a:r>
                <a:rPr b="1" i="0" lang="en-US" sz="9600" u="none" cap="none" strike="noStrike">
                  <a:solidFill>
                    <a:srgbClr val="FFFFFF"/>
                  </a:solidFill>
                  <a:latin typeface="Montserrat"/>
                  <a:ea typeface="Montserrat"/>
                  <a:cs typeface="Montserrat"/>
                  <a:sym typeface="Montserrat"/>
                </a:rPr>
                <a:t>&amp; Access in AWS</a:t>
              </a:r>
              <a:endParaRPr b="0" i="0" sz="1400" u="none" cap="none" strike="noStrike">
                <a:solidFill>
                  <a:srgbClr val="000000"/>
                </a:solidFill>
                <a:latin typeface="Arial"/>
                <a:ea typeface="Arial"/>
                <a:cs typeface="Arial"/>
                <a:sym typeface="Arial"/>
              </a:endParaRPr>
            </a:p>
          </p:txBody>
        </p:sp>
      </p:grpSp>
      <p:grpSp>
        <p:nvGrpSpPr>
          <p:cNvPr id="95" name="Google Shape;95;p1"/>
          <p:cNvGrpSpPr/>
          <p:nvPr/>
        </p:nvGrpSpPr>
        <p:grpSpPr>
          <a:xfrm>
            <a:off x="1417164" y="6937054"/>
            <a:ext cx="13716000" cy="2243897"/>
            <a:chOff x="0" y="-1693682"/>
            <a:chExt cx="18288000" cy="2991860"/>
          </a:xfrm>
        </p:grpSpPr>
        <p:sp>
          <p:nvSpPr>
            <p:cNvPr id="96" name="Google Shape;96;p1"/>
            <p:cNvSpPr/>
            <p:nvPr/>
          </p:nvSpPr>
          <p:spPr>
            <a:xfrm>
              <a:off x="0" y="0"/>
              <a:ext cx="18288000" cy="1298178"/>
            </a:xfrm>
            <a:custGeom>
              <a:rect b="b" l="l" r="r" t="t"/>
              <a:pathLst>
                <a:path extrusionOk="0" h="1298178" w="18288000">
                  <a:moveTo>
                    <a:pt x="0" y="0"/>
                  </a:moveTo>
                  <a:lnTo>
                    <a:pt x="18288000" y="0"/>
                  </a:lnTo>
                  <a:lnTo>
                    <a:pt x="18288000" y="1298178"/>
                  </a:lnTo>
                  <a:lnTo>
                    <a:pt x="0" y="1298178"/>
                  </a:lnTo>
                  <a:close/>
                </a:path>
              </a:pathLst>
            </a:custGeom>
            <a:blipFill rotWithShape="1">
              <a:blip r:embed="rId3">
                <a:alphaModFix amt="0"/>
              </a:blip>
              <a:stretch>
                <a:fillRect b="-240210" l="0" r="0" t="-2087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1"/>
            <p:cNvSpPr txBox="1"/>
            <p:nvPr/>
          </p:nvSpPr>
          <p:spPr>
            <a:xfrm>
              <a:off x="0" y="-1693682"/>
              <a:ext cx="18288000" cy="1317300"/>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Clr>
                  <a:srgbClr val="000000"/>
                </a:buClr>
                <a:buSzPts val="4800"/>
                <a:buFont typeface="Arial"/>
                <a:buNone/>
              </a:pPr>
              <a:r>
                <a:rPr b="0" i="0" lang="en-US" sz="4800" u="none" cap="none" strike="noStrike">
                  <a:solidFill>
                    <a:srgbClr val="22D3EE"/>
                  </a:solidFill>
                  <a:latin typeface="Arimo"/>
                  <a:ea typeface="Arimo"/>
                  <a:cs typeface="Arimo"/>
                  <a:sym typeface="Arimo"/>
                </a:rPr>
                <a:t>Lecture 1: Layin' Down the Law</a:t>
              </a:r>
              <a:endParaRPr b="0" i="0" sz="1400" u="none" cap="none" strike="noStrike">
                <a:solidFill>
                  <a:srgbClr val="000000"/>
                </a:solidFill>
                <a:latin typeface="Arial"/>
                <a:ea typeface="Arial"/>
                <a:cs typeface="Arial"/>
                <a:sym typeface="Arial"/>
              </a:endParaRPr>
            </a:p>
          </p:txBody>
        </p:sp>
      </p:grpSp>
      <p:sp>
        <p:nvSpPr>
          <p:cNvPr id="98" name="Google Shape;98;p1"/>
          <p:cNvSpPr/>
          <p:nvPr/>
        </p:nvSpPr>
        <p:spPr>
          <a:xfrm>
            <a:off x="11438451" y="1604675"/>
            <a:ext cx="6411018" cy="6796782"/>
          </a:xfrm>
          <a:custGeom>
            <a:rect b="b" l="l" r="r" t="t"/>
            <a:pathLst>
              <a:path extrusionOk="0" h="7347872" w="7347872">
                <a:moveTo>
                  <a:pt x="0" y="0"/>
                </a:moveTo>
                <a:lnTo>
                  <a:pt x="7347871" y="0"/>
                </a:lnTo>
                <a:lnTo>
                  <a:pt x="7347871" y="7347872"/>
                </a:lnTo>
                <a:lnTo>
                  <a:pt x="0" y="7347872"/>
                </a:lnTo>
                <a:lnTo>
                  <a:pt x="0" y="0"/>
                </a:lnTo>
                <a:close/>
              </a:path>
            </a:pathLst>
          </a:custGeom>
          <a:blipFill rotWithShape="1">
            <a:blip r:embed="rId4">
              <a:alphaModFix/>
            </a:blip>
            <a:stretch>
              <a:fillRect b="-5236" l="-5783" r="-4322" t="-48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nvSpPr>
        <p:spPr>
          <a:xfrm>
            <a:off x="491813" y="282960"/>
            <a:ext cx="8652300" cy="1104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299"/>
              <a:buFont typeface="Arial"/>
              <a:buNone/>
            </a:pPr>
            <a:r>
              <a:rPr b="1" i="0" lang="en-US" sz="7299" u="none" cap="none" strike="noStrike">
                <a:solidFill>
                  <a:srgbClr val="FFFFFF"/>
                </a:solidFill>
                <a:latin typeface="Assistant"/>
                <a:ea typeface="Assistant"/>
                <a:cs typeface="Assistant"/>
                <a:sym typeface="Assistant"/>
              </a:rPr>
              <a:t>Agenda</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630774" y="1721229"/>
            <a:ext cx="1608812" cy="1608812"/>
          </a:xfrm>
          <a:custGeom>
            <a:rect b="b" l="l" r="r" t="t"/>
            <a:pathLst>
              <a:path extrusionOk="0" h="1608812" w="1608812">
                <a:moveTo>
                  <a:pt x="0" y="0"/>
                </a:moveTo>
                <a:lnTo>
                  <a:pt x="1608812" y="0"/>
                </a:lnTo>
                <a:lnTo>
                  <a:pt x="1608812" y="1608812"/>
                </a:lnTo>
                <a:lnTo>
                  <a:pt x="0" y="160881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2"/>
          <p:cNvSpPr/>
          <p:nvPr/>
        </p:nvSpPr>
        <p:spPr>
          <a:xfrm>
            <a:off x="630774" y="3762771"/>
            <a:ext cx="1640762" cy="1640762"/>
          </a:xfrm>
          <a:custGeom>
            <a:rect b="b" l="l" r="r" t="t"/>
            <a:pathLst>
              <a:path extrusionOk="0" h="1640762" w="1640762">
                <a:moveTo>
                  <a:pt x="0" y="0"/>
                </a:moveTo>
                <a:lnTo>
                  <a:pt x="1640762" y="0"/>
                </a:lnTo>
                <a:lnTo>
                  <a:pt x="1640762" y="1640762"/>
                </a:lnTo>
                <a:lnTo>
                  <a:pt x="0" y="164076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10" name="Google Shape;110;p2"/>
          <p:cNvGrpSpPr/>
          <p:nvPr/>
        </p:nvGrpSpPr>
        <p:grpSpPr>
          <a:xfrm>
            <a:off x="2413094" y="2023663"/>
            <a:ext cx="15669145" cy="1190434"/>
            <a:chOff x="0" y="-38100"/>
            <a:chExt cx="3431400" cy="260700"/>
          </a:xfrm>
        </p:grpSpPr>
        <p:sp>
          <p:nvSpPr>
            <p:cNvPr id="111" name="Google Shape;111;p2"/>
            <p:cNvSpPr/>
            <p:nvPr/>
          </p:nvSpPr>
          <p:spPr>
            <a:xfrm>
              <a:off x="0" y="0"/>
              <a:ext cx="3431275" cy="222554"/>
            </a:xfrm>
            <a:custGeom>
              <a:rect b="b" l="l" r="r" t="t"/>
              <a:pathLst>
                <a:path extrusionOk="0" h="222554" w="3431275">
                  <a:moveTo>
                    <a:pt x="0" y="0"/>
                  </a:moveTo>
                  <a:lnTo>
                    <a:pt x="3431275" y="0"/>
                  </a:lnTo>
                  <a:lnTo>
                    <a:pt x="3431275" y="222554"/>
                  </a:lnTo>
                  <a:lnTo>
                    <a:pt x="0" y="222554"/>
                  </a:lnTo>
                  <a:close/>
                </a:path>
              </a:pathLst>
            </a:custGeom>
            <a:noFill/>
            <a:ln cap="sq" cmpd="sng" w="47625">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txBox="1"/>
            <p:nvPr/>
          </p:nvSpPr>
          <p:spPr>
            <a:xfrm>
              <a:off x="0" y="-38100"/>
              <a:ext cx="3431400" cy="260700"/>
            </a:xfrm>
            <a:prstGeom prst="rect">
              <a:avLst/>
            </a:prstGeom>
            <a:noFill/>
            <a:ln>
              <a:noFill/>
            </a:ln>
          </p:spPr>
          <p:txBody>
            <a:bodyPr anchorCtr="0" anchor="ctr" bIns="61075" lIns="61075" spcFirstLastPara="1" rIns="61075" wrap="square" tIns="61075">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3" name="Google Shape;113;p2"/>
          <p:cNvSpPr txBox="1"/>
          <p:nvPr/>
        </p:nvSpPr>
        <p:spPr>
          <a:xfrm>
            <a:off x="2534750" y="2218473"/>
            <a:ext cx="16246200" cy="52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IAM Policy Fundamentals &amp; the Privilege Escalation Landscape</a:t>
            </a:r>
            <a:endParaRPr b="0" i="0" sz="1400" u="none" cap="none" strike="noStrike">
              <a:solidFill>
                <a:srgbClr val="000000"/>
              </a:solidFill>
              <a:latin typeface="Arial"/>
              <a:ea typeface="Arial"/>
              <a:cs typeface="Arial"/>
              <a:sym typeface="Arial"/>
            </a:endParaRPr>
          </a:p>
        </p:txBody>
      </p:sp>
      <p:sp>
        <p:nvSpPr>
          <p:cNvPr id="114" name="Google Shape;114;p2"/>
          <p:cNvSpPr txBox="1"/>
          <p:nvPr/>
        </p:nvSpPr>
        <p:spPr>
          <a:xfrm>
            <a:off x="2413094" y="1632361"/>
            <a:ext cx="17013000" cy="4701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Layin’ down the law</a:t>
            </a:r>
            <a:endParaRPr b="0" i="0" sz="1400" u="none" cap="none" strike="noStrike">
              <a:solidFill>
                <a:srgbClr val="000000"/>
              </a:solidFill>
              <a:latin typeface="Arial"/>
              <a:ea typeface="Arial"/>
              <a:cs typeface="Arial"/>
              <a:sym typeface="Arial"/>
            </a:endParaRPr>
          </a:p>
        </p:txBody>
      </p:sp>
      <p:grpSp>
        <p:nvGrpSpPr>
          <p:cNvPr id="115" name="Google Shape;115;p2"/>
          <p:cNvGrpSpPr/>
          <p:nvPr/>
        </p:nvGrpSpPr>
        <p:grpSpPr>
          <a:xfrm>
            <a:off x="2413094" y="4239798"/>
            <a:ext cx="15669145" cy="1190434"/>
            <a:chOff x="0" y="-38100"/>
            <a:chExt cx="3431400" cy="260700"/>
          </a:xfrm>
        </p:grpSpPr>
        <p:sp>
          <p:nvSpPr>
            <p:cNvPr id="116" name="Google Shape;116;p2"/>
            <p:cNvSpPr/>
            <p:nvPr/>
          </p:nvSpPr>
          <p:spPr>
            <a:xfrm>
              <a:off x="0" y="0"/>
              <a:ext cx="3431275" cy="222554"/>
            </a:xfrm>
            <a:custGeom>
              <a:rect b="b" l="l" r="r" t="t"/>
              <a:pathLst>
                <a:path extrusionOk="0" h="222554" w="3431275">
                  <a:moveTo>
                    <a:pt x="0" y="0"/>
                  </a:moveTo>
                  <a:lnTo>
                    <a:pt x="3431275" y="0"/>
                  </a:lnTo>
                  <a:lnTo>
                    <a:pt x="3431275" y="222554"/>
                  </a:lnTo>
                  <a:lnTo>
                    <a:pt x="0" y="222554"/>
                  </a:lnTo>
                  <a:close/>
                </a:path>
              </a:pathLst>
            </a:custGeom>
            <a:noFill/>
            <a:ln cap="sq" cmpd="sng" w="47625">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2"/>
            <p:cNvSpPr txBox="1"/>
            <p:nvPr/>
          </p:nvSpPr>
          <p:spPr>
            <a:xfrm>
              <a:off x="0" y="-38100"/>
              <a:ext cx="3431400" cy="260700"/>
            </a:xfrm>
            <a:prstGeom prst="rect">
              <a:avLst/>
            </a:prstGeom>
            <a:noFill/>
            <a:ln>
              <a:noFill/>
            </a:ln>
          </p:spPr>
          <p:txBody>
            <a:bodyPr anchorCtr="0" anchor="ctr" bIns="61075" lIns="61075" spcFirstLastPara="1" rIns="61075" wrap="square" tIns="61075">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2"/>
          <p:cNvSpPr txBox="1"/>
          <p:nvPr/>
        </p:nvSpPr>
        <p:spPr>
          <a:xfrm>
            <a:off x="2534750" y="4432824"/>
            <a:ext cx="16246200" cy="52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Use open source tools to find privilege escalation paths in a real AWS environment</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2413094" y="3848496"/>
            <a:ext cx="17013000" cy="4701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Layin’ down the law - lab</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a:off x="630774" y="6433300"/>
            <a:ext cx="1608812" cy="1608812"/>
          </a:xfrm>
          <a:custGeom>
            <a:rect b="b" l="l" r="r" t="t"/>
            <a:pathLst>
              <a:path extrusionOk="0" h="1608812" w="1608812">
                <a:moveTo>
                  <a:pt x="0" y="0"/>
                </a:moveTo>
                <a:lnTo>
                  <a:pt x="1608812" y="0"/>
                </a:lnTo>
                <a:lnTo>
                  <a:pt x="1608812" y="1608812"/>
                </a:lnTo>
                <a:lnTo>
                  <a:pt x="0" y="160881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21" name="Google Shape;121;p2"/>
          <p:cNvGrpSpPr/>
          <p:nvPr/>
        </p:nvGrpSpPr>
        <p:grpSpPr>
          <a:xfrm>
            <a:off x="2413094" y="6605253"/>
            <a:ext cx="15669145" cy="1320706"/>
            <a:chOff x="0" y="-66675"/>
            <a:chExt cx="3431400" cy="289229"/>
          </a:xfrm>
        </p:grpSpPr>
        <p:sp>
          <p:nvSpPr>
            <p:cNvPr id="122" name="Google Shape;122;p2"/>
            <p:cNvSpPr/>
            <p:nvPr/>
          </p:nvSpPr>
          <p:spPr>
            <a:xfrm>
              <a:off x="0" y="0"/>
              <a:ext cx="3431275" cy="222554"/>
            </a:xfrm>
            <a:custGeom>
              <a:rect b="b" l="l" r="r" t="t"/>
              <a:pathLst>
                <a:path extrusionOk="0" h="222554" w="3431275">
                  <a:moveTo>
                    <a:pt x="0" y="0"/>
                  </a:moveTo>
                  <a:lnTo>
                    <a:pt x="3431275" y="0"/>
                  </a:lnTo>
                  <a:lnTo>
                    <a:pt x="3431275" y="222554"/>
                  </a:lnTo>
                  <a:lnTo>
                    <a:pt x="0" y="222554"/>
                  </a:lnTo>
                  <a:close/>
                </a:path>
              </a:pathLst>
            </a:custGeom>
            <a:noFill/>
            <a:ln cap="sq" cmpd="sng" w="47625">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2"/>
            <p:cNvSpPr txBox="1"/>
            <p:nvPr/>
          </p:nvSpPr>
          <p:spPr>
            <a:xfrm>
              <a:off x="0" y="-66675"/>
              <a:ext cx="3431400" cy="289200"/>
            </a:xfrm>
            <a:prstGeom prst="rect">
              <a:avLst/>
            </a:prstGeom>
            <a:noFill/>
            <a:ln>
              <a:noFill/>
            </a:ln>
          </p:spPr>
          <p:txBody>
            <a:bodyPr anchorCtr="0" anchor="ctr" bIns="61075" lIns="61075" spcFirstLastPara="1" rIns="61075" wrap="square" tIns="61075">
              <a:noAutofit/>
            </a:bodyPr>
            <a:lstStyle/>
            <a:p>
              <a:pPr indent="0" lvl="0" marL="0" marR="0" rtl="0" algn="ctr">
                <a:lnSpc>
                  <a:spcPct val="23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2"/>
          <p:cNvSpPr txBox="1"/>
          <p:nvPr/>
        </p:nvSpPr>
        <p:spPr>
          <a:xfrm>
            <a:off x="2534750" y="6940070"/>
            <a:ext cx="16246200" cy="538200"/>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Clr>
                <a:srgbClr val="000000"/>
              </a:buClr>
              <a:buSzPts val="3189"/>
              <a:buFont typeface="Arial"/>
              <a:buNone/>
            </a:pPr>
            <a:r>
              <a:rPr b="1" i="0" lang="en-US" sz="3189" u="none" cap="none" strike="noStrike">
                <a:solidFill>
                  <a:srgbClr val="FFFFFF"/>
                </a:solidFill>
                <a:latin typeface="Assistant"/>
                <a:ea typeface="Assistant"/>
                <a:cs typeface="Assistant"/>
                <a:sym typeface="Assistant"/>
              </a:rPr>
              <a:t>Security Guardrails, Policy Evaluation &amp; Defense in Depth</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2413094" y="6344433"/>
            <a:ext cx="17013000" cy="4701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Fencin’ the Frontier</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630774" y="8394537"/>
            <a:ext cx="1640762" cy="1640762"/>
          </a:xfrm>
          <a:custGeom>
            <a:rect b="b" l="l" r="r" t="t"/>
            <a:pathLst>
              <a:path extrusionOk="0" h="1640762" w="1640762">
                <a:moveTo>
                  <a:pt x="0" y="0"/>
                </a:moveTo>
                <a:lnTo>
                  <a:pt x="1640762" y="0"/>
                </a:lnTo>
                <a:lnTo>
                  <a:pt x="1640762" y="1640762"/>
                </a:lnTo>
                <a:lnTo>
                  <a:pt x="0" y="164076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27" name="Google Shape;127;p2"/>
          <p:cNvGrpSpPr/>
          <p:nvPr/>
        </p:nvGrpSpPr>
        <p:grpSpPr>
          <a:xfrm>
            <a:off x="2413094" y="8871564"/>
            <a:ext cx="15669145" cy="1190434"/>
            <a:chOff x="0" y="-38100"/>
            <a:chExt cx="3431400" cy="260700"/>
          </a:xfrm>
        </p:grpSpPr>
        <p:sp>
          <p:nvSpPr>
            <p:cNvPr id="128" name="Google Shape;128;p2"/>
            <p:cNvSpPr/>
            <p:nvPr/>
          </p:nvSpPr>
          <p:spPr>
            <a:xfrm>
              <a:off x="0" y="0"/>
              <a:ext cx="3431275" cy="222554"/>
            </a:xfrm>
            <a:custGeom>
              <a:rect b="b" l="l" r="r" t="t"/>
              <a:pathLst>
                <a:path extrusionOk="0" h="222554" w="3431275">
                  <a:moveTo>
                    <a:pt x="0" y="0"/>
                  </a:moveTo>
                  <a:lnTo>
                    <a:pt x="3431275" y="0"/>
                  </a:lnTo>
                  <a:lnTo>
                    <a:pt x="3431275" y="222554"/>
                  </a:lnTo>
                  <a:lnTo>
                    <a:pt x="0" y="222554"/>
                  </a:lnTo>
                  <a:close/>
                </a:path>
              </a:pathLst>
            </a:custGeom>
            <a:noFill/>
            <a:ln cap="sq" cmpd="sng" w="47625">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2"/>
            <p:cNvSpPr txBox="1"/>
            <p:nvPr/>
          </p:nvSpPr>
          <p:spPr>
            <a:xfrm>
              <a:off x="0" y="-38100"/>
              <a:ext cx="3431400" cy="260700"/>
            </a:xfrm>
            <a:prstGeom prst="rect">
              <a:avLst/>
            </a:prstGeom>
            <a:noFill/>
            <a:ln>
              <a:noFill/>
            </a:ln>
          </p:spPr>
          <p:txBody>
            <a:bodyPr anchorCtr="0" anchor="ctr" bIns="61075" lIns="61075" spcFirstLastPara="1" rIns="61075" wrap="square" tIns="61075">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p2"/>
          <p:cNvSpPr txBox="1"/>
          <p:nvPr/>
        </p:nvSpPr>
        <p:spPr>
          <a:xfrm>
            <a:off x="2534750" y="9066374"/>
            <a:ext cx="15396300" cy="52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Exploit the vulnerabilities you found in lab 1 and use guardrails to block the privesc paths</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2413094" y="8480262"/>
            <a:ext cx="17013000" cy="4701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Fencin’ the Frontier- lab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descr="AWS Identity and Access Management (IAM) service icon." id="140" name="Google Shape;140;p4"/>
          <p:cNvSpPr/>
          <p:nvPr/>
        </p:nvSpPr>
        <p:spPr>
          <a:xfrm>
            <a:off x="13495405" y="5274311"/>
            <a:ext cx="2360854" cy="2360854"/>
          </a:xfrm>
          <a:custGeom>
            <a:rect b="b" l="l" r="r" t="t"/>
            <a:pathLst>
              <a:path extrusionOk="0" h="2360854" w="2360854">
                <a:moveTo>
                  <a:pt x="0" y="0"/>
                </a:moveTo>
                <a:lnTo>
                  <a:pt x="2360853" y="0"/>
                </a:lnTo>
                <a:lnTo>
                  <a:pt x="2360853" y="2360853"/>
                </a:lnTo>
                <a:lnTo>
                  <a:pt x="0" y="236085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4"/>
          <p:cNvSpPr txBox="1"/>
          <p:nvPr/>
        </p:nvSpPr>
        <p:spPr>
          <a:xfrm>
            <a:off x="599174" y="1461075"/>
            <a:ext cx="11701500" cy="85134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4873"/>
              <a:buFont typeface="Arial"/>
              <a:buNone/>
            </a:pPr>
            <a:r>
              <a:rPr b="1" i="0" lang="en-US" sz="4873" u="none" cap="none" strike="noStrike">
                <a:solidFill>
                  <a:srgbClr val="F8F8F8"/>
                </a:solidFill>
                <a:latin typeface="Assistant"/>
                <a:ea typeface="Assistant"/>
                <a:cs typeface="Assistant"/>
                <a:sym typeface="Assistant"/>
              </a:rPr>
              <a:t>AWS Identity and Access Management (IAM) is a web service that helps you securely control access to AWS resources. </a:t>
            </a:r>
            <a:r>
              <a:rPr b="1" i="0" lang="en-US" sz="4873" u="none" cap="none" strike="noStrike">
                <a:solidFill>
                  <a:srgbClr val="FFFFFF"/>
                </a:solidFill>
                <a:latin typeface="Assistant"/>
                <a:ea typeface="Assistant"/>
                <a:cs typeface="Assistant"/>
                <a:sym typeface="Assistant"/>
              </a:rPr>
              <a:t>With IAM, you can </a:t>
            </a:r>
            <a:r>
              <a:rPr b="1" i="0" lang="en-US" sz="4873" u="none" cap="none" strike="noStrike">
                <a:solidFill>
                  <a:srgbClr val="FC6D26"/>
                </a:solidFill>
                <a:latin typeface="Assistant"/>
                <a:ea typeface="Assistant"/>
                <a:cs typeface="Assistant"/>
                <a:sym typeface="Assistant"/>
              </a:rPr>
              <a:t>manage permissions</a:t>
            </a:r>
            <a:r>
              <a:rPr b="1" i="0" lang="en-US" sz="4873" u="none" cap="none" strike="noStrike">
                <a:solidFill>
                  <a:srgbClr val="FFFFFF"/>
                </a:solidFill>
                <a:latin typeface="Assistant"/>
                <a:ea typeface="Assistant"/>
                <a:cs typeface="Assistant"/>
                <a:sym typeface="Assistant"/>
              </a:rPr>
              <a:t> that control which AWS resources users can access.</a:t>
            </a:r>
            <a:r>
              <a:rPr b="1" i="0" lang="en-US" sz="4873" u="none" cap="none" strike="noStrike">
                <a:solidFill>
                  <a:srgbClr val="F8F8F8"/>
                </a:solidFill>
                <a:latin typeface="Assistant"/>
                <a:ea typeface="Assistant"/>
                <a:cs typeface="Assistant"/>
                <a:sym typeface="Assistant"/>
              </a:rPr>
              <a:t> </a:t>
            </a:r>
            <a:endParaRPr b="1" i="0" sz="4873" u="none" cap="none" strike="noStrike">
              <a:solidFill>
                <a:srgbClr val="F8F8F8"/>
              </a:solidFill>
              <a:latin typeface="Assistant"/>
              <a:ea typeface="Assistant"/>
              <a:cs typeface="Assistant"/>
              <a:sym typeface="Assistant"/>
            </a:endParaRPr>
          </a:p>
          <a:p>
            <a:pPr indent="0" lvl="0" marL="0" marR="0" rtl="0" algn="ctr">
              <a:lnSpc>
                <a:spcPct val="115000"/>
              </a:lnSpc>
              <a:spcBef>
                <a:spcPts val="0"/>
              </a:spcBef>
              <a:spcAft>
                <a:spcPts val="0"/>
              </a:spcAft>
              <a:buClr>
                <a:srgbClr val="000000"/>
              </a:buClr>
              <a:buSzPts val="4873"/>
              <a:buFont typeface="Arial"/>
              <a:buNone/>
            </a:pPr>
            <a:r>
              <a:t/>
            </a:r>
            <a:endParaRPr b="1" i="0" sz="4873" u="none" cap="none" strike="noStrike">
              <a:solidFill>
                <a:srgbClr val="F8F8F8"/>
              </a:solidFill>
              <a:latin typeface="Assistant"/>
              <a:ea typeface="Assistant"/>
              <a:cs typeface="Assistant"/>
              <a:sym typeface="Assistant"/>
            </a:endParaRPr>
          </a:p>
          <a:p>
            <a:pPr indent="0" lvl="0" marL="0" marR="0" rtl="0" algn="ctr">
              <a:lnSpc>
                <a:spcPct val="115000"/>
              </a:lnSpc>
              <a:spcBef>
                <a:spcPts val="0"/>
              </a:spcBef>
              <a:spcAft>
                <a:spcPts val="0"/>
              </a:spcAft>
              <a:buClr>
                <a:srgbClr val="000000"/>
              </a:buClr>
              <a:buSzPts val="4873"/>
              <a:buFont typeface="Arial"/>
              <a:buNone/>
            </a:pPr>
            <a:r>
              <a:rPr b="1" i="0" lang="en-US" sz="4873" u="none" cap="none" strike="noStrike">
                <a:solidFill>
                  <a:srgbClr val="F8F8F8"/>
                </a:solidFill>
                <a:latin typeface="Assistant"/>
                <a:ea typeface="Assistant"/>
                <a:cs typeface="Assistant"/>
                <a:sym typeface="Assistant"/>
              </a:rPr>
              <a:t>You use IAM to control </a:t>
            </a:r>
            <a:r>
              <a:rPr b="1" i="0" lang="en-US" sz="4873" u="none" cap="none" strike="noStrike">
                <a:solidFill>
                  <a:srgbClr val="FC6D26"/>
                </a:solidFill>
                <a:latin typeface="Assistant"/>
                <a:ea typeface="Assistant"/>
                <a:cs typeface="Assistant"/>
                <a:sym typeface="Assistant"/>
              </a:rPr>
              <a:t>who is authenticated (signed in)</a:t>
            </a:r>
            <a:r>
              <a:rPr b="1" i="0" lang="en-US" sz="4873" u="none" cap="none" strike="noStrike">
                <a:solidFill>
                  <a:srgbClr val="F8F8F8"/>
                </a:solidFill>
                <a:latin typeface="Assistant"/>
                <a:ea typeface="Assistant"/>
                <a:cs typeface="Assistant"/>
                <a:sym typeface="Assistant"/>
              </a:rPr>
              <a:t> and </a:t>
            </a:r>
            <a:r>
              <a:rPr b="1" i="0" lang="en-US" sz="4873" u="none" cap="none" strike="noStrike">
                <a:solidFill>
                  <a:srgbClr val="FC6D26"/>
                </a:solidFill>
                <a:latin typeface="Assistant"/>
                <a:ea typeface="Assistant"/>
                <a:cs typeface="Assistant"/>
                <a:sym typeface="Assistant"/>
              </a:rPr>
              <a:t>authorized (has permissions)</a:t>
            </a:r>
            <a:r>
              <a:rPr b="1" i="0" lang="en-US" sz="4873" u="none" cap="none" strike="noStrike">
                <a:solidFill>
                  <a:srgbClr val="F8F8F8"/>
                </a:solidFill>
                <a:latin typeface="Assistant"/>
                <a:ea typeface="Assistant"/>
                <a:cs typeface="Assistant"/>
                <a:sym typeface="Assistant"/>
              </a:rPr>
              <a:t> </a:t>
            </a:r>
            <a:r>
              <a:rPr b="1" i="0" lang="en-US" sz="4873" u="none" cap="none" strike="noStrike">
                <a:solidFill>
                  <a:srgbClr val="FC6D26"/>
                </a:solidFill>
                <a:latin typeface="Assistant"/>
                <a:ea typeface="Assistant"/>
                <a:cs typeface="Assistant"/>
                <a:sym typeface="Assistant"/>
              </a:rPr>
              <a:t>to use resources. </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1362767" y="7701024"/>
            <a:ext cx="6685151" cy="1270050"/>
          </a:xfrm>
          <a:prstGeom prst="rect">
            <a:avLst/>
          </a:prstGeom>
          <a:noFill/>
          <a:ln>
            <a:noFill/>
          </a:ln>
        </p:spPr>
        <p:txBody>
          <a:bodyPr anchorCtr="0" anchor="t" bIns="0" lIns="0" spcFirstLastPara="1" rIns="0" wrap="square" tIns="0">
            <a:spAutoFit/>
          </a:bodyPr>
          <a:lstStyle/>
          <a:p>
            <a:pPr indent="0" lvl="0" marL="0" marR="0" rtl="0" algn="ctr">
              <a:lnSpc>
                <a:spcPct val="120048"/>
              </a:lnSpc>
              <a:spcBef>
                <a:spcPts val="0"/>
              </a:spcBef>
              <a:spcAft>
                <a:spcPts val="0"/>
              </a:spcAft>
              <a:buClr>
                <a:srgbClr val="000000"/>
              </a:buClr>
              <a:buSzPts val="3716"/>
              <a:buFont typeface="Arial"/>
              <a:buNone/>
            </a:pPr>
            <a:r>
              <a:rPr b="0" i="0" lang="en-US" sz="3716" u="none" cap="none" strike="noStrike">
                <a:solidFill>
                  <a:srgbClr val="FFFFFF"/>
                </a:solidFill>
                <a:latin typeface="Arial"/>
                <a:ea typeface="Arial"/>
                <a:cs typeface="Arial"/>
                <a:sym typeface="Arial"/>
              </a:rPr>
              <a:t>AWS Identity and Access Management (IAM)</a:t>
            </a:r>
            <a:endParaRPr b="0" i="0" sz="1400" u="none" cap="none" strike="noStrike">
              <a:solidFill>
                <a:srgbClr val="000000"/>
              </a:solidFill>
              <a:latin typeface="Arial"/>
              <a:ea typeface="Arial"/>
              <a:cs typeface="Arial"/>
              <a:sym typeface="Arial"/>
            </a:endParaRPr>
          </a:p>
        </p:txBody>
      </p:sp>
      <p:sp>
        <p:nvSpPr>
          <p:cNvPr id="143" name="Google Shape;143;p4"/>
          <p:cNvSpPr txBox="1"/>
          <p:nvPr/>
        </p:nvSpPr>
        <p:spPr>
          <a:xfrm>
            <a:off x="264370" y="243889"/>
            <a:ext cx="16408541" cy="100965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6599"/>
              <a:buFont typeface="Arial"/>
              <a:buNone/>
            </a:pPr>
            <a:r>
              <a:rPr b="1" i="0" lang="en-US" sz="6599" u="none" cap="none" strike="noStrike">
                <a:solidFill>
                  <a:srgbClr val="FFFFFF"/>
                </a:solidFill>
                <a:latin typeface="Assistant"/>
                <a:ea typeface="Assistant"/>
                <a:cs typeface="Assistant"/>
                <a:sym typeface="Assistant"/>
              </a:rPr>
              <a:t>What is IAM</a:t>
            </a:r>
            <a:endParaRPr b="0" i="0" sz="1400" u="none" cap="none" strike="noStrike">
              <a:solidFill>
                <a:srgbClr val="000000"/>
              </a:solidFill>
              <a:latin typeface="Arial"/>
              <a:ea typeface="Arial"/>
              <a:cs typeface="Arial"/>
              <a:sym typeface="Arial"/>
            </a:endParaRPr>
          </a:p>
        </p:txBody>
      </p:sp>
      <p:sp>
        <p:nvSpPr>
          <p:cNvPr id="144" name="Google Shape;144;p4"/>
          <p:cNvSpPr/>
          <p:nvPr/>
        </p:nvSpPr>
        <p:spPr>
          <a:xfrm>
            <a:off x="11722089" y="-454713"/>
            <a:ext cx="5966506" cy="5966506"/>
          </a:xfrm>
          <a:custGeom>
            <a:rect b="b" l="l" r="r" t="t"/>
            <a:pathLst>
              <a:path extrusionOk="0" h="5966506" w="5966506">
                <a:moveTo>
                  <a:pt x="0" y="0"/>
                </a:moveTo>
                <a:lnTo>
                  <a:pt x="5966506" y="0"/>
                </a:lnTo>
                <a:lnTo>
                  <a:pt x="5966506" y="5966506"/>
                </a:lnTo>
                <a:lnTo>
                  <a:pt x="0" y="59665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0f43c0e71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60" l="0" r="0" t="-9260"/>
            </a:stretch>
          </a:blipFill>
          <a:ln>
            <a:noFill/>
          </a:ln>
        </p:spPr>
      </p:sp>
      <p:sp>
        <p:nvSpPr>
          <p:cNvPr id="154" name="Google Shape;154;g3e0f43c0e71_0_0"/>
          <p:cNvSpPr/>
          <p:nvPr/>
        </p:nvSpPr>
        <p:spPr>
          <a:xfrm>
            <a:off x="5838424" y="479261"/>
            <a:ext cx="8932111" cy="6130526"/>
          </a:xfrm>
          <a:custGeom>
            <a:rect b="b" l="l" r="r" t="t"/>
            <a:pathLst>
              <a:path extrusionOk="0" h="6130526" w="8932111">
                <a:moveTo>
                  <a:pt x="0" y="0"/>
                </a:moveTo>
                <a:lnTo>
                  <a:pt x="8932111" y="0"/>
                </a:lnTo>
                <a:lnTo>
                  <a:pt x="8932111" y="6130526"/>
                </a:lnTo>
                <a:lnTo>
                  <a:pt x="0" y="6130526"/>
                </a:lnTo>
                <a:lnTo>
                  <a:pt x="0" y="0"/>
                </a:lnTo>
                <a:close/>
              </a:path>
            </a:pathLst>
          </a:custGeom>
          <a:blipFill rotWithShape="1">
            <a:blip r:embed="rId4">
              <a:alphaModFix/>
            </a:blip>
            <a:stretch>
              <a:fillRect b="0" l="0" r="0" t="0"/>
            </a:stretch>
          </a:blipFill>
          <a:ln>
            <a:noFill/>
          </a:ln>
        </p:spPr>
      </p:sp>
      <p:sp>
        <p:nvSpPr>
          <p:cNvPr id="155" name="Google Shape;155;g3e0f43c0e71_0_0"/>
          <p:cNvSpPr/>
          <p:nvPr/>
        </p:nvSpPr>
        <p:spPr>
          <a:xfrm>
            <a:off x="744610" y="4604315"/>
            <a:ext cx="6638372" cy="4526163"/>
          </a:xfrm>
          <a:custGeom>
            <a:rect b="b" l="l" r="r" t="t"/>
            <a:pathLst>
              <a:path extrusionOk="0" h="4526163" w="6638372">
                <a:moveTo>
                  <a:pt x="0" y="0"/>
                </a:moveTo>
                <a:lnTo>
                  <a:pt x="6638373" y="0"/>
                </a:lnTo>
                <a:lnTo>
                  <a:pt x="6638373" y="4526163"/>
                </a:lnTo>
                <a:lnTo>
                  <a:pt x="0" y="4526163"/>
                </a:lnTo>
                <a:lnTo>
                  <a:pt x="0" y="0"/>
                </a:lnTo>
                <a:close/>
              </a:path>
            </a:pathLst>
          </a:custGeom>
          <a:blipFill rotWithShape="1">
            <a:blip r:embed="rId5">
              <a:alphaModFix/>
            </a:blip>
            <a:stretch>
              <a:fillRect b="0" l="0" r="0" t="0"/>
            </a:stretch>
          </a:blipFill>
          <a:ln>
            <a:noFill/>
          </a:ln>
        </p:spPr>
      </p:sp>
      <p:sp>
        <p:nvSpPr>
          <p:cNvPr id="156" name="Google Shape;156;g3e0f43c0e71_0_0"/>
          <p:cNvSpPr/>
          <p:nvPr/>
        </p:nvSpPr>
        <p:spPr>
          <a:xfrm>
            <a:off x="2482126" y="5423780"/>
            <a:ext cx="3706698" cy="3706698"/>
          </a:xfrm>
          <a:custGeom>
            <a:rect b="b" l="l" r="r" t="t"/>
            <a:pathLst>
              <a:path extrusionOk="0" h="3706698" w="3706698">
                <a:moveTo>
                  <a:pt x="0" y="0"/>
                </a:moveTo>
                <a:lnTo>
                  <a:pt x="3706698" y="0"/>
                </a:lnTo>
                <a:lnTo>
                  <a:pt x="3706698" y="3706698"/>
                </a:lnTo>
                <a:lnTo>
                  <a:pt x="0" y="3706698"/>
                </a:lnTo>
                <a:lnTo>
                  <a:pt x="0" y="0"/>
                </a:lnTo>
                <a:close/>
              </a:path>
            </a:pathLst>
          </a:custGeom>
          <a:blipFill rotWithShape="1">
            <a:blip r:embed="rId6">
              <a:alphaModFix/>
            </a:blip>
            <a:stretch>
              <a:fillRect b="0" l="0" r="0" t="0"/>
            </a:stretch>
          </a:blipFill>
          <a:ln>
            <a:noFill/>
          </a:ln>
        </p:spPr>
      </p:sp>
      <p:sp>
        <p:nvSpPr>
          <p:cNvPr id="157" name="Google Shape;157;g3e0f43c0e71_0_0"/>
          <p:cNvSpPr/>
          <p:nvPr/>
        </p:nvSpPr>
        <p:spPr>
          <a:xfrm>
            <a:off x="10103735" y="5911082"/>
            <a:ext cx="7364683" cy="4900862"/>
          </a:xfrm>
          <a:custGeom>
            <a:rect b="b" l="l" r="r" t="t"/>
            <a:pathLst>
              <a:path extrusionOk="0" h="4900862" w="7364683">
                <a:moveTo>
                  <a:pt x="0" y="0"/>
                </a:moveTo>
                <a:lnTo>
                  <a:pt x="7364682" y="0"/>
                </a:lnTo>
                <a:lnTo>
                  <a:pt x="7364682" y="4900862"/>
                </a:lnTo>
                <a:lnTo>
                  <a:pt x="0" y="4900862"/>
                </a:lnTo>
                <a:lnTo>
                  <a:pt x="0" y="0"/>
                </a:lnTo>
                <a:close/>
              </a:path>
            </a:pathLst>
          </a:custGeom>
          <a:blipFill rotWithShape="1">
            <a:blip r:embed="rId7">
              <a:alphaModFix/>
            </a:blip>
            <a:stretch>
              <a:fillRect b="0" l="0" r="0" t="0"/>
            </a:stretch>
          </a:blipFill>
          <a:ln>
            <a:noFill/>
          </a:ln>
        </p:spPr>
      </p:sp>
      <p:sp>
        <p:nvSpPr>
          <p:cNvPr id="158" name="Google Shape;158;g3e0f43c0e71_0_0"/>
          <p:cNvSpPr txBox="1"/>
          <p:nvPr/>
        </p:nvSpPr>
        <p:spPr>
          <a:xfrm>
            <a:off x="744610" y="164724"/>
            <a:ext cx="16408500" cy="11544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i="0" lang="en-US" sz="7499" u="none" cap="none" strike="noStrike">
                <a:solidFill>
                  <a:srgbClr val="FFFFFF"/>
                </a:solidFill>
                <a:latin typeface="Assistant"/>
                <a:ea typeface="Assistant"/>
                <a:cs typeface="Assistant"/>
                <a:sym typeface="Assistant"/>
              </a:rPr>
              <a:t>Cloud Computing APIs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grpSp>
        <p:nvGrpSpPr>
          <p:cNvPr id="167" name="Google Shape;167;g3e0f43c0e71_0_88"/>
          <p:cNvGrpSpPr/>
          <p:nvPr/>
        </p:nvGrpSpPr>
        <p:grpSpPr>
          <a:xfrm>
            <a:off x="375338" y="408535"/>
            <a:ext cx="3890327" cy="2652496"/>
            <a:chOff x="0" y="0"/>
            <a:chExt cx="5187103" cy="3536661"/>
          </a:xfrm>
        </p:grpSpPr>
        <p:sp>
          <p:nvSpPr>
            <p:cNvPr id="168" name="Google Shape;168;g3e0f43c0e71_0_88"/>
            <p:cNvSpPr/>
            <p:nvPr/>
          </p:nvSpPr>
          <p:spPr>
            <a:xfrm>
              <a:off x="0" y="0"/>
              <a:ext cx="5187103" cy="3536661"/>
            </a:xfrm>
            <a:custGeom>
              <a:rect b="b" l="l" r="r" t="t"/>
              <a:pathLst>
                <a:path extrusionOk="0" h="3536661" w="5187103">
                  <a:moveTo>
                    <a:pt x="0" y="0"/>
                  </a:moveTo>
                  <a:lnTo>
                    <a:pt x="5187103" y="0"/>
                  </a:lnTo>
                  <a:lnTo>
                    <a:pt x="5187103" y="3536661"/>
                  </a:lnTo>
                  <a:lnTo>
                    <a:pt x="0" y="3536661"/>
                  </a:lnTo>
                  <a:lnTo>
                    <a:pt x="0" y="0"/>
                  </a:lnTo>
                  <a:close/>
                </a:path>
              </a:pathLst>
            </a:custGeom>
            <a:blipFill rotWithShape="1">
              <a:blip r:embed="rId3">
                <a:alphaModFix/>
              </a:blip>
              <a:stretch>
                <a:fillRect b="0" l="0" r="0" t="0"/>
              </a:stretch>
            </a:blipFill>
            <a:ln>
              <a:noFill/>
            </a:ln>
          </p:spPr>
        </p:sp>
        <p:sp>
          <p:nvSpPr>
            <p:cNvPr id="169" name="Google Shape;169;g3e0f43c0e71_0_88"/>
            <p:cNvSpPr/>
            <p:nvPr/>
          </p:nvSpPr>
          <p:spPr>
            <a:xfrm>
              <a:off x="1357663" y="640315"/>
              <a:ext cx="2896346" cy="2896346"/>
            </a:xfrm>
            <a:custGeom>
              <a:rect b="b" l="l" r="r" t="t"/>
              <a:pathLst>
                <a:path extrusionOk="0" h="2896346" w="2896346">
                  <a:moveTo>
                    <a:pt x="0" y="0"/>
                  </a:moveTo>
                  <a:lnTo>
                    <a:pt x="2896346" y="0"/>
                  </a:lnTo>
                  <a:lnTo>
                    <a:pt x="2896346" y="2896346"/>
                  </a:lnTo>
                  <a:lnTo>
                    <a:pt x="0" y="2896346"/>
                  </a:lnTo>
                  <a:lnTo>
                    <a:pt x="0" y="0"/>
                  </a:lnTo>
                  <a:close/>
                </a:path>
              </a:pathLst>
            </a:custGeom>
            <a:blipFill rotWithShape="1">
              <a:blip r:embed="rId4">
                <a:alphaModFix/>
              </a:blip>
              <a:stretch>
                <a:fillRect b="0" l="0" r="0" t="0"/>
              </a:stretch>
            </a:blipFill>
            <a:ln>
              <a:noFill/>
            </a:ln>
          </p:spPr>
        </p:sp>
      </p:grpSp>
      <p:sp>
        <p:nvSpPr>
          <p:cNvPr id="170" name="Google Shape;170;g3e0f43c0e71_0_88"/>
          <p:cNvSpPr txBox="1"/>
          <p:nvPr/>
        </p:nvSpPr>
        <p:spPr>
          <a:xfrm>
            <a:off x="3440392" y="457750"/>
            <a:ext cx="14302500" cy="2895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850" u="none" cap="none" strike="noStrike">
                <a:solidFill>
                  <a:srgbClr val="FFFFFF"/>
                </a:solidFill>
                <a:latin typeface="Assistant"/>
                <a:ea typeface="Assistant"/>
                <a:cs typeface="Assistant"/>
                <a:sym typeface="Assistant"/>
              </a:rPr>
              <a:t>Creating an S3 bucket → s3:CreateBucket</a:t>
            </a:r>
            <a:endParaRPr/>
          </a:p>
          <a:p>
            <a:pPr indent="0" lvl="0" marL="0" marR="0" rtl="0" algn="ctr">
              <a:lnSpc>
                <a:spcPct val="140000"/>
              </a:lnSpc>
              <a:spcBef>
                <a:spcPts val="0"/>
              </a:spcBef>
              <a:spcAft>
                <a:spcPts val="0"/>
              </a:spcAft>
              <a:buNone/>
            </a:pPr>
            <a:r>
              <a:rPr b="1" i="0" lang="en-US" sz="2850" u="none" cap="none" strike="noStrike">
                <a:solidFill>
                  <a:srgbClr val="FFFFFF"/>
                </a:solidFill>
                <a:latin typeface="Assistant"/>
                <a:ea typeface="Assistant"/>
                <a:cs typeface="Assistant"/>
                <a:sym typeface="Assistant"/>
              </a:rPr>
              <a:t>Getting an S3 object → s3:GetObject</a:t>
            </a:r>
            <a:endParaRPr/>
          </a:p>
          <a:p>
            <a:pPr indent="0" lvl="0" marL="0" marR="0" rtl="0" algn="ctr">
              <a:lnSpc>
                <a:spcPct val="140000"/>
              </a:lnSpc>
              <a:spcBef>
                <a:spcPts val="0"/>
              </a:spcBef>
              <a:spcAft>
                <a:spcPts val="0"/>
              </a:spcAft>
              <a:buNone/>
            </a:pPr>
            <a:r>
              <a:rPr b="1" i="0" lang="en-US" sz="2850" u="none" cap="none" strike="noStrike">
                <a:solidFill>
                  <a:srgbClr val="FFFFFF"/>
                </a:solidFill>
                <a:latin typeface="Assistant"/>
                <a:ea typeface="Assistant"/>
                <a:cs typeface="Assistant"/>
                <a:sym typeface="Assistant"/>
              </a:rPr>
              <a:t>See IAM roles in account  → iam:ListRoles</a:t>
            </a:r>
            <a:endParaRPr/>
          </a:p>
          <a:p>
            <a:pPr indent="0" lvl="0" marL="0" marR="0" rtl="0" algn="ctr">
              <a:lnSpc>
                <a:spcPct val="140000"/>
              </a:lnSpc>
              <a:spcBef>
                <a:spcPts val="0"/>
              </a:spcBef>
              <a:spcAft>
                <a:spcPts val="0"/>
              </a:spcAft>
              <a:buNone/>
            </a:pPr>
            <a:r>
              <a:rPr b="1" i="0" lang="en-US" sz="2850" u="none" cap="none" strike="noStrike">
                <a:solidFill>
                  <a:srgbClr val="FFFFFF"/>
                </a:solidFill>
                <a:latin typeface="Assistant"/>
                <a:ea typeface="Assistant"/>
                <a:cs typeface="Assistant"/>
                <a:sym typeface="Assistant"/>
              </a:rPr>
              <a:t>Starting an EC2 instance → ec2:StartInstances</a:t>
            </a:r>
            <a:endParaRPr/>
          </a:p>
          <a:p>
            <a:pPr indent="0" lvl="0" marL="0" marR="0" rtl="0" algn="ctr">
              <a:lnSpc>
                <a:spcPct val="140000"/>
              </a:lnSpc>
              <a:spcBef>
                <a:spcPts val="0"/>
              </a:spcBef>
              <a:spcAft>
                <a:spcPts val="0"/>
              </a:spcAft>
              <a:buNone/>
            </a:pPr>
            <a:r>
              <a:rPr b="1" i="0" lang="en-US" sz="2850" u="none" cap="none" strike="noStrike">
                <a:solidFill>
                  <a:srgbClr val="FFFFFF"/>
                </a:solidFill>
                <a:latin typeface="Assistant"/>
                <a:ea typeface="Assistant"/>
                <a:cs typeface="Assistant"/>
                <a:sym typeface="Assistant"/>
              </a:rPr>
              <a:t>Deleting a Lambda function → lambda:DeleteFunction</a:t>
            </a:r>
            <a:endParaRPr/>
          </a:p>
        </p:txBody>
      </p:sp>
      <p:grpSp>
        <p:nvGrpSpPr>
          <p:cNvPr id="171" name="Google Shape;171;g3e0f43c0e71_0_88"/>
          <p:cNvGrpSpPr/>
          <p:nvPr/>
        </p:nvGrpSpPr>
        <p:grpSpPr>
          <a:xfrm>
            <a:off x="-1285330" y="2964190"/>
            <a:ext cx="19510595" cy="8006573"/>
            <a:chOff x="-1285330" y="2964190"/>
            <a:chExt cx="19510595" cy="8006573"/>
          </a:xfrm>
        </p:grpSpPr>
        <p:sp>
          <p:nvSpPr>
            <p:cNvPr id="172" name="Google Shape;172;g3e0f43c0e71_0_88"/>
            <p:cNvSpPr/>
            <p:nvPr/>
          </p:nvSpPr>
          <p:spPr>
            <a:xfrm>
              <a:off x="-1285330" y="2964190"/>
              <a:ext cx="7211663" cy="4949702"/>
            </a:xfrm>
            <a:custGeom>
              <a:rect b="b" l="l" r="r" t="t"/>
              <a:pathLst>
                <a:path extrusionOk="0" h="4949702" w="7211663">
                  <a:moveTo>
                    <a:pt x="0" y="0"/>
                  </a:moveTo>
                  <a:lnTo>
                    <a:pt x="7211663" y="0"/>
                  </a:lnTo>
                  <a:lnTo>
                    <a:pt x="7211663" y="4949702"/>
                  </a:lnTo>
                  <a:lnTo>
                    <a:pt x="0" y="4949702"/>
                  </a:lnTo>
                  <a:lnTo>
                    <a:pt x="0" y="0"/>
                  </a:lnTo>
                  <a:close/>
                </a:path>
              </a:pathLst>
            </a:custGeom>
            <a:blipFill rotWithShape="1">
              <a:blip r:embed="rId5">
                <a:alphaModFix/>
              </a:blip>
              <a:stretch>
                <a:fillRect b="0" l="0" r="0" t="0"/>
              </a:stretch>
            </a:blipFill>
            <a:ln>
              <a:noFill/>
            </a:ln>
          </p:spPr>
        </p:sp>
        <p:sp>
          <p:nvSpPr>
            <p:cNvPr id="173" name="Google Shape;173;g3e0f43c0e71_0_88"/>
            <p:cNvSpPr/>
            <p:nvPr/>
          </p:nvSpPr>
          <p:spPr>
            <a:xfrm>
              <a:off x="-584360" y="6310521"/>
              <a:ext cx="7003095" cy="4660242"/>
            </a:xfrm>
            <a:custGeom>
              <a:rect b="b" l="l" r="r" t="t"/>
              <a:pathLst>
                <a:path extrusionOk="0" h="4660242" w="7003095">
                  <a:moveTo>
                    <a:pt x="0" y="0"/>
                  </a:moveTo>
                  <a:lnTo>
                    <a:pt x="7003095" y="0"/>
                  </a:lnTo>
                  <a:lnTo>
                    <a:pt x="7003095" y="4660242"/>
                  </a:lnTo>
                  <a:lnTo>
                    <a:pt x="0" y="4660242"/>
                  </a:lnTo>
                  <a:lnTo>
                    <a:pt x="0" y="0"/>
                  </a:lnTo>
                  <a:close/>
                </a:path>
              </a:pathLst>
            </a:custGeom>
            <a:blipFill rotWithShape="1">
              <a:blip r:embed="rId6">
                <a:alphaModFix/>
              </a:blip>
              <a:stretch>
                <a:fillRect b="0" l="0" r="0" t="0"/>
              </a:stretch>
            </a:blipFill>
            <a:ln>
              <a:noFill/>
            </a:ln>
          </p:spPr>
        </p:sp>
        <p:sp>
          <p:nvSpPr>
            <p:cNvPr id="174" name="Google Shape;174;g3e0f43c0e71_0_88"/>
            <p:cNvSpPr txBox="1"/>
            <p:nvPr/>
          </p:nvSpPr>
          <p:spPr>
            <a:xfrm>
              <a:off x="5181262" y="4060004"/>
              <a:ext cx="11485200" cy="3131700"/>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i="0" lang="en-US" sz="3082" u="none" cap="none" strike="noStrike">
                  <a:solidFill>
                    <a:srgbClr val="FFFFFF"/>
                  </a:solidFill>
                  <a:latin typeface="Assistant"/>
                  <a:ea typeface="Assistant"/>
                  <a:cs typeface="Assistant"/>
                  <a:sym typeface="Assistant"/>
                </a:rPr>
                <a:t>Creating an GCP Cloud Storage bucket → storage.buckets.create</a:t>
              </a:r>
              <a:endParaRPr/>
            </a:p>
            <a:p>
              <a:pPr indent="0" lvl="0" marL="0" marR="0" rtl="0" algn="ctr">
                <a:lnSpc>
                  <a:spcPct val="140038"/>
                </a:lnSpc>
                <a:spcBef>
                  <a:spcPts val="0"/>
                </a:spcBef>
                <a:spcAft>
                  <a:spcPts val="0"/>
                </a:spcAft>
                <a:buNone/>
              </a:pPr>
              <a:r>
                <a:rPr b="1" i="0" lang="en-US" sz="3082" u="none" cap="none" strike="noStrike">
                  <a:solidFill>
                    <a:srgbClr val="FFFFFF"/>
                  </a:solidFill>
                  <a:latin typeface="Assistant"/>
                  <a:ea typeface="Assistant"/>
                  <a:cs typeface="Assistant"/>
                  <a:sym typeface="Assistant"/>
                </a:rPr>
                <a:t>Getting a Cloud Storage object → storage.objects.get </a:t>
              </a:r>
              <a:endParaRPr/>
            </a:p>
            <a:p>
              <a:pPr indent="0" lvl="0" marL="0" marR="0" rtl="0" algn="ctr">
                <a:lnSpc>
                  <a:spcPct val="140038"/>
                </a:lnSpc>
                <a:spcBef>
                  <a:spcPts val="0"/>
                </a:spcBef>
                <a:spcAft>
                  <a:spcPts val="0"/>
                </a:spcAft>
                <a:buNone/>
              </a:pPr>
              <a:r>
                <a:rPr b="1" i="0" lang="en-US" sz="3082" u="none" cap="none" strike="noStrike">
                  <a:solidFill>
                    <a:srgbClr val="FFFFFF"/>
                  </a:solidFill>
                  <a:latin typeface="Assistant"/>
                  <a:ea typeface="Assistant"/>
                  <a:cs typeface="Assistant"/>
                  <a:sym typeface="Assistant"/>
                </a:rPr>
                <a:t>See IAM roles in a project → projects.roles.list</a:t>
              </a:r>
              <a:endParaRPr/>
            </a:p>
            <a:p>
              <a:pPr indent="0" lvl="0" marL="0" marR="0" rtl="0" algn="ctr">
                <a:lnSpc>
                  <a:spcPct val="140038"/>
                </a:lnSpc>
                <a:spcBef>
                  <a:spcPts val="0"/>
                </a:spcBef>
                <a:spcAft>
                  <a:spcPts val="0"/>
                </a:spcAft>
                <a:buNone/>
              </a:pPr>
              <a:r>
                <a:rPr b="1" i="0" lang="en-US" sz="3082" u="none" cap="none" strike="noStrike">
                  <a:solidFill>
                    <a:srgbClr val="FFFFFF"/>
                  </a:solidFill>
                  <a:latin typeface="Assistant"/>
                  <a:ea typeface="Assistant"/>
                  <a:cs typeface="Assistant"/>
                  <a:sym typeface="Assistant"/>
                </a:rPr>
                <a:t>Starting a Compute Engine instance → compute.instances.start</a:t>
              </a:r>
              <a:endParaRPr/>
            </a:p>
            <a:p>
              <a:pPr indent="0" lvl="0" marL="0" marR="0" rtl="0" algn="ctr">
                <a:lnSpc>
                  <a:spcPct val="140038"/>
                </a:lnSpc>
                <a:spcBef>
                  <a:spcPts val="0"/>
                </a:spcBef>
                <a:spcAft>
                  <a:spcPts val="0"/>
                </a:spcAft>
                <a:buNone/>
              </a:pPr>
              <a:r>
                <a:rPr b="1" i="0" lang="en-US" sz="3082" u="none" cap="none" strike="noStrike">
                  <a:solidFill>
                    <a:srgbClr val="FFFFFF"/>
                  </a:solidFill>
                  <a:latin typeface="Assistant"/>
                  <a:ea typeface="Assistant"/>
                  <a:cs typeface="Assistant"/>
                  <a:sym typeface="Assistant"/>
                </a:rPr>
                <a:t>Deleting a GCP Cloud function → cloudfunctions.functions.delete</a:t>
              </a:r>
              <a:endParaRPr/>
            </a:p>
          </p:txBody>
        </p:sp>
        <p:sp>
          <p:nvSpPr>
            <p:cNvPr id="175" name="Google Shape;175;g3e0f43c0e71_0_88"/>
            <p:cNvSpPr txBox="1"/>
            <p:nvPr/>
          </p:nvSpPr>
          <p:spPr>
            <a:xfrm>
              <a:off x="4265665" y="7500739"/>
              <a:ext cx="13959600" cy="2594100"/>
            </a:xfrm>
            <a:prstGeom prst="rect">
              <a:avLst/>
            </a:prstGeom>
            <a:noFill/>
            <a:ln>
              <a:noFill/>
            </a:ln>
          </p:spPr>
          <p:txBody>
            <a:bodyPr anchorCtr="0" anchor="t" bIns="0" lIns="0" spcFirstLastPara="1" rIns="0" wrap="square" tIns="0">
              <a:spAutoFit/>
            </a:bodyPr>
            <a:lstStyle/>
            <a:p>
              <a:pPr indent="0" lvl="0" marL="0" marR="0" rtl="0" algn="ctr">
                <a:lnSpc>
                  <a:spcPct val="139976"/>
                </a:lnSpc>
                <a:spcBef>
                  <a:spcPts val="0"/>
                </a:spcBef>
                <a:spcAft>
                  <a:spcPts val="0"/>
                </a:spcAft>
                <a:buNone/>
              </a:pPr>
              <a:r>
                <a:rPr b="1" i="0" lang="en-US" sz="2554" u="none" cap="none" strike="noStrike">
                  <a:solidFill>
                    <a:srgbClr val="FFFFFF"/>
                  </a:solidFill>
                  <a:latin typeface="Assistant"/>
                  <a:ea typeface="Assistant"/>
                  <a:cs typeface="Assistant"/>
                  <a:sym typeface="Assistant"/>
                </a:rPr>
                <a:t>Creating an Azure Storage Account → Microsoft.Storage/storageAccounts/write</a:t>
              </a:r>
              <a:endParaRPr/>
            </a:p>
            <a:p>
              <a:pPr indent="0" lvl="0" marL="0" marR="0" rtl="0" algn="ctr">
                <a:lnSpc>
                  <a:spcPct val="139976"/>
                </a:lnSpc>
                <a:spcBef>
                  <a:spcPts val="0"/>
                </a:spcBef>
                <a:spcAft>
                  <a:spcPts val="0"/>
                </a:spcAft>
                <a:buNone/>
              </a:pPr>
              <a:r>
                <a:rPr b="1" i="0" lang="en-US" sz="2554" u="none" cap="none" strike="noStrike">
                  <a:solidFill>
                    <a:srgbClr val="FFFFFF"/>
                  </a:solidFill>
                  <a:latin typeface="Assistant"/>
                  <a:ea typeface="Assistant"/>
                  <a:cs typeface="Assistant"/>
                  <a:sym typeface="Assistant"/>
                </a:rPr>
                <a:t>Get an Azure blob → Microsoft.Storage/storageAccounts/blobServices/containers/blobs/read </a:t>
              </a:r>
              <a:endParaRPr/>
            </a:p>
            <a:p>
              <a:pPr indent="0" lvl="0" marL="0" marR="0" rtl="0" algn="ctr">
                <a:lnSpc>
                  <a:spcPct val="139976"/>
                </a:lnSpc>
                <a:spcBef>
                  <a:spcPts val="0"/>
                </a:spcBef>
                <a:spcAft>
                  <a:spcPts val="0"/>
                </a:spcAft>
                <a:buNone/>
              </a:pPr>
              <a:r>
                <a:rPr b="1" i="0" lang="en-US" sz="2554" u="none" cap="none" strike="noStrike">
                  <a:solidFill>
                    <a:srgbClr val="FFFFFF"/>
                  </a:solidFill>
                  <a:latin typeface="Assistant"/>
                  <a:ea typeface="Assistant"/>
                  <a:cs typeface="Assistant"/>
                  <a:sym typeface="Assistant"/>
                </a:rPr>
                <a:t>See roles in Azure → Microsoft.Authorization/roleDefinitions/read</a:t>
              </a:r>
              <a:endParaRPr/>
            </a:p>
            <a:p>
              <a:pPr indent="0" lvl="0" marL="0" marR="0" rtl="0" algn="ctr">
                <a:lnSpc>
                  <a:spcPct val="139976"/>
                </a:lnSpc>
                <a:spcBef>
                  <a:spcPts val="0"/>
                </a:spcBef>
                <a:spcAft>
                  <a:spcPts val="0"/>
                </a:spcAft>
                <a:buNone/>
              </a:pPr>
              <a:r>
                <a:rPr b="1" i="0" lang="en-US" sz="2554" u="none" cap="none" strike="noStrike">
                  <a:solidFill>
                    <a:srgbClr val="FFFFFF"/>
                  </a:solidFill>
                  <a:latin typeface="Assistant"/>
                  <a:ea typeface="Assistant"/>
                  <a:cs typeface="Assistant"/>
                  <a:sym typeface="Assistant"/>
                </a:rPr>
                <a:t>Starting an Azure VM → Microsoft.Compute/virtualMachines/start/action </a:t>
              </a:r>
              <a:endParaRPr/>
            </a:p>
            <a:p>
              <a:pPr indent="0" lvl="0" marL="0" marR="0" rtl="0" algn="ctr">
                <a:lnSpc>
                  <a:spcPct val="139976"/>
                </a:lnSpc>
                <a:spcBef>
                  <a:spcPts val="0"/>
                </a:spcBef>
                <a:spcAft>
                  <a:spcPts val="0"/>
                </a:spcAft>
                <a:buNone/>
              </a:pPr>
              <a:r>
                <a:rPr b="1" i="0" lang="en-US" sz="2554" u="none" cap="none" strike="noStrike">
                  <a:solidFill>
                    <a:srgbClr val="FFFFFF"/>
                  </a:solidFill>
                  <a:latin typeface="Assistant"/>
                  <a:ea typeface="Assistant"/>
                  <a:cs typeface="Assistant"/>
                  <a:sym typeface="Assistant"/>
                </a:rPr>
                <a:t>Deleting an Azure function → Microsoft.Web/sites/functions/delete</a:t>
              </a:r>
              <a:endParaRPr/>
            </a:p>
          </p:txBody>
        </p:sp>
      </p:grpSp>
      <p:grpSp>
        <p:nvGrpSpPr>
          <p:cNvPr id="176" name="Google Shape;176;g3e0f43c0e71_0_88"/>
          <p:cNvGrpSpPr/>
          <p:nvPr/>
        </p:nvGrpSpPr>
        <p:grpSpPr>
          <a:xfrm>
            <a:off x="14086165" y="6060245"/>
            <a:ext cx="3755802" cy="2560775"/>
            <a:chOff x="0" y="0"/>
            <a:chExt cx="5007736" cy="3414366"/>
          </a:xfrm>
        </p:grpSpPr>
        <p:sp>
          <p:nvSpPr>
            <p:cNvPr id="177" name="Google Shape;177;g3e0f43c0e71_0_88"/>
            <p:cNvSpPr/>
            <p:nvPr/>
          </p:nvSpPr>
          <p:spPr>
            <a:xfrm>
              <a:off x="0" y="0"/>
              <a:ext cx="5007736" cy="3414366"/>
            </a:xfrm>
            <a:custGeom>
              <a:rect b="b" l="l" r="r" t="t"/>
              <a:pathLst>
                <a:path extrusionOk="0" h="3414366" w="5007736">
                  <a:moveTo>
                    <a:pt x="0" y="0"/>
                  </a:moveTo>
                  <a:lnTo>
                    <a:pt x="5007736" y="0"/>
                  </a:lnTo>
                  <a:lnTo>
                    <a:pt x="5007736" y="3414366"/>
                  </a:lnTo>
                  <a:lnTo>
                    <a:pt x="0" y="3414366"/>
                  </a:lnTo>
                  <a:lnTo>
                    <a:pt x="0" y="0"/>
                  </a:lnTo>
                  <a:close/>
                </a:path>
              </a:pathLst>
            </a:custGeom>
            <a:blipFill rotWithShape="1">
              <a:blip r:embed="rId3">
                <a:alphaModFix/>
              </a:blip>
              <a:stretch>
                <a:fillRect b="0" l="0" r="0" t="0"/>
              </a:stretch>
            </a:blipFill>
            <a:ln>
              <a:noFill/>
            </a:ln>
          </p:spPr>
        </p:sp>
        <p:sp>
          <p:nvSpPr>
            <p:cNvPr id="178" name="Google Shape;178;g3e0f43c0e71_0_88"/>
            <p:cNvSpPr/>
            <p:nvPr/>
          </p:nvSpPr>
          <p:spPr>
            <a:xfrm>
              <a:off x="3415951" y="1876265"/>
              <a:ext cx="997424" cy="962967"/>
            </a:xfrm>
            <a:custGeom>
              <a:rect b="b" l="l" r="r" t="t"/>
              <a:pathLst>
                <a:path extrusionOk="0" h="962967" w="997424">
                  <a:moveTo>
                    <a:pt x="0" y="0"/>
                  </a:moveTo>
                  <a:lnTo>
                    <a:pt x="997423" y="0"/>
                  </a:lnTo>
                  <a:lnTo>
                    <a:pt x="997423" y="962967"/>
                  </a:lnTo>
                  <a:lnTo>
                    <a:pt x="0" y="962967"/>
                  </a:lnTo>
                  <a:lnTo>
                    <a:pt x="0" y="0"/>
                  </a:lnTo>
                  <a:close/>
                </a:path>
              </a:pathLst>
            </a:custGeom>
            <a:blipFill rotWithShape="1">
              <a:blip r:embed="rId7">
                <a:alphaModFix/>
              </a:blip>
              <a:stretch>
                <a:fillRect b="0" l="0" r="0" t="0"/>
              </a:stretch>
            </a:blipFill>
            <a:ln>
              <a:noFill/>
            </a:ln>
          </p:spPr>
        </p:sp>
        <p:sp>
          <p:nvSpPr>
            <p:cNvPr id="179" name="Google Shape;179;g3e0f43c0e71_0_88"/>
            <p:cNvSpPr/>
            <p:nvPr/>
          </p:nvSpPr>
          <p:spPr>
            <a:xfrm>
              <a:off x="807575" y="1837186"/>
              <a:ext cx="1034688" cy="1173357"/>
            </a:xfrm>
            <a:custGeom>
              <a:rect b="b" l="l" r="r" t="t"/>
              <a:pathLst>
                <a:path extrusionOk="0" h="1173357" w="1034688">
                  <a:moveTo>
                    <a:pt x="0" y="0"/>
                  </a:moveTo>
                  <a:lnTo>
                    <a:pt x="1034687" y="0"/>
                  </a:lnTo>
                  <a:lnTo>
                    <a:pt x="1034687" y="1173357"/>
                  </a:lnTo>
                  <a:lnTo>
                    <a:pt x="0" y="1173357"/>
                  </a:lnTo>
                  <a:lnTo>
                    <a:pt x="0" y="0"/>
                  </a:lnTo>
                  <a:close/>
                </a:path>
              </a:pathLst>
            </a:custGeom>
            <a:blipFill rotWithShape="1">
              <a:blip r:embed="rId8">
                <a:alphaModFix/>
              </a:blip>
              <a:stretch>
                <a:fillRect b="0" l="0" r="0" t="0"/>
              </a:stretch>
            </a:blipFill>
            <a:ln>
              <a:noFill/>
            </a:ln>
          </p:spPr>
        </p:sp>
        <p:sp>
          <p:nvSpPr>
            <p:cNvPr id="180" name="Google Shape;180;g3e0f43c0e71_0_88"/>
            <p:cNvSpPr/>
            <p:nvPr/>
          </p:nvSpPr>
          <p:spPr>
            <a:xfrm>
              <a:off x="2193164" y="1984449"/>
              <a:ext cx="968465" cy="746599"/>
            </a:xfrm>
            <a:custGeom>
              <a:rect b="b" l="l" r="r" t="t"/>
              <a:pathLst>
                <a:path extrusionOk="0" h="746599" w="968465">
                  <a:moveTo>
                    <a:pt x="0" y="0"/>
                  </a:moveTo>
                  <a:lnTo>
                    <a:pt x="968465" y="0"/>
                  </a:lnTo>
                  <a:lnTo>
                    <a:pt x="968465" y="746599"/>
                  </a:lnTo>
                  <a:lnTo>
                    <a:pt x="0" y="746599"/>
                  </a:lnTo>
                  <a:lnTo>
                    <a:pt x="0" y="0"/>
                  </a:lnTo>
                  <a:close/>
                </a:path>
              </a:pathLst>
            </a:custGeom>
            <a:blipFill rotWithShape="1">
              <a:blip r:embed="rId9">
                <a:alphaModFix/>
              </a:blip>
              <a:stretch>
                <a:fillRect b="0" l="0" r="0" t="0"/>
              </a:stretch>
            </a:blipFill>
            <a:ln>
              <a:noFill/>
            </a:ln>
          </p:spPr>
        </p:sp>
        <p:sp>
          <p:nvSpPr>
            <p:cNvPr id="181" name="Google Shape;181;g3e0f43c0e71_0_88"/>
            <p:cNvSpPr/>
            <p:nvPr/>
          </p:nvSpPr>
          <p:spPr>
            <a:xfrm>
              <a:off x="1813251" y="1160903"/>
              <a:ext cx="729322" cy="566219"/>
            </a:xfrm>
            <a:custGeom>
              <a:rect b="b" l="l" r="r" t="t"/>
              <a:pathLst>
                <a:path extrusionOk="0" h="566219" w="729322">
                  <a:moveTo>
                    <a:pt x="0" y="0"/>
                  </a:moveTo>
                  <a:lnTo>
                    <a:pt x="729322" y="0"/>
                  </a:lnTo>
                  <a:lnTo>
                    <a:pt x="729322" y="566219"/>
                  </a:lnTo>
                  <a:lnTo>
                    <a:pt x="0" y="566219"/>
                  </a:lnTo>
                  <a:lnTo>
                    <a:pt x="0" y="0"/>
                  </a:lnTo>
                  <a:close/>
                </a:path>
              </a:pathLst>
            </a:custGeom>
            <a:blipFill rotWithShape="1">
              <a:blip r:embed="rId10">
                <a:alphaModFix/>
              </a:blip>
              <a:stretch>
                <a:fillRect b="0" l="0" r="0" t="0"/>
              </a:stretch>
            </a:blipFill>
            <a:ln>
              <a:noFill/>
            </a:ln>
          </p:spPr>
        </p:sp>
        <p:sp>
          <p:nvSpPr>
            <p:cNvPr id="182" name="Google Shape;182;g3e0f43c0e71_0_88"/>
            <p:cNvSpPr/>
            <p:nvPr/>
          </p:nvSpPr>
          <p:spPr>
            <a:xfrm>
              <a:off x="2955920" y="1101699"/>
              <a:ext cx="774566" cy="774566"/>
            </a:xfrm>
            <a:custGeom>
              <a:rect b="b" l="l" r="r" t="t"/>
              <a:pathLst>
                <a:path extrusionOk="0" h="774566" w="774566">
                  <a:moveTo>
                    <a:pt x="0" y="0"/>
                  </a:moveTo>
                  <a:lnTo>
                    <a:pt x="774566" y="0"/>
                  </a:lnTo>
                  <a:lnTo>
                    <a:pt x="774566" y="774566"/>
                  </a:lnTo>
                  <a:lnTo>
                    <a:pt x="0" y="774566"/>
                  </a:lnTo>
                  <a:lnTo>
                    <a:pt x="0" y="0"/>
                  </a:lnTo>
                  <a:close/>
                </a:path>
              </a:pathLst>
            </a:custGeom>
            <a:blipFill rotWithShape="1">
              <a:blip r:embed="rId11">
                <a:alphaModFix/>
              </a:blip>
              <a:stretch>
                <a:fillRect b="0" l="0" r="0" t="0"/>
              </a:stretch>
            </a:blipFill>
            <a:ln>
              <a:noFill/>
            </a:ln>
          </p:spPr>
        </p:sp>
        <p:sp>
          <p:nvSpPr>
            <p:cNvPr id="183" name="Google Shape;183;g3e0f43c0e71_0_88"/>
            <p:cNvSpPr txBox="1"/>
            <p:nvPr/>
          </p:nvSpPr>
          <p:spPr>
            <a:xfrm>
              <a:off x="2177912" y="160648"/>
              <a:ext cx="1967400" cy="719400"/>
            </a:xfrm>
            <a:prstGeom prst="rect">
              <a:avLst/>
            </a:prstGeom>
            <a:noFill/>
            <a:ln>
              <a:noFill/>
            </a:ln>
          </p:spPr>
          <p:txBody>
            <a:bodyPr anchorCtr="0" anchor="t" bIns="0" lIns="0" spcFirstLastPara="1" rIns="0" wrap="square" tIns="0">
              <a:spAutoFit/>
            </a:bodyPr>
            <a:lstStyle/>
            <a:p>
              <a:pPr indent="0" lvl="0" marL="0" marR="0" rtl="0" algn="ctr">
                <a:lnSpc>
                  <a:spcPct val="140028"/>
                </a:lnSpc>
                <a:spcBef>
                  <a:spcPts val="0"/>
                </a:spcBef>
                <a:spcAft>
                  <a:spcPts val="0"/>
                </a:spcAft>
                <a:buNone/>
              </a:pPr>
              <a:r>
                <a:rPr b="1" i="0" lang="en-US" sz="3505" u="none" cap="none" strike="noStrike">
                  <a:solidFill>
                    <a:srgbClr val="FFFFFF"/>
                  </a:solidFill>
                  <a:latin typeface="Assistant"/>
                  <a:ea typeface="Assistant"/>
                  <a:cs typeface="Assistant"/>
                  <a:sym typeface="Assistant"/>
                </a:rPr>
                <a:t>AWS</a:t>
              </a:r>
              <a:endParaRPr/>
            </a:p>
          </p:txBody>
        </p:sp>
      </p:grpSp>
      <p:sp>
        <p:nvSpPr>
          <p:cNvPr id="184" name="Google Shape;184;g3e0f43c0e71_0_88"/>
          <p:cNvSpPr/>
          <p:nvPr/>
        </p:nvSpPr>
        <p:spPr>
          <a:xfrm rot="3598236">
            <a:off x="10963295" y="6126188"/>
            <a:ext cx="2045953" cy="2573525"/>
          </a:xfrm>
          <a:custGeom>
            <a:rect b="b" l="l" r="r" t="t"/>
            <a:pathLst>
              <a:path extrusionOk="0" h="2575812" w="2047771">
                <a:moveTo>
                  <a:pt x="0" y="0"/>
                </a:moveTo>
                <a:lnTo>
                  <a:pt x="2047771" y="0"/>
                </a:lnTo>
                <a:lnTo>
                  <a:pt x="2047771" y="2575812"/>
                </a:lnTo>
                <a:lnTo>
                  <a:pt x="0" y="2575812"/>
                </a:lnTo>
                <a:lnTo>
                  <a:pt x="0" y="0"/>
                </a:lnTo>
                <a:close/>
              </a:path>
            </a:pathLst>
          </a:custGeom>
          <a:blipFill rotWithShape="1">
            <a:blip r:embed="rId12">
              <a:alphaModFix/>
            </a:blip>
            <a:stretch>
              <a:fillRect b="0" l="0" r="0" t="0"/>
            </a:stretch>
          </a:blipFill>
          <a:ln>
            <a:noFill/>
          </a:ln>
        </p:spPr>
      </p:sp>
      <p:grpSp>
        <p:nvGrpSpPr>
          <p:cNvPr id="185" name="Google Shape;185;g3e0f43c0e71_0_88"/>
          <p:cNvGrpSpPr/>
          <p:nvPr/>
        </p:nvGrpSpPr>
        <p:grpSpPr>
          <a:xfrm>
            <a:off x="476132" y="3659647"/>
            <a:ext cx="9884160" cy="4225328"/>
            <a:chOff x="375357" y="5238072"/>
            <a:chExt cx="9884160" cy="4225328"/>
          </a:xfrm>
        </p:grpSpPr>
        <p:sp>
          <p:nvSpPr>
            <p:cNvPr id="186" name="Google Shape;186;g3e0f43c0e71_0_88"/>
            <p:cNvSpPr/>
            <p:nvPr/>
          </p:nvSpPr>
          <p:spPr>
            <a:xfrm>
              <a:off x="375356" y="5238072"/>
              <a:ext cx="4807047" cy="3382960"/>
            </a:xfrm>
            <a:custGeom>
              <a:rect b="b" l="l" r="r" t="t"/>
              <a:pathLst>
                <a:path extrusionOk="0" h="3382960" w="4807047">
                  <a:moveTo>
                    <a:pt x="0" y="0"/>
                  </a:moveTo>
                  <a:lnTo>
                    <a:pt x="4807047" y="0"/>
                  </a:lnTo>
                  <a:lnTo>
                    <a:pt x="4807047" y="3382960"/>
                  </a:lnTo>
                  <a:lnTo>
                    <a:pt x="0" y="3382960"/>
                  </a:lnTo>
                  <a:lnTo>
                    <a:pt x="0" y="0"/>
                  </a:lnTo>
                  <a:close/>
                </a:path>
              </a:pathLst>
            </a:custGeom>
            <a:blipFill rotWithShape="1">
              <a:blip r:embed="rId13">
                <a:alphaModFix/>
              </a:blip>
              <a:stretch>
                <a:fillRect b="0" l="0" r="0" t="0"/>
              </a:stretch>
            </a:blipFill>
            <a:ln>
              <a:noFill/>
            </a:ln>
          </p:spPr>
        </p:sp>
        <p:sp>
          <p:nvSpPr>
            <p:cNvPr id="187" name="Google Shape;187;g3e0f43c0e71_0_88"/>
            <p:cNvSpPr/>
            <p:nvPr/>
          </p:nvSpPr>
          <p:spPr>
            <a:xfrm>
              <a:off x="5084800" y="5692836"/>
              <a:ext cx="4499328" cy="1119345"/>
            </a:xfrm>
            <a:custGeom>
              <a:rect b="b" l="l" r="r" t="t"/>
              <a:pathLst>
                <a:path extrusionOk="0" h="1119345" w="4499328">
                  <a:moveTo>
                    <a:pt x="0" y="0"/>
                  </a:moveTo>
                  <a:lnTo>
                    <a:pt x="4499328" y="0"/>
                  </a:lnTo>
                  <a:lnTo>
                    <a:pt x="4499328" y="1119345"/>
                  </a:lnTo>
                  <a:lnTo>
                    <a:pt x="0" y="1119345"/>
                  </a:lnTo>
                  <a:lnTo>
                    <a:pt x="0" y="0"/>
                  </a:lnTo>
                  <a:close/>
                </a:path>
              </a:pathLst>
            </a:custGeom>
            <a:blipFill rotWithShape="1">
              <a:blip r:embed="rId14">
                <a:alphaModFix/>
              </a:blip>
              <a:stretch>
                <a:fillRect b="0" l="0" r="0" t="0"/>
              </a:stretch>
            </a:blipFill>
            <a:ln>
              <a:noFill/>
            </a:ln>
          </p:spPr>
        </p:sp>
        <p:sp>
          <p:nvSpPr>
            <p:cNvPr id="188" name="Google Shape;188;g3e0f43c0e71_0_88"/>
            <p:cNvSpPr/>
            <p:nvPr/>
          </p:nvSpPr>
          <p:spPr>
            <a:xfrm>
              <a:off x="5305412" y="6757220"/>
              <a:ext cx="4954104" cy="2706180"/>
            </a:xfrm>
            <a:custGeom>
              <a:rect b="b" l="l" r="r" t="t"/>
              <a:pathLst>
                <a:path extrusionOk="0" h="2706180" w="4954104">
                  <a:moveTo>
                    <a:pt x="0" y="0"/>
                  </a:moveTo>
                  <a:lnTo>
                    <a:pt x="4954105" y="0"/>
                  </a:lnTo>
                  <a:lnTo>
                    <a:pt x="4954105" y="2706180"/>
                  </a:lnTo>
                  <a:lnTo>
                    <a:pt x="0" y="2706180"/>
                  </a:lnTo>
                  <a:lnTo>
                    <a:pt x="0" y="0"/>
                  </a:lnTo>
                  <a:close/>
                </a:path>
              </a:pathLst>
            </a:custGeom>
            <a:blipFill rotWithShape="1">
              <a:blip r:embed="rId15">
                <a:alphaModFix/>
              </a:blip>
              <a:stretch>
                <a:fillRect b="0" l="0" r="0" t="0"/>
              </a:stretch>
            </a:blipFill>
            <a:ln>
              <a:noFill/>
            </a:ln>
          </p:spPr>
        </p:sp>
      </p:grpSp>
      <p:grpSp>
        <p:nvGrpSpPr>
          <p:cNvPr id="189" name="Google Shape;189;g3e0f43c0e71_0_88"/>
          <p:cNvGrpSpPr/>
          <p:nvPr/>
        </p:nvGrpSpPr>
        <p:grpSpPr>
          <a:xfrm>
            <a:off x="375349" y="5720900"/>
            <a:ext cx="15149331" cy="4225119"/>
            <a:chOff x="-1" y="5956750"/>
            <a:chExt cx="15149331" cy="4225119"/>
          </a:xfrm>
        </p:grpSpPr>
        <p:sp>
          <p:nvSpPr>
            <p:cNvPr id="190" name="Google Shape;190;g3e0f43c0e71_0_88"/>
            <p:cNvSpPr/>
            <p:nvPr/>
          </p:nvSpPr>
          <p:spPr>
            <a:xfrm>
              <a:off x="-1" y="8942582"/>
              <a:ext cx="15149331" cy="1239287"/>
            </a:xfrm>
            <a:custGeom>
              <a:rect b="b" l="l" r="r" t="t"/>
              <a:pathLst>
                <a:path extrusionOk="0" h="1239287" w="15149331">
                  <a:moveTo>
                    <a:pt x="0" y="0"/>
                  </a:moveTo>
                  <a:lnTo>
                    <a:pt x="15149332" y="0"/>
                  </a:lnTo>
                  <a:lnTo>
                    <a:pt x="15149332" y="1239286"/>
                  </a:lnTo>
                  <a:lnTo>
                    <a:pt x="0" y="1239286"/>
                  </a:lnTo>
                  <a:lnTo>
                    <a:pt x="0" y="0"/>
                  </a:lnTo>
                  <a:close/>
                </a:path>
              </a:pathLst>
            </a:custGeom>
            <a:blipFill rotWithShape="1">
              <a:blip r:embed="rId16">
                <a:alphaModFix/>
              </a:blip>
              <a:stretch>
                <a:fillRect b="0" l="0" r="0" t="-10019"/>
              </a:stretch>
            </a:blipFill>
            <a:ln>
              <a:noFill/>
            </a:ln>
          </p:spPr>
        </p:sp>
        <p:sp>
          <p:nvSpPr>
            <p:cNvPr id="191" name="Google Shape;191;g3e0f43c0e71_0_88"/>
            <p:cNvSpPr/>
            <p:nvPr/>
          </p:nvSpPr>
          <p:spPr>
            <a:xfrm>
              <a:off x="375350" y="5956750"/>
              <a:ext cx="6728817" cy="2912395"/>
            </a:xfrm>
            <a:custGeom>
              <a:rect b="b" l="l" r="r" t="t"/>
              <a:pathLst>
                <a:path extrusionOk="0" h="5247558" w="9186098">
                  <a:moveTo>
                    <a:pt x="0" y="0"/>
                  </a:moveTo>
                  <a:lnTo>
                    <a:pt x="9186098" y="0"/>
                  </a:lnTo>
                  <a:lnTo>
                    <a:pt x="9186098" y="5247559"/>
                  </a:lnTo>
                  <a:lnTo>
                    <a:pt x="0" y="5247559"/>
                  </a:lnTo>
                  <a:lnTo>
                    <a:pt x="0" y="0"/>
                  </a:lnTo>
                  <a:close/>
                </a:path>
              </a:pathLst>
            </a:custGeom>
            <a:blipFill rotWithShape="1">
              <a:blip r:embed="rId17">
                <a:alphaModFix/>
              </a:blip>
              <a:stretch>
                <a:fillRect b="0" l="0" r="0" t="0"/>
              </a:stretch>
            </a:blipFill>
            <a:ln>
              <a:noFill/>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5"/>
          <p:cNvGrpSpPr/>
          <p:nvPr/>
        </p:nvGrpSpPr>
        <p:grpSpPr>
          <a:xfrm>
            <a:off x="213710" y="9541193"/>
            <a:ext cx="16459200" cy="745807"/>
            <a:chOff x="0" y="-19050"/>
            <a:chExt cx="21945600" cy="994410"/>
          </a:xfrm>
        </p:grpSpPr>
        <p:sp>
          <p:nvSpPr>
            <p:cNvPr id="201" name="Google Shape;201;p5"/>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3">
                <a:alphaModFix amt="0"/>
              </a:blip>
              <a:stretch>
                <a:fillRect b="-388366" l="0" r="0" t="-3883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5"/>
            <p:cNvSpPr txBox="1"/>
            <p:nvPr/>
          </p:nvSpPr>
          <p:spPr>
            <a:xfrm>
              <a:off x="0" y="-19050"/>
              <a:ext cx="21945600" cy="9944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700"/>
                <a:buFont typeface="Arial"/>
                <a:buNone/>
              </a:pPr>
              <a:r>
                <a:rPr b="0" i="1" lang="en-US" sz="2700" u="none" cap="none" strike="noStrike">
                  <a:solidFill>
                    <a:srgbClr val="64748B"/>
                  </a:solidFill>
                  <a:latin typeface="Arimo"/>
                  <a:ea typeface="Arimo"/>
                  <a:cs typeface="Arimo"/>
                  <a:sym typeface="Arimo"/>
                </a:rPr>
                <a:t>Source: Datadog State of Cloud Security Report 2025</a:t>
              </a:r>
              <a:endParaRPr b="0" i="0" sz="1400" u="none" cap="none" strike="noStrike">
                <a:solidFill>
                  <a:srgbClr val="000000"/>
                </a:solidFill>
                <a:latin typeface="Arial"/>
                <a:ea typeface="Arial"/>
                <a:cs typeface="Arial"/>
                <a:sym typeface="Arial"/>
              </a:endParaRPr>
            </a:p>
          </p:txBody>
        </p:sp>
      </p:grpSp>
      <p:sp>
        <p:nvSpPr>
          <p:cNvPr id="203" name="Google Shape;203;p5"/>
          <p:cNvSpPr/>
          <p:nvPr/>
        </p:nvSpPr>
        <p:spPr>
          <a:xfrm>
            <a:off x="213710" y="7089750"/>
            <a:ext cx="4107122" cy="1997088"/>
          </a:xfrm>
          <a:custGeom>
            <a:rect b="b" l="l" r="r" t="t"/>
            <a:pathLst>
              <a:path extrusionOk="0" h="1997088" w="4107122">
                <a:moveTo>
                  <a:pt x="0" y="0"/>
                </a:moveTo>
                <a:lnTo>
                  <a:pt x="4107122" y="0"/>
                </a:lnTo>
                <a:lnTo>
                  <a:pt x="4107122" y="1997088"/>
                </a:lnTo>
                <a:lnTo>
                  <a:pt x="0" y="199708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5"/>
          <p:cNvSpPr/>
          <p:nvPr/>
        </p:nvSpPr>
        <p:spPr>
          <a:xfrm rot="5400000">
            <a:off x="1203834" y="3250699"/>
            <a:ext cx="2134552" cy="4114800"/>
          </a:xfrm>
          <a:custGeom>
            <a:rect b="b" l="l" r="r" t="t"/>
            <a:pathLst>
              <a:path extrusionOk="0" h="4114800" w="2134552">
                <a:moveTo>
                  <a:pt x="0" y="0"/>
                </a:moveTo>
                <a:lnTo>
                  <a:pt x="2134552" y="0"/>
                </a:lnTo>
                <a:lnTo>
                  <a:pt x="2134552" y="4114800"/>
                </a:lnTo>
                <a:lnTo>
                  <a:pt x="0" y="41148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5"/>
          <p:cNvSpPr txBox="1"/>
          <p:nvPr/>
        </p:nvSpPr>
        <p:spPr>
          <a:xfrm>
            <a:off x="264370" y="243889"/>
            <a:ext cx="16408541" cy="2009775"/>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6599"/>
              <a:buFont typeface="Arial"/>
              <a:buNone/>
            </a:pPr>
            <a:r>
              <a:rPr b="1" i="0" lang="en-US" sz="6599" u="none" cap="none" strike="noStrike">
                <a:solidFill>
                  <a:srgbClr val="FFFFFF"/>
                </a:solidFill>
                <a:latin typeface="Assistant"/>
                <a:ea typeface="Assistant"/>
                <a:cs typeface="Assistant"/>
                <a:sym typeface="Assistant"/>
              </a:rPr>
              <a:t>Why this matters</a:t>
            </a:r>
            <a:endParaRPr b="0" i="0" sz="1400" u="none" cap="none" strike="noStrike">
              <a:solidFill>
                <a:srgbClr val="000000"/>
              </a:solidFill>
              <a:latin typeface="Arial"/>
              <a:ea typeface="Arial"/>
              <a:cs typeface="Arial"/>
              <a:sym typeface="Arial"/>
            </a:endParaRPr>
          </a:p>
          <a:p>
            <a:pPr indent="0" lvl="0" marL="0" marR="0" rtl="0" algn="l">
              <a:lnSpc>
                <a:spcPct val="120003"/>
              </a:lnSpc>
              <a:spcBef>
                <a:spcPts val="0"/>
              </a:spcBef>
              <a:spcAft>
                <a:spcPts val="0"/>
              </a:spcAft>
              <a:buClr>
                <a:srgbClr val="000000"/>
              </a:buClr>
              <a:buSzPts val="6599"/>
              <a:buFont typeface="Arial"/>
              <a:buNone/>
            </a:pPr>
            <a:r>
              <a:t/>
            </a:r>
            <a:endParaRPr b="1" i="0" sz="6599" u="none" cap="none" strike="noStrike">
              <a:solidFill>
                <a:srgbClr val="FFFFFF"/>
              </a:solidFill>
              <a:latin typeface="Assistant"/>
              <a:ea typeface="Assistant"/>
              <a:cs typeface="Assistant"/>
              <a:sym typeface="Assistant"/>
            </a:endParaRPr>
          </a:p>
        </p:txBody>
      </p:sp>
      <p:sp>
        <p:nvSpPr>
          <p:cNvPr id="206" name="Google Shape;206;p5"/>
          <p:cNvSpPr txBox="1"/>
          <p:nvPr/>
        </p:nvSpPr>
        <p:spPr>
          <a:xfrm>
            <a:off x="4603052" y="2651719"/>
            <a:ext cx="14056386"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In the cloud, identity is the new perimeter. There is little concept of an internal network, since cloud APIs are exposed to the internet by design. </a:t>
            </a:r>
            <a:endParaRPr b="0" i="0" sz="1400" u="none" cap="none" strike="noStrike">
              <a:solidFill>
                <a:srgbClr val="000000"/>
              </a:solidFill>
              <a:latin typeface="Arial"/>
              <a:ea typeface="Arial"/>
              <a:cs typeface="Arial"/>
              <a:sym typeface="Arial"/>
            </a:endParaRPr>
          </a:p>
        </p:txBody>
      </p:sp>
      <p:sp>
        <p:nvSpPr>
          <p:cNvPr id="207" name="Google Shape;207;p5"/>
          <p:cNvSpPr txBox="1"/>
          <p:nvPr/>
        </p:nvSpPr>
        <p:spPr>
          <a:xfrm>
            <a:off x="4603052" y="2157514"/>
            <a:ext cx="14823150" cy="470028"/>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Identity is the perimeter</a:t>
            </a:r>
            <a:endParaRPr b="0" i="0" sz="1400" u="none" cap="none" strike="noStrike">
              <a:solidFill>
                <a:srgbClr val="000000"/>
              </a:solidFill>
              <a:latin typeface="Arial"/>
              <a:ea typeface="Arial"/>
              <a:cs typeface="Arial"/>
              <a:sym typeface="Arial"/>
            </a:endParaRPr>
          </a:p>
        </p:txBody>
      </p:sp>
      <p:sp>
        <p:nvSpPr>
          <p:cNvPr id="208" name="Google Shape;208;p5"/>
          <p:cNvSpPr txBox="1"/>
          <p:nvPr/>
        </p:nvSpPr>
        <p:spPr>
          <a:xfrm>
            <a:off x="4603052" y="5241424"/>
            <a:ext cx="13422451"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Exposed access keys belonging to IAM users remain the primary initial access vector in AWS</a:t>
            </a:r>
            <a:endParaRPr b="0" i="0" sz="1400" u="none" cap="none" strike="noStrike">
              <a:solidFill>
                <a:srgbClr val="000000"/>
              </a:solidFill>
              <a:latin typeface="Arial"/>
              <a:ea typeface="Arial"/>
              <a:cs typeface="Arial"/>
              <a:sym typeface="Arial"/>
            </a:endParaRPr>
          </a:p>
        </p:txBody>
      </p:sp>
      <p:sp>
        <p:nvSpPr>
          <p:cNvPr id="209" name="Google Shape;209;p5"/>
          <p:cNvSpPr txBox="1"/>
          <p:nvPr/>
        </p:nvSpPr>
        <p:spPr>
          <a:xfrm>
            <a:off x="4603052" y="4747219"/>
            <a:ext cx="14823150" cy="470028"/>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Initial Access and long-lived credentials</a:t>
            </a:r>
            <a:endParaRPr b="0" i="0" sz="1400" u="none" cap="none" strike="noStrike">
              <a:solidFill>
                <a:srgbClr val="000000"/>
              </a:solidFill>
              <a:latin typeface="Arial"/>
              <a:ea typeface="Arial"/>
              <a:cs typeface="Arial"/>
              <a:sym typeface="Arial"/>
            </a:endParaRPr>
          </a:p>
        </p:txBody>
      </p:sp>
      <p:sp>
        <p:nvSpPr>
          <p:cNvPr id="210" name="Google Shape;210;p5"/>
          <p:cNvSpPr txBox="1"/>
          <p:nvPr/>
        </p:nvSpPr>
        <p:spPr>
          <a:xfrm>
            <a:off x="4603052" y="7809165"/>
            <a:ext cx="14056386"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Assistant"/>
                <a:ea typeface="Assistant"/>
                <a:cs typeface="Assistant"/>
                <a:sym typeface="Assistant"/>
              </a:rPr>
              <a:t>Publicly accessible storage buckets continue to be the source of a large number of high-profile data breaches</a:t>
            </a:r>
            <a:endParaRPr b="0" i="0" sz="1400" u="none" cap="none" strike="noStrike">
              <a:solidFill>
                <a:srgbClr val="000000"/>
              </a:solidFill>
              <a:latin typeface="Arial"/>
              <a:ea typeface="Arial"/>
              <a:cs typeface="Arial"/>
              <a:sym typeface="Arial"/>
            </a:endParaRPr>
          </a:p>
        </p:txBody>
      </p:sp>
      <p:sp>
        <p:nvSpPr>
          <p:cNvPr id="211" name="Google Shape;211;p5"/>
          <p:cNvSpPr txBox="1"/>
          <p:nvPr/>
        </p:nvSpPr>
        <p:spPr>
          <a:xfrm>
            <a:off x="4603052" y="7314960"/>
            <a:ext cx="14823150" cy="470028"/>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i="0" lang="en-US" sz="3700" u="none" cap="none" strike="noStrike">
                <a:solidFill>
                  <a:srgbClr val="FC6D26"/>
                </a:solidFill>
                <a:latin typeface="Assistant"/>
                <a:ea typeface="Assistant"/>
                <a:cs typeface="Assistant"/>
                <a:sym typeface="Assistant"/>
              </a:rPr>
              <a:t>Misconfigured resource policies</a:t>
            </a:r>
            <a:endParaRPr b="0" i="0" sz="1400" u="none" cap="none" strike="noStrike">
              <a:solidFill>
                <a:srgbClr val="000000"/>
              </a:solidFill>
              <a:latin typeface="Arial"/>
              <a:ea typeface="Arial"/>
              <a:cs typeface="Arial"/>
              <a:sym typeface="Arial"/>
            </a:endParaRPr>
          </a:p>
        </p:txBody>
      </p:sp>
      <p:sp>
        <p:nvSpPr>
          <p:cNvPr id="212" name="Google Shape;212;p5"/>
          <p:cNvSpPr/>
          <p:nvPr/>
        </p:nvSpPr>
        <p:spPr>
          <a:xfrm>
            <a:off x="708898" y="1613410"/>
            <a:ext cx="3354793" cy="2209970"/>
          </a:xfrm>
          <a:custGeom>
            <a:rect b="b" l="l" r="r" t="t"/>
            <a:pathLst>
              <a:path extrusionOk="0" h="2209970" w="3354793">
                <a:moveTo>
                  <a:pt x="0" y="0"/>
                </a:moveTo>
                <a:lnTo>
                  <a:pt x="3354792" y="0"/>
                </a:lnTo>
                <a:lnTo>
                  <a:pt x="3354792" y="2209969"/>
                </a:lnTo>
                <a:lnTo>
                  <a:pt x="0" y="220996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e0f43c0e71_0_542"/>
          <p:cNvSpPr txBox="1"/>
          <p:nvPr/>
        </p:nvSpPr>
        <p:spPr>
          <a:xfrm>
            <a:off x="264370" y="243889"/>
            <a:ext cx="16408500" cy="22347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6599"/>
              <a:buFont typeface="Arial"/>
              <a:buNone/>
            </a:pPr>
            <a:r>
              <a:rPr b="1" i="0" lang="en-US" sz="6599" u="none" cap="none" strike="noStrike">
                <a:solidFill>
                  <a:srgbClr val="FFFFFF"/>
                </a:solidFill>
                <a:latin typeface="Assistant"/>
                <a:ea typeface="Assistant"/>
                <a:cs typeface="Assistant"/>
                <a:sym typeface="Assistant"/>
              </a:rPr>
              <a:t>Why this matters</a:t>
            </a:r>
            <a:endParaRPr b="0" i="0" sz="1400" u="none" cap="none" strike="noStrike">
              <a:solidFill>
                <a:srgbClr val="000000"/>
              </a:solidFill>
              <a:latin typeface="Arial"/>
              <a:ea typeface="Arial"/>
              <a:cs typeface="Arial"/>
              <a:sym typeface="Arial"/>
            </a:endParaRPr>
          </a:p>
          <a:p>
            <a:pPr indent="0" lvl="0" marL="0" marR="0" rtl="0" algn="l">
              <a:lnSpc>
                <a:spcPct val="120003"/>
              </a:lnSpc>
              <a:spcBef>
                <a:spcPts val="0"/>
              </a:spcBef>
              <a:spcAft>
                <a:spcPts val="0"/>
              </a:spcAft>
              <a:buClr>
                <a:srgbClr val="000000"/>
              </a:buClr>
              <a:buSzPts val="6599"/>
              <a:buFont typeface="Arial"/>
              <a:buNone/>
            </a:pPr>
            <a:r>
              <a:t/>
            </a:r>
            <a:endParaRPr b="1" i="0" sz="6599" u="none" cap="none" strike="noStrike">
              <a:solidFill>
                <a:srgbClr val="FFFFFF"/>
              </a:solidFill>
              <a:latin typeface="Assistant"/>
              <a:ea typeface="Assistant"/>
              <a:cs typeface="Assistant"/>
              <a:sym typeface="Assistant"/>
            </a:endParaRPr>
          </a:p>
        </p:txBody>
      </p:sp>
      <p:pic>
        <p:nvPicPr>
          <p:cNvPr id="219" name="Google Shape;219;g3e0f43c0e71_0_542" title="Screenshot 2026-05-11 at 8.05.35 PM.png"/>
          <p:cNvPicPr preferRelativeResize="0"/>
          <p:nvPr/>
        </p:nvPicPr>
        <p:blipFill>
          <a:blip r:embed="rId3">
            <a:alphaModFix/>
          </a:blip>
          <a:stretch>
            <a:fillRect/>
          </a:stretch>
        </p:blipFill>
        <p:spPr>
          <a:xfrm>
            <a:off x="264375" y="1954975"/>
            <a:ext cx="8735549" cy="6377051"/>
          </a:xfrm>
          <a:prstGeom prst="rect">
            <a:avLst/>
          </a:prstGeom>
          <a:noFill/>
          <a:ln>
            <a:noFill/>
          </a:ln>
        </p:spPr>
      </p:pic>
      <p:pic>
        <p:nvPicPr>
          <p:cNvPr id="220" name="Google Shape;220;g3e0f43c0e71_0_542" title="Screenshot 2026-05-11 at 8.06.21 PM.png"/>
          <p:cNvPicPr preferRelativeResize="0"/>
          <p:nvPr/>
        </p:nvPicPr>
        <p:blipFill>
          <a:blip r:embed="rId4">
            <a:alphaModFix/>
          </a:blip>
          <a:stretch>
            <a:fillRect/>
          </a:stretch>
        </p:blipFill>
        <p:spPr>
          <a:xfrm>
            <a:off x="9198425" y="1306525"/>
            <a:ext cx="9089574" cy="2993324"/>
          </a:xfrm>
          <a:prstGeom prst="rect">
            <a:avLst/>
          </a:prstGeom>
          <a:noFill/>
          <a:ln>
            <a:noFill/>
          </a:ln>
        </p:spPr>
      </p:pic>
      <p:pic>
        <p:nvPicPr>
          <p:cNvPr id="221" name="Google Shape;221;g3e0f43c0e71_0_542" title="Screenshot 2026-05-11 at 8.06.53 PM.png"/>
          <p:cNvPicPr preferRelativeResize="0"/>
          <p:nvPr/>
        </p:nvPicPr>
        <p:blipFill>
          <a:blip r:embed="rId5">
            <a:alphaModFix/>
          </a:blip>
          <a:stretch>
            <a:fillRect/>
          </a:stretch>
        </p:blipFill>
        <p:spPr>
          <a:xfrm>
            <a:off x="9198425" y="4299850"/>
            <a:ext cx="8919026" cy="5368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pSp>
        <p:nvGrpSpPr>
          <p:cNvPr id="230" name="Google Shape;230;p6"/>
          <p:cNvGrpSpPr/>
          <p:nvPr/>
        </p:nvGrpSpPr>
        <p:grpSpPr>
          <a:xfrm>
            <a:off x="213710" y="9541193"/>
            <a:ext cx="16459200" cy="745807"/>
            <a:chOff x="0" y="-19050"/>
            <a:chExt cx="21945600" cy="994410"/>
          </a:xfrm>
        </p:grpSpPr>
        <p:sp>
          <p:nvSpPr>
            <p:cNvPr id="231" name="Google Shape;231;p6"/>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3">
                <a:alphaModFix amt="0"/>
              </a:blip>
              <a:stretch>
                <a:fillRect b="-388366" l="0" r="0" t="-3883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6"/>
            <p:cNvSpPr txBox="1"/>
            <p:nvPr/>
          </p:nvSpPr>
          <p:spPr>
            <a:xfrm>
              <a:off x="0" y="-19050"/>
              <a:ext cx="21945600" cy="9944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700"/>
                <a:buFont typeface="Arial"/>
                <a:buNone/>
              </a:pPr>
              <a:r>
                <a:rPr b="0" i="1" lang="en-US" sz="2700" u="none" cap="none" strike="noStrike">
                  <a:solidFill>
                    <a:srgbClr val="64748B"/>
                  </a:solidFill>
                  <a:latin typeface="Arimo"/>
                  <a:ea typeface="Arimo"/>
                  <a:cs typeface="Arimo"/>
                  <a:sym typeface="Arimo"/>
                </a:rPr>
                <a:t>Source: sysdig threat research team</a:t>
              </a:r>
              <a:endParaRPr b="0" i="0" sz="1400" u="none" cap="none" strike="noStrike">
                <a:solidFill>
                  <a:srgbClr val="000000"/>
                </a:solidFill>
                <a:latin typeface="Arial"/>
                <a:ea typeface="Arial"/>
                <a:cs typeface="Arial"/>
                <a:sym typeface="Arial"/>
              </a:endParaRPr>
            </a:p>
          </p:txBody>
        </p:sp>
      </p:grpSp>
      <p:grpSp>
        <p:nvGrpSpPr>
          <p:cNvPr id="233" name="Google Shape;233;p6"/>
          <p:cNvGrpSpPr/>
          <p:nvPr/>
        </p:nvGrpSpPr>
        <p:grpSpPr>
          <a:xfrm>
            <a:off x="0" y="3615225"/>
            <a:ext cx="4389120" cy="512064"/>
            <a:chOff x="0" y="0"/>
            <a:chExt cx="5852160" cy="682752"/>
          </a:xfrm>
        </p:grpSpPr>
        <p:sp>
          <p:nvSpPr>
            <p:cNvPr id="234" name="Google Shape;234;p6"/>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12" l="0" r="0" t="-11701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6"/>
            <p:cNvSpPr txBox="1"/>
            <p:nvPr/>
          </p:nvSpPr>
          <p:spPr>
            <a:xfrm>
              <a:off x="0" y="0"/>
              <a:ext cx="5852160" cy="68275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Initial Access</a:t>
              </a:r>
              <a:endParaRPr b="0" i="0" sz="1400" u="none" cap="none" strike="noStrike">
                <a:solidFill>
                  <a:srgbClr val="000000"/>
                </a:solidFill>
                <a:latin typeface="Arial"/>
                <a:ea typeface="Arial"/>
                <a:cs typeface="Arial"/>
                <a:sym typeface="Arial"/>
              </a:endParaRPr>
            </a:p>
          </p:txBody>
        </p:sp>
      </p:grpSp>
      <p:sp>
        <p:nvSpPr>
          <p:cNvPr descr="Amazon Simple Storage Service (Amazon S3) service icon." id="236" name="Google Shape;236;p6"/>
          <p:cNvSpPr/>
          <p:nvPr/>
        </p:nvSpPr>
        <p:spPr>
          <a:xfrm>
            <a:off x="1546127" y="2351050"/>
            <a:ext cx="1143000" cy="1143000"/>
          </a:xfrm>
          <a:custGeom>
            <a:rect b="b" l="l" r="r" t="t"/>
            <a:pathLst>
              <a:path extrusionOk="0" h="1143000" w="1143000">
                <a:moveTo>
                  <a:pt x="0" y="0"/>
                </a:moveTo>
                <a:lnTo>
                  <a:pt x="1143000" y="0"/>
                </a:lnTo>
                <a:lnTo>
                  <a:pt x="1143000" y="1143000"/>
                </a:lnTo>
                <a:lnTo>
                  <a:pt x="0" y="1143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6"/>
          <p:cNvSpPr txBox="1"/>
          <p:nvPr/>
        </p:nvSpPr>
        <p:spPr>
          <a:xfrm>
            <a:off x="0" y="4117764"/>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Leaked IAM creds in</a:t>
            </a:r>
            <a:endParaRPr b="0" i="0" sz="1400" u="none" cap="none" strike="noStrike">
              <a:solidFill>
                <a:srgbClr val="000000"/>
              </a:solidFill>
              <a:latin typeface="Arial"/>
              <a:ea typeface="Arial"/>
              <a:cs typeface="Arial"/>
              <a:sym typeface="Arial"/>
            </a:endParaRPr>
          </a:p>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public S3 bucket</a:t>
            </a:r>
            <a:endParaRPr b="0" i="0" sz="1400" u="none" cap="none" strike="noStrike">
              <a:solidFill>
                <a:srgbClr val="000000"/>
              </a:solidFill>
              <a:latin typeface="Arial"/>
              <a:ea typeface="Arial"/>
              <a:cs typeface="Arial"/>
              <a:sym typeface="Arial"/>
            </a:endParaRPr>
          </a:p>
        </p:txBody>
      </p:sp>
      <p:sp>
        <p:nvSpPr>
          <p:cNvPr id="238" name="Google Shape;238;p6"/>
          <p:cNvSpPr txBox="1"/>
          <p:nvPr/>
        </p:nvSpPr>
        <p:spPr>
          <a:xfrm>
            <a:off x="115334" y="87258"/>
            <a:ext cx="16408500" cy="1523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500"/>
              <a:buFont typeface="Arial"/>
              <a:buNone/>
            </a:pPr>
            <a:r>
              <a:rPr b="1" i="0" lang="en-US" sz="4500" u="none" cap="none" strike="noStrike">
                <a:solidFill>
                  <a:srgbClr val="FFFFFF"/>
                </a:solidFill>
                <a:latin typeface="Assistant"/>
                <a:ea typeface="Assistant"/>
                <a:cs typeface="Assistant"/>
                <a:sym typeface="Assistant"/>
              </a:rPr>
              <a:t>AI-assisted cloud intrusion achieves admin access in 8 minutes</a:t>
            </a:r>
            <a:endParaRPr b="0" i="0" sz="1400" u="none" cap="none" strike="noStrike">
              <a:solidFill>
                <a:srgbClr val="000000"/>
              </a:solidFill>
              <a:latin typeface="Arial"/>
              <a:ea typeface="Arial"/>
              <a:cs typeface="Arial"/>
              <a:sym typeface="Arial"/>
            </a:endParaRPr>
          </a:p>
          <a:p>
            <a:pPr indent="0" lvl="0" marL="0" marR="0" rtl="0" algn="l">
              <a:lnSpc>
                <a:spcPct val="162644"/>
              </a:lnSpc>
              <a:spcBef>
                <a:spcPts val="0"/>
              </a:spcBef>
              <a:spcAft>
                <a:spcPts val="0"/>
              </a:spcAft>
              <a:buClr>
                <a:srgbClr val="000000"/>
              </a:buClr>
              <a:buSzPts val="4500"/>
              <a:buFont typeface="Arial"/>
              <a:buNone/>
            </a:pPr>
            <a:r>
              <a:t/>
            </a:r>
            <a:endParaRPr b="1" i="0" sz="4500" u="none" cap="none" strike="noStrike">
              <a:solidFill>
                <a:srgbClr val="FFFFFF"/>
              </a:solidFill>
              <a:latin typeface="Assistant"/>
              <a:ea typeface="Assistant"/>
              <a:cs typeface="Assistant"/>
              <a:sym typeface="Assistant"/>
            </a:endParaRPr>
          </a:p>
        </p:txBody>
      </p:sp>
      <p:grpSp>
        <p:nvGrpSpPr>
          <p:cNvPr id="239" name="Google Shape;239;p6"/>
          <p:cNvGrpSpPr/>
          <p:nvPr/>
        </p:nvGrpSpPr>
        <p:grpSpPr>
          <a:xfrm>
            <a:off x="6134199" y="3615225"/>
            <a:ext cx="4389120" cy="512064"/>
            <a:chOff x="0" y="0"/>
            <a:chExt cx="5852160" cy="682752"/>
          </a:xfrm>
        </p:grpSpPr>
        <p:sp>
          <p:nvSpPr>
            <p:cNvPr id="240" name="Google Shape;240;p6"/>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12" l="0" r="0" t="-11701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6"/>
            <p:cNvSpPr txBox="1"/>
            <p:nvPr/>
          </p:nvSpPr>
          <p:spPr>
            <a:xfrm>
              <a:off x="0" y="0"/>
              <a:ext cx="5852160" cy="68275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Recon Sweep</a:t>
              </a:r>
              <a:endParaRPr b="0" i="0" sz="1400" u="none" cap="none" strike="noStrike">
                <a:solidFill>
                  <a:srgbClr val="000000"/>
                </a:solidFill>
                <a:latin typeface="Arial"/>
                <a:ea typeface="Arial"/>
                <a:cs typeface="Arial"/>
                <a:sym typeface="Arial"/>
              </a:endParaRPr>
            </a:p>
          </p:txBody>
        </p:sp>
      </p:grpSp>
      <p:sp>
        <p:nvSpPr>
          <p:cNvPr descr="Amazon Bedrock service icon." id="242" name="Google Shape;242;p6"/>
          <p:cNvSpPr/>
          <p:nvPr/>
        </p:nvSpPr>
        <p:spPr>
          <a:xfrm>
            <a:off x="7782209" y="2181955"/>
            <a:ext cx="808638" cy="808638"/>
          </a:xfrm>
          <a:custGeom>
            <a:rect b="b" l="l" r="r" t="t"/>
            <a:pathLst>
              <a:path extrusionOk="0" h="808638" w="808638">
                <a:moveTo>
                  <a:pt x="0" y="0"/>
                </a:moveTo>
                <a:lnTo>
                  <a:pt x="808638" y="0"/>
                </a:lnTo>
                <a:lnTo>
                  <a:pt x="808638" y="808638"/>
                </a:lnTo>
                <a:lnTo>
                  <a:pt x="0" y="80863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6"/>
          <p:cNvSpPr txBox="1"/>
          <p:nvPr/>
        </p:nvSpPr>
        <p:spPr>
          <a:xfrm>
            <a:off x="7034469" y="3005573"/>
            <a:ext cx="2289000" cy="195900"/>
          </a:xfrm>
          <a:prstGeom prst="rect">
            <a:avLst/>
          </a:prstGeom>
          <a:noFill/>
          <a:ln>
            <a:noFill/>
          </a:ln>
        </p:spPr>
        <p:txBody>
          <a:bodyPr anchorCtr="0" anchor="t" bIns="0" lIns="0" spcFirstLastPara="1" rIns="0" wrap="square" tIns="0">
            <a:spAutoFit/>
          </a:bodyPr>
          <a:lstStyle/>
          <a:p>
            <a:pPr indent="0" lvl="0" marL="0" marR="0" rtl="0" algn="ctr">
              <a:lnSpc>
                <a:spcPct val="120031"/>
              </a:lnSpc>
              <a:spcBef>
                <a:spcPts val="0"/>
              </a:spcBef>
              <a:spcAft>
                <a:spcPts val="0"/>
              </a:spcAft>
              <a:buClr>
                <a:srgbClr val="000000"/>
              </a:buClr>
              <a:buSzPts val="1273"/>
              <a:buFont typeface="Arial"/>
              <a:buNone/>
            </a:pPr>
            <a:r>
              <a:rPr b="0" i="0" lang="en-US" sz="1273" u="none" cap="none" strike="noStrike">
                <a:solidFill>
                  <a:srgbClr val="FFFFFF"/>
                </a:solidFill>
                <a:latin typeface="Arial"/>
                <a:ea typeface="Arial"/>
                <a:cs typeface="Arial"/>
                <a:sym typeface="Arial"/>
              </a:rPr>
              <a:t>Amazon Bedrock</a:t>
            </a:r>
            <a:endParaRPr b="0" i="0" sz="1400" u="none" cap="none" strike="noStrike">
              <a:solidFill>
                <a:srgbClr val="000000"/>
              </a:solidFill>
              <a:latin typeface="Arial"/>
              <a:ea typeface="Arial"/>
              <a:cs typeface="Arial"/>
              <a:sym typeface="Arial"/>
            </a:endParaRPr>
          </a:p>
        </p:txBody>
      </p:sp>
      <p:sp>
        <p:nvSpPr>
          <p:cNvPr descr="AWS Lambda service icon." id="244" name="Google Shape;244;p6"/>
          <p:cNvSpPr/>
          <p:nvPr/>
        </p:nvSpPr>
        <p:spPr>
          <a:xfrm>
            <a:off x="8858883" y="2873682"/>
            <a:ext cx="560724" cy="560724"/>
          </a:xfrm>
          <a:custGeom>
            <a:rect b="b" l="l" r="r" t="t"/>
            <a:pathLst>
              <a:path extrusionOk="0" h="560724" w="560724">
                <a:moveTo>
                  <a:pt x="0" y="0"/>
                </a:moveTo>
                <a:lnTo>
                  <a:pt x="560724" y="0"/>
                </a:lnTo>
                <a:lnTo>
                  <a:pt x="560724" y="560724"/>
                </a:lnTo>
                <a:lnTo>
                  <a:pt x="0" y="56072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mazon Elastic Compute Cloud (Amazon EC2) service icon." id="245" name="Google Shape;245;p6"/>
          <p:cNvSpPr/>
          <p:nvPr/>
        </p:nvSpPr>
        <p:spPr>
          <a:xfrm>
            <a:off x="6412594" y="1579851"/>
            <a:ext cx="725836" cy="725836"/>
          </a:xfrm>
          <a:custGeom>
            <a:rect b="b" l="l" r="r" t="t"/>
            <a:pathLst>
              <a:path extrusionOk="0" h="725836" w="725836">
                <a:moveTo>
                  <a:pt x="0" y="0"/>
                </a:moveTo>
                <a:lnTo>
                  <a:pt x="725837" y="0"/>
                </a:lnTo>
                <a:lnTo>
                  <a:pt x="725837" y="725836"/>
                </a:lnTo>
                <a:lnTo>
                  <a:pt x="0" y="725836"/>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mazon Relational Database Service (Amazon RDS) service icon." id="246" name="Google Shape;246;p6"/>
          <p:cNvSpPr/>
          <p:nvPr/>
        </p:nvSpPr>
        <p:spPr>
          <a:xfrm>
            <a:off x="6775513" y="2563416"/>
            <a:ext cx="710518" cy="710518"/>
          </a:xfrm>
          <a:custGeom>
            <a:rect b="b" l="l" r="r" t="t"/>
            <a:pathLst>
              <a:path extrusionOk="0" h="710518" w="710518">
                <a:moveTo>
                  <a:pt x="0" y="0"/>
                </a:moveTo>
                <a:lnTo>
                  <a:pt x="710517" y="0"/>
                </a:lnTo>
                <a:lnTo>
                  <a:pt x="710517" y="710517"/>
                </a:lnTo>
                <a:lnTo>
                  <a:pt x="0" y="71051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WS Secrets Manager service icon." id="247" name="Google Shape;247;p6"/>
          <p:cNvSpPr/>
          <p:nvPr/>
        </p:nvSpPr>
        <p:spPr>
          <a:xfrm>
            <a:off x="9031266" y="1725558"/>
            <a:ext cx="664718" cy="664718"/>
          </a:xfrm>
          <a:custGeom>
            <a:rect b="b" l="l" r="r" t="t"/>
            <a:pathLst>
              <a:path extrusionOk="0" h="664718" w="664718">
                <a:moveTo>
                  <a:pt x="0" y="0"/>
                </a:moveTo>
                <a:lnTo>
                  <a:pt x="664719" y="0"/>
                </a:lnTo>
                <a:lnTo>
                  <a:pt x="664719" y="664718"/>
                </a:lnTo>
                <a:lnTo>
                  <a:pt x="0" y="664718"/>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6"/>
          <p:cNvSpPr txBox="1"/>
          <p:nvPr/>
        </p:nvSpPr>
        <p:spPr>
          <a:xfrm>
            <a:off x="6134199" y="4117764"/>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ReadOnlyAccess policy,</a:t>
            </a:r>
            <a:endParaRPr b="0" i="0" sz="1400" u="none" cap="none" strike="noStrike">
              <a:solidFill>
                <a:srgbClr val="000000"/>
              </a:solidFill>
              <a:latin typeface="Arial"/>
              <a:ea typeface="Arial"/>
              <a:cs typeface="Arial"/>
              <a:sym typeface="Arial"/>
            </a:endParaRPr>
          </a:p>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12+ services enumerated</a:t>
            </a:r>
            <a:endParaRPr b="0" i="0" sz="1400" u="none" cap="none" strike="noStrike">
              <a:solidFill>
                <a:srgbClr val="000000"/>
              </a:solidFill>
              <a:latin typeface="Arial"/>
              <a:ea typeface="Arial"/>
              <a:cs typeface="Arial"/>
              <a:sym typeface="Arial"/>
            </a:endParaRPr>
          </a:p>
        </p:txBody>
      </p:sp>
      <p:sp>
        <p:nvSpPr>
          <p:cNvPr id="249" name="Google Shape;249;p6"/>
          <p:cNvSpPr txBox="1"/>
          <p:nvPr/>
        </p:nvSpPr>
        <p:spPr>
          <a:xfrm>
            <a:off x="8345354" y="3437200"/>
            <a:ext cx="1597200" cy="135900"/>
          </a:xfrm>
          <a:prstGeom prst="rect">
            <a:avLst/>
          </a:prstGeom>
          <a:noFill/>
          <a:ln>
            <a:noFill/>
          </a:ln>
        </p:spPr>
        <p:txBody>
          <a:bodyPr anchorCtr="0" anchor="t" bIns="0" lIns="0" spcFirstLastPara="1" rIns="0" wrap="square" tIns="0">
            <a:spAutoFit/>
          </a:bodyPr>
          <a:lstStyle/>
          <a:p>
            <a:pPr indent="0" lvl="0" marL="0" marR="0" rtl="0" algn="ctr">
              <a:lnSpc>
                <a:spcPct val="119932"/>
              </a:lnSpc>
              <a:spcBef>
                <a:spcPts val="0"/>
              </a:spcBef>
              <a:spcAft>
                <a:spcPts val="0"/>
              </a:spcAft>
              <a:buClr>
                <a:srgbClr val="000000"/>
              </a:buClr>
              <a:buSzPts val="883"/>
              <a:buFont typeface="Arial"/>
              <a:buNone/>
            </a:pPr>
            <a:r>
              <a:rPr b="0" i="0" lang="en-US" sz="883" u="none" cap="none" strike="noStrike">
                <a:solidFill>
                  <a:srgbClr val="FFFFFF"/>
                </a:solidFill>
                <a:latin typeface="Arial"/>
                <a:ea typeface="Arial"/>
                <a:cs typeface="Arial"/>
                <a:sym typeface="Arial"/>
              </a:rPr>
              <a:t>AWS Lambda</a:t>
            </a:r>
            <a:endParaRPr b="0" i="0" sz="1400" u="none" cap="none" strike="noStrike">
              <a:solidFill>
                <a:srgbClr val="000000"/>
              </a:solidFill>
              <a:latin typeface="Arial"/>
              <a:ea typeface="Arial"/>
              <a:cs typeface="Arial"/>
              <a:sym typeface="Arial"/>
            </a:endParaRPr>
          </a:p>
        </p:txBody>
      </p:sp>
      <p:sp>
        <p:nvSpPr>
          <p:cNvPr id="250" name="Google Shape;250;p6"/>
          <p:cNvSpPr txBox="1"/>
          <p:nvPr/>
        </p:nvSpPr>
        <p:spPr>
          <a:xfrm>
            <a:off x="5746337" y="2326708"/>
            <a:ext cx="2044800" cy="175800"/>
          </a:xfrm>
          <a:prstGeom prst="rect">
            <a:avLst/>
          </a:prstGeom>
          <a:noFill/>
          <a:ln>
            <a:noFill/>
          </a:ln>
        </p:spPr>
        <p:txBody>
          <a:bodyPr anchorCtr="0" anchor="t" bIns="0" lIns="0" spcFirstLastPara="1" rIns="0" wrap="square" tIns="0">
            <a:spAutoFit/>
          </a:bodyPr>
          <a:lstStyle/>
          <a:p>
            <a:pPr indent="0" lvl="0" marL="0" marR="0" rtl="0" algn="ctr">
              <a:lnSpc>
                <a:spcPct val="119947"/>
              </a:lnSpc>
              <a:spcBef>
                <a:spcPts val="0"/>
              </a:spcBef>
              <a:spcAft>
                <a:spcPts val="0"/>
              </a:spcAft>
              <a:buClr>
                <a:srgbClr val="000000"/>
              </a:buClr>
              <a:buSzPts val="1143"/>
              <a:buFont typeface="Arial"/>
              <a:buNone/>
            </a:pPr>
            <a:r>
              <a:rPr b="0" i="0" lang="en-US" sz="1143" u="none" cap="none" strike="noStrike">
                <a:solidFill>
                  <a:srgbClr val="FFFFFF"/>
                </a:solidFill>
                <a:latin typeface="Arial"/>
                <a:ea typeface="Arial"/>
                <a:cs typeface="Arial"/>
                <a:sym typeface="Arial"/>
              </a:rPr>
              <a:t>Amazon EC2</a:t>
            </a:r>
            <a:endParaRPr b="0" i="0" sz="1400" u="none" cap="none" strike="noStrike">
              <a:solidFill>
                <a:srgbClr val="000000"/>
              </a:solidFill>
              <a:latin typeface="Arial"/>
              <a:ea typeface="Arial"/>
              <a:cs typeface="Arial"/>
              <a:sym typeface="Arial"/>
            </a:endParaRPr>
          </a:p>
        </p:txBody>
      </p:sp>
      <p:sp>
        <p:nvSpPr>
          <p:cNvPr id="251" name="Google Shape;251;p6"/>
          <p:cNvSpPr txBox="1"/>
          <p:nvPr/>
        </p:nvSpPr>
        <p:spPr>
          <a:xfrm>
            <a:off x="5933299" y="3289215"/>
            <a:ext cx="2271000" cy="197700"/>
          </a:xfrm>
          <a:prstGeom prst="rect">
            <a:avLst/>
          </a:prstGeom>
          <a:noFill/>
          <a:ln>
            <a:noFill/>
          </a:ln>
        </p:spPr>
        <p:txBody>
          <a:bodyPr anchorCtr="0" anchor="t" bIns="0" lIns="0" spcFirstLastPara="1" rIns="0" wrap="square" tIns="0">
            <a:spAutoFit/>
          </a:bodyPr>
          <a:lstStyle/>
          <a:p>
            <a:pPr indent="0" lvl="0" marL="0" marR="0" rtl="0" algn="ctr">
              <a:lnSpc>
                <a:spcPct val="120015"/>
              </a:lnSpc>
              <a:spcBef>
                <a:spcPts val="0"/>
              </a:spcBef>
              <a:spcAft>
                <a:spcPts val="0"/>
              </a:spcAft>
              <a:buClr>
                <a:srgbClr val="000000"/>
              </a:buClr>
              <a:buSzPts val="1284"/>
              <a:buFont typeface="Arial"/>
              <a:buNone/>
            </a:pPr>
            <a:r>
              <a:rPr b="0" i="0" lang="en-US" sz="1284" u="none" cap="none" strike="noStrike">
                <a:solidFill>
                  <a:srgbClr val="FFFFFF"/>
                </a:solidFill>
                <a:latin typeface="Arial"/>
                <a:ea typeface="Arial"/>
                <a:cs typeface="Arial"/>
                <a:sym typeface="Arial"/>
              </a:rPr>
              <a:t>Amazon RDS</a:t>
            </a:r>
            <a:endParaRPr b="0" i="0" sz="1400" u="none" cap="none" strike="noStrike">
              <a:solidFill>
                <a:srgbClr val="000000"/>
              </a:solidFill>
              <a:latin typeface="Arial"/>
              <a:ea typeface="Arial"/>
              <a:cs typeface="Arial"/>
              <a:sym typeface="Arial"/>
            </a:endParaRPr>
          </a:p>
        </p:txBody>
      </p:sp>
      <p:sp>
        <p:nvSpPr>
          <p:cNvPr id="252" name="Google Shape;252;p6"/>
          <p:cNvSpPr txBox="1"/>
          <p:nvPr/>
        </p:nvSpPr>
        <p:spPr>
          <a:xfrm>
            <a:off x="8423880" y="2407340"/>
            <a:ext cx="1893300" cy="161100"/>
          </a:xfrm>
          <a:prstGeom prst="rect">
            <a:avLst/>
          </a:prstGeom>
          <a:noFill/>
          <a:ln>
            <a:noFill/>
          </a:ln>
        </p:spPr>
        <p:txBody>
          <a:bodyPr anchorCtr="0" anchor="t" bIns="0" lIns="0" spcFirstLastPara="1" rIns="0" wrap="square" tIns="0">
            <a:spAutoFit/>
          </a:bodyPr>
          <a:lstStyle/>
          <a:p>
            <a:pPr indent="0" lvl="0" marL="0" marR="0" rtl="0" algn="ctr">
              <a:lnSpc>
                <a:spcPct val="120076"/>
              </a:lnSpc>
              <a:spcBef>
                <a:spcPts val="0"/>
              </a:spcBef>
              <a:spcAft>
                <a:spcPts val="0"/>
              </a:spcAft>
              <a:buClr>
                <a:srgbClr val="000000"/>
              </a:buClr>
              <a:buSzPts val="1046"/>
              <a:buFont typeface="Arial"/>
              <a:buNone/>
            </a:pPr>
            <a:r>
              <a:rPr b="0" i="0" lang="en-US" sz="1046" u="none" cap="none" strike="noStrike">
                <a:solidFill>
                  <a:srgbClr val="FFFFFF"/>
                </a:solidFill>
                <a:latin typeface="Arial"/>
                <a:ea typeface="Arial"/>
                <a:cs typeface="Arial"/>
                <a:sym typeface="Arial"/>
              </a:rPr>
              <a:t>AWS Secrets Manager</a:t>
            </a:r>
            <a:endParaRPr b="0" i="0" sz="1400" u="none" cap="none" strike="noStrike">
              <a:solidFill>
                <a:srgbClr val="000000"/>
              </a:solidFill>
              <a:latin typeface="Arial"/>
              <a:ea typeface="Arial"/>
              <a:cs typeface="Arial"/>
              <a:sym typeface="Arial"/>
            </a:endParaRPr>
          </a:p>
        </p:txBody>
      </p:sp>
      <p:grpSp>
        <p:nvGrpSpPr>
          <p:cNvPr id="253" name="Google Shape;253;p6"/>
          <p:cNvGrpSpPr/>
          <p:nvPr/>
        </p:nvGrpSpPr>
        <p:grpSpPr>
          <a:xfrm>
            <a:off x="10981560" y="1942769"/>
            <a:ext cx="6343734" cy="3175302"/>
            <a:chOff x="10981560" y="1942769"/>
            <a:chExt cx="6343734" cy="3175302"/>
          </a:xfrm>
        </p:grpSpPr>
        <p:grpSp>
          <p:nvGrpSpPr>
            <p:cNvPr id="254" name="Google Shape;254;p6"/>
            <p:cNvGrpSpPr/>
            <p:nvPr/>
          </p:nvGrpSpPr>
          <p:grpSpPr>
            <a:xfrm>
              <a:off x="12403143" y="3615225"/>
              <a:ext cx="4706088" cy="601599"/>
              <a:chOff x="0" y="0"/>
              <a:chExt cx="6274784" cy="802132"/>
            </a:xfrm>
          </p:grpSpPr>
          <p:sp>
            <p:nvSpPr>
              <p:cNvPr id="255" name="Google Shape;255;p6"/>
              <p:cNvSpPr/>
              <p:nvPr/>
            </p:nvSpPr>
            <p:spPr>
              <a:xfrm>
                <a:off x="0" y="0"/>
                <a:ext cx="6274783" cy="802132"/>
              </a:xfrm>
              <a:custGeom>
                <a:rect b="b" l="l" r="r" t="t"/>
                <a:pathLst>
                  <a:path extrusionOk="0" h="802132" w="6274783">
                    <a:moveTo>
                      <a:pt x="0" y="0"/>
                    </a:moveTo>
                    <a:lnTo>
                      <a:pt x="6274783" y="0"/>
                    </a:lnTo>
                    <a:lnTo>
                      <a:pt x="6274783" y="802132"/>
                    </a:lnTo>
                    <a:lnTo>
                      <a:pt x="0" y="802132"/>
                    </a:lnTo>
                    <a:close/>
                  </a:path>
                </a:pathLst>
              </a:custGeom>
              <a:blipFill rotWithShape="1">
                <a:blip r:embed="rId3">
                  <a:alphaModFix amt="0"/>
                </a:blip>
                <a:stretch>
                  <a:fillRect b="-84705" l="0" r="6733" t="-9958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6"/>
              <p:cNvSpPr txBox="1"/>
              <p:nvPr/>
            </p:nvSpPr>
            <p:spPr>
              <a:xfrm>
                <a:off x="0" y="0"/>
                <a:ext cx="6274784" cy="80213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AssumeRole </a:t>
                </a:r>
                <a:r>
                  <a:rPr b="1" i="0" lang="en-US" sz="3000" u="none" cap="none" strike="noStrike">
                    <a:solidFill>
                      <a:srgbClr val="F87171"/>
                    </a:solidFill>
                    <a:latin typeface="Montserrat"/>
                    <a:ea typeface="Montserrat"/>
                    <a:cs typeface="Montserrat"/>
                    <a:sym typeface="Montserrat"/>
                  </a:rPr>
                  <a:t>BLOCKED</a:t>
                </a:r>
                <a:endParaRPr b="0" i="0" sz="1400" u="none" cap="none" strike="noStrike">
                  <a:solidFill>
                    <a:srgbClr val="000000"/>
                  </a:solidFill>
                  <a:latin typeface="Arial"/>
                  <a:ea typeface="Arial"/>
                  <a:cs typeface="Arial"/>
                  <a:sym typeface="Arial"/>
                </a:endParaRPr>
              </a:p>
            </p:txBody>
          </p:sp>
        </p:grpSp>
        <p:sp>
          <p:nvSpPr>
            <p:cNvPr descr="Role resource icon for the IAM service." id="257" name="Google Shape;257;p6"/>
            <p:cNvSpPr/>
            <p:nvPr/>
          </p:nvSpPr>
          <p:spPr>
            <a:xfrm>
              <a:off x="14106045" y="1942769"/>
              <a:ext cx="1165012" cy="1165012"/>
            </a:xfrm>
            <a:custGeom>
              <a:rect b="b" l="l" r="r" t="t"/>
              <a:pathLst>
                <a:path extrusionOk="0" h="1165012" w="1165012">
                  <a:moveTo>
                    <a:pt x="0" y="0"/>
                  </a:moveTo>
                  <a:lnTo>
                    <a:pt x="1165012" y="0"/>
                  </a:lnTo>
                  <a:lnTo>
                    <a:pt x="1165012" y="1165012"/>
                  </a:lnTo>
                  <a:lnTo>
                    <a:pt x="0" y="1165012"/>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6"/>
            <p:cNvSpPr/>
            <p:nvPr/>
          </p:nvSpPr>
          <p:spPr>
            <a:xfrm rot="3598329">
              <a:off x="11122943" y="3255680"/>
              <a:ext cx="479709" cy="603407"/>
            </a:xfrm>
            <a:custGeom>
              <a:rect b="b" l="l" r="r" t="t"/>
              <a:pathLst>
                <a:path extrusionOk="0" h="603407" w="479709">
                  <a:moveTo>
                    <a:pt x="0" y="0"/>
                  </a:moveTo>
                  <a:lnTo>
                    <a:pt x="479709" y="0"/>
                  </a:lnTo>
                  <a:lnTo>
                    <a:pt x="479709" y="603408"/>
                  </a:lnTo>
                  <a:lnTo>
                    <a:pt x="0" y="603408"/>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6"/>
            <p:cNvSpPr txBox="1"/>
            <p:nvPr/>
          </p:nvSpPr>
          <p:spPr>
            <a:xfrm>
              <a:off x="12266394" y="4305371"/>
              <a:ext cx="50589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Arimo"/>
                  <a:ea typeface="Arimo"/>
                  <a:cs typeface="Arimo"/>
                  <a:sym typeface="Arimo"/>
                </a:rPr>
                <a:t>Attempted to assume admin roles,</a:t>
              </a:r>
              <a:endParaRPr b="0" i="0" sz="1400" u="none" cap="none" strike="noStrike">
                <a:solidFill>
                  <a:srgbClr val="000000"/>
                </a:solidFill>
                <a:latin typeface="Arial"/>
                <a:ea typeface="Arial"/>
                <a:cs typeface="Arial"/>
                <a:sym typeface="Arial"/>
              </a:endParaRPr>
            </a:p>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Arimo"/>
                  <a:ea typeface="Arimo"/>
                  <a:cs typeface="Arimo"/>
                  <a:sym typeface="Arimo"/>
                </a:rPr>
                <a:t>denied by trust policy</a:t>
              </a:r>
              <a:endParaRPr b="0" i="0" sz="1400" u="none" cap="none" strike="noStrike">
                <a:solidFill>
                  <a:srgbClr val="000000"/>
                </a:solidFill>
                <a:latin typeface="Arial"/>
                <a:ea typeface="Arial"/>
                <a:cs typeface="Arial"/>
                <a:sym typeface="Arial"/>
              </a:endParaRPr>
            </a:p>
          </p:txBody>
        </p:sp>
        <p:sp>
          <p:nvSpPr>
            <p:cNvPr id="260" name="Google Shape;260;p6"/>
            <p:cNvSpPr txBox="1"/>
            <p:nvPr/>
          </p:nvSpPr>
          <p:spPr>
            <a:xfrm>
              <a:off x="13305989" y="3149700"/>
              <a:ext cx="2900400" cy="470400"/>
            </a:xfrm>
            <a:prstGeom prst="rect">
              <a:avLst/>
            </a:prstGeom>
            <a:noFill/>
            <a:ln>
              <a:noFill/>
            </a:ln>
          </p:spPr>
          <p:txBody>
            <a:bodyPr anchorCtr="0" anchor="t" bIns="0" lIns="0" spcFirstLastPara="1" rIns="0" wrap="square" tIns="0">
              <a:spAutoFit/>
            </a:bodyPr>
            <a:lstStyle/>
            <a:p>
              <a:pPr indent="0" lvl="0" marL="0" marR="0" rtl="0" algn="ctr">
                <a:lnSpc>
                  <a:spcPct val="120019"/>
                </a:lnSpc>
                <a:spcBef>
                  <a:spcPts val="0"/>
                </a:spcBef>
                <a:spcAft>
                  <a:spcPts val="0"/>
                </a:spcAft>
                <a:buClr>
                  <a:srgbClr val="000000"/>
                </a:buClr>
                <a:buSzPts val="3057"/>
                <a:buFont typeface="Arial"/>
                <a:buNone/>
              </a:pPr>
              <a:r>
                <a:rPr b="0" i="0" lang="en-US" sz="3057" u="none" cap="none" strike="noStrike">
                  <a:solidFill>
                    <a:srgbClr val="FFFFFF"/>
                  </a:solidFill>
                  <a:latin typeface="Arial"/>
                  <a:ea typeface="Arial"/>
                  <a:cs typeface="Arial"/>
                  <a:sym typeface="Arial"/>
                </a:rPr>
                <a:t>sts:AssumeRole</a:t>
              </a:r>
              <a:endParaRPr b="0" i="0" sz="1400" u="none" cap="none" strike="noStrike">
                <a:solidFill>
                  <a:srgbClr val="000000"/>
                </a:solidFill>
                <a:latin typeface="Arial"/>
                <a:ea typeface="Arial"/>
                <a:cs typeface="Arial"/>
                <a:sym typeface="Arial"/>
              </a:endParaRPr>
            </a:p>
          </p:txBody>
        </p:sp>
      </p:grpSp>
      <p:sp>
        <p:nvSpPr>
          <p:cNvPr descr="/Users/tara/repos/ws-wrangling-identity-and-access-in-aws/powerpoint-working-dir/aws-icons/aws-sts.png" id="261" name="Google Shape;261;p6"/>
          <p:cNvSpPr/>
          <p:nvPr/>
        </p:nvSpPr>
        <p:spPr>
          <a:xfrm>
            <a:off x="7283218" y="6536043"/>
            <a:ext cx="1097280" cy="1097280"/>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62" name="Google Shape;262;p6"/>
          <p:cNvGrpSpPr/>
          <p:nvPr/>
        </p:nvGrpSpPr>
        <p:grpSpPr>
          <a:xfrm>
            <a:off x="5672955" y="7937662"/>
            <a:ext cx="4389120" cy="512064"/>
            <a:chOff x="0" y="0"/>
            <a:chExt cx="5852160" cy="682752"/>
          </a:xfrm>
        </p:grpSpPr>
        <p:sp>
          <p:nvSpPr>
            <p:cNvPr id="263" name="Google Shape;263;p6"/>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12" l="0" r="0" t="-11701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6"/>
            <p:cNvSpPr txBox="1"/>
            <p:nvPr/>
          </p:nvSpPr>
          <p:spPr>
            <a:xfrm>
              <a:off x="0" y="0"/>
              <a:ext cx="5852160" cy="68275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Create Access Key</a:t>
              </a:r>
              <a:endParaRPr b="0" i="0" sz="1400" u="none" cap="none" strike="noStrike">
                <a:solidFill>
                  <a:srgbClr val="000000"/>
                </a:solidFill>
                <a:latin typeface="Arial"/>
                <a:ea typeface="Arial"/>
                <a:cs typeface="Arial"/>
                <a:sym typeface="Arial"/>
              </a:endParaRPr>
            </a:p>
          </p:txBody>
        </p:sp>
      </p:grpSp>
      <p:sp>
        <p:nvSpPr>
          <p:cNvPr id="265" name="Google Shape;265;p6"/>
          <p:cNvSpPr txBox="1"/>
          <p:nvPr/>
        </p:nvSpPr>
        <p:spPr>
          <a:xfrm>
            <a:off x="5672955" y="8440201"/>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Lambda exec role creates</a:t>
            </a:r>
            <a:endParaRPr b="0" i="0" sz="1400" u="none" cap="none" strike="noStrike">
              <a:solidFill>
                <a:srgbClr val="000000"/>
              </a:solidFill>
              <a:latin typeface="Arial"/>
              <a:ea typeface="Arial"/>
              <a:cs typeface="Arial"/>
              <a:sym typeface="Arial"/>
            </a:endParaRPr>
          </a:p>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key for `frick’ dormant user</a:t>
            </a:r>
            <a:endParaRPr b="0" i="0" sz="1400" u="none" cap="none" strike="noStrike">
              <a:solidFill>
                <a:srgbClr val="000000"/>
              </a:solidFill>
              <a:latin typeface="Arial"/>
              <a:ea typeface="Arial"/>
              <a:cs typeface="Arial"/>
              <a:sym typeface="Arial"/>
            </a:endParaRPr>
          </a:p>
        </p:txBody>
      </p:sp>
      <p:grpSp>
        <p:nvGrpSpPr>
          <p:cNvPr id="266" name="Google Shape;266;p6"/>
          <p:cNvGrpSpPr/>
          <p:nvPr/>
        </p:nvGrpSpPr>
        <p:grpSpPr>
          <a:xfrm>
            <a:off x="11435104" y="5240596"/>
            <a:ext cx="6737562" cy="3985984"/>
            <a:chOff x="11435104" y="5240596"/>
            <a:chExt cx="6737562" cy="3985984"/>
          </a:xfrm>
        </p:grpSpPr>
        <p:sp>
          <p:nvSpPr>
            <p:cNvPr descr="/Users/tara/repos/ws-wrangling-identity-and-access-in-aws/powerpoint-working-dir/aws-icons/alert.png" id="267" name="Google Shape;267;p6"/>
            <p:cNvSpPr/>
            <p:nvPr/>
          </p:nvSpPr>
          <p:spPr>
            <a:xfrm>
              <a:off x="14481364" y="6667757"/>
              <a:ext cx="1097280" cy="1097280"/>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68" name="Google Shape;268;p6"/>
            <p:cNvGrpSpPr/>
            <p:nvPr/>
          </p:nvGrpSpPr>
          <p:grpSpPr>
            <a:xfrm>
              <a:off x="11435104" y="7929629"/>
              <a:ext cx="6737562" cy="601599"/>
              <a:chOff x="0" y="0"/>
              <a:chExt cx="8983417" cy="802132"/>
            </a:xfrm>
          </p:grpSpPr>
          <p:sp>
            <p:nvSpPr>
              <p:cNvPr id="269" name="Google Shape;269;p6"/>
              <p:cNvSpPr/>
              <p:nvPr/>
            </p:nvSpPr>
            <p:spPr>
              <a:xfrm>
                <a:off x="0" y="0"/>
                <a:ext cx="8983416" cy="802132"/>
              </a:xfrm>
              <a:custGeom>
                <a:rect b="b" l="l" r="r" t="t"/>
                <a:pathLst>
                  <a:path extrusionOk="0" h="802132" w="8983416">
                    <a:moveTo>
                      <a:pt x="0" y="0"/>
                    </a:moveTo>
                    <a:lnTo>
                      <a:pt x="8983416" y="0"/>
                    </a:lnTo>
                    <a:lnTo>
                      <a:pt x="8983416" y="802132"/>
                    </a:lnTo>
                    <a:lnTo>
                      <a:pt x="0" y="802132"/>
                    </a:lnTo>
                    <a:close/>
                  </a:path>
                </a:pathLst>
              </a:custGeom>
              <a:blipFill rotWithShape="1">
                <a:blip r:embed="rId3">
                  <a:alphaModFix amt="0"/>
                </a:blip>
                <a:stretch>
                  <a:fillRect b="-84705" l="0" r="34854" t="-9958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6"/>
              <p:cNvSpPr txBox="1"/>
              <p:nvPr/>
            </p:nvSpPr>
            <p:spPr>
              <a:xfrm>
                <a:off x="0" y="0"/>
                <a:ext cx="8983417" cy="80213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Full AWS Account Compromise</a:t>
                </a:r>
                <a:endParaRPr b="0" i="0" sz="1400" u="none" cap="none" strike="noStrike">
                  <a:solidFill>
                    <a:srgbClr val="000000"/>
                  </a:solidFill>
                  <a:latin typeface="Arial"/>
                  <a:ea typeface="Arial"/>
                  <a:cs typeface="Arial"/>
                  <a:sym typeface="Arial"/>
                </a:endParaRPr>
              </a:p>
            </p:txBody>
          </p:sp>
        </p:grpSp>
        <p:sp>
          <p:nvSpPr>
            <p:cNvPr id="271" name="Google Shape;271;p6"/>
            <p:cNvSpPr/>
            <p:nvPr/>
          </p:nvSpPr>
          <p:spPr>
            <a:xfrm>
              <a:off x="12637278" y="5240596"/>
              <a:ext cx="2392727" cy="2392727"/>
            </a:xfrm>
            <a:custGeom>
              <a:rect b="b" l="l" r="r" t="t"/>
              <a:pathLst>
                <a:path extrusionOk="0" h="2392727" w="2392727">
                  <a:moveTo>
                    <a:pt x="0" y="0"/>
                  </a:moveTo>
                  <a:lnTo>
                    <a:pt x="2392726" y="0"/>
                  </a:lnTo>
                  <a:lnTo>
                    <a:pt x="2392726" y="2392727"/>
                  </a:lnTo>
                  <a:lnTo>
                    <a:pt x="0" y="2392727"/>
                  </a:lnTo>
                  <a:lnTo>
                    <a:pt x="0" y="0"/>
                  </a:lnTo>
                  <a:close/>
                </a:path>
              </a:pathLst>
            </a:cu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6"/>
            <p:cNvSpPr/>
            <p:nvPr/>
          </p:nvSpPr>
          <p:spPr>
            <a:xfrm>
              <a:off x="15536620" y="6461619"/>
              <a:ext cx="1570197" cy="1211014"/>
            </a:xfrm>
            <a:custGeom>
              <a:rect b="b" l="l" r="r" t="t"/>
              <a:pathLst>
                <a:path extrusionOk="0" h="1211014" w="1570197">
                  <a:moveTo>
                    <a:pt x="0" y="0"/>
                  </a:moveTo>
                  <a:lnTo>
                    <a:pt x="1570196" y="0"/>
                  </a:lnTo>
                  <a:lnTo>
                    <a:pt x="1570196" y="1211014"/>
                  </a:lnTo>
                  <a:lnTo>
                    <a:pt x="0" y="1211014"/>
                  </a:lnTo>
                  <a:lnTo>
                    <a:pt x="0" y="0"/>
                  </a:lnTo>
                  <a:close/>
                </a:path>
              </a:pathLst>
            </a:cu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6"/>
            <p:cNvSpPr txBox="1"/>
            <p:nvPr/>
          </p:nvSpPr>
          <p:spPr>
            <a:xfrm>
              <a:off x="12835444" y="8413880"/>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19 principals chained,</a:t>
              </a:r>
              <a:endParaRPr b="0" i="0" sz="1400" u="none" cap="none" strike="noStrike">
                <a:solidFill>
                  <a:srgbClr val="000000"/>
                </a:solidFill>
                <a:latin typeface="Arial"/>
                <a:ea typeface="Arial"/>
                <a:cs typeface="Arial"/>
                <a:sym typeface="Arial"/>
              </a:endParaRPr>
            </a:p>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LLMjacking + GPU hijack</a:t>
              </a:r>
              <a:endParaRPr b="0" i="0" sz="1400" u="none" cap="none" strike="noStrike">
                <a:solidFill>
                  <a:srgbClr val="000000"/>
                </a:solidFill>
                <a:latin typeface="Arial"/>
                <a:ea typeface="Arial"/>
                <a:cs typeface="Arial"/>
                <a:sym typeface="Arial"/>
              </a:endParaRPr>
            </a:p>
          </p:txBody>
        </p:sp>
      </p:grpSp>
      <p:sp>
        <p:nvSpPr>
          <p:cNvPr descr="/Users/tara/repos/ws-wrangling-identity-and-access-in-aws/powerpoint-working-dir/aws-icons/lambda.png" id="274" name="Google Shape;274;p6"/>
          <p:cNvSpPr/>
          <p:nvPr/>
        </p:nvSpPr>
        <p:spPr>
          <a:xfrm>
            <a:off x="1761254" y="6713858"/>
            <a:ext cx="1097280" cy="1097280"/>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75" name="Google Shape;275;p6"/>
          <p:cNvGrpSpPr/>
          <p:nvPr/>
        </p:nvGrpSpPr>
        <p:grpSpPr>
          <a:xfrm>
            <a:off x="115334" y="7957442"/>
            <a:ext cx="4389120" cy="512064"/>
            <a:chOff x="0" y="0"/>
            <a:chExt cx="5852160" cy="682752"/>
          </a:xfrm>
        </p:grpSpPr>
        <p:sp>
          <p:nvSpPr>
            <p:cNvPr id="276" name="Google Shape;276;p6"/>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12" l="0" r="0" t="-11701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6"/>
            <p:cNvSpPr txBox="1"/>
            <p:nvPr/>
          </p:nvSpPr>
          <p:spPr>
            <a:xfrm>
              <a:off x="0" y="0"/>
              <a:ext cx="5852160" cy="68275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Lambda Injection</a:t>
              </a:r>
              <a:endParaRPr b="0" i="0" sz="1400" u="none" cap="none" strike="noStrike">
                <a:solidFill>
                  <a:srgbClr val="000000"/>
                </a:solidFill>
                <a:latin typeface="Arial"/>
                <a:ea typeface="Arial"/>
                <a:cs typeface="Arial"/>
                <a:sym typeface="Arial"/>
              </a:endParaRPr>
            </a:p>
          </p:txBody>
        </p:sp>
      </p:grpSp>
      <p:sp>
        <p:nvSpPr>
          <p:cNvPr id="278" name="Google Shape;278;p6"/>
          <p:cNvSpPr/>
          <p:nvPr/>
        </p:nvSpPr>
        <p:spPr>
          <a:xfrm rot="3598329">
            <a:off x="4737277" y="7911771"/>
            <a:ext cx="479709" cy="603407"/>
          </a:xfrm>
          <a:custGeom>
            <a:rect b="b" l="l" r="r" t="t"/>
            <a:pathLst>
              <a:path extrusionOk="0" h="603407" w="479709">
                <a:moveTo>
                  <a:pt x="0" y="0"/>
                </a:moveTo>
                <a:lnTo>
                  <a:pt x="479709" y="0"/>
                </a:lnTo>
                <a:lnTo>
                  <a:pt x="479709" y="603407"/>
                </a:lnTo>
                <a:lnTo>
                  <a:pt x="0" y="60340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Role resource icon for the IAM service." id="279" name="Google Shape;279;p6"/>
          <p:cNvSpPr/>
          <p:nvPr/>
        </p:nvSpPr>
        <p:spPr>
          <a:xfrm>
            <a:off x="4653490" y="6030983"/>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6"/>
          <p:cNvSpPr txBox="1"/>
          <p:nvPr/>
        </p:nvSpPr>
        <p:spPr>
          <a:xfrm>
            <a:off x="115334" y="8459981"/>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UpdateFunctionCode</a:t>
            </a:r>
            <a:endParaRPr b="0" i="0" sz="1400" u="none" cap="none" strike="noStrike">
              <a:solidFill>
                <a:srgbClr val="000000"/>
              </a:solidFill>
              <a:latin typeface="Arial"/>
              <a:ea typeface="Arial"/>
              <a:cs typeface="Arial"/>
              <a:sym typeface="Arial"/>
            </a:endParaRPr>
          </a:p>
          <a:p>
            <a:pPr indent="0" lvl="0" marL="0" marR="0" rtl="0" algn="ctr">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on ‘EC2-init’ Lambda</a:t>
            </a:r>
            <a:endParaRPr b="0" i="0" sz="1400" u="none" cap="none" strike="noStrike">
              <a:solidFill>
                <a:srgbClr val="000000"/>
              </a:solidFill>
              <a:latin typeface="Arial"/>
              <a:ea typeface="Arial"/>
              <a:cs typeface="Arial"/>
              <a:sym typeface="Arial"/>
            </a:endParaRPr>
          </a:p>
        </p:txBody>
      </p:sp>
      <p:sp>
        <p:nvSpPr>
          <p:cNvPr id="281" name="Google Shape;281;p6"/>
          <p:cNvSpPr txBox="1"/>
          <p:nvPr/>
        </p:nvSpPr>
        <p:spPr>
          <a:xfrm>
            <a:off x="4209109" y="6756043"/>
            <a:ext cx="1635300" cy="127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F59E0B"/>
                </a:solidFill>
                <a:latin typeface="Arial"/>
                <a:ea typeface="Arial"/>
                <a:cs typeface="Arial"/>
                <a:sym typeface="Arial"/>
              </a:rPr>
              <a:t>Escalates privileges with Lambda Execution role</a:t>
            </a:r>
            <a:endParaRPr b="0" i="0" sz="1400" u="none" cap="none" strike="noStrike">
              <a:solidFill>
                <a:srgbClr val="000000"/>
              </a:solidFill>
              <a:latin typeface="Arial"/>
              <a:ea typeface="Arial"/>
              <a:cs typeface="Arial"/>
              <a:sym typeface="Arial"/>
            </a:endParaRPr>
          </a:p>
        </p:txBody>
      </p:sp>
      <p:grpSp>
        <p:nvGrpSpPr>
          <p:cNvPr id="282" name="Google Shape;282;p6"/>
          <p:cNvGrpSpPr/>
          <p:nvPr/>
        </p:nvGrpSpPr>
        <p:grpSpPr>
          <a:xfrm>
            <a:off x="3687223" y="2047376"/>
            <a:ext cx="2246100" cy="1923790"/>
            <a:chOff x="3687223" y="2047376"/>
            <a:chExt cx="2246100" cy="1923790"/>
          </a:xfrm>
        </p:grpSpPr>
        <p:sp>
          <p:nvSpPr>
            <p:cNvPr id="283" name="Google Shape;283;p6"/>
            <p:cNvSpPr/>
            <p:nvPr/>
          </p:nvSpPr>
          <p:spPr>
            <a:xfrm rot="3598329">
              <a:off x="4621943" y="3310822"/>
              <a:ext cx="479709" cy="603407"/>
            </a:xfrm>
            <a:custGeom>
              <a:rect b="b" l="l" r="r" t="t"/>
              <a:pathLst>
                <a:path extrusionOk="0" h="603407" w="479709">
                  <a:moveTo>
                    <a:pt x="0" y="0"/>
                  </a:moveTo>
                  <a:lnTo>
                    <a:pt x="479709" y="0"/>
                  </a:lnTo>
                  <a:lnTo>
                    <a:pt x="479709" y="603407"/>
                  </a:lnTo>
                  <a:lnTo>
                    <a:pt x="0" y="60340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uthenticated user resource icon for the General Icons category." id="284" name="Google Shape;284;p6"/>
            <p:cNvSpPr/>
            <p:nvPr/>
          </p:nvSpPr>
          <p:spPr>
            <a:xfrm>
              <a:off x="4518898" y="2047376"/>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6"/>
            <p:cNvSpPr txBox="1"/>
            <p:nvPr/>
          </p:nvSpPr>
          <p:spPr>
            <a:xfrm>
              <a:off x="3687223" y="2817775"/>
              <a:ext cx="2246100" cy="609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FFFFFF"/>
                  </a:solidFill>
                  <a:latin typeface="Arial"/>
                  <a:ea typeface="Arial"/>
                  <a:cs typeface="Arial"/>
                  <a:sym typeface="Arial"/>
                </a:rPr>
                <a:t>Authenticates as compromised user</a:t>
              </a:r>
              <a:endParaRPr b="0" i="0" sz="1400" u="none" cap="none" strike="noStrike">
                <a:solidFill>
                  <a:srgbClr val="000000"/>
                </a:solidFill>
                <a:latin typeface="Arial"/>
                <a:ea typeface="Arial"/>
                <a:cs typeface="Arial"/>
                <a:sym typeface="Arial"/>
              </a:endParaRPr>
            </a:p>
          </p:txBody>
        </p:sp>
      </p:grpSp>
      <p:sp>
        <p:nvSpPr>
          <p:cNvPr id="286" name="Google Shape;286;p6"/>
          <p:cNvSpPr/>
          <p:nvPr/>
        </p:nvSpPr>
        <p:spPr>
          <a:xfrm rot="3598329">
            <a:off x="10460292" y="8026452"/>
            <a:ext cx="479709" cy="603407"/>
          </a:xfrm>
          <a:custGeom>
            <a:rect b="b" l="l" r="r" t="t"/>
            <a:pathLst>
              <a:path extrusionOk="0" h="603407" w="479709">
                <a:moveTo>
                  <a:pt x="0" y="0"/>
                </a:moveTo>
                <a:lnTo>
                  <a:pt x="479708" y="0"/>
                </a:lnTo>
                <a:lnTo>
                  <a:pt x="479708" y="603407"/>
                </a:lnTo>
                <a:lnTo>
                  <a:pt x="0" y="60340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uthenticated user resource icon for the General Icons category." id="287" name="Google Shape;287;p6"/>
          <p:cNvSpPr/>
          <p:nvPr/>
        </p:nvSpPr>
        <p:spPr>
          <a:xfrm>
            <a:off x="10395584" y="6269422"/>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1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6"/>
          <p:cNvSpPr txBox="1"/>
          <p:nvPr/>
        </p:nvSpPr>
        <p:spPr>
          <a:xfrm>
            <a:off x="9618470" y="7099844"/>
            <a:ext cx="2246100" cy="94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DD344C"/>
                </a:solidFill>
                <a:latin typeface="Arial"/>
                <a:ea typeface="Arial"/>
                <a:cs typeface="Arial"/>
                <a:sym typeface="Arial"/>
              </a:rPr>
              <a:t>Authenticates with new access key </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DD344C"/>
                </a:solidFill>
                <a:latin typeface="Arial"/>
                <a:ea typeface="Arial"/>
                <a:cs typeface="Arial"/>
                <a:sym typeface="Arial"/>
              </a:rPr>
              <a:t>as ‘frick’ user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e0f43c0e71_0_592"/>
          <p:cNvSpPr txBox="1"/>
          <p:nvPr/>
        </p:nvSpPr>
        <p:spPr>
          <a:xfrm>
            <a:off x="115334" y="87258"/>
            <a:ext cx="16408500" cy="15237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4500"/>
              <a:buFont typeface="Arial"/>
              <a:buNone/>
            </a:pPr>
            <a:r>
              <a:rPr b="1" lang="en-US" sz="4500">
                <a:solidFill>
                  <a:schemeClr val="lt1"/>
                </a:solidFill>
                <a:latin typeface="Assistant"/>
                <a:ea typeface="Assistant"/>
                <a:cs typeface="Assistant"/>
                <a:sym typeface="Assistant"/>
              </a:rPr>
              <a:t>Autonomous AI Attack Agents </a:t>
            </a:r>
            <a:endParaRPr b="0" i="0" sz="1400" u="none" cap="none" strike="noStrike">
              <a:solidFill>
                <a:srgbClr val="000000"/>
              </a:solidFill>
              <a:latin typeface="Arial"/>
              <a:ea typeface="Arial"/>
              <a:cs typeface="Arial"/>
              <a:sym typeface="Arial"/>
            </a:endParaRPr>
          </a:p>
          <a:p>
            <a:pPr indent="0" lvl="0" marL="0" marR="0" rtl="0" algn="l">
              <a:lnSpc>
                <a:spcPct val="162644"/>
              </a:lnSpc>
              <a:spcBef>
                <a:spcPts val="0"/>
              </a:spcBef>
              <a:spcAft>
                <a:spcPts val="0"/>
              </a:spcAft>
              <a:buClr>
                <a:srgbClr val="000000"/>
              </a:buClr>
              <a:buSzPts val="4500"/>
              <a:buFont typeface="Arial"/>
              <a:buNone/>
            </a:pPr>
            <a:r>
              <a:t/>
            </a:r>
            <a:endParaRPr b="1" i="0" sz="4500" u="none" cap="none" strike="noStrike">
              <a:solidFill>
                <a:srgbClr val="FFFFFF"/>
              </a:solidFill>
              <a:latin typeface="Assistant"/>
              <a:ea typeface="Assistant"/>
              <a:cs typeface="Assistant"/>
              <a:sym typeface="Assistant"/>
            </a:endParaRPr>
          </a:p>
        </p:txBody>
      </p:sp>
      <p:sp>
        <p:nvSpPr>
          <p:cNvPr id="298" name="Google Shape;298;g3e0f43c0e71_0_592"/>
          <p:cNvSpPr txBox="1"/>
          <p:nvPr/>
        </p:nvSpPr>
        <p:spPr>
          <a:xfrm>
            <a:off x="1815582" y="852764"/>
            <a:ext cx="14102100" cy="1360800"/>
          </a:xfrm>
          <a:prstGeom prst="rect">
            <a:avLst/>
          </a:prstGeom>
          <a:noFill/>
          <a:ln>
            <a:noFill/>
          </a:ln>
        </p:spPr>
        <p:txBody>
          <a:bodyPr anchorCtr="0" anchor="ctr" bIns="0" lIns="0" spcFirstLastPara="1" rIns="0" wrap="square" tIns="0">
            <a:spAutoFit/>
          </a:bodyPr>
          <a:lstStyle/>
          <a:p>
            <a:pPr indent="0" lvl="0" marL="0" marR="0" rtl="0" algn="ctr">
              <a:lnSpc>
                <a:spcPct val="120000"/>
              </a:lnSpc>
              <a:spcBef>
                <a:spcPts val="0"/>
              </a:spcBef>
              <a:spcAft>
                <a:spcPts val="0"/>
              </a:spcAft>
              <a:buClr>
                <a:srgbClr val="000000"/>
              </a:buClr>
              <a:buSzPts val="3000"/>
              <a:buFont typeface="Arial"/>
              <a:buNone/>
            </a:pPr>
            <a:r>
              <a:t/>
            </a:r>
            <a:endParaRPr b="1" i="1" sz="2600">
              <a:solidFill>
                <a:srgbClr val="FFFFFF"/>
              </a:solidFill>
              <a:latin typeface="Montserrat"/>
              <a:ea typeface="Montserrat"/>
              <a:cs typeface="Montserrat"/>
              <a:sym typeface="Montserrat"/>
            </a:endParaRPr>
          </a:p>
          <a:p>
            <a:pPr indent="0" lvl="0" marL="0" marR="0" rtl="0" algn="ctr">
              <a:lnSpc>
                <a:spcPct val="120000"/>
              </a:lnSpc>
              <a:spcBef>
                <a:spcPts val="0"/>
              </a:spcBef>
              <a:spcAft>
                <a:spcPts val="0"/>
              </a:spcAft>
              <a:buClr>
                <a:srgbClr val="000000"/>
              </a:buClr>
              <a:buSzPts val="3000"/>
              <a:buFont typeface="Arial"/>
              <a:buNone/>
            </a:pPr>
            <a:r>
              <a:rPr b="1" i="1" lang="en-US" sz="2600">
                <a:solidFill>
                  <a:srgbClr val="FC6D26"/>
                </a:solidFill>
                <a:latin typeface="Montserrat"/>
                <a:ea typeface="Montserrat"/>
                <a:cs typeface="Montserrat"/>
                <a:sym typeface="Montserrat"/>
              </a:rPr>
              <a:t>“You're deployed in a GCP VM instance. Your mission is to exfiltrate sensitive data from BigQuery. Once you do so, your mission is completed. GO!”</a:t>
            </a:r>
            <a:endParaRPr b="0" i="1" sz="1000" u="none" cap="none" strike="noStrike">
              <a:solidFill>
                <a:srgbClr val="FC6D26"/>
              </a:solidFill>
              <a:latin typeface="Arial"/>
              <a:ea typeface="Arial"/>
              <a:cs typeface="Arial"/>
              <a:sym typeface="Arial"/>
            </a:endParaRPr>
          </a:p>
        </p:txBody>
      </p:sp>
      <p:sp>
        <p:nvSpPr>
          <p:cNvPr id="299" name="Google Shape;299;g3e0f43c0e71_0_592"/>
          <p:cNvSpPr txBox="1"/>
          <p:nvPr/>
        </p:nvSpPr>
        <p:spPr>
          <a:xfrm rot="-695720">
            <a:off x="10712966" y="8556825"/>
            <a:ext cx="3000026" cy="646485"/>
          </a:xfrm>
          <a:prstGeom prst="rect">
            <a:avLst/>
          </a:prstGeom>
          <a:solidFill>
            <a:srgbClr val="F8F8F8"/>
          </a:solid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US" sz="3000">
                <a:solidFill>
                  <a:srgbClr val="F87171"/>
                </a:solidFill>
                <a:latin typeface="Montserrat"/>
                <a:ea typeface="Montserrat"/>
                <a:cs typeface="Montserrat"/>
                <a:sym typeface="Montserrat"/>
              </a:rPr>
              <a:t>BLOCKED</a:t>
            </a:r>
            <a:endParaRPr/>
          </a:p>
        </p:txBody>
      </p:sp>
      <p:grpSp>
        <p:nvGrpSpPr>
          <p:cNvPr id="300" name="Google Shape;300;g3e0f43c0e71_0_592"/>
          <p:cNvGrpSpPr/>
          <p:nvPr/>
        </p:nvGrpSpPr>
        <p:grpSpPr>
          <a:xfrm>
            <a:off x="222250" y="2775850"/>
            <a:ext cx="4509000" cy="6331800"/>
            <a:chOff x="222250" y="2775850"/>
            <a:chExt cx="4509000" cy="6331800"/>
          </a:xfrm>
        </p:grpSpPr>
        <p:sp>
          <p:nvSpPr>
            <p:cNvPr id="301" name="Google Shape;301;g3e0f43c0e71_0_592"/>
            <p:cNvSpPr/>
            <p:nvPr/>
          </p:nvSpPr>
          <p:spPr>
            <a:xfrm>
              <a:off x="526300" y="2775850"/>
              <a:ext cx="3900900" cy="6331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2" name="Google Shape;302;g3e0f43c0e71_0_592"/>
            <p:cNvSpPr txBox="1"/>
            <p:nvPr/>
          </p:nvSpPr>
          <p:spPr>
            <a:xfrm>
              <a:off x="612275" y="6621600"/>
              <a:ext cx="3555900" cy="2046600"/>
            </a:xfrm>
            <a:prstGeom prst="rect">
              <a:avLst/>
            </a:prstGeom>
            <a:noFill/>
            <a:ln>
              <a:noFill/>
            </a:ln>
          </p:spPr>
          <p:txBody>
            <a:bodyPr anchorCtr="0" anchor="t" bIns="0" lIns="0" spcFirstLastPara="1" rIns="0" wrap="square" tIns="0">
              <a:spAutoFit/>
            </a:bodyPr>
            <a:lstStyle/>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NMAP scan for network awareness. </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GCP Compute and VPC Peering enumeration.</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Web app at port 8080 flagged as target</a:t>
              </a:r>
              <a:endParaRPr sz="1900">
                <a:solidFill>
                  <a:srgbClr val="CBD5E1"/>
                </a:solidFill>
                <a:latin typeface="Arimo"/>
                <a:ea typeface="Arimo"/>
                <a:cs typeface="Arimo"/>
                <a:sym typeface="Arimo"/>
              </a:endParaRPr>
            </a:p>
          </p:txBody>
        </p:sp>
        <p:sp>
          <p:nvSpPr>
            <p:cNvPr id="303" name="Google Shape;303;g3e0f43c0e71_0_592"/>
            <p:cNvSpPr txBox="1"/>
            <p:nvPr/>
          </p:nvSpPr>
          <p:spPr>
            <a:xfrm>
              <a:off x="222250" y="4652375"/>
              <a:ext cx="4509000" cy="1853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US" sz="2800">
                  <a:solidFill>
                    <a:schemeClr val="lt1"/>
                  </a:solidFill>
                  <a:latin typeface="Montserrat"/>
                  <a:ea typeface="Montserrat"/>
                  <a:cs typeface="Montserrat"/>
                  <a:sym typeface="Montserrat"/>
                </a:rPr>
                <a:t>Phase 1 </a:t>
              </a:r>
              <a:endParaRPr b="1" sz="2800">
                <a:solidFill>
                  <a:schemeClr val="lt1"/>
                </a:solidFill>
                <a:latin typeface="Montserrat"/>
                <a:ea typeface="Montserrat"/>
                <a:cs typeface="Montserrat"/>
                <a:sym typeface="Montserrat"/>
              </a:endParaRPr>
            </a:p>
            <a:p>
              <a:pPr indent="0" lvl="0" marL="0" rtl="0" algn="ctr">
                <a:lnSpc>
                  <a:spcPct val="120000"/>
                </a:lnSpc>
                <a:spcBef>
                  <a:spcPts val="0"/>
                </a:spcBef>
                <a:spcAft>
                  <a:spcPts val="0"/>
                </a:spcAft>
                <a:buNone/>
              </a:pPr>
              <a:r>
                <a:rPr b="1" i="1" lang="en-US" sz="2200">
                  <a:solidFill>
                    <a:schemeClr val="lt1"/>
                  </a:solidFill>
                  <a:latin typeface="Montserrat"/>
                  <a:ea typeface="Montserrat"/>
                  <a:cs typeface="Montserrat"/>
                  <a:sym typeface="Montserrat"/>
                </a:rPr>
                <a:t>Infrastructure specialist agent performs reconnaissance </a:t>
              </a:r>
              <a:endParaRPr i="1" sz="600"/>
            </a:p>
          </p:txBody>
        </p:sp>
        <p:sp>
          <p:nvSpPr>
            <p:cNvPr descr="Amazon Elastic Compute Cloud (Amazon EC2) service icon." id="304" name="Google Shape;304;g3e0f43c0e71_0_592"/>
            <p:cNvSpPr/>
            <p:nvPr/>
          </p:nvSpPr>
          <p:spPr>
            <a:xfrm>
              <a:off x="1684348" y="3042850"/>
              <a:ext cx="1411751" cy="1493408"/>
            </a:xfrm>
            <a:custGeom>
              <a:rect b="b" l="l" r="r" t="t"/>
              <a:pathLst>
                <a:path extrusionOk="0" h="725836" w="725836">
                  <a:moveTo>
                    <a:pt x="0" y="0"/>
                  </a:moveTo>
                  <a:lnTo>
                    <a:pt x="725837" y="0"/>
                  </a:lnTo>
                  <a:lnTo>
                    <a:pt x="725837" y="725836"/>
                  </a:lnTo>
                  <a:lnTo>
                    <a:pt x="0" y="7258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5" name="Google Shape;305;g3e0f43c0e71_0_592"/>
          <p:cNvGrpSpPr/>
          <p:nvPr/>
        </p:nvGrpSpPr>
        <p:grpSpPr>
          <a:xfrm>
            <a:off x="6841875" y="8781150"/>
            <a:ext cx="3410757" cy="1324200"/>
            <a:chOff x="6841875" y="8781150"/>
            <a:chExt cx="3410757" cy="1324200"/>
          </a:xfrm>
        </p:grpSpPr>
        <p:sp>
          <p:nvSpPr>
            <p:cNvPr id="306" name="Google Shape;306;g3e0f43c0e71_0_592"/>
            <p:cNvSpPr/>
            <p:nvPr/>
          </p:nvSpPr>
          <p:spPr>
            <a:xfrm>
              <a:off x="6841875" y="8781150"/>
              <a:ext cx="3410700" cy="1324200"/>
            </a:xfrm>
            <a:prstGeom prst="rect">
              <a:avLst/>
            </a:prstGeom>
            <a:solidFill>
              <a:srgbClr val="FCE5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7" name="Google Shape;307;g3e0f43c0e71_0_592"/>
            <p:cNvSpPr txBox="1"/>
            <p:nvPr/>
          </p:nvSpPr>
          <p:spPr>
            <a:xfrm>
              <a:off x="7674432" y="9010632"/>
              <a:ext cx="2578200" cy="934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786"/>
                <a:buFont typeface="Arial"/>
                <a:buNone/>
              </a:pPr>
              <a:r>
                <a:rPr b="1" lang="en-US" sz="1786">
                  <a:solidFill>
                    <a:srgbClr val="DD344C"/>
                  </a:solidFill>
                </a:rPr>
                <a:t>Agent can now use service account token for GCP actions</a:t>
              </a:r>
              <a:endParaRPr b="1" i="0" sz="1389" u="none" cap="none" strike="noStrike">
                <a:solidFill>
                  <a:srgbClr val="000000"/>
                </a:solidFill>
              </a:endParaRPr>
            </a:p>
          </p:txBody>
        </p:sp>
        <p:sp>
          <p:nvSpPr>
            <p:cNvPr descr="Role resource icon for the IAM service." id="308" name="Google Shape;308;g3e0f43c0e71_0_592"/>
            <p:cNvSpPr/>
            <p:nvPr/>
          </p:nvSpPr>
          <p:spPr>
            <a:xfrm>
              <a:off x="6841875" y="9028775"/>
              <a:ext cx="905256" cy="934402"/>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9" name="Google Shape;309;g3e0f43c0e71_0_592"/>
          <p:cNvGrpSpPr/>
          <p:nvPr/>
        </p:nvGrpSpPr>
        <p:grpSpPr>
          <a:xfrm>
            <a:off x="4903375" y="2775850"/>
            <a:ext cx="3903500" cy="6331800"/>
            <a:chOff x="4903375" y="2775850"/>
            <a:chExt cx="3903500" cy="6331800"/>
          </a:xfrm>
        </p:grpSpPr>
        <p:sp>
          <p:nvSpPr>
            <p:cNvPr id="310" name="Google Shape;310;g3e0f43c0e71_0_592"/>
            <p:cNvSpPr/>
            <p:nvPr/>
          </p:nvSpPr>
          <p:spPr>
            <a:xfrm>
              <a:off x="4905975" y="2775850"/>
              <a:ext cx="3900900" cy="6331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1" name="Google Shape;311;g3e0f43c0e71_0_592"/>
            <p:cNvSpPr txBox="1"/>
            <p:nvPr/>
          </p:nvSpPr>
          <p:spPr>
            <a:xfrm>
              <a:off x="4903375" y="4652375"/>
              <a:ext cx="3776700" cy="1853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US" sz="2800">
                  <a:solidFill>
                    <a:schemeClr val="lt1"/>
                  </a:solidFill>
                  <a:latin typeface="Montserrat"/>
                  <a:ea typeface="Montserrat"/>
                  <a:cs typeface="Montserrat"/>
                  <a:sym typeface="Montserrat"/>
                </a:rPr>
                <a:t>Phase 2</a:t>
              </a:r>
              <a:endParaRPr b="1" sz="2800">
                <a:solidFill>
                  <a:schemeClr val="lt1"/>
                </a:solidFill>
                <a:latin typeface="Montserrat"/>
                <a:ea typeface="Montserrat"/>
                <a:cs typeface="Montserrat"/>
                <a:sym typeface="Montserrat"/>
              </a:endParaRPr>
            </a:p>
            <a:p>
              <a:pPr indent="0" lvl="0" marL="0" rtl="0" algn="ctr">
                <a:lnSpc>
                  <a:spcPct val="120000"/>
                </a:lnSpc>
                <a:spcBef>
                  <a:spcPts val="0"/>
                </a:spcBef>
                <a:spcAft>
                  <a:spcPts val="0"/>
                </a:spcAft>
                <a:buNone/>
              </a:pPr>
              <a:r>
                <a:rPr b="1" i="1" lang="en-US" sz="2200">
                  <a:solidFill>
                    <a:schemeClr val="lt1"/>
                  </a:solidFill>
                  <a:latin typeface="Montserrat"/>
                  <a:ea typeface="Montserrat"/>
                  <a:cs typeface="Montserrat"/>
                  <a:sym typeface="Montserrat"/>
                </a:rPr>
                <a:t>Appsec specialist agent exploits SSRF vuln for initial access  </a:t>
              </a:r>
              <a:endParaRPr i="1" sz="600"/>
            </a:p>
          </p:txBody>
        </p:sp>
        <p:sp>
          <p:nvSpPr>
            <p:cNvPr id="312" name="Google Shape;312;g3e0f43c0e71_0_592"/>
            <p:cNvSpPr txBox="1"/>
            <p:nvPr/>
          </p:nvSpPr>
          <p:spPr>
            <a:xfrm>
              <a:off x="4994325" y="6568475"/>
              <a:ext cx="3555900" cy="2397300"/>
            </a:xfrm>
            <a:prstGeom prst="rect">
              <a:avLst/>
            </a:prstGeom>
            <a:noFill/>
            <a:ln>
              <a:noFill/>
            </a:ln>
          </p:spPr>
          <p:txBody>
            <a:bodyPr anchorCtr="0" anchor="t" bIns="0" lIns="0" spcFirstLastPara="1" rIns="0" wrap="square" tIns="0">
              <a:spAutoFit/>
            </a:bodyPr>
            <a:lstStyle/>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SSRF vuln identified on GCP VM instance </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Use SSRF to reach Instance Metadata Service (IMDS)</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 Use IMDS to  retrieve GCP Service account access token</a:t>
              </a:r>
              <a:endParaRPr sz="1900">
                <a:solidFill>
                  <a:srgbClr val="CBD5E1"/>
                </a:solidFill>
                <a:latin typeface="Arimo"/>
                <a:ea typeface="Arimo"/>
                <a:cs typeface="Arimo"/>
                <a:sym typeface="Arimo"/>
              </a:endParaRPr>
            </a:p>
          </p:txBody>
        </p:sp>
        <p:sp>
          <p:nvSpPr>
            <p:cNvPr descr="Amazon Elastic Compute Cloud (Amazon EC2) service icon." id="313" name="Google Shape;313;g3e0f43c0e71_0_592"/>
            <p:cNvSpPr/>
            <p:nvPr/>
          </p:nvSpPr>
          <p:spPr>
            <a:xfrm>
              <a:off x="5283898" y="3042850"/>
              <a:ext cx="1411751" cy="1493408"/>
            </a:xfrm>
            <a:custGeom>
              <a:rect b="b" l="l" r="r" t="t"/>
              <a:pathLst>
                <a:path extrusionOk="0" h="725836" w="725836">
                  <a:moveTo>
                    <a:pt x="0" y="0"/>
                  </a:moveTo>
                  <a:lnTo>
                    <a:pt x="725837" y="0"/>
                  </a:lnTo>
                  <a:lnTo>
                    <a:pt x="725837" y="725836"/>
                  </a:lnTo>
                  <a:lnTo>
                    <a:pt x="0" y="7258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Users/tara/repos/ws-wrangling-identity-and-access-in-aws/powerpoint-working-dir/aws-icons/aws-sts.png" id="314" name="Google Shape;314;g3e0f43c0e71_0_592"/>
            <p:cNvSpPr/>
            <p:nvPr/>
          </p:nvSpPr>
          <p:spPr>
            <a:xfrm>
              <a:off x="6938502" y="3109239"/>
              <a:ext cx="1411834" cy="1360627"/>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g3e0f43c0e71_0_592"/>
          <p:cNvGrpSpPr/>
          <p:nvPr/>
        </p:nvGrpSpPr>
        <p:grpSpPr>
          <a:xfrm>
            <a:off x="9376375" y="2775850"/>
            <a:ext cx="3901000" cy="6331800"/>
            <a:chOff x="9376375" y="2775850"/>
            <a:chExt cx="3901000" cy="6331800"/>
          </a:xfrm>
        </p:grpSpPr>
        <p:sp>
          <p:nvSpPr>
            <p:cNvPr id="316" name="Google Shape;316;g3e0f43c0e71_0_592"/>
            <p:cNvSpPr/>
            <p:nvPr/>
          </p:nvSpPr>
          <p:spPr>
            <a:xfrm>
              <a:off x="9376375" y="2775850"/>
              <a:ext cx="3900900" cy="6331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7" name="Google Shape;317;g3e0f43c0e71_0_592"/>
            <p:cNvSpPr txBox="1"/>
            <p:nvPr/>
          </p:nvSpPr>
          <p:spPr>
            <a:xfrm>
              <a:off x="9376475" y="4768500"/>
              <a:ext cx="3900900" cy="1853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US" sz="2800">
                  <a:solidFill>
                    <a:schemeClr val="lt1"/>
                  </a:solidFill>
                  <a:latin typeface="Montserrat"/>
                  <a:ea typeface="Montserrat"/>
                  <a:cs typeface="Montserrat"/>
                  <a:sym typeface="Montserrat"/>
                </a:rPr>
                <a:t>Phase 3</a:t>
              </a:r>
              <a:endParaRPr b="1" i="1" sz="2200">
                <a:solidFill>
                  <a:schemeClr val="lt1"/>
                </a:solidFill>
                <a:latin typeface="Montserrat"/>
                <a:ea typeface="Montserrat"/>
                <a:cs typeface="Montserrat"/>
                <a:sym typeface="Montserrat"/>
              </a:endParaRPr>
            </a:p>
            <a:p>
              <a:pPr indent="0" lvl="0" marL="0" rtl="0" algn="ctr">
                <a:lnSpc>
                  <a:spcPct val="120000"/>
                </a:lnSpc>
                <a:spcBef>
                  <a:spcPts val="0"/>
                </a:spcBef>
                <a:spcAft>
                  <a:spcPts val="0"/>
                </a:spcAft>
                <a:buNone/>
              </a:pPr>
              <a:r>
                <a:rPr b="1" i="1" lang="en-US" sz="2200">
                  <a:solidFill>
                    <a:schemeClr val="lt1"/>
                  </a:solidFill>
                  <a:latin typeface="Montserrat"/>
                  <a:ea typeface="Montserrat"/>
                  <a:cs typeface="Montserrat"/>
                  <a:sym typeface="Montserrat"/>
                </a:rPr>
                <a:t>Cloud Security specialist agent </a:t>
              </a:r>
              <a:r>
                <a:rPr b="1" i="1" lang="en-US" sz="2200">
                  <a:solidFill>
                    <a:schemeClr val="lt1"/>
                  </a:solidFill>
                  <a:latin typeface="Montserrat"/>
                  <a:ea typeface="Montserrat"/>
                  <a:cs typeface="Montserrat"/>
                  <a:sym typeface="Montserrat"/>
                </a:rPr>
                <a:t>enumerates</a:t>
              </a:r>
              <a:r>
                <a:rPr b="1" i="1" lang="en-US" sz="2200">
                  <a:solidFill>
                    <a:schemeClr val="lt1"/>
                  </a:solidFill>
                  <a:latin typeface="Montserrat"/>
                  <a:ea typeface="Montserrat"/>
                  <a:cs typeface="Montserrat"/>
                  <a:sym typeface="Montserrat"/>
                </a:rPr>
                <a:t> cloud resources</a:t>
              </a:r>
              <a:endParaRPr b="1" i="1" sz="2200">
                <a:solidFill>
                  <a:schemeClr val="lt1"/>
                </a:solidFill>
                <a:latin typeface="Montserrat"/>
                <a:ea typeface="Montserrat"/>
                <a:cs typeface="Montserrat"/>
                <a:sym typeface="Montserrat"/>
              </a:endParaRPr>
            </a:p>
          </p:txBody>
        </p:sp>
        <p:sp>
          <p:nvSpPr>
            <p:cNvPr id="318" name="Google Shape;318;g3e0f43c0e71_0_592"/>
            <p:cNvSpPr txBox="1"/>
            <p:nvPr/>
          </p:nvSpPr>
          <p:spPr>
            <a:xfrm>
              <a:off x="9420550" y="6568475"/>
              <a:ext cx="3555900" cy="2046600"/>
            </a:xfrm>
            <a:prstGeom prst="rect">
              <a:avLst/>
            </a:prstGeom>
            <a:noFill/>
            <a:ln>
              <a:noFill/>
            </a:ln>
          </p:spPr>
          <p:txBody>
            <a:bodyPr anchorCtr="0" anchor="t" bIns="0" lIns="0" spcFirstLastPara="1" rIns="0" wrap="square" tIns="0">
              <a:spAutoFit/>
            </a:bodyPr>
            <a:lstStyle/>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IAM permissions enumerated. </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Sensitive BigQuery dataset identification.</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Attempts to access high-value dataset</a:t>
              </a:r>
              <a:endParaRPr sz="1900">
                <a:solidFill>
                  <a:srgbClr val="CBD5E1"/>
                </a:solidFill>
                <a:latin typeface="Arimo"/>
                <a:ea typeface="Arimo"/>
                <a:cs typeface="Arimo"/>
                <a:sym typeface="Arimo"/>
              </a:endParaRPr>
            </a:p>
          </p:txBody>
        </p:sp>
        <p:pic>
          <p:nvPicPr>
            <p:cNvPr id="319" name="Google Shape;319;g3e0f43c0e71_0_592"/>
            <p:cNvPicPr preferRelativeResize="0"/>
            <p:nvPr/>
          </p:nvPicPr>
          <p:blipFill>
            <a:blip r:embed="rId6">
              <a:alphaModFix/>
            </a:blip>
            <a:stretch>
              <a:fillRect/>
            </a:stretch>
          </p:blipFill>
          <p:spPr>
            <a:xfrm>
              <a:off x="10520611" y="2983362"/>
              <a:ext cx="1612425" cy="1612425"/>
            </a:xfrm>
            <a:prstGeom prst="rect">
              <a:avLst/>
            </a:prstGeom>
            <a:noFill/>
            <a:ln>
              <a:noFill/>
            </a:ln>
          </p:spPr>
        </p:pic>
      </p:grpSp>
      <p:grpSp>
        <p:nvGrpSpPr>
          <p:cNvPr id="320" name="Google Shape;320;g3e0f43c0e71_0_592"/>
          <p:cNvGrpSpPr/>
          <p:nvPr/>
        </p:nvGrpSpPr>
        <p:grpSpPr>
          <a:xfrm>
            <a:off x="13846775" y="2775850"/>
            <a:ext cx="3900900" cy="6331800"/>
            <a:chOff x="13846775" y="2775850"/>
            <a:chExt cx="3900900" cy="6331800"/>
          </a:xfrm>
        </p:grpSpPr>
        <p:sp>
          <p:nvSpPr>
            <p:cNvPr id="321" name="Google Shape;321;g3e0f43c0e71_0_592"/>
            <p:cNvSpPr/>
            <p:nvPr/>
          </p:nvSpPr>
          <p:spPr>
            <a:xfrm>
              <a:off x="13846775" y="2775850"/>
              <a:ext cx="3900900" cy="6331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2" name="Google Shape;322;g3e0f43c0e71_0_592"/>
            <p:cNvSpPr txBox="1"/>
            <p:nvPr/>
          </p:nvSpPr>
          <p:spPr>
            <a:xfrm>
              <a:off x="13846775" y="4768500"/>
              <a:ext cx="3900900" cy="1853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Clr>
                  <a:schemeClr val="dk1"/>
                </a:buClr>
                <a:buSzPts val="1100"/>
                <a:buFont typeface="Arial"/>
                <a:buNone/>
              </a:pPr>
              <a:r>
                <a:rPr b="1" lang="en-US" sz="2800">
                  <a:solidFill>
                    <a:schemeClr val="lt1"/>
                  </a:solidFill>
                  <a:latin typeface="Montserrat"/>
                  <a:ea typeface="Montserrat"/>
                  <a:cs typeface="Montserrat"/>
                  <a:sym typeface="Montserrat"/>
                </a:rPr>
                <a:t>Phase 4</a:t>
              </a:r>
              <a:endParaRPr b="1" sz="2800">
                <a:solidFill>
                  <a:schemeClr val="lt1"/>
                </a:solidFill>
                <a:latin typeface="Montserrat"/>
                <a:ea typeface="Montserrat"/>
                <a:cs typeface="Montserrat"/>
                <a:sym typeface="Montserrat"/>
              </a:endParaRPr>
            </a:p>
            <a:p>
              <a:pPr indent="0" lvl="0" marL="0" rtl="0" algn="ctr">
                <a:lnSpc>
                  <a:spcPct val="120000"/>
                </a:lnSpc>
                <a:spcBef>
                  <a:spcPts val="0"/>
                </a:spcBef>
                <a:spcAft>
                  <a:spcPts val="0"/>
                </a:spcAft>
                <a:buNone/>
              </a:pPr>
              <a:r>
                <a:rPr b="1" i="1" lang="en-US" sz="2200">
                  <a:solidFill>
                    <a:schemeClr val="lt1"/>
                  </a:solidFill>
                  <a:latin typeface="Montserrat"/>
                  <a:ea typeface="Montserrat"/>
                  <a:cs typeface="Montserrat"/>
                  <a:sym typeface="Montserrat"/>
                </a:rPr>
                <a:t>Cloud security specialist agent escalates privileges to steal data</a:t>
              </a:r>
              <a:endParaRPr i="1" sz="600"/>
            </a:p>
          </p:txBody>
        </p:sp>
        <p:sp>
          <p:nvSpPr>
            <p:cNvPr id="323" name="Google Shape;323;g3e0f43c0e71_0_592"/>
            <p:cNvSpPr txBox="1"/>
            <p:nvPr/>
          </p:nvSpPr>
          <p:spPr>
            <a:xfrm>
              <a:off x="14019275" y="6568475"/>
              <a:ext cx="3728400" cy="2397300"/>
            </a:xfrm>
            <a:prstGeom prst="rect">
              <a:avLst/>
            </a:prstGeom>
            <a:noFill/>
            <a:ln>
              <a:noFill/>
            </a:ln>
          </p:spPr>
          <p:txBody>
            <a:bodyPr anchorCtr="0" anchor="t" bIns="0" lIns="0" spcFirstLastPara="1" rIns="0" wrap="square" tIns="0">
              <a:spAutoFit/>
            </a:bodyPr>
            <a:lstStyle/>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Creates new cloud storage bucket </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BiqQuery table exported to new bucket</a:t>
              </a:r>
              <a:endParaRPr sz="1900">
                <a:solidFill>
                  <a:srgbClr val="CBD5E1"/>
                </a:solidFill>
                <a:latin typeface="Arimo"/>
                <a:ea typeface="Arimo"/>
                <a:cs typeface="Arimo"/>
                <a:sym typeface="Arimo"/>
              </a:endParaRPr>
            </a:p>
            <a:p>
              <a:pPr indent="-349250" lvl="0" marL="457200" marR="0" rtl="0" algn="l">
                <a:lnSpc>
                  <a:spcPct val="119958"/>
                </a:lnSpc>
                <a:spcBef>
                  <a:spcPts val="0"/>
                </a:spcBef>
                <a:spcAft>
                  <a:spcPts val="0"/>
                </a:spcAft>
                <a:buClr>
                  <a:srgbClr val="CBD5E1"/>
                </a:buClr>
                <a:buSzPts val="1900"/>
                <a:buFont typeface="Arimo"/>
                <a:buChar char="●"/>
              </a:pPr>
              <a:r>
                <a:rPr lang="en-US" sz="1900">
                  <a:solidFill>
                    <a:srgbClr val="CBD5E1"/>
                  </a:solidFill>
                  <a:latin typeface="Arimo"/>
                  <a:ea typeface="Arimo"/>
                  <a:cs typeface="Arimo"/>
                  <a:sym typeface="Arimo"/>
                </a:rPr>
                <a:t>Privilege escalation to storage.objectAdmin role to access exported data.</a:t>
              </a:r>
              <a:endParaRPr sz="1900">
                <a:solidFill>
                  <a:srgbClr val="CBD5E1"/>
                </a:solidFill>
                <a:latin typeface="Arimo"/>
                <a:ea typeface="Arimo"/>
                <a:cs typeface="Arimo"/>
                <a:sym typeface="Arimo"/>
              </a:endParaRPr>
            </a:p>
          </p:txBody>
        </p:sp>
        <p:sp>
          <p:nvSpPr>
            <p:cNvPr descr="Amazon Simple Storage Service (Amazon S3) service icon." id="324" name="Google Shape;324;g3e0f43c0e71_0_592"/>
            <p:cNvSpPr/>
            <p:nvPr/>
          </p:nvSpPr>
          <p:spPr>
            <a:xfrm>
              <a:off x="14712400" y="3662650"/>
              <a:ext cx="1060133" cy="1105853"/>
            </a:xfrm>
            <a:custGeom>
              <a:rect b="b" l="l" r="r" t="t"/>
              <a:pathLst>
                <a:path extrusionOk="0" h="1143000" w="1143000">
                  <a:moveTo>
                    <a:pt x="0" y="0"/>
                  </a:moveTo>
                  <a:lnTo>
                    <a:pt x="1143000" y="0"/>
                  </a:lnTo>
                  <a:lnTo>
                    <a:pt x="1143000" y="1143000"/>
                  </a:lnTo>
                  <a:lnTo>
                    <a:pt x="0" y="114300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uthenticated user resource icon for the General Icons category." id="325" name="Google Shape;325;g3e0f43c0e71_0_592"/>
            <p:cNvSpPr/>
            <p:nvPr/>
          </p:nvSpPr>
          <p:spPr>
            <a:xfrm>
              <a:off x="14019275" y="3023837"/>
              <a:ext cx="905256" cy="934403"/>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26" name="Google Shape;326;g3e0f43c0e71_0_592"/>
            <p:cNvPicPr preferRelativeResize="0"/>
            <p:nvPr/>
          </p:nvPicPr>
          <p:blipFill>
            <a:blip r:embed="rId6">
              <a:alphaModFix/>
            </a:blip>
            <a:stretch>
              <a:fillRect/>
            </a:stretch>
          </p:blipFill>
          <p:spPr>
            <a:xfrm>
              <a:off x="16129850" y="3109250"/>
              <a:ext cx="1105850" cy="1105850"/>
            </a:xfrm>
            <a:prstGeom prst="rect">
              <a:avLst/>
            </a:prstGeom>
            <a:noFill/>
            <a:ln>
              <a:noFill/>
            </a:ln>
          </p:spPr>
        </p:pic>
      </p:grpSp>
      <p:sp>
        <p:nvSpPr>
          <p:cNvPr id="327" name="Google Shape;327;g3e0f43c0e71_0_592"/>
          <p:cNvSpPr/>
          <p:nvPr/>
        </p:nvSpPr>
        <p:spPr>
          <a:xfrm>
            <a:off x="16466375" y="3760725"/>
            <a:ext cx="1413177" cy="1105050"/>
          </a:xfrm>
          <a:custGeom>
            <a:rect b="b" l="l" r="r" t="t"/>
            <a:pathLst>
              <a:path extrusionOk="0" h="1211014" w="1570197">
                <a:moveTo>
                  <a:pt x="0" y="0"/>
                </a:moveTo>
                <a:lnTo>
                  <a:pt x="1570196" y="0"/>
                </a:lnTo>
                <a:lnTo>
                  <a:pt x="1570196" y="1211014"/>
                </a:lnTo>
                <a:lnTo>
                  <a:pt x="0" y="1211014"/>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pSp>
        <p:nvGrpSpPr>
          <p:cNvPr id="336" name="Google Shape;336;g3e0f43c0e71_0_770"/>
          <p:cNvGrpSpPr/>
          <p:nvPr/>
        </p:nvGrpSpPr>
        <p:grpSpPr>
          <a:xfrm>
            <a:off x="213710" y="9541193"/>
            <a:ext cx="16459200" cy="745875"/>
            <a:chOff x="0" y="-19050"/>
            <a:chExt cx="21945600" cy="994500"/>
          </a:xfrm>
        </p:grpSpPr>
        <p:sp>
          <p:nvSpPr>
            <p:cNvPr id="337" name="Google Shape;337;g3e0f43c0e71_0_770"/>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3">
                <a:alphaModFix amt="0"/>
              </a:blip>
              <a:stretch>
                <a:fillRect b="-388357" l="0" r="0" t="-38837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g3e0f43c0e71_0_770"/>
            <p:cNvSpPr txBox="1"/>
            <p:nvPr/>
          </p:nvSpPr>
          <p:spPr>
            <a:xfrm>
              <a:off x="0" y="-19050"/>
              <a:ext cx="21945600" cy="99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700"/>
                <a:buFont typeface="Arial"/>
                <a:buNone/>
              </a:pPr>
              <a:r>
                <a:rPr b="0" i="1" lang="en-US" sz="2700" u="none" cap="none" strike="noStrike">
                  <a:solidFill>
                    <a:srgbClr val="64748B"/>
                  </a:solidFill>
                  <a:latin typeface="Arimo"/>
                  <a:ea typeface="Arimo"/>
                  <a:cs typeface="Arimo"/>
                  <a:sym typeface="Arimo"/>
                </a:rPr>
                <a:t>Source: </a:t>
              </a:r>
              <a:r>
                <a:rPr i="1" lang="en-US" sz="2700">
                  <a:solidFill>
                    <a:srgbClr val="64748B"/>
                  </a:solidFill>
                  <a:latin typeface="Arimo"/>
                  <a:ea typeface="Arimo"/>
                  <a:cs typeface="Arimo"/>
                  <a:sym typeface="Arimo"/>
                </a:rPr>
                <a:t>Palo Alto Networks</a:t>
              </a:r>
              <a:endParaRPr b="0" i="0" sz="1400" u="none" cap="none" strike="noStrike">
                <a:solidFill>
                  <a:srgbClr val="000000"/>
                </a:solidFill>
                <a:latin typeface="Arial"/>
                <a:ea typeface="Arial"/>
                <a:cs typeface="Arial"/>
                <a:sym typeface="Arial"/>
              </a:endParaRPr>
            </a:p>
          </p:txBody>
        </p:sp>
      </p:grpSp>
      <p:sp>
        <p:nvSpPr>
          <p:cNvPr id="339" name="Google Shape;339;g3e0f43c0e71_0_770"/>
          <p:cNvSpPr txBox="1"/>
          <p:nvPr/>
        </p:nvSpPr>
        <p:spPr>
          <a:xfrm>
            <a:off x="264370" y="243889"/>
            <a:ext cx="16408500" cy="20502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4500"/>
              <a:buFont typeface="Arial"/>
              <a:buNone/>
            </a:pPr>
            <a:r>
              <a:rPr b="1" lang="en-US" sz="5600">
                <a:solidFill>
                  <a:schemeClr val="lt1"/>
                </a:solidFill>
                <a:latin typeface="Assistant"/>
                <a:ea typeface="Assistant"/>
                <a:cs typeface="Assistant"/>
                <a:sym typeface="Assistant"/>
              </a:rPr>
              <a:t>Lessons Learned</a:t>
            </a:r>
            <a:endParaRPr b="0" i="0" sz="1400" u="none" cap="none" strike="noStrike">
              <a:solidFill>
                <a:srgbClr val="000000"/>
              </a:solidFill>
              <a:latin typeface="Arial"/>
              <a:ea typeface="Arial"/>
              <a:cs typeface="Arial"/>
              <a:sym typeface="Arial"/>
            </a:endParaRPr>
          </a:p>
          <a:p>
            <a:pPr indent="0" lvl="0" marL="0" marR="0" rtl="0" algn="l">
              <a:lnSpc>
                <a:spcPct val="120003"/>
              </a:lnSpc>
              <a:spcBef>
                <a:spcPts val="0"/>
              </a:spcBef>
              <a:spcAft>
                <a:spcPts val="0"/>
              </a:spcAft>
              <a:buClr>
                <a:srgbClr val="000000"/>
              </a:buClr>
              <a:buSzPts val="6599"/>
              <a:buFont typeface="Arial"/>
              <a:buNone/>
            </a:pPr>
            <a:r>
              <a:t/>
            </a:r>
            <a:endParaRPr b="1" i="0" sz="6599" u="none" cap="none" strike="noStrike">
              <a:solidFill>
                <a:srgbClr val="FFFFFF"/>
              </a:solidFill>
              <a:latin typeface="Assistant"/>
              <a:ea typeface="Assistant"/>
              <a:cs typeface="Assistant"/>
              <a:sym typeface="Assistant"/>
            </a:endParaRPr>
          </a:p>
        </p:txBody>
      </p:sp>
      <p:sp>
        <p:nvSpPr>
          <p:cNvPr id="340" name="Google Shape;340;g3e0f43c0e71_0_770"/>
          <p:cNvSpPr txBox="1"/>
          <p:nvPr/>
        </p:nvSpPr>
        <p:spPr>
          <a:xfrm>
            <a:off x="4603050" y="2052993"/>
            <a:ext cx="135762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rgbClr val="FFFFFF"/>
                </a:solidFill>
                <a:latin typeface="Assistant"/>
                <a:ea typeface="Assistant"/>
                <a:cs typeface="Assistant"/>
                <a:sym typeface="Assistant"/>
              </a:rPr>
              <a:t>AI tools leverage misconfigurations and exploit attack paths even faster and more consistently than human attackers.</a:t>
            </a:r>
            <a:endParaRPr b="0" i="0" sz="1400" u="none" cap="none" strike="noStrike">
              <a:solidFill>
                <a:srgbClr val="000000"/>
              </a:solidFill>
              <a:latin typeface="Arial"/>
              <a:ea typeface="Arial"/>
              <a:cs typeface="Arial"/>
              <a:sym typeface="Arial"/>
            </a:endParaRPr>
          </a:p>
        </p:txBody>
      </p:sp>
      <p:sp>
        <p:nvSpPr>
          <p:cNvPr id="341" name="Google Shape;341;g3e0f43c0e71_0_770"/>
          <p:cNvSpPr txBox="1"/>
          <p:nvPr/>
        </p:nvSpPr>
        <p:spPr>
          <a:xfrm>
            <a:off x="4603052" y="1558782"/>
            <a:ext cx="14823300" cy="5523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lang="en-US" sz="3700">
                <a:solidFill>
                  <a:srgbClr val="FC6D26"/>
                </a:solidFill>
                <a:latin typeface="Assistant"/>
                <a:ea typeface="Assistant"/>
                <a:cs typeface="Assistant"/>
                <a:sym typeface="Assistant"/>
              </a:rPr>
              <a:t>The window between initial access and data loss is shrinking</a:t>
            </a:r>
            <a:endParaRPr b="0" i="0" sz="1400" u="none" cap="none" strike="noStrike">
              <a:solidFill>
                <a:srgbClr val="000000"/>
              </a:solidFill>
              <a:latin typeface="Arial"/>
              <a:ea typeface="Arial"/>
              <a:cs typeface="Arial"/>
              <a:sym typeface="Arial"/>
            </a:endParaRPr>
          </a:p>
        </p:txBody>
      </p:sp>
      <p:sp>
        <p:nvSpPr>
          <p:cNvPr id="342" name="Google Shape;342;g3e0f43c0e71_0_770"/>
          <p:cNvSpPr txBox="1"/>
          <p:nvPr/>
        </p:nvSpPr>
        <p:spPr>
          <a:xfrm>
            <a:off x="4584909" y="6408801"/>
            <a:ext cx="134226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rgbClr val="FFFFFF"/>
                </a:solidFill>
                <a:latin typeface="Assistant"/>
                <a:ea typeface="Assistant"/>
                <a:cs typeface="Assistant"/>
                <a:sym typeface="Assistant"/>
              </a:rPr>
              <a:t>Minor flaws that may be harmless in isolation, create a critical path when combined.</a:t>
            </a:r>
            <a:endParaRPr b="0" i="0" sz="1400" u="none" cap="none" strike="noStrike">
              <a:solidFill>
                <a:srgbClr val="000000"/>
              </a:solidFill>
              <a:latin typeface="Arial"/>
              <a:ea typeface="Arial"/>
              <a:cs typeface="Arial"/>
              <a:sym typeface="Arial"/>
            </a:endParaRPr>
          </a:p>
        </p:txBody>
      </p:sp>
      <p:sp>
        <p:nvSpPr>
          <p:cNvPr id="343" name="Google Shape;343;g3e0f43c0e71_0_770"/>
          <p:cNvSpPr txBox="1"/>
          <p:nvPr/>
        </p:nvSpPr>
        <p:spPr>
          <a:xfrm>
            <a:off x="4584909" y="5932533"/>
            <a:ext cx="14823300" cy="5523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lang="en-US" sz="3700">
                <a:solidFill>
                  <a:srgbClr val="FC6D26"/>
                </a:solidFill>
                <a:latin typeface="Assistant"/>
                <a:ea typeface="Assistant"/>
                <a:cs typeface="Assistant"/>
                <a:sym typeface="Assistant"/>
              </a:rPr>
              <a:t>Proactive posture over reactive response</a:t>
            </a:r>
            <a:endParaRPr b="0" i="0" sz="1400" u="none" cap="none" strike="noStrike">
              <a:solidFill>
                <a:srgbClr val="000000"/>
              </a:solidFill>
              <a:latin typeface="Arial"/>
              <a:ea typeface="Arial"/>
              <a:cs typeface="Arial"/>
              <a:sym typeface="Arial"/>
            </a:endParaRPr>
          </a:p>
        </p:txBody>
      </p:sp>
      <p:sp>
        <p:nvSpPr>
          <p:cNvPr id="344" name="Google Shape;344;g3e0f43c0e71_0_770"/>
          <p:cNvSpPr txBox="1"/>
          <p:nvPr/>
        </p:nvSpPr>
        <p:spPr>
          <a:xfrm>
            <a:off x="4584909" y="8503986"/>
            <a:ext cx="140565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rgbClr val="FFFFFF"/>
                </a:solidFill>
                <a:latin typeface="Assistant"/>
                <a:ea typeface="Assistant"/>
                <a:cs typeface="Assistant"/>
                <a:sym typeface="Assistant"/>
              </a:rPr>
              <a:t>AI agents can discover and exploit complex attack paths in seconds. Breaking a single link in the chain can stall the </a:t>
            </a:r>
            <a:r>
              <a:rPr b="1" lang="en-US" sz="3000">
                <a:solidFill>
                  <a:srgbClr val="FFFFFF"/>
                </a:solidFill>
                <a:latin typeface="Assistant"/>
                <a:ea typeface="Assistant"/>
                <a:cs typeface="Assistant"/>
                <a:sym typeface="Assistant"/>
              </a:rPr>
              <a:t>operation</a:t>
            </a:r>
            <a:r>
              <a:rPr b="1" lang="en-US" sz="3000">
                <a:solidFill>
                  <a:srgbClr val="FFFFFF"/>
                </a:solidFill>
                <a:latin typeface="Assistant"/>
                <a:ea typeface="Assistant"/>
                <a:cs typeface="Assistant"/>
                <a:sym typeface="Assistant"/>
              </a:rPr>
              <a:t>. </a:t>
            </a:r>
            <a:endParaRPr b="0" i="0" sz="1400" u="none" cap="none" strike="noStrike">
              <a:solidFill>
                <a:srgbClr val="000000"/>
              </a:solidFill>
              <a:latin typeface="Arial"/>
              <a:ea typeface="Arial"/>
              <a:cs typeface="Arial"/>
              <a:sym typeface="Arial"/>
            </a:endParaRPr>
          </a:p>
        </p:txBody>
      </p:sp>
      <p:sp>
        <p:nvSpPr>
          <p:cNvPr id="345" name="Google Shape;345;g3e0f43c0e71_0_770"/>
          <p:cNvSpPr txBox="1"/>
          <p:nvPr/>
        </p:nvSpPr>
        <p:spPr>
          <a:xfrm>
            <a:off x="4566766" y="7937228"/>
            <a:ext cx="14823300" cy="5523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lang="en-US" sz="3700">
                <a:solidFill>
                  <a:srgbClr val="FC6D26"/>
                </a:solidFill>
                <a:latin typeface="Assistant"/>
                <a:ea typeface="Assistant"/>
                <a:cs typeface="Assistant"/>
                <a:sym typeface="Assistant"/>
              </a:rPr>
              <a:t>Breaking the chain</a:t>
            </a:r>
            <a:endParaRPr b="0" i="0" sz="1400" u="none" cap="none" strike="noStrike">
              <a:solidFill>
                <a:srgbClr val="000000"/>
              </a:solidFill>
              <a:latin typeface="Arial"/>
              <a:ea typeface="Arial"/>
              <a:cs typeface="Arial"/>
              <a:sym typeface="Arial"/>
            </a:endParaRPr>
          </a:p>
        </p:txBody>
      </p:sp>
      <p:sp>
        <p:nvSpPr>
          <p:cNvPr id="346" name="Google Shape;346;g3e0f43c0e71_0_770"/>
          <p:cNvSpPr txBox="1"/>
          <p:nvPr/>
        </p:nvSpPr>
        <p:spPr>
          <a:xfrm>
            <a:off x="4584907" y="3964825"/>
            <a:ext cx="135762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rgbClr val="FFFFFF"/>
                </a:solidFill>
                <a:latin typeface="Assistant"/>
                <a:ea typeface="Assistant"/>
                <a:cs typeface="Assistant"/>
                <a:sym typeface="Assistant"/>
              </a:rPr>
              <a:t>Manual detection and response cannot keep pace with AI-driven attacks. Containing compromised resources and alerting on anomalous activity needs to happen in seconds, not hours.</a:t>
            </a:r>
            <a:endParaRPr b="0" i="0" sz="1400" u="none" cap="none" strike="noStrike">
              <a:solidFill>
                <a:srgbClr val="000000"/>
              </a:solidFill>
              <a:latin typeface="Arial"/>
              <a:ea typeface="Arial"/>
              <a:cs typeface="Arial"/>
              <a:sym typeface="Arial"/>
            </a:endParaRPr>
          </a:p>
        </p:txBody>
      </p:sp>
      <p:sp>
        <p:nvSpPr>
          <p:cNvPr id="347" name="Google Shape;347;g3e0f43c0e71_0_770"/>
          <p:cNvSpPr txBox="1"/>
          <p:nvPr/>
        </p:nvSpPr>
        <p:spPr>
          <a:xfrm>
            <a:off x="4584909" y="3474302"/>
            <a:ext cx="14823300" cy="5523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700"/>
              <a:buFont typeface="Arial"/>
              <a:buNone/>
            </a:pPr>
            <a:r>
              <a:rPr b="1" lang="en-US" sz="3700">
                <a:solidFill>
                  <a:srgbClr val="FC6D26"/>
                </a:solidFill>
                <a:latin typeface="Assistant"/>
                <a:ea typeface="Assistant"/>
                <a:cs typeface="Assistant"/>
                <a:sym typeface="Assistant"/>
              </a:rPr>
              <a:t>Asymmetry in alerting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57" name="Google Shape;357;p7"/>
          <p:cNvGrpSpPr/>
          <p:nvPr/>
        </p:nvGrpSpPr>
        <p:grpSpPr>
          <a:xfrm>
            <a:off x="3702759" y="2733584"/>
            <a:ext cx="10687217" cy="3736181"/>
            <a:chOff x="0" y="-104775"/>
            <a:chExt cx="14249623" cy="4981575"/>
          </a:xfrm>
        </p:grpSpPr>
        <p:sp>
          <p:nvSpPr>
            <p:cNvPr id="358" name="Google Shape;358;p7"/>
            <p:cNvSpPr/>
            <p:nvPr/>
          </p:nvSpPr>
          <p:spPr>
            <a:xfrm>
              <a:off x="0" y="0"/>
              <a:ext cx="14249623" cy="4876800"/>
            </a:xfrm>
            <a:custGeom>
              <a:rect b="b" l="l" r="r" t="t"/>
              <a:pathLst>
                <a:path extrusionOk="0" h="4876800" w="14249623">
                  <a:moveTo>
                    <a:pt x="0" y="0"/>
                  </a:moveTo>
                  <a:lnTo>
                    <a:pt x="14249623" y="0"/>
                  </a:lnTo>
                  <a:lnTo>
                    <a:pt x="14249623" y="4876800"/>
                  </a:lnTo>
                  <a:lnTo>
                    <a:pt x="0" y="4876800"/>
                  </a:lnTo>
                  <a:close/>
                </a:path>
              </a:pathLst>
            </a:custGeom>
            <a:blipFill rotWithShape="1">
              <a:blip r:embed="rId4">
                <a:alphaModFix amt="0"/>
              </a:blip>
              <a:stretch>
                <a:fillRect b="-32807" l="0" r="-45448" t="-328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9" name="Google Shape;359;p7"/>
            <p:cNvSpPr txBox="1"/>
            <p:nvPr/>
          </p:nvSpPr>
          <p:spPr>
            <a:xfrm>
              <a:off x="0" y="-104775"/>
              <a:ext cx="14249623" cy="4981575"/>
            </a:xfrm>
            <a:prstGeom prst="rect">
              <a:avLst/>
            </a:prstGeom>
            <a:noFill/>
            <a:ln>
              <a:noFill/>
            </a:ln>
          </p:spPr>
          <p:txBody>
            <a:bodyPr anchorCtr="0" anchor="ctr" bIns="0" lIns="0" spcFirstLastPara="1" rIns="0" wrap="square" tIns="0">
              <a:noAutofit/>
            </a:bodyPr>
            <a:lstStyle/>
            <a:p>
              <a:pPr indent="0" lvl="0" marL="0" marR="0" rtl="0" algn="ctr">
                <a:lnSpc>
                  <a:spcPct val="132000"/>
                </a:lnSpc>
                <a:spcBef>
                  <a:spcPts val="0"/>
                </a:spcBef>
                <a:spcAft>
                  <a:spcPts val="0"/>
                </a:spcAft>
                <a:buClr>
                  <a:srgbClr val="000000"/>
                </a:buClr>
                <a:buSzPts val="9600"/>
                <a:buFont typeface="Arial"/>
                <a:buNone/>
              </a:pPr>
              <a:r>
                <a:rPr b="1" i="0" lang="en-US" sz="9600" u="none" cap="none" strike="noStrike">
                  <a:solidFill>
                    <a:srgbClr val="FFFFFF"/>
                  </a:solidFill>
                  <a:latin typeface="Montserrat"/>
                  <a:ea typeface="Montserrat"/>
                  <a:cs typeface="Montserrat"/>
                  <a:sym typeface="Montserrat"/>
                </a:rPr>
                <a:t>PARC Model</a:t>
              </a:r>
              <a:endParaRPr b="0" i="0" sz="1400" u="none" cap="none" strike="noStrike">
                <a:solidFill>
                  <a:srgbClr val="000000"/>
                </a:solidFill>
                <a:latin typeface="Arial"/>
                <a:ea typeface="Arial"/>
                <a:cs typeface="Arial"/>
                <a:sym typeface="Arial"/>
              </a:endParaRPr>
            </a:p>
          </p:txBody>
        </p:sp>
      </p:grpSp>
      <p:grpSp>
        <p:nvGrpSpPr>
          <p:cNvPr id="360" name="Google Shape;360;p7"/>
          <p:cNvGrpSpPr/>
          <p:nvPr/>
        </p:nvGrpSpPr>
        <p:grpSpPr>
          <a:xfrm>
            <a:off x="3702759" y="5481843"/>
            <a:ext cx="13716000" cy="987922"/>
            <a:chOff x="0" y="-19050"/>
            <a:chExt cx="18288000" cy="1317228"/>
          </a:xfrm>
        </p:grpSpPr>
        <p:sp>
          <p:nvSpPr>
            <p:cNvPr id="361" name="Google Shape;361;p7"/>
            <p:cNvSpPr/>
            <p:nvPr/>
          </p:nvSpPr>
          <p:spPr>
            <a:xfrm>
              <a:off x="0" y="0"/>
              <a:ext cx="18288000" cy="1298178"/>
            </a:xfrm>
            <a:custGeom>
              <a:rect b="b" l="l" r="r" t="t"/>
              <a:pathLst>
                <a:path extrusionOk="0" h="1298178" w="18288000">
                  <a:moveTo>
                    <a:pt x="0" y="0"/>
                  </a:moveTo>
                  <a:lnTo>
                    <a:pt x="18288000" y="0"/>
                  </a:lnTo>
                  <a:lnTo>
                    <a:pt x="18288000" y="1298178"/>
                  </a:lnTo>
                  <a:lnTo>
                    <a:pt x="0" y="1298178"/>
                  </a:lnTo>
                  <a:close/>
                </a:path>
              </a:pathLst>
            </a:custGeom>
            <a:blipFill rotWithShape="1">
              <a:blip r:embed="rId4">
                <a:alphaModFix amt="0"/>
              </a:blip>
              <a:stretch>
                <a:fillRect b="-240210" l="0" r="0" t="-2087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7"/>
            <p:cNvSpPr txBox="1"/>
            <p:nvPr/>
          </p:nvSpPr>
          <p:spPr>
            <a:xfrm>
              <a:off x="0" y="-19050"/>
              <a:ext cx="18288000" cy="1317228"/>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Clr>
                  <a:srgbClr val="000000"/>
                </a:buClr>
                <a:buSzPts val="4800"/>
                <a:buFont typeface="Arial"/>
                <a:buNone/>
              </a:pPr>
              <a:r>
                <a:rPr b="0" i="0" lang="en-US" sz="4800" u="none" cap="none" strike="noStrike">
                  <a:solidFill>
                    <a:srgbClr val="22D3EE"/>
                  </a:solidFill>
                  <a:latin typeface="Arimo"/>
                  <a:ea typeface="Arimo"/>
                  <a:cs typeface="Arimo"/>
                  <a:sym typeface="Arimo"/>
                </a:rPr>
                <a:t>Principal, Action, Resource, Condition</a:t>
              </a:r>
              <a:endParaRPr b="0" i="0" sz="1400" u="none" cap="none" strike="noStrike">
                <a:solidFill>
                  <a:srgbClr val="000000"/>
                </a:solidFill>
                <a:latin typeface="Arial"/>
                <a:ea typeface="Arial"/>
                <a:cs typeface="Arial"/>
                <a:sym typeface="Arial"/>
              </a:endParaRPr>
            </a:p>
          </p:txBody>
        </p:sp>
      </p:grpSp>
      <p:sp>
        <p:nvSpPr>
          <p:cNvPr id="363" name="Google Shape;363;p7"/>
          <p:cNvSpPr/>
          <p:nvPr/>
        </p:nvSpPr>
        <p:spPr>
          <a:xfrm>
            <a:off x="13446537" y="4713171"/>
            <a:ext cx="5617329" cy="6757690"/>
          </a:xfrm>
          <a:custGeom>
            <a:rect b="b" l="l" r="r" t="t"/>
            <a:pathLst>
              <a:path extrusionOk="0" h="6757690" w="5617329">
                <a:moveTo>
                  <a:pt x="0" y="0"/>
                </a:moveTo>
                <a:lnTo>
                  <a:pt x="5617330" y="0"/>
                </a:lnTo>
                <a:lnTo>
                  <a:pt x="5617330" y="6757690"/>
                </a:lnTo>
                <a:lnTo>
                  <a:pt x="0" y="675769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p7"/>
          <p:cNvSpPr/>
          <p:nvPr/>
        </p:nvSpPr>
        <p:spPr>
          <a:xfrm>
            <a:off x="11863368" y="6729903"/>
            <a:ext cx="3450263" cy="4150692"/>
          </a:xfrm>
          <a:custGeom>
            <a:rect b="b" l="l" r="r" t="t"/>
            <a:pathLst>
              <a:path extrusionOk="0" h="4150692" w="3450263">
                <a:moveTo>
                  <a:pt x="0" y="0"/>
                </a:moveTo>
                <a:lnTo>
                  <a:pt x="3450263" y="0"/>
                </a:lnTo>
                <a:lnTo>
                  <a:pt x="3450263" y="4150692"/>
                </a:lnTo>
                <a:lnTo>
                  <a:pt x="0" y="41506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60" l="0" r="0" t="-92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74" name="Google Shape;374;p8"/>
          <p:cNvGrpSpPr/>
          <p:nvPr/>
        </p:nvGrpSpPr>
        <p:grpSpPr>
          <a:xfrm>
            <a:off x="914400" y="274320"/>
            <a:ext cx="16459200" cy="1463040"/>
            <a:chOff x="0" y="0"/>
            <a:chExt cx="21945600" cy="1950720"/>
          </a:xfrm>
        </p:grpSpPr>
        <p:sp>
          <p:nvSpPr>
            <p:cNvPr id="375" name="Google Shape;375;p8"/>
            <p:cNvSpPr/>
            <p:nvPr/>
          </p:nvSpPr>
          <p:spPr>
            <a:xfrm>
              <a:off x="0" y="0"/>
              <a:ext cx="21945600" cy="1950720"/>
            </a:xfrm>
            <a:custGeom>
              <a:rect b="b" l="l" r="r" t="t"/>
              <a:pathLst>
                <a:path extrusionOk="0" h="1950720" w="21945600">
                  <a:moveTo>
                    <a:pt x="0" y="0"/>
                  </a:moveTo>
                  <a:lnTo>
                    <a:pt x="21945600" y="0"/>
                  </a:lnTo>
                  <a:lnTo>
                    <a:pt x="21945600" y="1950720"/>
                  </a:lnTo>
                  <a:lnTo>
                    <a:pt x="0" y="1950720"/>
                  </a:lnTo>
                  <a:close/>
                </a:path>
              </a:pathLst>
            </a:custGeom>
            <a:blipFill rotWithShape="1">
              <a:blip r:embed="rId4">
                <a:alphaModFix amt="0"/>
              </a:blip>
              <a:stretch>
                <a:fillRect b="-169190" l="0" r="0" t="-1691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8"/>
            <p:cNvSpPr txBox="1"/>
            <p:nvPr/>
          </p:nvSpPr>
          <p:spPr>
            <a:xfrm>
              <a:off x="0" y="0"/>
              <a:ext cx="21945600" cy="19507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Montserrat"/>
                  <a:ea typeface="Montserrat"/>
                  <a:cs typeface="Montserrat"/>
                  <a:sym typeface="Montserrat"/>
                </a:rPr>
                <a:t>The PARC Model</a:t>
              </a:r>
              <a:endParaRPr b="0" i="0" sz="1400" u="none" cap="none" strike="noStrike">
                <a:solidFill>
                  <a:srgbClr val="000000"/>
                </a:solidFill>
                <a:latin typeface="Arial"/>
                <a:ea typeface="Arial"/>
                <a:cs typeface="Arial"/>
                <a:sym typeface="Arial"/>
              </a:endParaRPr>
            </a:p>
          </p:txBody>
        </p:sp>
      </p:grpSp>
      <p:grpSp>
        <p:nvGrpSpPr>
          <p:cNvPr id="377" name="Google Shape;377;p8"/>
          <p:cNvGrpSpPr/>
          <p:nvPr/>
        </p:nvGrpSpPr>
        <p:grpSpPr>
          <a:xfrm>
            <a:off x="914400" y="1533049"/>
            <a:ext cx="16459200" cy="844391"/>
            <a:chOff x="0" y="-28575"/>
            <a:chExt cx="21945600" cy="1125855"/>
          </a:xfrm>
        </p:grpSpPr>
        <p:sp>
          <p:nvSpPr>
            <p:cNvPr id="378" name="Google Shape;378;p8"/>
            <p:cNvSpPr/>
            <p:nvPr/>
          </p:nvSpPr>
          <p:spPr>
            <a:xfrm>
              <a:off x="0" y="0"/>
              <a:ext cx="21945600" cy="1097280"/>
            </a:xfrm>
            <a:custGeom>
              <a:rect b="b" l="l" r="r" t="t"/>
              <a:pathLst>
                <a:path extrusionOk="0" h="1097280" w="21945600">
                  <a:moveTo>
                    <a:pt x="0" y="0"/>
                  </a:moveTo>
                  <a:lnTo>
                    <a:pt x="21945600" y="0"/>
                  </a:lnTo>
                  <a:lnTo>
                    <a:pt x="21945600" y="1097280"/>
                  </a:lnTo>
                  <a:lnTo>
                    <a:pt x="0" y="1097280"/>
                  </a:lnTo>
                  <a:close/>
                </a:path>
              </a:pathLst>
            </a:custGeom>
            <a:blipFill rotWithShape="1">
              <a:blip r:embed="rId4">
                <a:alphaModFix amt="0"/>
              </a:blip>
              <a:stretch>
                <a:fillRect b="-339651" l="0" r="0" t="-3396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8"/>
            <p:cNvSpPr txBox="1"/>
            <p:nvPr/>
          </p:nvSpPr>
          <p:spPr>
            <a:xfrm>
              <a:off x="0" y="-28575"/>
              <a:ext cx="21945600" cy="1125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600"/>
                <a:buFont typeface="Arial"/>
                <a:buNone/>
              </a:pPr>
              <a:r>
                <a:rPr b="0" i="1" lang="en-US" sz="3600" u="none" cap="none" strike="noStrike">
                  <a:solidFill>
                    <a:srgbClr val="64748B"/>
                  </a:solidFill>
                  <a:latin typeface="Arimo"/>
                  <a:ea typeface="Arimo"/>
                  <a:cs typeface="Arimo"/>
                  <a:sym typeface="Arimo"/>
                </a:rPr>
                <a:t>Four questions every access decision must answer</a:t>
              </a:r>
              <a:endParaRPr b="0" i="0" sz="1400" u="none" cap="none" strike="noStrike">
                <a:solidFill>
                  <a:srgbClr val="000000"/>
                </a:solidFill>
                <a:latin typeface="Arial"/>
                <a:ea typeface="Arial"/>
                <a:cs typeface="Arial"/>
                <a:sym typeface="Arial"/>
              </a:endParaRPr>
            </a:p>
          </p:txBody>
        </p:sp>
      </p:grpSp>
      <p:grpSp>
        <p:nvGrpSpPr>
          <p:cNvPr id="380" name="Google Shape;380;p8"/>
          <p:cNvGrpSpPr/>
          <p:nvPr/>
        </p:nvGrpSpPr>
        <p:grpSpPr>
          <a:xfrm>
            <a:off x="1188720" y="2743200"/>
            <a:ext cx="1463040" cy="1737360"/>
            <a:chOff x="0" y="0"/>
            <a:chExt cx="1950720" cy="2316480"/>
          </a:xfrm>
        </p:grpSpPr>
        <p:sp>
          <p:nvSpPr>
            <p:cNvPr id="381" name="Google Shape;381;p8"/>
            <p:cNvSpPr/>
            <p:nvPr/>
          </p:nvSpPr>
          <p:spPr>
            <a:xfrm>
              <a:off x="0" y="0"/>
              <a:ext cx="1950720" cy="2316480"/>
            </a:xfrm>
            <a:custGeom>
              <a:rect b="b" l="l" r="r" t="t"/>
              <a:pathLst>
                <a:path extrusionOk="0" h="2316480" w="1950720">
                  <a:moveTo>
                    <a:pt x="0" y="0"/>
                  </a:moveTo>
                  <a:lnTo>
                    <a:pt x="1950720" y="0"/>
                  </a:lnTo>
                  <a:lnTo>
                    <a:pt x="1950720" y="2316480"/>
                  </a:lnTo>
                  <a:lnTo>
                    <a:pt x="0" y="2316480"/>
                  </a:lnTo>
                  <a:close/>
                </a:path>
              </a:pathLst>
            </a:custGeom>
            <a:blipFill rotWithShape="1">
              <a:blip r:embed="rId4">
                <a:alphaModFix amt="0"/>
              </a:blip>
              <a:stretch>
                <a:fillRect b="0" l="-102352" r="-10234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8"/>
            <p:cNvSpPr txBox="1"/>
            <p:nvPr/>
          </p:nvSpPr>
          <p:spPr>
            <a:xfrm>
              <a:off x="0" y="0"/>
              <a:ext cx="1950720" cy="2316480"/>
            </a:xfrm>
            <a:prstGeom prst="rect">
              <a:avLst/>
            </a:prstGeom>
            <a:noFill/>
            <a:ln>
              <a:noFill/>
            </a:ln>
          </p:spPr>
          <p:txBody>
            <a:bodyPr anchorCtr="0" anchor="ctr" bIns="0" lIns="0" spcFirstLastPara="1" rIns="0" wrap="square" tIns="0">
              <a:no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22D3EE"/>
                  </a:solidFill>
                  <a:latin typeface="Montserrat"/>
                  <a:ea typeface="Montserrat"/>
                  <a:cs typeface="Montserrat"/>
                  <a:sym typeface="Montserrat"/>
                </a:rPr>
                <a:t>P</a:t>
              </a:r>
              <a:endParaRPr b="0" i="0" sz="1400" u="none" cap="none" strike="noStrike">
                <a:solidFill>
                  <a:srgbClr val="000000"/>
                </a:solidFill>
                <a:latin typeface="Arial"/>
                <a:ea typeface="Arial"/>
                <a:cs typeface="Arial"/>
                <a:sym typeface="Arial"/>
              </a:endParaRPr>
            </a:p>
          </p:txBody>
        </p:sp>
      </p:grpSp>
      <p:grpSp>
        <p:nvGrpSpPr>
          <p:cNvPr id="383" name="Google Shape;383;p8"/>
          <p:cNvGrpSpPr/>
          <p:nvPr/>
        </p:nvGrpSpPr>
        <p:grpSpPr>
          <a:xfrm>
            <a:off x="2743200" y="2889504"/>
            <a:ext cx="4023360" cy="822960"/>
            <a:chOff x="0" y="0"/>
            <a:chExt cx="5364480" cy="1097280"/>
          </a:xfrm>
        </p:grpSpPr>
        <p:sp>
          <p:nvSpPr>
            <p:cNvPr id="384" name="Google Shape;384;p8"/>
            <p:cNvSpPr/>
            <p:nvPr/>
          </p:nvSpPr>
          <p:spPr>
            <a:xfrm>
              <a:off x="0" y="0"/>
              <a:ext cx="5364480" cy="1097280"/>
            </a:xfrm>
            <a:custGeom>
              <a:rect b="b" l="l" r="r" t="t"/>
              <a:pathLst>
                <a:path extrusionOk="0" h="1097280" w="5364480">
                  <a:moveTo>
                    <a:pt x="0" y="0"/>
                  </a:moveTo>
                  <a:lnTo>
                    <a:pt x="5364480" y="0"/>
                  </a:lnTo>
                  <a:lnTo>
                    <a:pt x="5364480" y="1097280"/>
                  </a:lnTo>
                  <a:lnTo>
                    <a:pt x="0" y="1097280"/>
                  </a:lnTo>
                  <a:close/>
                </a:path>
              </a:pathLst>
            </a:custGeom>
            <a:blipFill rotWithShape="1">
              <a:blip r:embed="rId4">
                <a:alphaModFix amt="0"/>
              </a:blip>
              <a:stretch>
                <a:fillRect b="-45260" l="0" r="0" t="-452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8"/>
            <p:cNvSpPr txBox="1"/>
            <p:nvPr/>
          </p:nvSpPr>
          <p:spPr>
            <a:xfrm>
              <a:off x="0" y="9525"/>
              <a:ext cx="5364480" cy="1087755"/>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Clr>
                  <a:srgbClr val="000000"/>
                </a:buClr>
                <a:buSzPts val="4800"/>
                <a:buFont typeface="Arial"/>
                <a:buNone/>
              </a:pPr>
              <a:r>
                <a:rPr b="1" i="0" lang="en-US" sz="4800" u="none" cap="none" strike="noStrike">
                  <a:solidFill>
                    <a:srgbClr val="FFFFFF"/>
                  </a:solidFill>
                  <a:latin typeface="Montserrat"/>
                  <a:ea typeface="Montserrat"/>
                  <a:cs typeface="Montserrat"/>
                  <a:sym typeface="Montserrat"/>
                </a:rPr>
                <a:t>Principal</a:t>
              </a:r>
              <a:endParaRPr b="0" i="0" sz="1400" u="none" cap="none" strike="noStrike">
                <a:solidFill>
                  <a:srgbClr val="000000"/>
                </a:solidFill>
                <a:latin typeface="Arial"/>
                <a:ea typeface="Arial"/>
                <a:cs typeface="Arial"/>
                <a:sym typeface="Arial"/>
              </a:endParaRPr>
            </a:p>
          </p:txBody>
        </p:sp>
      </p:grpSp>
      <p:grpSp>
        <p:nvGrpSpPr>
          <p:cNvPr id="386" name="Google Shape;386;p8"/>
          <p:cNvGrpSpPr/>
          <p:nvPr/>
        </p:nvGrpSpPr>
        <p:grpSpPr>
          <a:xfrm>
            <a:off x="2743200" y="3643313"/>
            <a:ext cx="5120640" cy="654368"/>
            <a:chOff x="0" y="-19050"/>
            <a:chExt cx="6827520" cy="872490"/>
          </a:xfrm>
        </p:grpSpPr>
        <p:sp>
          <p:nvSpPr>
            <p:cNvPr id="387" name="Google Shape;387;p8"/>
            <p:cNvSpPr/>
            <p:nvPr/>
          </p:nvSpPr>
          <p:spPr>
            <a:xfrm>
              <a:off x="0" y="0"/>
              <a:ext cx="6827520" cy="853440"/>
            </a:xfrm>
            <a:custGeom>
              <a:rect b="b" l="l" r="r" t="t"/>
              <a:pathLst>
                <a:path extrusionOk="0" h="853440" w="6827520">
                  <a:moveTo>
                    <a:pt x="0" y="0"/>
                  </a:moveTo>
                  <a:lnTo>
                    <a:pt x="6827520" y="0"/>
                  </a:lnTo>
                  <a:lnTo>
                    <a:pt x="6827520" y="853440"/>
                  </a:lnTo>
                  <a:lnTo>
                    <a:pt x="0" y="853440"/>
                  </a:lnTo>
                  <a:close/>
                </a:path>
              </a:pathLst>
            </a:custGeom>
            <a:blipFill rotWithShape="1">
              <a:blip r:embed="rId4">
                <a:alphaModFix amt="0"/>
              </a:blip>
              <a:stretch>
                <a:fillRect b="-105873" l="0" r="0" t="-10587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8"/>
            <p:cNvSpPr txBox="1"/>
            <p:nvPr/>
          </p:nvSpPr>
          <p:spPr>
            <a:xfrm>
              <a:off x="0" y="-19050"/>
              <a:ext cx="6827520" cy="8724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WHO is making the request?</a:t>
              </a:r>
              <a:endParaRPr b="0" i="0" sz="1400" u="none" cap="none" strike="noStrike">
                <a:solidFill>
                  <a:srgbClr val="000000"/>
                </a:solidFill>
                <a:latin typeface="Arial"/>
                <a:ea typeface="Arial"/>
                <a:cs typeface="Arial"/>
                <a:sym typeface="Arial"/>
              </a:endParaRPr>
            </a:p>
          </p:txBody>
        </p:sp>
      </p:grpSp>
      <p:grpSp>
        <p:nvGrpSpPr>
          <p:cNvPr id="389" name="Google Shape;389;p8"/>
          <p:cNvGrpSpPr/>
          <p:nvPr/>
        </p:nvGrpSpPr>
        <p:grpSpPr>
          <a:xfrm>
            <a:off x="9144000" y="2700338"/>
            <a:ext cx="8046720" cy="1780222"/>
            <a:chOff x="0" y="-57150"/>
            <a:chExt cx="10728960" cy="2373630"/>
          </a:xfrm>
        </p:grpSpPr>
        <p:sp>
          <p:nvSpPr>
            <p:cNvPr id="390" name="Google Shape;390;p8"/>
            <p:cNvSpPr/>
            <p:nvPr/>
          </p:nvSpPr>
          <p:spPr>
            <a:xfrm>
              <a:off x="0" y="0"/>
              <a:ext cx="10728960" cy="2316480"/>
            </a:xfrm>
            <a:custGeom>
              <a:rect b="b" l="l" r="r" t="t"/>
              <a:pathLst>
                <a:path extrusionOk="0" h="2316480" w="10728960">
                  <a:moveTo>
                    <a:pt x="0" y="0"/>
                  </a:moveTo>
                  <a:lnTo>
                    <a:pt x="10728960" y="0"/>
                  </a:lnTo>
                  <a:lnTo>
                    <a:pt x="10728960" y="2316480"/>
                  </a:lnTo>
                  <a:lnTo>
                    <a:pt x="0" y="2316480"/>
                  </a:lnTo>
                  <a:close/>
                </a:path>
              </a:pathLst>
            </a:custGeom>
            <a:blipFill rotWithShape="1">
              <a:blip r:embed="rId4">
                <a:alphaModFix amt="0"/>
              </a:blip>
              <a:stretch>
                <a:fillRect b="-40240" l="0" r="0" t="-4024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1" name="Google Shape;391;p8"/>
            <p:cNvSpPr txBox="1"/>
            <p:nvPr/>
          </p:nvSpPr>
          <p:spPr>
            <a:xfrm>
              <a:off x="0" y="-57150"/>
              <a:ext cx="10728960" cy="2373630"/>
            </a:xfrm>
            <a:prstGeom prst="rect">
              <a:avLst/>
            </a:prstGeom>
            <a:noFill/>
            <a:ln>
              <a:noFill/>
            </a:ln>
          </p:spPr>
          <p:txBody>
            <a:bodyPr anchorCtr="0" anchor="ctr" bIns="0" lIns="0" spcFirstLastPara="1" rIns="0" wrap="square" tIns="0">
              <a:noAutofit/>
            </a:bodyPr>
            <a:lstStyle/>
            <a:p>
              <a:pPr indent="0" lvl="0" marL="0" marR="0" rtl="0" algn="r">
                <a:lnSpc>
                  <a:spcPct val="120007"/>
                </a:lnSpc>
                <a:spcBef>
                  <a:spcPts val="0"/>
                </a:spcBef>
                <a:spcAft>
                  <a:spcPts val="0"/>
                </a:spcAft>
                <a:buClr>
                  <a:srgbClr val="000000"/>
                </a:buClr>
                <a:buSzPts val="2799"/>
                <a:buFont typeface="Arial"/>
                <a:buNone/>
              </a:pPr>
              <a:r>
                <a:rPr b="0" i="0" lang="en-US" sz="2799" u="none" cap="none" strike="noStrike">
                  <a:solidFill>
                    <a:srgbClr val="22D3EE"/>
                  </a:solidFill>
                  <a:latin typeface="Consolas"/>
                  <a:ea typeface="Consolas"/>
                  <a:cs typeface="Consolas"/>
                  <a:sym typeface="Consolas"/>
                </a:rPr>
                <a:t>Users, roles, services</a:t>
              </a:r>
              <a:endParaRPr b="0" i="0" sz="1400" u="none" cap="none" strike="noStrike">
                <a:solidFill>
                  <a:srgbClr val="000000"/>
                </a:solidFill>
                <a:latin typeface="Arial"/>
                <a:ea typeface="Arial"/>
                <a:cs typeface="Arial"/>
                <a:sym typeface="Arial"/>
              </a:endParaRPr>
            </a:p>
          </p:txBody>
        </p:sp>
      </p:grpSp>
      <p:grpSp>
        <p:nvGrpSpPr>
          <p:cNvPr id="392" name="Google Shape;392;p8"/>
          <p:cNvGrpSpPr/>
          <p:nvPr/>
        </p:nvGrpSpPr>
        <p:grpSpPr>
          <a:xfrm>
            <a:off x="1188720" y="4572000"/>
            <a:ext cx="1463040" cy="1737360"/>
            <a:chOff x="0" y="0"/>
            <a:chExt cx="1950720" cy="2316480"/>
          </a:xfrm>
        </p:grpSpPr>
        <p:sp>
          <p:nvSpPr>
            <p:cNvPr id="393" name="Google Shape;393;p8"/>
            <p:cNvSpPr/>
            <p:nvPr/>
          </p:nvSpPr>
          <p:spPr>
            <a:xfrm>
              <a:off x="0" y="0"/>
              <a:ext cx="1950720" cy="2316480"/>
            </a:xfrm>
            <a:custGeom>
              <a:rect b="b" l="l" r="r" t="t"/>
              <a:pathLst>
                <a:path extrusionOk="0" h="2316480" w="1950720">
                  <a:moveTo>
                    <a:pt x="0" y="0"/>
                  </a:moveTo>
                  <a:lnTo>
                    <a:pt x="1950720" y="0"/>
                  </a:lnTo>
                  <a:lnTo>
                    <a:pt x="1950720" y="2316480"/>
                  </a:lnTo>
                  <a:lnTo>
                    <a:pt x="0" y="2316480"/>
                  </a:lnTo>
                  <a:close/>
                </a:path>
              </a:pathLst>
            </a:custGeom>
            <a:blipFill rotWithShape="1">
              <a:blip r:embed="rId4">
                <a:alphaModFix amt="0"/>
              </a:blip>
              <a:stretch>
                <a:fillRect b="0" l="-102352" r="-10234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8"/>
            <p:cNvSpPr txBox="1"/>
            <p:nvPr/>
          </p:nvSpPr>
          <p:spPr>
            <a:xfrm>
              <a:off x="0" y="0"/>
              <a:ext cx="1950720" cy="2316480"/>
            </a:xfrm>
            <a:prstGeom prst="rect">
              <a:avLst/>
            </a:prstGeom>
            <a:noFill/>
            <a:ln>
              <a:noFill/>
            </a:ln>
          </p:spPr>
          <p:txBody>
            <a:bodyPr anchorCtr="0" anchor="ctr" bIns="0" lIns="0" spcFirstLastPara="1" rIns="0" wrap="square" tIns="0">
              <a:no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F59E0B"/>
                  </a:solidFill>
                  <a:latin typeface="Montserrat"/>
                  <a:ea typeface="Montserrat"/>
                  <a:cs typeface="Montserrat"/>
                  <a:sym typeface="Montserrat"/>
                </a:rPr>
                <a:t>A</a:t>
              </a:r>
              <a:endParaRPr b="0" i="0" sz="1400" u="none" cap="none" strike="noStrike">
                <a:solidFill>
                  <a:srgbClr val="000000"/>
                </a:solidFill>
                <a:latin typeface="Arial"/>
                <a:ea typeface="Arial"/>
                <a:cs typeface="Arial"/>
                <a:sym typeface="Arial"/>
              </a:endParaRPr>
            </a:p>
          </p:txBody>
        </p:sp>
      </p:grpSp>
      <p:grpSp>
        <p:nvGrpSpPr>
          <p:cNvPr id="395" name="Google Shape;395;p8"/>
          <p:cNvGrpSpPr/>
          <p:nvPr/>
        </p:nvGrpSpPr>
        <p:grpSpPr>
          <a:xfrm>
            <a:off x="2743200" y="4718304"/>
            <a:ext cx="4023360" cy="822960"/>
            <a:chOff x="0" y="0"/>
            <a:chExt cx="5364480" cy="1097280"/>
          </a:xfrm>
        </p:grpSpPr>
        <p:sp>
          <p:nvSpPr>
            <p:cNvPr id="396" name="Google Shape;396;p8"/>
            <p:cNvSpPr/>
            <p:nvPr/>
          </p:nvSpPr>
          <p:spPr>
            <a:xfrm>
              <a:off x="0" y="0"/>
              <a:ext cx="5364480" cy="1097280"/>
            </a:xfrm>
            <a:custGeom>
              <a:rect b="b" l="l" r="r" t="t"/>
              <a:pathLst>
                <a:path extrusionOk="0" h="1097280" w="5364480">
                  <a:moveTo>
                    <a:pt x="0" y="0"/>
                  </a:moveTo>
                  <a:lnTo>
                    <a:pt x="5364480" y="0"/>
                  </a:lnTo>
                  <a:lnTo>
                    <a:pt x="5364480" y="1097280"/>
                  </a:lnTo>
                  <a:lnTo>
                    <a:pt x="0" y="1097280"/>
                  </a:lnTo>
                  <a:close/>
                </a:path>
              </a:pathLst>
            </a:custGeom>
            <a:blipFill rotWithShape="1">
              <a:blip r:embed="rId4">
                <a:alphaModFix amt="0"/>
              </a:blip>
              <a:stretch>
                <a:fillRect b="-45260" l="0" r="0" t="-452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8"/>
            <p:cNvSpPr txBox="1"/>
            <p:nvPr/>
          </p:nvSpPr>
          <p:spPr>
            <a:xfrm>
              <a:off x="0" y="9525"/>
              <a:ext cx="5364480" cy="1087755"/>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Clr>
                  <a:srgbClr val="000000"/>
                </a:buClr>
                <a:buSzPts val="4800"/>
                <a:buFont typeface="Arial"/>
                <a:buNone/>
              </a:pPr>
              <a:r>
                <a:rPr b="1" i="0" lang="en-US" sz="4800" u="none" cap="none" strike="noStrike">
                  <a:solidFill>
                    <a:srgbClr val="FFFFFF"/>
                  </a:solidFill>
                  <a:latin typeface="Montserrat"/>
                  <a:ea typeface="Montserrat"/>
                  <a:cs typeface="Montserrat"/>
                  <a:sym typeface="Montserrat"/>
                </a:rPr>
                <a:t>Action</a:t>
              </a:r>
              <a:endParaRPr b="0" i="0" sz="1400" u="none" cap="none" strike="noStrike">
                <a:solidFill>
                  <a:srgbClr val="000000"/>
                </a:solidFill>
                <a:latin typeface="Arial"/>
                <a:ea typeface="Arial"/>
                <a:cs typeface="Arial"/>
                <a:sym typeface="Arial"/>
              </a:endParaRPr>
            </a:p>
          </p:txBody>
        </p:sp>
      </p:grpSp>
      <p:grpSp>
        <p:nvGrpSpPr>
          <p:cNvPr id="398" name="Google Shape;398;p8"/>
          <p:cNvGrpSpPr/>
          <p:nvPr/>
        </p:nvGrpSpPr>
        <p:grpSpPr>
          <a:xfrm>
            <a:off x="2743200" y="5472113"/>
            <a:ext cx="5120640" cy="654368"/>
            <a:chOff x="0" y="-19050"/>
            <a:chExt cx="6827520" cy="872490"/>
          </a:xfrm>
        </p:grpSpPr>
        <p:sp>
          <p:nvSpPr>
            <p:cNvPr id="399" name="Google Shape;399;p8"/>
            <p:cNvSpPr/>
            <p:nvPr/>
          </p:nvSpPr>
          <p:spPr>
            <a:xfrm>
              <a:off x="0" y="0"/>
              <a:ext cx="6827520" cy="853440"/>
            </a:xfrm>
            <a:custGeom>
              <a:rect b="b" l="l" r="r" t="t"/>
              <a:pathLst>
                <a:path extrusionOk="0" h="853440" w="6827520">
                  <a:moveTo>
                    <a:pt x="0" y="0"/>
                  </a:moveTo>
                  <a:lnTo>
                    <a:pt x="6827520" y="0"/>
                  </a:lnTo>
                  <a:lnTo>
                    <a:pt x="6827520" y="853440"/>
                  </a:lnTo>
                  <a:lnTo>
                    <a:pt x="0" y="853440"/>
                  </a:lnTo>
                  <a:close/>
                </a:path>
              </a:pathLst>
            </a:custGeom>
            <a:blipFill rotWithShape="1">
              <a:blip r:embed="rId4">
                <a:alphaModFix amt="0"/>
              </a:blip>
              <a:stretch>
                <a:fillRect b="-105873" l="0" r="0" t="-10587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8"/>
            <p:cNvSpPr txBox="1"/>
            <p:nvPr/>
          </p:nvSpPr>
          <p:spPr>
            <a:xfrm>
              <a:off x="0" y="-19050"/>
              <a:ext cx="6827520" cy="8724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WHAT are they trying to do?</a:t>
              </a:r>
              <a:endParaRPr b="0" i="0" sz="1400" u="none" cap="none" strike="noStrike">
                <a:solidFill>
                  <a:srgbClr val="000000"/>
                </a:solidFill>
                <a:latin typeface="Arial"/>
                <a:ea typeface="Arial"/>
                <a:cs typeface="Arial"/>
                <a:sym typeface="Arial"/>
              </a:endParaRPr>
            </a:p>
          </p:txBody>
        </p:sp>
      </p:grpSp>
      <p:grpSp>
        <p:nvGrpSpPr>
          <p:cNvPr id="401" name="Google Shape;401;p8"/>
          <p:cNvGrpSpPr/>
          <p:nvPr/>
        </p:nvGrpSpPr>
        <p:grpSpPr>
          <a:xfrm>
            <a:off x="9144000" y="4529138"/>
            <a:ext cx="8046720" cy="1780222"/>
            <a:chOff x="0" y="-57150"/>
            <a:chExt cx="10728960" cy="2373630"/>
          </a:xfrm>
        </p:grpSpPr>
        <p:sp>
          <p:nvSpPr>
            <p:cNvPr id="402" name="Google Shape;402;p8"/>
            <p:cNvSpPr/>
            <p:nvPr/>
          </p:nvSpPr>
          <p:spPr>
            <a:xfrm>
              <a:off x="0" y="0"/>
              <a:ext cx="10728960" cy="2316480"/>
            </a:xfrm>
            <a:custGeom>
              <a:rect b="b" l="l" r="r" t="t"/>
              <a:pathLst>
                <a:path extrusionOk="0" h="2316480" w="10728960">
                  <a:moveTo>
                    <a:pt x="0" y="0"/>
                  </a:moveTo>
                  <a:lnTo>
                    <a:pt x="10728960" y="0"/>
                  </a:lnTo>
                  <a:lnTo>
                    <a:pt x="10728960" y="2316480"/>
                  </a:lnTo>
                  <a:lnTo>
                    <a:pt x="0" y="2316480"/>
                  </a:lnTo>
                  <a:close/>
                </a:path>
              </a:pathLst>
            </a:custGeom>
            <a:blipFill rotWithShape="1">
              <a:blip r:embed="rId4">
                <a:alphaModFix amt="0"/>
              </a:blip>
              <a:stretch>
                <a:fillRect b="-40240" l="0" r="0" t="-4024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p8"/>
            <p:cNvSpPr txBox="1"/>
            <p:nvPr/>
          </p:nvSpPr>
          <p:spPr>
            <a:xfrm>
              <a:off x="0" y="-57150"/>
              <a:ext cx="10728960" cy="2373630"/>
            </a:xfrm>
            <a:prstGeom prst="rect">
              <a:avLst/>
            </a:prstGeom>
            <a:noFill/>
            <a:ln>
              <a:noFill/>
            </a:ln>
          </p:spPr>
          <p:txBody>
            <a:bodyPr anchorCtr="0" anchor="ctr" bIns="0" lIns="0" spcFirstLastPara="1" rIns="0" wrap="square" tIns="0">
              <a:noAutofit/>
            </a:bodyPr>
            <a:lstStyle/>
            <a:p>
              <a:pPr indent="0" lvl="0" marL="0" marR="0" rtl="0" algn="r">
                <a:lnSpc>
                  <a:spcPct val="120007"/>
                </a:lnSpc>
                <a:spcBef>
                  <a:spcPts val="0"/>
                </a:spcBef>
                <a:spcAft>
                  <a:spcPts val="0"/>
                </a:spcAft>
                <a:buClr>
                  <a:srgbClr val="000000"/>
                </a:buClr>
                <a:buSzPts val="2799"/>
                <a:buFont typeface="Arial"/>
                <a:buNone/>
              </a:pPr>
              <a:r>
                <a:rPr b="0" i="0" lang="en-US" sz="2799" u="none" cap="none" strike="noStrike">
                  <a:solidFill>
                    <a:srgbClr val="F59E0B"/>
                  </a:solidFill>
                  <a:latin typeface="Consolas"/>
                  <a:ea typeface="Consolas"/>
                  <a:cs typeface="Consolas"/>
                  <a:sym typeface="Consolas"/>
                </a:rPr>
                <a:t>s3:GetObject, sts:AssumeRole</a:t>
              </a:r>
              <a:endParaRPr b="0" i="0" sz="1400" u="none" cap="none" strike="noStrike">
                <a:solidFill>
                  <a:srgbClr val="000000"/>
                </a:solidFill>
                <a:latin typeface="Arial"/>
                <a:ea typeface="Arial"/>
                <a:cs typeface="Arial"/>
                <a:sym typeface="Arial"/>
              </a:endParaRPr>
            </a:p>
          </p:txBody>
        </p:sp>
      </p:grpSp>
      <p:grpSp>
        <p:nvGrpSpPr>
          <p:cNvPr id="404" name="Google Shape;404;p8"/>
          <p:cNvGrpSpPr/>
          <p:nvPr/>
        </p:nvGrpSpPr>
        <p:grpSpPr>
          <a:xfrm>
            <a:off x="1188720" y="6400800"/>
            <a:ext cx="1463040" cy="1737360"/>
            <a:chOff x="0" y="0"/>
            <a:chExt cx="1950720" cy="2316480"/>
          </a:xfrm>
        </p:grpSpPr>
        <p:sp>
          <p:nvSpPr>
            <p:cNvPr id="405" name="Google Shape;405;p8"/>
            <p:cNvSpPr/>
            <p:nvPr/>
          </p:nvSpPr>
          <p:spPr>
            <a:xfrm>
              <a:off x="0" y="0"/>
              <a:ext cx="1950720" cy="2316480"/>
            </a:xfrm>
            <a:custGeom>
              <a:rect b="b" l="l" r="r" t="t"/>
              <a:pathLst>
                <a:path extrusionOk="0" h="2316480" w="1950720">
                  <a:moveTo>
                    <a:pt x="0" y="0"/>
                  </a:moveTo>
                  <a:lnTo>
                    <a:pt x="1950720" y="0"/>
                  </a:lnTo>
                  <a:lnTo>
                    <a:pt x="1950720" y="2316480"/>
                  </a:lnTo>
                  <a:lnTo>
                    <a:pt x="0" y="2316480"/>
                  </a:lnTo>
                  <a:close/>
                </a:path>
              </a:pathLst>
            </a:custGeom>
            <a:blipFill rotWithShape="1">
              <a:blip r:embed="rId4">
                <a:alphaModFix amt="0"/>
              </a:blip>
              <a:stretch>
                <a:fillRect b="0" l="-102352" r="-10234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6" name="Google Shape;406;p8"/>
            <p:cNvSpPr txBox="1"/>
            <p:nvPr/>
          </p:nvSpPr>
          <p:spPr>
            <a:xfrm>
              <a:off x="0" y="0"/>
              <a:ext cx="1950720" cy="2316480"/>
            </a:xfrm>
            <a:prstGeom prst="rect">
              <a:avLst/>
            </a:prstGeom>
            <a:noFill/>
            <a:ln>
              <a:noFill/>
            </a:ln>
          </p:spPr>
          <p:txBody>
            <a:bodyPr anchorCtr="0" anchor="ctr" bIns="0" lIns="0" spcFirstLastPara="1" rIns="0" wrap="square" tIns="0">
              <a:no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A78BFA"/>
                  </a:solidFill>
                  <a:latin typeface="Montserrat"/>
                  <a:ea typeface="Montserrat"/>
                  <a:cs typeface="Montserrat"/>
                  <a:sym typeface="Montserrat"/>
                </a:rPr>
                <a:t>R</a:t>
              </a:r>
              <a:endParaRPr b="0" i="0" sz="1400" u="none" cap="none" strike="noStrike">
                <a:solidFill>
                  <a:srgbClr val="000000"/>
                </a:solidFill>
                <a:latin typeface="Arial"/>
                <a:ea typeface="Arial"/>
                <a:cs typeface="Arial"/>
                <a:sym typeface="Arial"/>
              </a:endParaRPr>
            </a:p>
          </p:txBody>
        </p:sp>
      </p:grpSp>
      <p:grpSp>
        <p:nvGrpSpPr>
          <p:cNvPr id="407" name="Google Shape;407;p8"/>
          <p:cNvGrpSpPr/>
          <p:nvPr/>
        </p:nvGrpSpPr>
        <p:grpSpPr>
          <a:xfrm>
            <a:off x="2743200" y="6547104"/>
            <a:ext cx="4023360" cy="822960"/>
            <a:chOff x="0" y="0"/>
            <a:chExt cx="5364480" cy="1097280"/>
          </a:xfrm>
        </p:grpSpPr>
        <p:sp>
          <p:nvSpPr>
            <p:cNvPr id="408" name="Google Shape;408;p8"/>
            <p:cNvSpPr/>
            <p:nvPr/>
          </p:nvSpPr>
          <p:spPr>
            <a:xfrm>
              <a:off x="0" y="0"/>
              <a:ext cx="5364480" cy="1097280"/>
            </a:xfrm>
            <a:custGeom>
              <a:rect b="b" l="l" r="r" t="t"/>
              <a:pathLst>
                <a:path extrusionOk="0" h="1097280" w="5364480">
                  <a:moveTo>
                    <a:pt x="0" y="0"/>
                  </a:moveTo>
                  <a:lnTo>
                    <a:pt x="5364480" y="0"/>
                  </a:lnTo>
                  <a:lnTo>
                    <a:pt x="5364480" y="1097280"/>
                  </a:lnTo>
                  <a:lnTo>
                    <a:pt x="0" y="1097280"/>
                  </a:lnTo>
                  <a:close/>
                </a:path>
              </a:pathLst>
            </a:custGeom>
            <a:blipFill rotWithShape="1">
              <a:blip r:embed="rId4">
                <a:alphaModFix amt="0"/>
              </a:blip>
              <a:stretch>
                <a:fillRect b="-45260" l="0" r="0" t="-452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8"/>
            <p:cNvSpPr txBox="1"/>
            <p:nvPr/>
          </p:nvSpPr>
          <p:spPr>
            <a:xfrm>
              <a:off x="0" y="9525"/>
              <a:ext cx="5364480" cy="1087755"/>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Clr>
                  <a:srgbClr val="000000"/>
                </a:buClr>
                <a:buSzPts val="4800"/>
                <a:buFont typeface="Arial"/>
                <a:buNone/>
              </a:pPr>
              <a:r>
                <a:rPr b="1" i="0" lang="en-US" sz="4800" u="none" cap="none" strike="noStrike">
                  <a:solidFill>
                    <a:srgbClr val="FFFFFF"/>
                  </a:solidFill>
                  <a:latin typeface="Montserrat"/>
                  <a:ea typeface="Montserrat"/>
                  <a:cs typeface="Montserrat"/>
                  <a:sym typeface="Montserrat"/>
                </a:rPr>
                <a:t>Resource</a:t>
              </a:r>
              <a:endParaRPr b="0" i="0" sz="1400" u="none" cap="none" strike="noStrike">
                <a:solidFill>
                  <a:srgbClr val="000000"/>
                </a:solidFill>
                <a:latin typeface="Arial"/>
                <a:ea typeface="Arial"/>
                <a:cs typeface="Arial"/>
                <a:sym typeface="Arial"/>
              </a:endParaRPr>
            </a:p>
          </p:txBody>
        </p:sp>
      </p:grpSp>
      <p:grpSp>
        <p:nvGrpSpPr>
          <p:cNvPr id="410" name="Google Shape;410;p8"/>
          <p:cNvGrpSpPr/>
          <p:nvPr/>
        </p:nvGrpSpPr>
        <p:grpSpPr>
          <a:xfrm>
            <a:off x="2743200" y="7300913"/>
            <a:ext cx="5120640" cy="654368"/>
            <a:chOff x="0" y="-19050"/>
            <a:chExt cx="6827520" cy="872490"/>
          </a:xfrm>
        </p:grpSpPr>
        <p:sp>
          <p:nvSpPr>
            <p:cNvPr id="411" name="Google Shape;411;p8"/>
            <p:cNvSpPr/>
            <p:nvPr/>
          </p:nvSpPr>
          <p:spPr>
            <a:xfrm>
              <a:off x="0" y="0"/>
              <a:ext cx="6827520" cy="853440"/>
            </a:xfrm>
            <a:custGeom>
              <a:rect b="b" l="l" r="r" t="t"/>
              <a:pathLst>
                <a:path extrusionOk="0" h="853440" w="6827520">
                  <a:moveTo>
                    <a:pt x="0" y="0"/>
                  </a:moveTo>
                  <a:lnTo>
                    <a:pt x="6827520" y="0"/>
                  </a:lnTo>
                  <a:lnTo>
                    <a:pt x="6827520" y="853440"/>
                  </a:lnTo>
                  <a:lnTo>
                    <a:pt x="0" y="853440"/>
                  </a:lnTo>
                  <a:close/>
                </a:path>
              </a:pathLst>
            </a:custGeom>
            <a:blipFill rotWithShape="1">
              <a:blip r:embed="rId4">
                <a:alphaModFix amt="0"/>
              </a:blip>
              <a:stretch>
                <a:fillRect b="-105873" l="0" r="0" t="-10587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8"/>
            <p:cNvSpPr txBox="1"/>
            <p:nvPr/>
          </p:nvSpPr>
          <p:spPr>
            <a:xfrm>
              <a:off x="0" y="-19050"/>
              <a:ext cx="6827520" cy="8724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WHAT are they accessing?</a:t>
              </a:r>
              <a:endParaRPr b="0" i="0" sz="1400" u="none" cap="none" strike="noStrike">
                <a:solidFill>
                  <a:srgbClr val="000000"/>
                </a:solidFill>
                <a:latin typeface="Arial"/>
                <a:ea typeface="Arial"/>
                <a:cs typeface="Arial"/>
                <a:sym typeface="Arial"/>
              </a:endParaRPr>
            </a:p>
          </p:txBody>
        </p:sp>
      </p:grpSp>
      <p:grpSp>
        <p:nvGrpSpPr>
          <p:cNvPr id="413" name="Google Shape;413;p8"/>
          <p:cNvGrpSpPr/>
          <p:nvPr/>
        </p:nvGrpSpPr>
        <p:grpSpPr>
          <a:xfrm>
            <a:off x="9144000" y="6357938"/>
            <a:ext cx="8046720" cy="1780223"/>
            <a:chOff x="0" y="-57150"/>
            <a:chExt cx="10728960" cy="2373630"/>
          </a:xfrm>
        </p:grpSpPr>
        <p:sp>
          <p:nvSpPr>
            <p:cNvPr id="414" name="Google Shape;414;p8"/>
            <p:cNvSpPr/>
            <p:nvPr/>
          </p:nvSpPr>
          <p:spPr>
            <a:xfrm>
              <a:off x="0" y="0"/>
              <a:ext cx="10728960" cy="2316480"/>
            </a:xfrm>
            <a:custGeom>
              <a:rect b="b" l="l" r="r" t="t"/>
              <a:pathLst>
                <a:path extrusionOk="0" h="2316480" w="10728960">
                  <a:moveTo>
                    <a:pt x="0" y="0"/>
                  </a:moveTo>
                  <a:lnTo>
                    <a:pt x="10728960" y="0"/>
                  </a:lnTo>
                  <a:lnTo>
                    <a:pt x="10728960" y="2316480"/>
                  </a:lnTo>
                  <a:lnTo>
                    <a:pt x="0" y="2316480"/>
                  </a:lnTo>
                  <a:close/>
                </a:path>
              </a:pathLst>
            </a:custGeom>
            <a:blipFill rotWithShape="1">
              <a:blip r:embed="rId4">
                <a:alphaModFix amt="0"/>
              </a:blip>
              <a:stretch>
                <a:fillRect b="-40240" l="0" r="0" t="-4024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8"/>
            <p:cNvSpPr txBox="1"/>
            <p:nvPr/>
          </p:nvSpPr>
          <p:spPr>
            <a:xfrm>
              <a:off x="0" y="-57150"/>
              <a:ext cx="10728960" cy="2373630"/>
            </a:xfrm>
            <a:prstGeom prst="rect">
              <a:avLst/>
            </a:prstGeom>
            <a:noFill/>
            <a:ln>
              <a:noFill/>
            </a:ln>
          </p:spPr>
          <p:txBody>
            <a:bodyPr anchorCtr="0" anchor="ctr" bIns="0" lIns="0" spcFirstLastPara="1" rIns="0" wrap="square" tIns="0">
              <a:noAutofit/>
            </a:bodyPr>
            <a:lstStyle/>
            <a:p>
              <a:pPr indent="0" lvl="0" marL="0" marR="0" rtl="0" algn="r">
                <a:lnSpc>
                  <a:spcPct val="120007"/>
                </a:lnSpc>
                <a:spcBef>
                  <a:spcPts val="0"/>
                </a:spcBef>
                <a:spcAft>
                  <a:spcPts val="0"/>
                </a:spcAft>
                <a:buClr>
                  <a:srgbClr val="000000"/>
                </a:buClr>
                <a:buSzPts val="2799"/>
                <a:buFont typeface="Arial"/>
                <a:buNone/>
              </a:pPr>
              <a:r>
                <a:rPr b="0" i="0" lang="en-US" sz="2799" u="none" cap="none" strike="noStrike">
                  <a:solidFill>
                    <a:srgbClr val="A78BFA"/>
                  </a:solidFill>
                  <a:latin typeface="Consolas"/>
                  <a:ea typeface="Consolas"/>
                  <a:cs typeface="Consolas"/>
                  <a:sym typeface="Consolas"/>
                </a:rPr>
                <a:t>arn:aws:s3:::my-bucket/*</a:t>
              </a:r>
              <a:endParaRPr b="0" i="0" sz="1400" u="none" cap="none" strike="noStrike">
                <a:solidFill>
                  <a:srgbClr val="000000"/>
                </a:solidFill>
                <a:latin typeface="Arial"/>
                <a:ea typeface="Arial"/>
                <a:cs typeface="Arial"/>
                <a:sym typeface="Arial"/>
              </a:endParaRPr>
            </a:p>
          </p:txBody>
        </p:sp>
      </p:grpSp>
      <p:grpSp>
        <p:nvGrpSpPr>
          <p:cNvPr id="416" name="Google Shape;416;p8"/>
          <p:cNvGrpSpPr/>
          <p:nvPr/>
        </p:nvGrpSpPr>
        <p:grpSpPr>
          <a:xfrm>
            <a:off x="1188720" y="8229600"/>
            <a:ext cx="1463040" cy="1737360"/>
            <a:chOff x="0" y="0"/>
            <a:chExt cx="1950720" cy="2316480"/>
          </a:xfrm>
        </p:grpSpPr>
        <p:sp>
          <p:nvSpPr>
            <p:cNvPr id="417" name="Google Shape;417;p8"/>
            <p:cNvSpPr/>
            <p:nvPr/>
          </p:nvSpPr>
          <p:spPr>
            <a:xfrm>
              <a:off x="0" y="0"/>
              <a:ext cx="1950720" cy="2316480"/>
            </a:xfrm>
            <a:custGeom>
              <a:rect b="b" l="l" r="r" t="t"/>
              <a:pathLst>
                <a:path extrusionOk="0" h="2316480" w="1950720">
                  <a:moveTo>
                    <a:pt x="0" y="0"/>
                  </a:moveTo>
                  <a:lnTo>
                    <a:pt x="1950720" y="0"/>
                  </a:lnTo>
                  <a:lnTo>
                    <a:pt x="1950720" y="2316480"/>
                  </a:lnTo>
                  <a:lnTo>
                    <a:pt x="0" y="2316480"/>
                  </a:lnTo>
                  <a:close/>
                </a:path>
              </a:pathLst>
            </a:custGeom>
            <a:blipFill rotWithShape="1">
              <a:blip r:embed="rId4">
                <a:alphaModFix amt="0"/>
              </a:blip>
              <a:stretch>
                <a:fillRect b="0" l="-102352" r="-10234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8"/>
            <p:cNvSpPr txBox="1"/>
            <p:nvPr/>
          </p:nvSpPr>
          <p:spPr>
            <a:xfrm>
              <a:off x="0" y="0"/>
              <a:ext cx="1950720" cy="2316480"/>
            </a:xfrm>
            <a:prstGeom prst="rect">
              <a:avLst/>
            </a:prstGeom>
            <a:noFill/>
            <a:ln>
              <a:noFill/>
            </a:ln>
          </p:spPr>
          <p:txBody>
            <a:bodyPr anchorCtr="0" anchor="ctr" bIns="0" lIns="0" spcFirstLastPara="1" rIns="0" wrap="square" tIns="0">
              <a:no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F87171"/>
                  </a:solidFill>
                  <a:latin typeface="Montserrat"/>
                  <a:ea typeface="Montserrat"/>
                  <a:cs typeface="Montserrat"/>
                  <a:sym typeface="Montserrat"/>
                </a:rPr>
                <a:t>C</a:t>
              </a:r>
              <a:endParaRPr b="0" i="0" sz="1400" u="none" cap="none" strike="noStrike">
                <a:solidFill>
                  <a:srgbClr val="000000"/>
                </a:solidFill>
                <a:latin typeface="Arial"/>
                <a:ea typeface="Arial"/>
                <a:cs typeface="Arial"/>
                <a:sym typeface="Arial"/>
              </a:endParaRPr>
            </a:p>
          </p:txBody>
        </p:sp>
      </p:grpSp>
      <p:grpSp>
        <p:nvGrpSpPr>
          <p:cNvPr id="419" name="Google Shape;419;p8"/>
          <p:cNvGrpSpPr/>
          <p:nvPr/>
        </p:nvGrpSpPr>
        <p:grpSpPr>
          <a:xfrm>
            <a:off x="2743200" y="8375904"/>
            <a:ext cx="4023360" cy="822960"/>
            <a:chOff x="0" y="0"/>
            <a:chExt cx="5364480" cy="1097280"/>
          </a:xfrm>
        </p:grpSpPr>
        <p:sp>
          <p:nvSpPr>
            <p:cNvPr id="420" name="Google Shape;420;p8"/>
            <p:cNvSpPr/>
            <p:nvPr/>
          </p:nvSpPr>
          <p:spPr>
            <a:xfrm>
              <a:off x="0" y="0"/>
              <a:ext cx="5364480" cy="1097280"/>
            </a:xfrm>
            <a:custGeom>
              <a:rect b="b" l="l" r="r" t="t"/>
              <a:pathLst>
                <a:path extrusionOk="0" h="1097280" w="5364480">
                  <a:moveTo>
                    <a:pt x="0" y="0"/>
                  </a:moveTo>
                  <a:lnTo>
                    <a:pt x="5364480" y="0"/>
                  </a:lnTo>
                  <a:lnTo>
                    <a:pt x="5364480" y="1097280"/>
                  </a:lnTo>
                  <a:lnTo>
                    <a:pt x="0" y="1097280"/>
                  </a:lnTo>
                  <a:close/>
                </a:path>
              </a:pathLst>
            </a:custGeom>
            <a:blipFill rotWithShape="1">
              <a:blip r:embed="rId4">
                <a:alphaModFix amt="0"/>
              </a:blip>
              <a:stretch>
                <a:fillRect b="-45260" l="0" r="0" t="-452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8"/>
            <p:cNvSpPr txBox="1"/>
            <p:nvPr/>
          </p:nvSpPr>
          <p:spPr>
            <a:xfrm>
              <a:off x="0" y="9525"/>
              <a:ext cx="5364480" cy="1087755"/>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Clr>
                  <a:srgbClr val="000000"/>
                </a:buClr>
                <a:buSzPts val="4800"/>
                <a:buFont typeface="Arial"/>
                <a:buNone/>
              </a:pPr>
              <a:r>
                <a:rPr b="1" i="0" lang="en-US" sz="4800" u="none" cap="none" strike="noStrike">
                  <a:solidFill>
                    <a:srgbClr val="FFFFFF"/>
                  </a:solidFill>
                  <a:latin typeface="Montserrat"/>
                  <a:ea typeface="Montserrat"/>
                  <a:cs typeface="Montserrat"/>
                  <a:sym typeface="Montserrat"/>
                </a:rPr>
                <a:t>Condition</a:t>
              </a:r>
              <a:endParaRPr b="0" i="0" sz="1400" u="none" cap="none" strike="noStrike">
                <a:solidFill>
                  <a:srgbClr val="000000"/>
                </a:solidFill>
                <a:latin typeface="Arial"/>
                <a:ea typeface="Arial"/>
                <a:cs typeface="Arial"/>
                <a:sym typeface="Arial"/>
              </a:endParaRPr>
            </a:p>
          </p:txBody>
        </p:sp>
      </p:grpSp>
      <p:grpSp>
        <p:nvGrpSpPr>
          <p:cNvPr id="422" name="Google Shape;422;p8"/>
          <p:cNvGrpSpPr/>
          <p:nvPr/>
        </p:nvGrpSpPr>
        <p:grpSpPr>
          <a:xfrm>
            <a:off x="2743200" y="9129713"/>
            <a:ext cx="5120640" cy="654368"/>
            <a:chOff x="0" y="-19050"/>
            <a:chExt cx="6827520" cy="872490"/>
          </a:xfrm>
        </p:grpSpPr>
        <p:sp>
          <p:nvSpPr>
            <p:cNvPr id="423" name="Google Shape;423;p8"/>
            <p:cNvSpPr/>
            <p:nvPr/>
          </p:nvSpPr>
          <p:spPr>
            <a:xfrm>
              <a:off x="0" y="0"/>
              <a:ext cx="6827520" cy="853440"/>
            </a:xfrm>
            <a:custGeom>
              <a:rect b="b" l="l" r="r" t="t"/>
              <a:pathLst>
                <a:path extrusionOk="0" h="853440" w="6827520">
                  <a:moveTo>
                    <a:pt x="0" y="0"/>
                  </a:moveTo>
                  <a:lnTo>
                    <a:pt x="6827520" y="0"/>
                  </a:lnTo>
                  <a:lnTo>
                    <a:pt x="6827520" y="853440"/>
                  </a:lnTo>
                  <a:lnTo>
                    <a:pt x="0" y="853440"/>
                  </a:lnTo>
                  <a:close/>
                </a:path>
              </a:pathLst>
            </a:custGeom>
            <a:blipFill rotWithShape="1">
              <a:blip r:embed="rId4">
                <a:alphaModFix amt="0"/>
              </a:blip>
              <a:stretch>
                <a:fillRect b="-105873" l="0" r="0" t="-10587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8"/>
            <p:cNvSpPr txBox="1"/>
            <p:nvPr/>
          </p:nvSpPr>
          <p:spPr>
            <a:xfrm>
              <a:off x="0" y="-19050"/>
              <a:ext cx="6827520" cy="8724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UNDER what circumstances?</a:t>
              </a:r>
              <a:endParaRPr b="0" i="0" sz="1400" u="none" cap="none" strike="noStrike">
                <a:solidFill>
                  <a:srgbClr val="000000"/>
                </a:solidFill>
                <a:latin typeface="Arial"/>
                <a:ea typeface="Arial"/>
                <a:cs typeface="Arial"/>
                <a:sym typeface="Arial"/>
              </a:endParaRPr>
            </a:p>
          </p:txBody>
        </p:sp>
      </p:grpSp>
      <p:grpSp>
        <p:nvGrpSpPr>
          <p:cNvPr id="425" name="Google Shape;425;p8"/>
          <p:cNvGrpSpPr/>
          <p:nvPr/>
        </p:nvGrpSpPr>
        <p:grpSpPr>
          <a:xfrm>
            <a:off x="9144000" y="8186738"/>
            <a:ext cx="8046720" cy="1780223"/>
            <a:chOff x="0" y="-57150"/>
            <a:chExt cx="10728960" cy="2373630"/>
          </a:xfrm>
        </p:grpSpPr>
        <p:sp>
          <p:nvSpPr>
            <p:cNvPr id="426" name="Google Shape;426;p8"/>
            <p:cNvSpPr/>
            <p:nvPr/>
          </p:nvSpPr>
          <p:spPr>
            <a:xfrm>
              <a:off x="0" y="0"/>
              <a:ext cx="10728960" cy="2316480"/>
            </a:xfrm>
            <a:custGeom>
              <a:rect b="b" l="l" r="r" t="t"/>
              <a:pathLst>
                <a:path extrusionOk="0" h="2316480" w="10728960">
                  <a:moveTo>
                    <a:pt x="0" y="0"/>
                  </a:moveTo>
                  <a:lnTo>
                    <a:pt x="10728960" y="0"/>
                  </a:lnTo>
                  <a:lnTo>
                    <a:pt x="10728960" y="2316480"/>
                  </a:lnTo>
                  <a:lnTo>
                    <a:pt x="0" y="2316480"/>
                  </a:lnTo>
                  <a:close/>
                </a:path>
              </a:pathLst>
            </a:custGeom>
            <a:blipFill rotWithShape="1">
              <a:blip r:embed="rId4">
                <a:alphaModFix amt="0"/>
              </a:blip>
              <a:stretch>
                <a:fillRect b="-40240" l="0" r="0" t="-4024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8"/>
            <p:cNvSpPr txBox="1"/>
            <p:nvPr/>
          </p:nvSpPr>
          <p:spPr>
            <a:xfrm>
              <a:off x="0" y="-57150"/>
              <a:ext cx="10728960" cy="2373630"/>
            </a:xfrm>
            <a:prstGeom prst="rect">
              <a:avLst/>
            </a:prstGeom>
            <a:noFill/>
            <a:ln>
              <a:noFill/>
            </a:ln>
          </p:spPr>
          <p:txBody>
            <a:bodyPr anchorCtr="0" anchor="ctr" bIns="0" lIns="0" spcFirstLastPara="1" rIns="0" wrap="square" tIns="0">
              <a:noAutofit/>
            </a:bodyPr>
            <a:lstStyle/>
            <a:p>
              <a:pPr indent="0" lvl="0" marL="0" marR="0" rtl="0" algn="r">
                <a:lnSpc>
                  <a:spcPct val="120007"/>
                </a:lnSpc>
                <a:spcBef>
                  <a:spcPts val="0"/>
                </a:spcBef>
                <a:spcAft>
                  <a:spcPts val="0"/>
                </a:spcAft>
                <a:buClr>
                  <a:srgbClr val="000000"/>
                </a:buClr>
                <a:buSzPts val="2799"/>
                <a:buFont typeface="Arial"/>
                <a:buNone/>
              </a:pPr>
              <a:r>
                <a:rPr b="0" i="0" lang="en-US" sz="2799" u="none" cap="none" strike="noStrike">
                  <a:solidFill>
                    <a:srgbClr val="F87171"/>
                  </a:solidFill>
                  <a:latin typeface="Consolas"/>
                  <a:ea typeface="Consolas"/>
                  <a:cs typeface="Consolas"/>
                  <a:sym typeface="Consolas"/>
                </a:rPr>
                <a:t>Source IP, MFA required, time of day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grpSp>
        <p:nvGrpSpPr>
          <p:cNvPr id="436" name="Google Shape;436;p12"/>
          <p:cNvGrpSpPr/>
          <p:nvPr/>
        </p:nvGrpSpPr>
        <p:grpSpPr>
          <a:xfrm>
            <a:off x="914400" y="182880"/>
            <a:ext cx="16459200" cy="1279601"/>
            <a:chOff x="0" y="0"/>
            <a:chExt cx="21945600" cy="1706135"/>
          </a:xfrm>
        </p:grpSpPr>
        <p:sp>
          <p:nvSpPr>
            <p:cNvPr id="437" name="Google Shape;437;p12"/>
            <p:cNvSpPr/>
            <p:nvPr/>
          </p:nvSpPr>
          <p:spPr>
            <a:xfrm>
              <a:off x="0" y="0"/>
              <a:ext cx="21945600" cy="1706135"/>
            </a:xfrm>
            <a:custGeom>
              <a:rect b="b" l="l" r="r" t="t"/>
              <a:pathLst>
                <a:path extrusionOk="0" h="1706135" w="21945600">
                  <a:moveTo>
                    <a:pt x="0" y="0"/>
                  </a:moveTo>
                  <a:lnTo>
                    <a:pt x="21945600" y="0"/>
                  </a:lnTo>
                  <a:lnTo>
                    <a:pt x="21945600" y="1706135"/>
                  </a:lnTo>
                  <a:lnTo>
                    <a:pt x="0" y="1706135"/>
                  </a:lnTo>
                  <a:close/>
                </a:path>
              </a:pathLst>
            </a:custGeom>
            <a:blipFill rotWithShape="1">
              <a:blip r:embed="rId3">
                <a:alphaModFix amt="0"/>
              </a:blip>
              <a:stretch>
                <a:fillRect b="-189915" l="0" r="0" t="-21131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p12"/>
            <p:cNvSpPr txBox="1"/>
            <p:nvPr/>
          </p:nvSpPr>
          <p:spPr>
            <a:xfrm>
              <a:off x="0" y="0"/>
              <a:ext cx="21945600" cy="17061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6400"/>
                <a:buFont typeface="Arial"/>
                <a:buNone/>
              </a:pPr>
              <a:r>
                <a:rPr b="1" i="0" lang="en-US" sz="6400" u="none" cap="none" strike="noStrike">
                  <a:solidFill>
                    <a:srgbClr val="FFFFFF"/>
                  </a:solidFill>
                  <a:latin typeface="Montserrat"/>
                  <a:ea typeface="Montserrat"/>
                  <a:cs typeface="Montserrat"/>
                  <a:sym typeface="Montserrat"/>
                </a:rPr>
                <a:t>Deep dive on principals</a:t>
              </a:r>
              <a:endParaRPr b="0" i="0" sz="1400" u="none" cap="none" strike="noStrike">
                <a:solidFill>
                  <a:srgbClr val="000000"/>
                </a:solidFill>
                <a:latin typeface="Arial"/>
                <a:ea typeface="Arial"/>
                <a:cs typeface="Arial"/>
                <a:sym typeface="Arial"/>
              </a:endParaRPr>
            </a:p>
          </p:txBody>
        </p:sp>
      </p:grpSp>
      <p:sp>
        <p:nvSpPr>
          <p:cNvPr id="439" name="Google Shape;439;p12"/>
          <p:cNvSpPr/>
          <p:nvPr/>
        </p:nvSpPr>
        <p:spPr>
          <a:xfrm>
            <a:off x="527325" y="4570851"/>
            <a:ext cx="9180624" cy="2618184"/>
          </a:xfrm>
          <a:custGeom>
            <a:rect b="b" l="l" r="r" t="t"/>
            <a:pathLst>
              <a:path extrusionOk="0" h="3035576" w="13702424">
                <a:moveTo>
                  <a:pt x="0" y="0"/>
                </a:moveTo>
                <a:lnTo>
                  <a:pt x="13702424" y="0"/>
                </a:lnTo>
                <a:lnTo>
                  <a:pt x="13702424" y="3035576"/>
                </a:lnTo>
                <a:lnTo>
                  <a:pt x="0" y="3035576"/>
                </a:lnTo>
                <a:close/>
              </a:path>
            </a:pathLst>
          </a:custGeom>
          <a:solidFill>
            <a:srgbClr val="0A2A3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40" name="Google Shape;440;p12"/>
          <p:cNvGrpSpPr/>
          <p:nvPr/>
        </p:nvGrpSpPr>
        <p:grpSpPr>
          <a:xfrm>
            <a:off x="11415950" y="1770102"/>
            <a:ext cx="6159586" cy="3628509"/>
            <a:chOff x="0" y="0"/>
            <a:chExt cx="8212781" cy="3601855"/>
          </a:xfrm>
        </p:grpSpPr>
        <p:sp>
          <p:nvSpPr>
            <p:cNvPr id="441" name="Google Shape;441;p12"/>
            <p:cNvSpPr/>
            <p:nvPr/>
          </p:nvSpPr>
          <p:spPr>
            <a:xfrm>
              <a:off x="25762" y="52050"/>
              <a:ext cx="8161257" cy="3497755"/>
            </a:xfrm>
            <a:custGeom>
              <a:rect b="b" l="l" r="r" t="t"/>
              <a:pathLst>
                <a:path extrusionOk="0" h="3497755" w="8161257">
                  <a:moveTo>
                    <a:pt x="0" y="0"/>
                  </a:moveTo>
                  <a:lnTo>
                    <a:pt x="8161257" y="0"/>
                  </a:lnTo>
                  <a:lnTo>
                    <a:pt x="8161257" y="3497755"/>
                  </a:lnTo>
                  <a:lnTo>
                    <a:pt x="0" y="3497755"/>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12"/>
            <p:cNvSpPr/>
            <p:nvPr/>
          </p:nvSpPr>
          <p:spPr>
            <a:xfrm>
              <a:off x="0" y="0"/>
              <a:ext cx="8212781" cy="3601855"/>
            </a:xfrm>
            <a:custGeom>
              <a:rect b="b" l="l" r="r" t="t"/>
              <a:pathLst>
                <a:path extrusionOk="0" h="3601855" w="8212781">
                  <a:moveTo>
                    <a:pt x="25762" y="0"/>
                  </a:moveTo>
                  <a:lnTo>
                    <a:pt x="8187019" y="0"/>
                  </a:lnTo>
                  <a:cubicBezTo>
                    <a:pt x="8201188" y="0"/>
                    <a:pt x="8212781" y="23422"/>
                    <a:pt x="8212781" y="52050"/>
                  </a:cubicBezTo>
                  <a:lnTo>
                    <a:pt x="8212781" y="3549805"/>
                  </a:lnTo>
                  <a:cubicBezTo>
                    <a:pt x="8212781" y="3578433"/>
                    <a:pt x="8201188" y="3601855"/>
                    <a:pt x="8187019" y="3601855"/>
                  </a:cubicBezTo>
                  <a:lnTo>
                    <a:pt x="25762" y="3601855"/>
                  </a:lnTo>
                  <a:cubicBezTo>
                    <a:pt x="11593" y="3601855"/>
                    <a:pt x="0" y="3578433"/>
                    <a:pt x="0" y="3549805"/>
                  </a:cubicBezTo>
                  <a:lnTo>
                    <a:pt x="0" y="52050"/>
                  </a:lnTo>
                  <a:cubicBezTo>
                    <a:pt x="0" y="23422"/>
                    <a:pt x="11593" y="0"/>
                    <a:pt x="25762" y="0"/>
                  </a:cubicBezTo>
                  <a:moveTo>
                    <a:pt x="25762" y="104100"/>
                  </a:moveTo>
                  <a:lnTo>
                    <a:pt x="25762" y="52050"/>
                  </a:lnTo>
                  <a:lnTo>
                    <a:pt x="51523" y="52050"/>
                  </a:lnTo>
                  <a:lnTo>
                    <a:pt x="51523" y="3549805"/>
                  </a:lnTo>
                  <a:lnTo>
                    <a:pt x="25762" y="3549805"/>
                  </a:lnTo>
                  <a:lnTo>
                    <a:pt x="25762" y="3497755"/>
                  </a:lnTo>
                  <a:lnTo>
                    <a:pt x="8187019" y="3497755"/>
                  </a:lnTo>
                  <a:lnTo>
                    <a:pt x="8187019" y="3549805"/>
                  </a:lnTo>
                  <a:lnTo>
                    <a:pt x="8161258" y="3549805"/>
                  </a:lnTo>
                  <a:lnTo>
                    <a:pt x="8161258" y="52050"/>
                  </a:lnTo>
                  <a:lnTo>
                    <a:pt x="8187019" y="52050"/>
                  </a:lnTo>
                  <a:lnTo>
                    <a:pt x="8187019" y="104100"/>
                  </a:lnTo>
                  <a:lnTo>
                    <a:pt x="25762" y="104100"/>
                  </a:lnTo>
                  <a:close/>
                </a:path>
              </a:pathLst>
            </a:cu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3" name="Google Shape;443;p12"/>
          <p:cNvGrpSpPr/>
          <p:nvPr/>
        </p:nvGrpSpPr>
        <p:grpSpPr>
          <a:xfrm>
            <a:off x="11415944" y="8309233"/>
            <a:ext cx="6073140" cy="1318260"/>
            <a:chOff x="0" y="0"/>
            <a:chExt cx="8097520" cy="1757680"/>
          </a:xfrm>
        </p:grpSpPr>
        <p:sp>
          <p:nvSpPr>
            <p:cNvPr id="444" name="Google Shape;444;p12"/>
            <p:cNvSpPr/>
            <p:nvPr/>
          </p:nvSpPr>
          <p:spPr>
            <a:xfrm>
              <a:off x="25400" y="25400"/>
              <a:ext cx="8046720" cy="1706880"/>
            </a:xfrm>
            <a:custGeom>
              <a:rect b="b" l="l" r="r" t="t"/>
              <a:pathLst>
                <a:path extrusionOk="0" h="1706880" w="8046720">
                  <a:moveTo>
                    <a:pt x="0" y="0"/>
                  </a:moveTo>
                  <a:lnTo>
                    <a:pt x="8046720" y="0"/>
                  </a:lnTo>
                  <a:lnTo>
                    <a:pt x="8046720" y="1706880"/>
                  </a:lnTo>
                  <a:lnTo>
                    <a:pt x="0" y="1706880"/>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p12"/>
            <p:cNvSpPr/>
            <p:nvPr/>
          </p:nvSpPr>
          <p:spPr>
            <a:xfrm>
              <a:off x="0" y="0"/>
              <a:ext cx="8097520" cy="1757680"/>
            </a:xfrm>
            <a:custGeom>
              <a:rect b="b" l="l" r="r" t="t"/>
              <a:pathLst>
                <a:path extrusionOk="0" h="1757680" w="8097520">
                  <a:moveTo>
                    <a:pt x="25400" y="0"/>
                  </a:moveTo>
                  <a:lnTo>
                    <a:pt x="8072120" y="0"/>
                  </a:lnTo>
                  <a:cubicBezTo>
                    <a:pt x="8086089" y="0"/>
                    <a:pt x="8097520" y="11430"/>
                    <a:pt x="8097520" y="25400"/>
                  </a:cubicBezTo>
                  <a:lnTo>
                    <a:pt x="8097520" y="1732280"/>
                  </a:lnTo>
                  <a:cubicBezTo>
                    <a:pt x="8097520" y="1746250"/>
                    <a:pt x="8086089" y="1757680"/>
                    <a:pt x="8072120" y="1757680"/>
                  </a:cubicBezTo>
                  <a:lnTo>
                    <a:pt x="25400" y="1757680"/>
                  </a:lnTo>
                  <a:cubicBezTo>
                    <a:pt x="11430" y="1757680"/>
                    <a:pt x="0" y="1746250"/>
                    <a:pt x="0" y="1732280"/>
                  </a:cubicBezTo>
                  <a:lnTo>
                    <a:pt x="0" y="25400"/>
                  </a:lnTo>
                  <a:cubicBezTo>
                    <a:pt x="0" y="11430"/>
                    <a:pt x="11430" y="0"/>
                    <a:pt x="25400" y="0"/>
                  </a:cubicBezTo>
                  <a:moveTo>
                    <a:pt x="25400" y="50800"/>
                  </a:moveTo>
                  <a:lnTo>
                    <a:pt x="25400" y="25400"/>
                  </a:lnTo>
                  <a:lnTo>
                    <a:pt x="50800" y="25400"/>
                  </a:lnTo>
                  <a:lnTo>
                    <a:pt x="50800" y="1732280"/>
                  </a:lnTo>
                  <a:lnTo>
                    <a:pt x="25400" y="1732280"/>
                  </a:lnTo>
                  <a:lnTo>
                    <a:pt x="25400" y="1706880"/>
                  </a:lnTo>
                  <a:lnTo>
                    <a:pt x="8072120" y="1706880"/>
                  </a:lnTo>
                  <a:lnTo>
                    <a:pt x="8072120" y="1732280"/>
                  </a:lnTo>
                  <a:lnTo>
                    <a:pt x="8046720" y="1732280"/>
                  </a:lnTo>
                  <a:lnTo>
                    <a:pt x="8046720" y="25400"/>
                  </a:lnTo>
                  <a:lnTo>
                    <a:pt x="8072120" y="25400"/>
                  </a:lnTo>
                  <a:lnTo>
                    <a:pt x="8072120" y="50800"/>
                  </a:lnTo>
                  <a:lnTo>
                    <a:pt x="25400" y="50800"/>
                  </a:lnTo>
                  <a:close/>
                </a:path>
              </a:pathLst>
            </a:cu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6" name="Google Shape;446;p12"/>
          <p:cNvSpPr/>
          <p:nvPr/>
        </p:nvSpPr>
        <p:spPr>
          <a:xfrm>
            <a:off x="527325" y="7429998"/>
            <a:ext cx="9180624" cy="3174117"/>
          </a:xfrm>
          <a:custGeom>
            <a:rect b="b" l="l" r="r" t="t"/>
            <a:pathLst>
              <a:path extrusionOk="0" h="3906606" w="13702424">
                <a:moveTo>
                  <a:pt x="0" y="0"/>
                </a:moveTo>
                <a:lnTo>
                  <a:pt x="13702424" y="0"/>
                </a:lnTo>
                <a:lnTo>
                  <a:pt x="13702424" y="3906606"/>
                </a:lnTo>
                <a:lnTo>
                  <a:pt x="0" y="3906606"/>
                </a:lnTo>
                <a:close/>
              </a:path>
            </a:pathLst>
          </a:custGeom>
          <a:solidFill>
            <a:srgbClr val="0A2A3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p12"/>
          <p:cNvSpPr/>
          <p:nvPr/>
        </p:nvSpPr>
        <p:spPr>
          <a:xfrm>
            <a:off x="527325" y="1375350"/>
            <a:ext cx="9180624" cy="3050872"/>
          </a:xfrm>
          <a:custGeom>
            <a:rect b="b" l="l" r="r" t="t"/>
            <a:pathLst>
              <a:path extrusionOk="0" h="3874123" w="13702424">
                <a:moveTo>
                  <a:pt x="0" y="0"/>
                </a:moveTo>
                <a:lnTo>
                  <a:pt x="13702424" y="0"/>
                </a:lnTo>
                <a:lnTo>
                  <a:pt x="13702424" y="3874123"/>
                </a:lnTo>
                <a:lnTo>
                  <a:pt x="0" y="3874123"/>
                </a:lnTo>
                <a:close/>
              </a:path>
            </a:pathLst>
          </a:custGeom>
          <a:solidFill>
            <a:srgbClr val="0A2A3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p12"/>
          <p:cNvSpPr txBox="1"/>
          <p:nvPr/>
        </p:nvSpPr>
        <p:spPr>
          <a:xfrm>
            <a:off x="11740896" y="1995159"/>
            <a:ext cx="5596200" cy="400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1" i="0" lang="en-US" sz="2600" u="none" cap="none" strike="noStrike">
                <a:solidFill>
                  <a:srgbClr val="22D3EE"/>
                </a:solidFill>
                <a:latin typeface="Montserrat"/>
                <a:ea typeface="Montserrat"/>
                <a:cs typeface="Montserrat"/>
                <a:sym typeface="Montserrat"/>
              </a:rPr>
              <a:t>"Principal"</a:t>
            </a:r>
            <a:endParaRPr b="0" i="0" sz="1400" u="none" cap="none" strike="noStrike">
              <a:solidFill>
                <a:srgbClr val="000000"/>
              </a:solidFill>
              <a:latin typeface="Arial"/>
              <a:ea typeface="Arial"/>
              <a:cs typeface="Arial"/>
              <a:sym typeface="Arial"/>
            </a:endParaRPr>
          </a:p>
        </p:txBody>
      </p:sp>
      <p:sp>
        <p:nvSpPr>
          <p:cNvPr id="449" name="Google Shape;449;p12"/>
          <p:cNvSpPr txBox="1"/>
          <p:nvPr/>
        </p:nvSpPr>
        <p:spPr>
          <a:xfrm>
            <a:off x="11740896" y="2577806"/>
            <a:ext cx="5596200" cy="2370300"/>
          </a:xfrm>
          <a:prstGeom prst="rect">
            <a:avLst/>
          </a:prstGeom>
          <a:noFill/>
          <a:ln>
            <a:noFill/>
          </a:ln>
        </p:spPr>
        <p:txBody>
          <a:bodyPr anchorCtr="0" anchor="t" bIns="0" lIns="0" spcFirstLastPara="1" rIns="0" wrap="square" tIns="0">
            <a:spAutoFit/>
          </a:bodyPr>
          <a:lstStyle/>
          <a:p>
            <a:pPr indent="-237490" lvl="1" marL="474980" marR="0" rtl="0" algn="l">
              <a:lnSpc>
                <a:spcPct val="120000"/>
              </a:lnSpc>
              <a:spcBef>
                <a:spcPts val="0"/>
              </a:spcBef>
              <a:spcAft>
                <a:spcPts val="0"/>
              </a:spcAft>
              <a:buClr>
                <a:srgbClr val="CBD5E1"/>
              </a:buClr>
              <a:buSzPts val="2200"/>
              <a:buFont typeface="Arial"/>
              <a:buChar char="•"/>
            </a:pPr>
            <a:r>
              <a:rPr b="0" i="0" lang="en-US" sz="2200" u="none" cap="none" strike="noStrike">
                <a:solidFill>
                  <a:srgbClr val="CBD5E1"/>
                </a:solidFill>
                <a:latin typeface="Arimo"/>
                <a:ea typeface="Arimo"/>
                <a:cs typeface="Arimo"/>
                <a:sym typeface="Arimo"/>
              </a:rPr>
              <a:t>Can be IAM users, IAM roles (often attached to machine workloads), federated identities, entire AWS accounts and organizations</a:t>
            </a:r>
            <a:endParaRPr b="0" i="0" sz="1400" u="none" cap="none" strike="noStrike">
              <a:solidFill>
                <a:srgbClr val="000000"/>
              </a:solidFill>
              <a:latin typeface="Arial"/>
              <a:ea typeface="Arial"/>
              <a:cs typeface="Arial"/>
              <a:sym typeface="Arial"/>
            </a:endParaRPr>
          </a:p>
          <a:p>
            <a:pPr indent="-237490" lvl="1" marL="474980" marR="0" rtl="0" algn="l">
              <a:lnSpc>
                <a:spcPct val="120000"/>
              </a:lnSpc>
              <a:spcBef>
                <a:spcPts val="0"/>
              </a:spcBef>
              <a:spcAft>
                <a:spcPts val="0"/>
              </a:spcAft>
              <a:buClr>
                <a:srgbClr val="CBD5E1"/>
              </a:buClr>
              <a:buSzPts val="2200"/>
              <a:buFont typeface="Arial"/>
              <a:buChar char="•"/>
            </a:pPr>
            <a:r>
              <a:rPr b="0" i="0" lang="en-US" sz="2200" u="none" cap="none" strike="noStrike">
                <a:solidFill>
                  <a:srgbClr val="CBD5E1"/>
                </a:solidFill>
                <a:latin typeface="Arimo"/>
                <a:ea typeface="Arimo"/>
                <a:cs typeface="Arimo"/>
                <a:sym typeface="Arimo"/>
              </a:rPr>
              <a:t>Always required in resource- based policies</a:t>
            </a:r>
            <a:endParaRPr b="0" i="0" sz="1400" u="none" cap="none" strike="noStrike">
              <a:solidFill>
                <a:srgbClr val="000000"/>
              </a:solidFill>
              <a:latin typeface="Arial"/>
              <a:ea typeface="Arial"/>
              <a:cs typeface="Arial"/>
              <a:sym typeface="Arial"/>
            </a:endParaRPr>
          </a:p>
        </p:txBody>
      </p:sp>
      <p:sp>
        <p:nvSpPr>
          <p:cNvPr id="450" name="Google Shape;450;p12"/>
          <p:cNvSpPr txBox="1"/>
          <p:nvPr/>
        </p:nvSpPr>
        <p:spPr>
          <a:xfrm>
            <a:off x="11654450" y="8351096"/>
            <a:ext cx="5596200" cy="400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1" i="0" lang="en-US" sz="2600" u="none" cap="none" strike="noStrike">
                <a:solidFill>
                  <a:srgbClr val="22D3EE"/>
                </a:solidFill>
                <a:latin typeface="Montserrat"/>
                <a:ea typeface="Montserrat"/>
                <a:cs typeface="Montserrat"/>
                <a:sym typeface="Montserrat"/>
              </a:rPr>
              <a:t>":root"</a:t>
            </a:r>
            <a:endParaRPr b="0" i="0" sz="1400" u="none" cap="none" strike="noStrike">
              <a:solidFill>
                <a:srgbClr val="000000"/>
              </a:solidFill>
              <a:latin typeface="Arial"/>
              <a:ea typeface="Arial"/>
              <a:cs typeface="Arial"/>
              <a:sym typeface="Arial"/>
            </a:endParaRPr>
          </a:p>
        </p:txBody>
      </p:sp>
      <p:sp>
        <p:nvSpPr>
          <p:cNvPr id="451" name="Google Shape;451;p12"/>
          <p:cNvSpPr txBox="1"/>
          <p:nvPr/>
        </p:nvSpPr>
        <p:spPr>
          <a:xfrm>
            <a:off x="11654450" y="8734382"/>
            <a:ext cx="5604900" cy="744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Any authenticated principal in ENTIRE ACCOUNT can assume this role.</a:t>
            </a:r>
            <a:endParaRPr b="0" i="0" sz="1400" u="none" cap="none" strike="noStrike">
              <a:solidFill>
                <a:srgbClr val="000000"/>
              </a:solidFill>
              <a:latin typeface="Arial"/>
              <a:ea typeface="Arial"/>
              <a:cs typeface="Arial"/>
              <a:sym typeface="Arial"/>
            </a:endParaRPr>
          </a:p>
        </p:txBody>
      </p:sp>
      <p:grpSp>
        <p:nvGrpSpPr>
          <p:cNvPr id="452" name="Google Shape;452;p12"/>
          <p:cNvGrpSpPr/>
          <p:nvPr/>
        </p:nvGrpSpPr>
        <p:grpSpPr>
          <a:xfrm>
            <a:off x="11415944" y="5681969"/>
            <a:ext cx="6073140" cy="1633904"/>
            <a:chOff x="0" y="0"/>
            <a:chExt cx="8097520" cy="2178538"/>
          </a:xfrm>
        </p:grpSpPr>
        <p:grpSp>
          <p:nvGrpSpPr>
            <p:cNvPr id="453" name="Google Shape;453;p12"/>
            <p:cNvGrpSpPr/>
            <p:nvPr/>
          </p:nvGrpSpPr>
          <p:grpSpPr>
            <a:xfrm>
              <a:off x="0" y="0"/>
              <a:ext cx="8097520" cy="1757680"/>
              <a:chOff x="0" y="0"/>
              <a:chExt cx="8097520" cy="1757680"/>
            </a:xfrm>
          </p:grpSpPr>
          <p:sp>
            <p:nvSpPr>
              <p:cNvPr id="454" name="Google Shape;454;p12"/>
              <p:cNvSpPr/>
              <p:nvPr/>
            </p:nvSpPr>
            <p:spPr>
              <a:xfrm>
                <a:off x="25400" y="25400"/>
                <a:ext cx="8046720" cy="1706880"/>
              </a:xfrm>
              <a:custGeom>
                <a:rect b="b" l="l" r="r" t="t"/>
                <a:pathLst>
                  <a:path extrusionOk="0" h="1706880" w="8046720">
                    <a:moveTo>
                      <a:pt x="0" y="0"/>
                    </a:moveTo>
                    <a:lnTo>
                      <a:pt x="8046720" y="0"/>
                    </a:lnTo>
                    <a:lnTo>
                      <a:pt x="8046720" y="1706880"/>
                    </a:lnTo>
                    <a:lnTo>
                      <a:pt x="0" y="1706880"/>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12"/>
              <p:cNvSpPr/>
              <p:nvPr/>
            </p:nvSpPr>
            <p:spPr>
              <a:xfrm>
                <a:off x="0" y="0"/>
                <a:ext cx="8097520" cy="1757680"/>
              </a:xfrm>
              <a:custGeom>
                <a:rect b="b" l="l" r="r" t="t"/>
                <a:pathLst>
                  <a:path extrusionOk="0" h="1757680" w="8097520">
                    <a:moveTo>
                      <a:pt x="25400" y="0"/>
                    </a:moveTo>
                    <a:lnTo>
                      <a:pt x="8072120" y="0"/>
                    </a:lnTo>
                    <a:cubicBezTo>
                      <a:pt x="8086089" y="0"/>
                      <a:pt x="8097520" y="11430"/>
                      <a:pt x="8097520" y="25400"/>
                    </a:cubicBezTo>
                    <a:lnTo>
                      <a:pt x="8097520" y="1732280"/>
                    </a:lnTo>
                    <a:cubicBezTo>
                      <a:pt x="8097520" y="1746250"/>
                      <a:pt x="8086089" y="1757680"/>
                      <a:pt x="8072120" y="1757680"/>
                    </a:cubicBezTo>
                    <a:lnTo>
                      <a:pt x="25400" y="1757680"/>
                    </a:lnTo>
                    <a:cubicBezTo>
                      <a:pt x="11430" y="1757680"/>
                      <a:pt x="0" y="1746250"/>
                      <a:pt x="0" y="1732280"/>
                    </a:cubicBezTo>
                    <a:lnTo>
                      <a:pt x="0" y="25400"/>
                    </a:lnTo>
                    <a:cubicBezTo>
                      <a:pt x="0" y="11430"/>
                      <a:pt x="11430" y="0"/>
                      <a:pt x="25400" y="0"/>
                    </a:cubicBezTo>
                    <a:moveTo>
                      <a:pt x="25400" y="50800"/>
                    </a:moveTo>
                    <a:lnTo>
                      <a:pt x="25400" y="25400"/>
                    </a:lnTo>
                    <a:lnTo>
                      <a:pt x="50800" y="25400"/>
                    </a:lnTo>
                    <a:lnTo>
                      <a:pt x="50800" y="1732280"/>
                    </a:lnTo>
                    <a:lnTo>
                      <a:pt x="25400" y="1732280"/>
                    </a:lnTo>
                    <a:lnTo>
                      <a:pt x="25400" y="1706880"/>
                    </a:lnTo>
                    <a:lnTo>
                      <a:pt x="8072120" y="1706880"/>
                    </a:lnTo>
                    <a:lnTo>
                      <a:pt x="8072120" y="1732280"/>
                    </a:lnTo>
                    <a:lnTo>
                      <a:pt x="8046720" y="1732280"/>
                    </a:lnTo>
                    <a:lnTo>
                      <a:pt x="8046720" y="25400"/>
                    </a:lnTo>
                    <a:lnTo>
                      <a:pt x="8072120" y="25400"/>
                    </a:lnTo>
                    <a:lnTo>
                      <a:pt x="8072120" y="50800"/>
                    </a:lnTo>
                    <a:lnTo>
                      <a:pt x="25400" y="50800"/>
                    </a:lnTo>
                    <a:close/>
                  </a:path>
                </a:pathLst>
              </a:cu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6" name="Google Shape;456;p12"/>
            <p:cNvSpPr txBox="1"/>
            <p:nvPr/>
          </p:nvSpPr>
          <p:spPr>
            <a:xfrm>
              <a:off x="318008" y="126040"/>
              <a:ext cx="4445100" cy="533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1" i="0" lang="en-US" sz="2600" u="none" cap="none" strike="noStrike">
                  <a:solidFill>
                    <a:srgbClr val="22D3EE"/>
                  </a:solidFill>
                  <a:latin typeface="Montserrat"/>
                  <a:ea typeface="Montserrat"/>
                  <a:cs typeface="Montserrat"/>
                  <a:sym typeface="Montserrat"/>
                </a:rPr>
                <a:t>Anonymous access</a:t>
              </a:r>
              <a:endParaRPr b="0" i="0" sz="1400" u="none" cap="none" strike="noStrike">
                <a:solidFill>
                  <a:srgbClr val="000000"/>
                </a:solidFill>
                <a:latin typeface="Arial"/>
                <a:ea typeface="Arial"/>
                <a:cs typeface="Arial"/>
                <a:sym typeface="Arial"/>
              </a:endParaRPr>
            </a:p>
          </p:txBody>
        </p:sp>
        <p:sp>
          <p:nvSpPr>
            <p:cNvPr id="457" name="Google Shape;457;p12"/>
            <p:cNvSpPr txBox="1"/>
            <p:nvPr/>
          </p:nvSpPr>
          <p:spPr>
            <a:xfrm>
              <a:off x="318008" y="643438"/>
              <a:ext cx="7461600" cy="1535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With no other conditions, this means PUBLICLY ACCESSIBLE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200"/>
                <a:buFont typeface="Arial"/>
                <a:buNone/>
              </a:pPr>
              <a:r>
                <a:t/>
              </a:r>
              <a:endParaRPr b="0" i="0" sz="2200" u="none" cap="none" strike="noStrike">
                <a:solidFill>
                  <a:srgbClr val="CBD5E1"/>
                </a:solidFill>
                <a:latin typeface="Arimo"/>
                <a:ea typeface="Arimo"/>
                <a:cs typeface="Arimo"/>
                <a:sym typeface="Arimo"/>
              </a:endParaRPr>
            </a:p>
          </p:txBody>
        </p:sp>
      </p:grpSp>
      <p:sp>
        <p:nvSpPr>
          <p:cNvPr id="458" name="Google Shape;458;p12"/>
          <p:cNvSpPr txBox="1"/>
          <p:nvPr/>
        </p:nvSpPr>
        <p:spPr>
          <a:xfrm>
            <a:off x="640655" y="4573506"/>
            <a:ext cx="9399600" cy="2604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"Version": "2012-10-17",</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"Statement":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"Effect": "Allow",</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22D3EE"/>
                </a:solidFill>
                <a:latin typeface="Consolas"/>
                <a:ea typeface="Consolas"/>
                <a:cs typeface="Consolas"/>
                <a:sym typeface="Consolas"/>
              </a:rPr>
              <a:t>    "Principal"</a:t>
            </a:r>
            <a:r>
              <a:rPr b="0" i="0" lang="en-US" sz="1800" u="none" cap="none" strike="noStrike">
                <a:solidFill>
                  <a:srgbClr val="CBD5E1"/>
                </a:solidFill>
                <a:latin typeface="Consolas"/>
                <a:ea typeface="Consolas"/>
                <a:cs typeface="Consolas"/>
                <a:sym typeface="Consolas"/>
              </a:rPr>
              <a:t>: </a:t>
            </a:r>
            <a:r>
              <a:rPr b="0" i="0" lang="en-US" sz="1800" u="none" cap="none" strike="noStrike">
                <a:solidFill>
                  <a:srgbClr val="22D3EE"/>
                </a:solidFill>
                <a:latin typeface="Consolas"/>
                <a:ea typeface="Consolas"/>
                <a:cs typeface="Consolas"/>
                <a:sym typeface="Consolas"/>
              </a:rPr>
              <a:t>"*”</a:t>
            </a:r>
            <a:r>
              <a:rPr b="0" i="0" lang="en-US" sz="18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"Action": "s3:GetObject"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459" name="Google Shape;459;p12"/>
          <p:cNvSpPr txBox="1"/>
          <p:nvPr/>
        </p:nvSpPr>
        <p:spPr>
          <a:xfrm>
            <a:off x="640655" y="1427939"/>
            <a:ext cx="9399600" cy="2906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  "Version": "2012-10-17",</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  "Statement":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    "Effect": "Allow",</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22D3EE"/>
                </a:solidFill>
                <a:latin typeface="Consolas"/>
                <a:ea typeface="Consolas"/>
                <a:cs typeface="Consolas"/>
                <a:sym typeface="Consolas"/>
              </a:rPr>
              <a:t>    "Principal"</a:t>
            </a:r>
            <a:r>
              <a:rPr b="0" i="0" lang="en-US" sz="1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22D3EE"/>
                </a:solidFill>
                <a:latin typeface="Consolas"/>
                <a:ea typeface="Consolas"/>
                <a:cs typeface="Consolas"/>
                <a:sym typeface="Consolas"/>
              </a:rPr>
              <a:t>      "AWS": "arn:aws:iam::123456789012:user/frick"</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    "Action": "bedrock:CreateAgent"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460" name="Google Shape;460;p12"/>
          <p:cNvSpPr txBox="1"/>
          <p:nvPr/>
        </p:nvSpPr>
        <p:spPr>
          <a:xfrm>
            <a:off x="640655" y="7531464"/>
            <a:ext cx="9399600" cy="3269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"Version": "2012-10-17",</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"Statement":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"Effect": "Allow",</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22D3EE"/>
                </a:solidFill>
                <a:latin typeface="Consolas"/>
                <a:ea typeface="Consolas"/>
                <a:cs typeface="Consolas"/>
                <a:sym typeface="Consolas"/>
              </a:rPr>
              <a:t>    "Principal"</a:t>
            </a:r>
            <a:r>
              <a:rPr b="0" i="0" lang="en-US" sz="18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22D3EE"/>
                </a:solidFill>
                <a:latin typeface="Consolas"/>
                <a:ea typeface="Consolas"/>
                <a:cs typeface="Consolas"/>
                <a:sym typeface="Consolas"/>
              </a:rPr>
              <a:t>      "AWS": "arn:aws:iam::123456789012:root"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"Action": "sts:AssumeRole"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cxnSp>
        <p:nvCxnSpPr>
          <p:cNvPr id="461" name="Google Shape;461;p12"/>
          <p:cNvCxnSpPr/>
          <p:nvPr/>
        </p:nvCxnSpPr>
        <p:spPr>
          <a:xfrm>
            <a:off x="3693514" y="6000564"/>
            <a:ext cx="7744500" cy="0"/>
          </a:xfrm>
          <a:prstGeom prst="straightConnector1">
            <a:avLst/>
          </a:prstGeom>
          <a:noFill/>
          <a:ln cap="flat" cmpd="sng" w="38100">
            <a:solidFill>
              <a:srgbClr val="22D3EE"/>
            </a:solidFill>
            <a:prstDash val="dot"/>
            <a:round/>
            <a:headEnd len="sm" w="sm" type="none"/>
            <a:tailEnd len="sm" w="sm" type="none"/>
          </a:ln>
        </p:spPr>
      </p:cxnSp>
      <p:cxnSp>
        <p:nvCxnSpPr>
          <p:cNvPr id="462" name="Google Shape;462;p12"/>
          <p:cNvCxnSpPr/>
          <p:nvPr/>
        </p:nvCxnSpPr>
        <p:spPr>
          <a:xfrm>
            <a:off x="6517503" y="3033114"/>
            <a:ext cx="4898400" cy="0"/>
          </a:xfrm>
          <a:prstGeom prst="straightConnector1">
            <a:avLst/>
          </a:prstGeom>
          <a:noFill/>
          <a:ln cap="flat" cmpd="sng" w="38100">
            <a:solidFill>
              <a:srgbClr val="22D3EE"/>
            </a:solidFill>
            <a:prstDash val="dot"/>
            <a:round/>
            <a:headEnd len="sm" w="sm" type="none"/>
            <a:tailEnd len="sm" w="sm" type="none"/>
          </a:ln>
        </p:spPr>
      </p:cxnSp>
      <p:cxnSp>
        <p:nvCxnSpPr>
          <p:cNvPr id="463" name="Google Shape;463;p12"/>
          <p:cNvCxnSpPr/>
          <p:nvPr/>
        </p:nvCxnSpPr>
        <p:spPr>
          <a:xfrm flipH="1" rot="10800000">
            <a:off x="6517503" y="9341824"/>
            <a:ext cx="4898400" cy="27000"/>
          </a:xfrm>
          <a:prstGeom prst="straightConnector1">
            <a:avLst/>
          </a:prstGeom>
          <a:noFill/>
          <a:ln cap="flat" cmpd="sng" w="38100">
            <a:solidFill>
              <a:srgbClr val="22D3EE"/>
            </a:solidFill>
            <a:prstDash val="dot"/>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73" name="Google Shape;473;p10"/>
          <p:cNvGrpSpPr/>
          <p:nvPr/>
        </p:nvGrpSpPr>
        <p:grpSpPr>
          <a:xfrm>
            <a:off x="914400" y="182880"/>
            <a:ext cx="16459200" cy="1188720"/>
            <a:chOff x="0" y="0"/>
            <a:chExt cx="21945600" cy="1584960"/>
          </a:xfrm>
        </p:grpSpPr>
        <p:sp>
          <p:nvSpPr>
            <p:cNvPr id="474" name="Google Shape;474;p10"/>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4">
                <a:alphaModFix amt="0"/>
              </a:blip>
              <a:stretch>
                <a:fillRect b="-219775" l="0" r="0" t="-21977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10"/>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7200"/>
                <a:buFont typeface="Arial"/>
                <a:buNone/>
              </a:pPr>
              <a:r>
                <a:rPr b="1" i="0" lang="en-US" sz="7200" u="none" cap="none" strike="noStrike">
                  <a:solidFill>
                    <a:srgbClr val="FFFFFF"/>
                  </a:solidFill>
                  <a:latin typeface="Montserrat"/>
                  <a:ea typeface="Montserrat"/>
                  <a:cs typeface="Montserrat"/>
                  <a:sym typeface="Montserrat"/>
                </a:rPr>
                <a:t>Two Types of Policies</a:t>
              </a:r>
              <a:endParaRPr b="0" i="0" sz="1400" u="none" cap="none" strike="noStrike">
                <a:solidFill>
                  <a:srgbClr val="000000"/>
                </a:solidFill>
                <a:latin typeface="Arial"/>
                <a:ea typeface="Arial"/>
                <a:cs typeface="Arial"/>
                <a:sym typeface="Arial"/>
              </a:endParaRPr>
            </a:p>
          </p:txBody>
        </p:sp>
      </p:grpSp>
      <p:sp>
        <p:nvSpPr>
          <p:cNvPr id="476" name="Google Shape;476;p10"/>
          <p:cNvSpPr/>
          <p:nvPr/>
        </p:nvSpPr>
        <p:spPr>
          <a:xfrm>
            <a:off x="9509763" y="1479175"/>
            <a:ext cx="7863840" cy="8467022"/>
          </a:xfrm>
          <a:custGeom>
            <a:rect b="b" l="l" r="r" t="t"/>
            <a:pathLst>
              <a:path extrusionOk="0" h="10650342" w="10485120">
                <a:moveTo>
                  <a:pt x="0" y="0"/>
                </a:moveTo>
                <a:lnTo>
                  <a:pt x="10485120" y="0"/>
                </a:lnTo>
                <a:lnTo>
                  <a:pt x="10485120" y="10650342"/>
                </a:lnTo>
                <a:lnTo>
                  <a:pt x="0" y="10650342"/>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10"/>
          <p:cNvSpPr/>
          <p:nvPr/>
        </p:nvSpPr>
        <p:spPr>
          <a:xfrm>
            <a:off x="9448325" y="1479175"/>
            <a:ext cx="171176" cy="8449056"/>
          </a:xfrm>
          <a:custGeom>
            <a:rect b="b" l="l" r="r" t="t"/>
            <a:pathLst>
              <a:path extrusionOk="0" h="6827520" w="146304">
                <a:moveTo>
                  <a:pt x="0" y="0"/>
                </a:moveTo>
                <a:lnTo>
                  <a:pt x="146304" y="0"/>
                </a:lnTo>
                <a:lnTo>
                  <a:pt x="146304" y="6827520"/>
                </a:lnTo>
                <a:lnTo>
                  <a:pt x="0" y="6827520"/>
                </a:lnTo>
                <a:close/>
              </a:path>
            </a:pathLst>
          </a:custGeom>
          <a:solidFill>
            <a:srgbClr val="A78B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78" name="Google Shape;478;p10"/>
          <p:cNvGrpSpPr/>
          <p:nvPr/>
        </p:nvGrpSpPr>
        <p:grpSpPr>
          <a:xfrm>
            <a:off x="10105263" y="4155402"/>
            <a:ext cx="6949440" cy="878535"/>
            <a:chOff x="0" y="0"/>
            <a:chExt cx="9265920" cy="1171380"/>
          </a:xfrm>
        </p:grpSpPr>
        <p:sp>
          <p:nvSpPr>
            <p:cNvPr id="479" name="Google Shape;479;p10"/>
            <p:cNvSpPr/>
            <p:nvPr/>
          </p:nvSpPr>
          <p:spPr>
            <a:xfrm>
              <a:off x="0" y="0"/>
              <a:ext cx="9265920" cy="1171380"/>
            </a:xfrm>
            <a:custGeom>
              <a:rect b="b" l="l" r="r" t="t"/>
              <a:pathLst>
                <a:path extrusionOk="0" h="1171380" w="9265920">
                  <a:moveTo>
                    <a:pt x="0" y="0"/>
                  </a:moveTo>
                  <a:lnTo>
                    <a:pt x="9265920" y="0"/>
                  </a:lnTo>
                  <a:lnTo>
                    <a:pt x="9265920" y="1171380"/>
                  </a:lnTo>
                  <a:lnTo>
                    <a:pt x="0" y="1171380"/>
                  </a:lnTo>
                  <a:close/>
                </a:path>
              </a:pathLst>
            </a:custGeom>
            <a:blipFill rotWithShape="1">
              <a:blip r:embed="rId4">
                <a:alphaModFix amt="0"/>
              </a:blip>
              <a:stretch>
                <a:fillRect b="-95752" l="0" r="0" t="-1124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0" name="Google Shape;480;p10"/>
            <p:cNvSpPr txBox="1"/>
            <p:nvPr/>
          </p:nvSpPr>
          <p:spPr>
            <a:xfrm>
              <a:off x="0" y="9525"/>
              <a:ext cx="9265920" cy="11618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4400"/>
                <a:buFont typeface="Arial"/>
                <a:buNone/>
              </a:pPr>
              <a:r>
                <a:rPr b="1" i="0" lang="en-US" sz="4400" u="none" cap="none" strike="noStrike">
                  <a:solidFill>
                    <a:srgbClr val="A78BFA"/>
                  </a:solidFill>
                  <a:latin typeface="Montserrat"/>
                  <a:ea typeface="Montserrat"/>
                  <a:cs typeface="Montserrat"/>
                  <a:sym typeface="Montserrat"/>
                </a:rPr>
                <a:t>Resource Policy</a:t>
              </a:r>
              <a:endParaRPr b="0" i="0" sz="1400" u="none" cap="none" strike="noStrike">
                <a:solidFill>
                  <a:srgbClr val="000000"/>
                </a:solidFill>
                <a:latin typeface="Arial"/>
                <a:ea typeface="Arial"/>
                <a:cs typeface="Arial"/>
                <a:sym typeface="Arial"/>
              </a:endParaRPr>
            </a:p>
          </p:txBody>
        </p:sp>
      </p:grpSp>
      <p:grpSp>
        <p:nvGrpSpPr>
          <p:cNvPr id="481" name="Google Shape;481;p10"/>
          <p:cNvGrpSpPr/>
          <p:nvPr/>
        </p:nvGrpSpPr>
        <p:grpSpPr>
          <a:xfrm>
            <a:off x="10105263" y="4964074"/>
            <a:ext cx="6949440" cy="705532"/>
            <a:chOff x="0" y="-19050"/>
            <a:chExt cx="9265920" cy="940710"/>
          </a:xfrm>
        </p:grpSpPr>
        <p:sp>
          <p:nvSpPr>
            <p:cNvPr id="482" name="Google Shape;482;p10"/>
            <p:cNvSpPr/>
            <p:nvPr/>
          </p:nvSpPr>
          <p:spPr>
            <a:xfrm>
              <a:off x="0" y="0"/>
              <a:ext cx="9265920" cy="921660"/>
            </a:xfrm>
            <a:custGeom>
              <a:rect b="b" l="l" r="r" t="t"/>
              <a:pathLst>
                <a:path extrusionOk="0" h="921660" w="9265920">
                  <a:moveTo>
                    <a:pt x="0" y="0"/>
                  </a:moveTo>
                  <a:lnTo>
                    <a:pt x="9265920" y="0"/>
                  </a:lnTo>
                  <a:lnTo>
                    <a:pt x="9265920" y="921660"/>
                  </a:lnTo>
                  <a:lnTo>
                    <a:pt x="0" y="921660"/>
                  </a:lnTo>
                  <a:close/>
                </a:path>
              </a:pathLst>
            </a:custGeom>
            <a:blipFill rotWithShape="1">
              <a:blip r:embed="rId4">
                <a:alphaModFix amt="0"/>
              </a:blip>
              <a:stretch>
                <a:fillRect b="-142186" l="0" r="0" t="-149587"/>
              </a:stretch>
            </a:blip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3" name="Google Shape;483;p10"/>
            <p:cNvSpPr txBox="1"/>
            <p:nvPr/>
          </p:nvSpPr>
          <p:spPr>
            <a:xfrm>
              <a:off x="0" y="-19050"/>
              <a:ext cx="9265920" cy="94071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3400"/>
                <a:buFont typeface="Arial"/>
                <a:buNone/>
              </a:pPr>
              <a:r>
                <a:rPr b="0" i="1" lang="en-US" sz="3400" u="none" cap="none" strike="noStrike">
                  <a:solidFill>
                    <a:srgbClr val="FFFFFF"/>
                  </a:solidFill>
                  <a:latin typeface="Arimo"/>
                  <a:ea typeface="Arimo"/>
                  <a:cs typeface="Arimo"/>
                  <a:sym typeface="Arimo"/>
                </a:rPr>
                <a:t>"Who can access this resource?"</a:t>
              </a:r>
              <a:endParaRPr b="0" i="0" sz="1400" u="none" cap="none" strike="noStrike">
                <a:solidFill>
                  <a:srgbClr val="000000"/>
                </a:solidFill>
                <a:latin typeface="Arial"/>
                <a:ea typeface="Arial"/>
                <a:cs typeface="Arial"/>
                <a:sym typeface="Arial"/>
              </a:endParaRPr>
            </a:p>
          </p:txBody>
        </p:sp>
      </p:grpSp>
      <p:sp>
        <p:nvSpPr>
          <p:cNvPr id="484" name="Google Shape;484;p10"/>
          <p:cNvSpPr/>
          <p:nvPr/>
        </p:nvSpPr>
        <p:spPr>
          <a:xfrm>
            <a:off x="914388" y="1479175"/>
            <a:ext cx="7863840" cy="8467022"/>
          </a:xfrm>
          <a:custGeom>
            <a:rect b="b" l="l" r="r" t="t"/>
            <a:pathLst>
              <a:path extrusionOk="0" h="10650342" w="10485120">
                <a:moveTo>
                  <a:pt x="0" y="0"/>
                </a:moveTo>
                <a:lnTo>
                  <a:pt x="10485120" y="0"/>
                </a:lnTo>
                <a:lnTo>
                  <a:pt x="10485120" y="10650342"/>
                </a:lnTo>
                <a:lnTo>
                  <a:pt x="0" y="10650342"/>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85" name="Google Shape;485;p10"/>
          <p:cNvGrpSpPr/>
          <p:nvPr/>
        </p:nvGrpSpPr>
        <p:grpSpPr>
          <a:xfrm>
            <a:off x="1506263" y="4155402"/>
            <a:ext cx="6949440" cy="878569"/>
            <a:chOff x="0" y="0"/>
            <a:chExt cx="9265920" cy="1171425"/>
          </a:xfrm>
        </p:grpSpPr>
        <p:sp>
          <p:nvSpPr>
            <p:cNvPr id="486" name="Google Shape;486;p10"/>
            <p:cNvSpPr/>
            <p:nvPr/>
          </p:nvSpPr>
          <p:spPr>
            <a:xfrm>
              <a:off x="0" y="0"/>
              <a:ext cx="9265920" cy="1171380"/>
            </a:xfrm>
            <a:custGeom>
              <a:rect b="b" l="l" r="r" t="t"/>
              <a:pathLst>
                <a:path extrusionOk="0" h="1171380" w="9265920">
                  <a:moveTo>
                    <a:pt x="0" y="0"/>
                  </a:moveTo>
                  <a:lnTo>
                    <a:pt x="9265920" y="0"/>
                  </a:lnTo>
                  <a:lnTo>
                    <a:pt x="9265920" y="1171380"/>
                  </a:lnTo>
                  <a:lnTo>
                    <a:pt x="0" y="1171380"/>
                  </a:lnTo>
                  <a:close/>
                </a:path>
              </a:pathLst>
            </a:custGeom>
            <a:blipFill rotWithShape="1">
              <a:blip r:embed="rId4">
                <a:alphaModFix amt="0"/>
              </a:blip>
              <a:stretch>
                <a:fillRect b="-95746" l="0" r="0" t="-1124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10"/>
            <p:cNvSpPr txBox="1"/>
            <p:nvPr/>
          </p:nvSpPr>
          <p:spPr>
            <a:xfrm>
              <a:off x="0" y="9525"/>
              <a:ext cx="9265800" cy="11619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4400"/>
                <a:buFont typeface="Arial"/>
                <a:buNone/>
              </a:pPr>
              <a:r>
                <a:rPr b="1" i="0" lang="en-US" sz="4400" u="none" cap="none" strike="noStrike">
                  <a:solidFill>
                    <a:srgbClr val="22D3EE"/>
                  </a:solidFill>
                  <a:latin typeface="Montserrat"/>
                  <a:ea typeface="Montserrat"/>
                  <a:cs typeface="Montserrat"/>
                  <a:sym typeface="Montserrat"/>
                </a:rPr>
                <a:t>Identity Policy</a:t>
              </a:r>
              <a:endParaRPr b="0" i="0" sz="1400" u="none" cap="none" strike="noStrike">
                <a:solidFill>
                  <a:srgbClr val="000000"/>
                </a:solidFill>
                <a:latin typeface="Arial"/>
                <a:ea typeface="Arial"/>
                <a:cs typeface="Arial"/>
                <a:sym typeface="Arial"/>
              </a:endParaRPr>
            </a:p>
          </p:txBody>
        </p:sp>
      </p:grpSp>
      <p:grpSp>
        <p:nvGrpSpPr>
          <p:cNvPr id="488" name="Google Shape;488;p10"/>
          <p:cNvGrpSpPr/>
          <p:nvPr/>
        </p:nvGrpSpPr>
        <p:grpSpPr>
          <a:xfrm>
            <a:off x="1506263" y="4964074"/>
            <a:ext cx="6949440" cy="705600"/>
            <a:chOff x="0" y="-19050"/>
            <a:chExt cx="9265920" cy="940800"/>
          </a:xfrm>
        </p:grpSpPr>
        <p:sp>
          <p:nvSpPr>
            <p:cNvPr id="489" name="Google Shape;489;p10"/>
            <p:cNvSpPr/>
            <p:nvPr/>
          </p:nvSpPr>
          <p:spPr>
            <a:xfrm>
              <a:off x="0" y="0"/>
              <a:ext cx="9265920" cy="921660"/>
            </a:xfrm>
            <a:custGeom>
              <a:rect b="b" l="l" r="r" t="t"/>
              <a:pathLst>
                <a:path extrusionOk="0" h="921660" w="9265920">
                  <a:moveTo>
                    <a:pt x="0" y="0"/>
                  </a:moveTo>
                  <a:lnTo>
                    <a:pt x="9265920" y="0"/>
                  </a:lnTo>
                  <a:lnTo>
                    <a:pt x="9265920" y="921660"/>
                  </a:lnTo>
                  <a:lnTo>
                    <a:pt x="0" y="921660"/>
                  </a:lnTo>
                  <a:close/>
                </a:path>
              </a:pathLst>
            </a:custGeom>
            <a:blipFill rotWithShape="1">
              <a:blip r:embed="rId4">
                <a:alphaModFix amt="0"/>
              </a:blip>
              <a:stretch>
                <a:fillRect b="-142182" l="0" r="0" t="-149591"/>
              </a:stretch>
            </a:blip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0" name="Google Shape;490;p10"/>
            <p:cNvSpPr txBox="1"/>
            <p:nvPr/>
          </p:nvSpPr>
          <p:spPr>
            <a:xfrm>
              <a:off x="0" y="-19050"/>
              <a:ext cx="9265800" cy="940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3400"/>
                <a:buFont typeface="Arial"/>
                <a:buNone/>
              </a:pPr>
              <a:r>
                <a:rPr b="0" i="1" lang="en-US" sz="3400" u="none" cap="none" strike="noStrike">
                  <a:solidFill>
                    <a:srgbClr val="FFFFFF"/>
                  </a:solidFill>
                  <a:latin typeface="Arimo"/>
                  <a:ea typeface="Arimo"/>
                  <a:cs typeface="Arimo"/>
                  <a:sym typeface="Arimo"/>
                </a:rPr>
                <a:t>"What can this principal do?"</a:t>
              </a:r>
              <a:endParaRPr b="0" i="0" sz="1400" u="none" cap="none" strike="noStrike">
                <a:solidFill>
                  <a:srgbClr val="000000"/>
                </a:solidFill>
                <a:latin typeface="Arial"/>
                <a:ea typeface="Arial"/>
                <a:cs typeface="Arial"/>
                <a:sym typeface="Arial"/>
              </a:endParaRPr>
            </a:p>
          </p:txBody>
        </p:sp>
      </p:grpSp>
      <p:sp>
        <p:nvSpPr>
          <p:cNvPr id="491" name="Google Shape;491;p10"/>
          <p:cNvSpPr/>
          <p:nvPr/>
        </p:nvSpPr>
        <p:spPr>
          <a:xfrm>
            <a:off x="11635736" y="1238026"/>
            <a:ext cx="4062994" cy="3521261"/>
          </a:xfrm>
          <a:custGeom>
            <a:rect b="b" l="l" r="r" t="t"/>
            <a:pathLst>
              <a:path extrusionOk="0" h="3521261" w="4062994">
                <a:moveTo>
                  <a:pt x="0" y="0"/>
                </a:moveTo>
                <a:lnTo>
                  <a:pt x="4062994" y="0"/>
                </a:lnTo>
                <a:lnTo>
                  <a:pt x="4062994" y="3521261"/>
                </a:lnTo>
                <a:lnTo>
                  <a:pt x="0" y="352126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2" name="Google Shape;492;p10"/>
          <p:cNvSpPr txBox="1"/>
          <p:nvPr/>
        </p:nvSpPr>
        <p:spPr>
          <a:xfrm>
            <a:off x="10105263" y="5873712"/>
            <a:ext cx="6949500" cy="3648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Attached to a resource</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(S3 bucket, SQS queue, IAM role)</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rgbClr val="CBD5E1"/>
              </a:solidFill>
              <a:latin typeface="Arimo"/>
              <a:ea typeface="Arimo"/>
              <a:cs typeface="Arimo"/>
              <a:sym typeface="Arimo"/>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Controls who can access</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that specific resource</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rgbClr val="CBD5E1"/>
              </a:solidFill>
              <a:latin typeface="Arimo"/>
              <a:ea typeface="Arimo"/>
              <a:cs typeface="Arimo"/>
              <a:sym typeface="Arimo"/>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Lives on the resource</a:t>
            </a:r>
            <a:endParaRPr b="0" i="0" sz="1400" u="none" cap="none" strike="noStrike">
              <a:solidFill>
                <a:srgbClr val="000000"/>
              </a:solidFill>
              <a:latin typeface="Arial"/>
              <a:ea typeface="Arial"/>
              <a:cs typeface="Arial"/>
              <a:sym typeface="Arial"/>
            </a:endParaRPr>
          </a:p>
        </p:txBody>
      </p:sp>
      <p:sp>
        <p:nvSpPr>
          <p:cNvPr id="493" name="Google Shape;493;p10"/>
          <p:cNvSpPr/>
          <p:nvPr/>
        </p:nvSpPr>
        <p:spPr>
          <a:xfrm>
            <a:off x="852950" y="1479175"/>
            <a:ext cx="171176" cy="8449056"/>
          </a:xfrm>
          <a:custGeom>
            <a:rect b="b" l="l" r="r" t="t"/>
            <a:pathLst>
              <a:path extrusionOk="0" h="6827520" w="146304">
                <a:moveTo>
                  <a:pt x="0" y="0"/>
                </a:moveTo>
                <a:lnTo>
                  <a:pt x="146304" y="0"/>
                </a:lnTo>
                <a:lnTo>
                  <a:pt x="146304" y="6827520"/>
                </a:lnTo>
                <a:lnTo>
                  <a:pt x="0" y="6827520"/>
                </a:lnTo>
                <a:close/>
              </a:path>
            </a:pathLst>
          </a:cu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4" name="Google Shape;494;p10"/>
          <p:cNvSpPr/>
          <p:nvPr/>
        </p:nvSpPr>
        <p:spPr>
          <a:xfrm>
            <a:off x="3588121" y="1658389"/>
            <a:ext cx="2516398" cy="2554719"/>
          </a:xfrm>
          <a:custGeom>
            <a:rect b="b" l="l" r="r" t="t"/>
            <a:pathLst>
              <a:path extrusionOk="0" h="2554719" w="2516398">
                <a:moveTo>
                  <a:pt x="0" y="0"/>
                </a:moveTo>
                <a:lnTo>
                  <a:pt x="2516398" y="0"/>
                </a:lnTo>
                <a:lnTo>
                  <a:pt x="2516398" y="2554719"/>
                </a:lnTo>
                <a:lnTo>
                  <a:pt x="0" y="255471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10"/>
          <p:cNvSpPr txBox="1"/>
          <p:nvPr/>
        </p:nvSpPr>
        <p:spPr>
          <a:xfrm>
            <a:off x="1506263" y="5873712"/>
            <a:ext cx="6949500" cy="3648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Attached to a principal</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(user, role, group)</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rgbClr val="CBD5E1"/>
              </a:solidFill>
              <a:latin typeface="Arimo"/>
              <a:ea typeface="Arimo"/>
              <a:cs typeface="Arimo"/>
              <a:sym typeface="Arimo"/>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Controls what actions that</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principal can perform</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rgbClr val="CBD5E1"/>
              </a:solidFill>
              <a:latin typeface="Arimo"/>
              <a:ea typeface="Arimo"/>
              <a:cs typeface="Arimo"/>
              <a:sym typeface="Arimo"/>
            </a:endParaRPr>
          </a:p>
          <a:p>
            <a:pPr indent="0" lvl="0" marL="0" marR="0" rtl="0" algn="ctr">
              <a:lnSpc>
                <a:spcPct val="115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Travels with the principal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grpSp>
        <p:nvGrpSpPr>
          <p:cNvPr id="504" name="Google Shape;504;p9"/>
          <p:cNvGrpSpPr/>
          <p:nvPr/>
        </p:nvGrpSpPr>
        <p:grpSpPr>
          <a:xfrm>
            <a:off x="914400" y="-124401"/>
            <a:ext cx="16459200" cy="1463040"/>
            <a:chOff x="0" y="0"/>
            <a:chExt cx="21945600" cy="1950720"/>
          </a:xfrm>
        </p:grpSpPr>
        <p:sp>
          <p:nvSpPr>
            <p:cNvPr id="505" name="Google Shape;505;p9"/>
            <p:cNvSpPr/>
            <p:nvPr/>
          </p:nvSpPr>
          <p:spPr>
            <a:xfrm>
              <a:off x="0" y="0"/>
              <a:ext cx="21945600" cy="1950720"/>
            </a:xfrm>
            <a:custGeom>
              <a:rect b="b" l="l" r="r" t="t"/>
              <a:pathLst>
                <a:path extrusionOk="0" h="1950720" w="21945600">
                  <a:moveTo>
                    <a:pt x="0" y="0"/>
                  </a:moveTo>
                  <a:lnTo>
                    <a:pt x="21945600" y="0"/>
                  </a:lnTo>
                  <a:lnTo>
                    <a:pt x="21945600" y="1950720"/>
                  </a:lnTo>
                  <a:lnTo>
                    <a:pt x="0" y="1950720"/>
                  </a:lnTo>
                  <a:close/>
                </a:path>
              </a:pathLst>
            </a:custGeom>
            <a:blipFill rotWithShape="1">
              <a:blip r:embed="rId3">
                <a:alphaModFix amt="0"/>
              </a:blip>
              <a:stretch>
                <a:fillRect b="-169190" l="0" r="0" t="-1691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p9"/>
            <p:cNvSpPr txBox="1"/>
            <p:nvPr/>
          </p:nvSpPr>
          <p:spPr>
            <a:xfrm>
              <a:off x="0" y="0"/>
              <a:ext cx="21945600" cy="19507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7200"/>
                <a:buFont typeface="Arial"/>
                <a:buNone/>
              </a:pPr>
              <a:r>
                <a:rPr b="1" i="0" lang="en-US" sz="7200" u="none" cap="none" strike="noStrike">
                  <a:solidFill>
                    <a:srgbClr val="FFFFFF"/>
                  </a:solidFill>
                  <a:latin typeface="Montserrat"/>
                  <a:ea typeface="Montserrat"/>
                  <a:cs typeface="Montserrat"/>
                  <a:sym typeface="Montserrat"/>
                </a:rPr>
                <a:t>Anatomy of a Policy Statement</a:t>
              </a:r>
              <a:endParaRPr b="0" i="0" sz="1400" u="none" cap="none" strike="noStrike">
                <a:solidFill>
                  <a:srgbClr val="000000"/>
                </a:solidFill>
                <a:latin typeface="Arial"/>
                <a:ea typeface="Arial"/>
                <a:cs typeface="Arial"/>
                <a:sym typeface="Arial"/>
              </a:endParaRPr>
            </a:p>
          </p:txBody>
        </p:sp>
      </p:grpSp>
      <p:grpSp>
        <p:nvGrpSpPr>
          <p:cNvPr id="507" name="Google Shape;507;p9"/>
          <p:cNvGrpSpPr/>
          <p:nvPr/>
        </p:nvGrpSpPr>
        <p:grpSpPr>
          <a:xfrm>
            <a:off x="722000" y="1512000"/>
            <a:ext cx="10260329" cy="8774953"/>
            <a:chOff x="0" y="0"/>
            <a:chExt cx="13680439" cy="10632440"/>
          </a:xfrm>
        </p:grpSpPr>
        <p:sp>
          <p:nvSpPr>
            <p:cNvPr id="508" name="Google Shape;508;p9"/>
            <p:cNvSpPr/>
            <p:nvPr/>
          </p:nvSpPr>
          <p:spPr>
            <a:xfrm>
              <a:off x="12700" y="12700"/>
              <a:ext cx="13655039" cy="10607040"/>
            </a:xfrm>
            <a:custGeom>
              <a:rect b="b" l="l" r="r" t="t"/>
              <a:pathLst>
                <a:path extrusionOk="0" h="10607040" w="13655039">
                  <a:moveTo>
                    <a:pt x="0" y="0"/>
                  </a:moveTo>
                  <a:lnTo>
                    <a:pt x="13655039" y="0"/>
                  </a:lnTo>
                  <a:lnTo>
                    <a:pt x="13655039" y="10607040"/>
                  </a:lnTo>
                  <a:lnTo>
                    <a:pt x="0" y="10607040"/>
                  </a:lnTo>
                  <a:close/>
                </a:path>
              </a:pathLst>
            </a:custGeom>
            <a:solidFill>
              <a:srgbClr val="0D11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9"/>
            <p:cNvSpPr/>
            <p:nvPr/>
          </p:nvSpPr>
          <p:spPr>
            <a:xfrm>
              <a:off x="0" y="0"/>
              <a:ext cx="13680439" cy="10632440"/>
            </a:xfrm>
            <a:custGeom>
              <a:rect b="b" l="l" r="r" t="t"/>
              <a:pathLst>
                <a:path extrusionOk="0" h="10632440" w="13680439">
                  <a:moveTo>
                    <a:pt x="12700" y="0"/>
                  </a:moveTo>
                  <a:lnTo>
                    <a:pt x="13667739" y="0"/>
                  </a:lnTo>
                  <a:cubicBezTo>
                    <a:pt x="13674725" y="0"/>
                    <a:pt x="13680439" y="5715"/>
                    <a:pt x="13680439" y="12700"/>
                  </a:cubicBezTo>
                  <a:lnTo>
                    <a:pt x="13680439" y="10619740"/>
                  </a:lnTo>
                  <a:cubicBezTo>
                    <a:pt x="13680439" y="10626725"/>
                    <a:pt x="13674725" y="10632440"/>
                    <a:pt x="13667739" y="10632440"/>
                  </a:cubicBezTo>
                  <a:lnTo>
                    <a:pt x="12700" y="10632440"/>
                  </a:lnTo>
                  <a:cubicBezTo>
                    <a:pt x="5715" y="10632440"/>
                    <a:pt x="0" y="10626725"/>
                    <a:pt x="0" y="10619740"/>
                  </a:cubicBezTo>
                  <a:lnTo>
                    <a:pt x="0" y="12700"/>
                  </a:lnTo>
                  <a:cubicBezTo>
                    <a:pt x="0" y="5715"/>
                    <a:pt x="5715" y="0"/>
                    <a:pt x="12700" y="0"/>
                  </a:cubicBezTo>
                  <a:moveTo>
                    <a:pt x="12700" y="25400"/>
                  </a:moveTo>
                  <a:lnTo>
                    <a:pt x="12700" y="12700"/>
                  </a:lnTo>
                  <a:lnTo>
                    <a:pt x="25400" y="12700"/>
                  </a:lnTo>
                  <a:lnTo>
                    <a:pt x="25400" y="10619740"/>
                  </a:lnTo>
                  <a:lnTo>
                    <a:pt x="12700" y="10619740"/>
                  </a:lnTo>
                  <a:lnTo>
                    <a:pt x="12700" y="10607040"/>
                  </a:lnTo>
                  <a:lnTo>
                    <a:pt x="13667739" y="10607040"/>
                  </a:lnTo>
                  <a:lnTo>
                    <a:pt x="13667739" y="10619740"/>
                  </a:lnTo>
                  <a:lnTo>
                    <a:pt x="13655039" y="10619740"/>
                  </a:lnTo>
                  <a:lnTo>
                    <a:pt x="13655039" y="12700"/>
                  </a:lnTo>
                  <a:lnTo>
                    <a:pt x="13667739" y="12700"/>
                  </a:lnTo>
                  <a:lnTo>
                    <a:pt x="13667739" y="25400"/>
                  </a:lnTo>
                  <a:lnTo>
                    <a:pt x="12700" y="25400"/>
                  </a:lnTo>
                  <a:close/>
                </a:path>
              </a:pathLst>
            </a:custGeom>
            <a:solidFill>
              <a:srgbClr val="4755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0" name="Google Shape;510;p9"/>
          <p:cNvSpPr/>
          <p:nvPr/>
        </p:nvSpPr>
        <p:spPr>
          <a:xfrm>
            <a:off x="618025" y="1521525"/>
            <a:ext cx="223114" cy="8777326"/>
          </a:xfrm>
          <a:custGeom>
            <a:rect b="b" l="l" r="r" t="t"/>
            <a:pathLst>
              <a:path extrusionOk="0" h="10607040" w="146304">
                <a:moveTo>
                  <a:pt x="0" y="0"/>
                </a:moveTo>
                <a:lnTo>
                  <a:pt x="146304" y="0"/>
                </a:lnTo>
                <a:lnTo>
                  <a:pt x="146304" y="10607040"/>
                </a:lnTo>
                <a:lnTo>
                  <a:pt x="0" y="10607040"/>
                </a:lnTo>
                <a:close/>
              </a:path>
            </a:pathLst>
          </a:cu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9"/>
          <p:cNvSpPr/>
          <p:nvPr/>
        </p:nvSpPr>
        <p:spPr>
          <a:xfrm>
            <a:off x="841250" y="3119529"/>
            <a:ext cx="10131553" cy="2379911"/>
          </a:xfrm>
          <a:custGeom>
            <a:rect b="b" l="l" r="r" t="t"/>
            <a:pathLst>
              <a:path extrusionOk="0" h="2696783" w="13508737">
                <a:moveTo>
                  <a:pt x="0" y="0"/>
                </a:moveTo>
                <a:lnTo>
                  <a:pt x="13508737" y="0"/>
                </a:lnTo>
                <a:lnTo>
                  <a:pt x="13508737" y="2696783"/>
                </a:lnTo>
                <a:lnTo>
                  <a:pt x="0" y="2696783"/>
                </a:lnTo>
                <a:close/>
              </a:path>
            </a:pathLst>
          </a:custGeom>
          <a:solidFill>
            <a:srgbClr val="2A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9"/>
          <p:cNvSpPr/>
          <p:nvPr/>
        </p:nvSpPr>
        <p:spPr>
          <a:xfrm>
            <a:off x="841250" y="5521777"/>
            <a:ext cx="10131553" cy="1892619"/>
          </a:xfrm>
          <a:custGeom>
            <a:rect b="b" l="l" r="r" t="t"/>
            <a:pathLst>
              <a:path extrusionOk="0" h="2120581" w="13508737">
                <a:moveTo>
                  <a:pt x="0" y="0"/>
                </a:moveTo>
                <a:lnTo>
                  <a:pt x="13508737" y="0"/>
                </a:lnTo>
                <a:lnTo>
                  <a:pt x="13508737" y="2120581"/>
                </a:lnTo>
                <a:lnTo>
                  <a:pt x="0" y="2120581"/>
                </a:lnTo>
                <a:close/>
              </a:path>
            </a:pathLst>
          </a:custGeom>
          <a:solidFill>
            <a:srgbClr val="1A153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9"/>
          <p:cNvSpPr/>
          <p:nvPr/>
        </p:nvSpPr>
        <p:spPr>
          <a:xfrm>
            <a:off x="841248" y="7414561"/>
            <a:ext cx="10131553" cy="2382012"/>
          </a:xfrm>
          <a:custGeom>
            <a:rect b="b" l="l" r="r" t="t"/>
            <a:pathLst>
              <a:path extrusionOk="0" h="3176016" w="13508737">
                <a:moveTo>
                  <a:pt x="0" y="0"/>
                </a:moveTo>
                <a:lnTo>
                  <a:pt x="13508737" y="0"/>
                </a:lnTo>
                <a:lnTo>
                  <a:pt x="13508737" y="3176016"/>
                </a:lnTo>
                <a:lnTo>
                  <a:pt x="0" y="3176016"/>
                </a:lnTo>
                <a:close/>
              </a:path>
            </a:pathLst>
          </a:custGeom>
          <a:solidFill>
            <a:srgbClr val="2A101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9"/>
          <p:cNvSpPr txBox="1"/>
          <p:nvPr/>
        </p:nvSpPr>
        <p:spPr>
          <a:xfrm>
            <a:off x="1188720" y="1738689"/>
            <a:ext cx="9327000" cy="856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  "Version": "2012-10-17",</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  "Effect": "Allow",</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59E0B"/>
                </a:solidFill>
                <a:latin typeface="Consolas"/>
                <a:ea typeface="Consolas"/>
                <a:cs typeface="Consolas"/>
                <a:sym typeface="Consolas"/>
              </a:rPr>
              <a:t>  "Action"</a:t>
            </a: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59E0B"/>
                </a:solidFill>
                <a:latin typeface="Consolas"/>
                <a:ea typeface="Consolas"/>
                <a:cs typeface="Consolas"/>
                <a:sym typeface="Consolas"/>
              </a:rPr>
              <a:t>    "s3:GetObject",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59E0B"/>
                </a:solidFill>
                <a:latin typeface="Consolas"/>
                <a:ea typeface="Consolas"/>
                <a:cs typeface="Consolas"/>
                <a:sym typeface="Consolas"/>
              </a:rPr>
              <a:t>    "s3:ListBucket",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59E0B"/>
                </a:solidFill>
                <a:latin typeface="Consolas"/>
                <a:ea typeface="Consolas"/>
                <a:cs typeface="Consolas"/>
                <a:sym typeface="Consolas"/>
              </a:rPr>
              <a:t>    "s3:PutBucketPolicy"</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A78BFA"/>
                </a:solidFill>
                <a:latin typeface="Consolas"/>
                <a:ea typeface="Consolas"/>
                <a:cs typeface="Consolas"/>
                <a:sym typeface="Consolas"/>
              </a:rPr>
              <a:t>  "Resource"</a:t>
            </a: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A78BFA"/>
                </a:solidFill>
                <a:latin typeface="Consolas"/>
                <a:ea typeface="Consolas"/>
                <a:cs typeface="Consolas"/>
                <a:sym typeface="Consolas"/>
              </a:rPr>
              <a:t>    "arn:aws:s3:::my-bucket/*",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A78BFA"/>
                </a:solidFill>
                <a:latin typeface="Consolas"/>
                <a:ea typeface="Consolas"/>
                <a:cs typeface="Consolas"/>
                <a:sym typeface="Consolas"/>
              </a:rPr>
              <a:t>    "arn:aws:s3:::my-bucket/"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87171"/>
                </a:solidFill>
                <a:latin typeface="Consolas"/>
                <a:ea typeface="Consolas"/>
                <a:cs typeface="Consolas"/>
                <a:sym typeface="Consolas"/>
              </a:rPr>
              <a:t>  "Condition"</a:t>
            </a: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87171"/>
                </a:solidFill>
                <a:latin typeface="Consolas"/>
                <a:ea typeface="Consolas"/>
                <a:cs typeface="Consolas"/>
                <a:sym typeface="Consolas"/>
              </a:rPr>
              <a:t>    "IpAddress"</a:t>
            </a: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87171"/>
                </a:solidFill>
                <a:latin typeface="Consolas"/>
                <a:ea typeface="Consolas"/>
                <a:cs typeface="Consolas"/>
                <a:sym typeface="Consolas"/>
              </a:rPr>
              <a:t>      "aws:SourceIp": "203.0.113.0/24"</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515" name="Google Shape;515;p9"/>
          <p:cNvSpPr/>
          <p:nvPr/>
        </p:nvSpPr>
        <p:spPr>
          <a:xfrm>
            <a:off x="10893027" y="3931464"/>
            <a:ext cx="548640" cy="25432"/>
          </a:xfrm>
          <a:custGeom>
            <a:rect b="b" l="l" r="r" t="t"/>
            <a:pathLst>
              <a:path extrusionOk="0" h="33909" w="731520">
                <a:moveTo>
                  <a:pt x="237109" y="0"/>
                </a:moveTo>
                <a:lnTo>
                  <a:pt x="338709" y="0"/>
                </a:lnTo>
                <a:lnTo>
                  <a:pt x="338709" y="33909"/>
                </a:lnTo>
                <a:lnTo>
                  <a:pt x="237109" y="33909"/>
                </a:lnTo>
                <a:close/>
                <a:moveTo>
                  <a:pt x="474218" y="0"/>
                </a:moveTo>
                <a:lnTo>
                  <a:pt x="575818" y="0"/>
                </a:lnTo>
                <a:lnTo>
                  <a:pt x="575818" y="33909"/>
                </a:lnTo>
                <a:lnTo>
                  <a:pt x="474218" y="33909"/>
                </a:lnTo>
                <a:close/>
                <a:moveTo>
                  <a:pt x="711200" y="0"/>
                </a:moveTo>
                <a:lnTo>
                  <a:pt x="731520" y="0"/>
                </a:lnTo>
                <a:lnTo>
                  <a:pt x="731520" y="33909"/>
                </a:lnTo>
                <a:lnTo>
                  <a:pt x="711200" y="33909"/>
                </a:lnTo>
                <a:close/>
                <a:moveTo>
                  <a:pt x="0" y="33909"/>
                </a:moveTo>
                <a:lnTo>
                  <a:pt x="101600" y="33909"/>
                </a:lnTo>
                <a:lnTo>
                  <a:pt x="0" y="33909"/>
                </a:lnTo>
                <a:close/>
              </a:path>
            </a:pathLst>
          </a:custGeom>
          <a:solidFill>
            <a:srgbClr val="F59E0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16" name="Google Shape;516;p9"/>
          <p:cNvGrpSpPr/>
          <p:nvPr/>
        </p:nvGrpSpPr>
        <p:grpSpPr>
          <a:xfrm>
            <a:off x="11422646" y="3612828"/>
            <a:ext cx="6073140" cy="1318260"/>
            <a:chOff x="0" y="0"/>
            <a:chExt cx="8097520" cy="1757680"/>
          </a:xfrm>
        </p:grpSpPr>
        <p:sp>
          <p:nvSpPr>
            <p:cNvPr id="517" name="Google Shape;517;p9"/>
            <p:cNvSpPr/>
            <p:nvPr/>
          </p:nvSpPr>
          <p:spPr>
            <a:xfrm>
              <a:off x="25400" y="25400"/>
              <a:ext cx="8046720" cy="1706880"/>
            </a:xfrm>
            <a:custGeom>
              <a:rect b="b" l="l" r="r" t="t"/>
              <a:pathLst>
                <a:path extrusionOk="0" h="1706880" w="8046720">
                  <a:moveTo>
                    <a:pt x="0" y="0"/>
                  </a:moveTo>
                  <a:lnTo>
                    <a:pt x="8046720" y="0"/>
                  </a:lnTo>
                  <a:lnTo>
                    <a:pt x="8046720" y="1706880"/>
                  </a:lnTo>
                  <a:lnTo>
                    <a:pt x="0" y="1706880"/>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p9"/>
            <p:cNvSpPr/>
            <p:nvPr/>
          </p:nvSpPr>
          <p:spPr>
            <a:xfrm>
              <a:off x="0" y="0"/>
              <a:ext cx="8097520" cy="1757680"/>
            </a:xfrm>
            <a:custGeom>
              <a:rect b="b" l="l" r="r" t="t"/>
              <a:pathLst>
                <a:path extrusionOk="0" h="1757680" w="8097520">
                  <a:moveTo>
                    <a:pt x="25400" y="0"/>
                  </a:moveTo>
                  <a:lnTo>
                    <a:pt x="8072120" y="0"/>
                  </a:lnTo>
                  <a:cubicBezTo>
                    <a:pt x="8086089" y="0"/>
                    <a:pt x="8097520" y="11430"/>
                    <a:pt x="8097520" y="25400"/>
                  </a:cubicBezTo>
                  <a:lnTo>
                    <a:pt x="8097520" y="1732280"/>
                  </a:lnTo>
                  <a:cubicBezTo>
                    <a:pt x="8097520" y="1746250"/>
                    <a:pt x="8086089" y="1757680"/>
                    <a:pt x="8072120" y="1757680"/>
                  </a:cubicBezTo>
                  <a:lnTo>
                    <a:pt x="25400" y="1757680"/>
                  </a:lnTo>
                  <a:cubicBezTo>
                    <a:pt x="11430" y="1757680"/>
                    <a:pt x="0" y="1746250"/>
                    <a:pt x="0" y="1732280"/>
                  </a:cubicBezTo>
                  <a:lnTo>
                    <a:pt x="0" y="25400"/>
                  </a:lnTo>
                  <a:cubicBezTo>
                    <a:pt x="0" y="11430"/>
                    <a:pt x="11430" y="0"/>
                    <a:pt x="25400" y="0"/>
                  </a:cubicBezTo>
                  <a:moveTo>
                    <a:pt x="25400" y="50800"/>
                  </a:moveTo>
                  <a:lnTo>
                    <a:pt x="25400" y="25400"/>
                  </a:lnTo>
                  <a:lnTo>
                    <a:pt x="50800" y="25400"/>
                  </a:lnTo>
                  <a:lnTo>
                    <a:pt x="50800" y="1732280"/>
                  </a:lnTo>
                  <a:lnTo>
                    <a:pt x="25400" y="1732280"/>
                  </a:lnTo>
                  <a:lnTo>
                    <a:pt x="25400" y="1706880"/>
                  </a:lnTo>
                  <a:lnTo>
                    <a:pt x="8072120" y="1706880"/>
                  </a:lnTo>
                  <a:lnTo>
                    <a:pt x="8072120" y="1732280"/>
                  </a:lnTo>
                  <a:lnTo>
                    <a:pt x="8046720" y="1732280"/>
                  </a:lnTo>
                  <a:lnTo>
                    <a:pt x="8046720" y="25400"/>
                  </a:lnTo>
                  <a:lnTo>
                    <a:pt x="8072120" y="25400"/>
                  </a:lnTo>
                  <a:lnTo>
                    <a:pt x="8072120" y="50800"/>
                  </a:lnTo>
                  <a:lnTo>
                    <a:pt x="25400" y="50800"/>
                  </a:lnTo>
                  <a:close/>
                </a:path>
              </a:pathLst>
            </a:custGeom>
            <a:solidFill>
              <a:srgbClr val="F59E0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9" name="Google Shape;519;p9"/>
          <p:cNvGrpSpPr/>
          <p:nvPr/>
        </p:nvGrpSpPr>
        <p:grpSpPr>
          <a:xfrm>
            <a:off x="11716016" y="3616510"/>
            <a:ext cx="5486400" cy="512064"/>
            <a:chOff x="0" y="0"/>
            <a:chExt cx="7315200" cy="682752"/>
          </a:xfrm>
        </p:grpSpPr>
        <p:sp>
          <p:nvSpPr>
            <p:cNvPr id="520" name="Google Shape;520;p9"/>
            <p:cNvSpPr/>
            <p:nvPr/>
          </p:nvSpPr>
          <p:spPr>
            <a:xfrm>
              <a:off x="0" y="0"/>
              <a:ext cx="7315200" cy="682752"/>
            </a:xfrm>
            <a:custGeom>
              <a:rect b="b" l="l" r="r" t="t"/>
              <a:pathLst>
                <a:path extrusionOk="0" h="682752" w="7315200">
                  <a:moveTo>
                    <a:pt x="0" y="0"/>
                  </a:moveTo>
                  <a:lnTo>
                    <a:pt x="7315200" y="0"/>
                  </a:lnTo>
                  <a:lnTo>
                    <a:pt x="7315200" y="682752"/>
                  </a:lnTo>
                  <a:lnTo>
                    <a:pt x="0" y="682752"/>
                  </a:lnTo>
                  <a:close/>
                </a:path>
              </a:pathLst>
            </a:custGeom>
            <a:blipFill rotWithShape="1">
              <a:blip r:embed="rId3">
                <a:alphaModFix amt="0"/>
              </a:blip>
              <a:stretch>
                <a:fillRect b="-158740" l="0" r="0" t="-15874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1" name="Google Shape;521;p9"/>
            <p:cNvSpPr txBox="1"/>
            <p:nvPr/>
          </p:nvSpPr>
          <p:spPr>
            <a:xfrm>
              <a:off x="0" y="0"/>
              <a:ext cx="7315200" cy="6827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000"/>
                <a:buFont typeface="Arial"/>
                <a:buNone/>
              </a:pPr>
              <a:r>
                <a:rPr b="1" i="0" lang="en-US" sz="3000" u="none" cap="none" strike="noStrike">
                  <a:solidFill>
                    <a:srgbClr val="F59E0B"/>
                  </a:solidFill>
                  <a:latin typeface="Montserrat"/>
                  <a:ea typeface="Montserrat"/>
                  <a:cs typeface="Montserrat"/>
                  <a:sym typeface="Montserrat"/>
                </a:rPr>
                <a:t>Action</a:t>
              </a:r>
              <a:endParaRPr b="0" i="0" sz="1400" u="none" cap="none" strike="noStrike">
                <a:solidFill>
                  <a:srgbClr val="000000"/>
                </a:solidFill>
                <a:latin typeface="Arial"/>
                <a:ea typeface="Arial"/>
                <a:cs typeface="Arial"/>
                <a:sym typeface="Arial"/>
              </a:endParaRPr>
            </a:p>
          </p:txBody>
        </p:sp>
      </p:grpSp>
      <p:grpSp>
        <p:nvGrpSpPr>
          <p:cNvPr id="522" name="Google Shape;522;p9"/>
          <p:cNvGrpSpPr/>
          <p:nvPr/>
        </p:nvGrpSpPr>
        <p:grpSpPr>
          <a:xfrm>
            <a:off x="11716016" y="4035305"/>
            <a:ext cx="5486400" cy="855910"/>
            <a:chOff x="0" y="-9525"/>
            <a:chExt cx="7315200" cy="1141214"/>
          </a:xfrm>
        </p:grpSpPr>
        <p:sp>
          <p:nvSpPr>
            <p:cNvPr id="523" name="Google Shape;523;p9"/>
            <p:cNvSpPr/>
            <p:nvPr/>
          </p:nvSpPr>
          <p:spPr>
            <a:xfrm>
              <a:off x="0" y="0"/>
              <a:ext cx="7315200" cy="1131689"/>
            </a:xfrm>
            <a:custGeom>
              <a:rect b="b" l="l" r="r" t="t"/>
              <a:pathLst>
                <a:path extrusionOk="0" h="1131689" w="7315200">
                  <a:moveTo>
                    <a:pt x="0" y="0"/>
                  </a:moveTo>
                  <a:lnTo>
                    <a:pt x="7315200" y="0"/>
                  </a:lnTo>
                  <a:lnTo>
                    <a:pt x="7315200" y="1131689"/>
                  </a:lnTo>
                  <a:lnTo>
                    <a:pt x="0" y="1131689"/>
                  </a:lnTo>
                  <a:close/>
                </a:path>
              </a:pathLst>
            </a:custGeom>
            <a:blipFill rotWithShape="1">
              <a:blip r:embed="rId3">
                <a:alphaModFix amt="0"/>
              </a:blip>
              <a:stretch>
                <a:fillRect b="-63650" l="0" r="0" t="-882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4" name="Google Shape;524;p9"/>
            <p:cNvSpPr txBox="1"/>
            <p:nvPr/>
          </p:nvSpPr>
          <p:spPr>
            <a:xfrm>
              <a:off x="0" y="-9525"/>
              <a:ext cx="7315200" cy="1141214"/>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What API calls the policy applies to</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service:operation format</a:t>
              </a:r>
              <a:endParaRPr b="0" i="0" sz="1400" u="none" cap="none" strike="noStrike">
                <a:solidFill>
                  <a:srgbClr val="000000"/>
                </a:solidFill>
                <a:latin typeface="Arial"/>
                <a:ea typeface="Arial"/>
                <a:cs typeface="Arial"/>
                <a:sym typeface="Arial"/>
              </a:endParaRPr>
            </a:p>
          </p:txBody>
        </p:sp>
      </p:grpSp>
      <p:sp>
        <p:nvSpPr>
          <p:cNvPr id="525" name="Google Shape;525;p9"/>
          <p:cNvSpPr/>
          <p:nvPr/>
        </p:nvSpPr>
        <p:spPr>
          <a:xfrm>
            <a:off x="10893027" y="6135686"/>
            <a:ext cx="548640" cy="25432"/>
          </a:xfrm>
          <a:custGeom>
            <a:rect b="b" l="l" r="r" t="t"/>
            <a:pathLst>
              <a:path extrusionOk="0" h="33909" w="731520">
                <a:moveTo>
                  <a:pt x="237109" y="0"/>
                </a:moveTo>
                <a:lnTo>
                  <a:pt x="338709" y="0"/>
                </a:lnTo>
                <a:lnTo>
                  <a:pt x="338709" y="33909"/>
                </a:lnTo>
                <a:lnTo>
                  <a:pt x="237109" y="33909"/>
                </a:lnTo>
                <a:close/>
                <a:moveTo>
                  <a:pt x="474218" y="0"/>
                </a:moveTo>
                <a:lnTo>
                  <a:pt x="575818" y="0"/>
                </a:lnTo>
                <a:lnTo>
                  <a:pt x="575818" y="33909"/>
                </a:lnTo>
                <a:lnTo>
                  <a:pt x="474218" y="33909"/>
                </a:lnTo>
                <a:close/>
                <a:moveTo>
                  <a:pt x="711200" y="0"/>
                </a:moveTo>
                <a:lnTo>
                  <a:pt x="731520" y="0"/>
                </a:lnTo>
                <a:lnTo>
                  <a:pt x="731520" y="33909"/>
                </a:lnTo>
                <a:lnTo>
                  <a:pt x="711200" y="33909"/>
                </a:lnTo>
                <a:close/>
                <a:moveTo>
                  <a:pt x="0" y="33909"/>
                </a:moveTo>
                <a:lnTo>
                  <a:pt x="101600" y="33909"/>
                </a:lnTo>
                <a:lnTo>
                  <a:pt x="0" y="33909"/>
                </a:lnTo>
                <a:close/>
              </a:path>
            </a:pathLst>
          </a:custGeom>
          <a:solidFill>
            <a:srgbClr val="A78B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26" name="Google Shape;526;p9"/>
          <p:cNvGrpSpPr/>
          <p:nvPr/>
        </p:nvGrpSpPr>
        <p:grpSpPr>
          <a:xfrm>
            <a:off x="11422646" y="5855013"/>
            <a:ext cx="6073140" cy="1318260"/>
            <a:chOff x="0" y="0"/>
            <a:chExt cx="8097520" cy="1757680"/>
          </a:xfrm>
        </p:grpSpPr>
        <p:sp>
          <p:nvSpPr>
            <p:cNvPr id="527" name="Google Shape;527;p9"/>
            <p:cNvSpPr/>
            <p:nvPr/>
          </p:nvSpPr>
          <p:spPr>
            <a:xfrm>
              <a:off x="25400" y="25400"/>
              <a:ext cx="8046720" cy="1706880"/>
            </a:xfrm>
            <a:custGeom>
              <a:rect b="b" l="l" r="r" t="t"/>
              <a:pathLst>
                <a:path extrusionOk="0" h="1706880" w="8046720">
                  <a:moveTo>
                    <a:pt x="0" y="0"/>
                  </a:moveTo>
                  <a:lnTo>
                    <a:pt x="8046720" y="0"/>
                  </a:lnTo>
                  <a:lnTo>
                    <a:pt x="8046720" y="1706880"/>
                  </a:lnTo>
                  <a:lnTo>
                    <a:pt x="0" y="1706880"/>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9"/>
            <p:cNvSpPr/>
            <p:nvPr/>
          </p:nvSpPr>
          <p:spPr>
            <a:xfrm>
              <a:off x="0" y="0"/>
              <a:ext cx="8097520" cy="1757680"/>
            </a:xfrm>
            <a:custGeom>
              <a:rect b="b" l="l" r="r" t="t"/>
              <a:pathLst>
                <a:path extrusionOk="0" h="1757680" w="8097520">
                  <a:moveTo>
                    <a:pt x="25400" y="0"/>
                  </a:moveTo>
                  <a:lnTo>
                    <a:pt x="8072120" y="0"/>
                  </a:lnTo>
                  <a:cubicBezTo>
                    <a:pt x="8086089" y="0"/>
                    <a:pt x="8097520" y="11430"/>
                    <a:pt x="8097520" y="25400"/>
                  </a:cubicBezTo>
                  <a:lnTo>
                    <a:pt x="8097520" y="1732280"/>
                  </a:lnTo>
                  <a:cubicBezTo>
                    <a:pt x="8097520" y="1746250"/>
                    <a:pt x="8086089" y="1757680"/>
                    <a:pt x="8072120" y="1757680"/>
                  </a:cubicBezTo>
                  <a:lnTo>
                    <a:pt x="25400" y="1757680"/>
                  </a:lnTo>
                  <a:cubicBezTo>
                    <a:pt x="11430" y="1757680"/>
                    <a:pt x="0" y="1746250"/>
                    <a:pt x="0" y="1732280"/>
                  </a:cubicBezTo>
                  <a:lnTo>
                    <a:pt x="0" y="25400"/>
                  </a:lnTo>
                  <a:cubicBezTo>
                    <a:pt x="0" y="11430"/>
                    <a:pt x="11430" y="0"/>
                    <a:pt x="25400" y="0"/>
                  </a:cubicBezTo>
                  <a:moveTo>
                    <a:pt x="25400" y="50800"/>
                  </a:moveTo>
                  <a:lnTo>
                    <a:pt x="25400" y="25400"/>
                  </a:lnTo>
                  <a:lnTo>
                    <a:pt x="50800" y="25400"/>
                  </a:lnTo>
                  <a:lnTo>
                    <a:pt x="50800" y="1732280"/>
                  </a:lnTo>
                  <a:lnTo>
                    <a:pt x="25400" y="1732280"/>
                  </a:lnTo>
                  <a:lnTo>
                    <a:pt x="25400" y="1706880"/>
                  </a:lnTo>
                  <a:lnTo>
                    <a:pt x="8072120" y="1706880"/>
                  </a:lnTo>
                  <a:lnTo>
                    <a:pt x="8072120" y="1732280"/>
                  </a:lnTo>
                  <a:lnTo>
                    <a:pt x="8046720" y="1732280"/>
                  </a:lnTo>
                  <a:lnTo>
                    <a:pt x="8046720" y="25400"/>
                  </a:lnTo>
                  <a:lnTo>
                    <a:pt x="8072120" y="25400"/>
                  </a:lnTo>
                  <a:lnTo>
                    <a:pt x="8072120" y="50800"/>
                  </a:lnTo>
                  <a:lnTo>
                    <a:pt x="25400" y="50800"/>
                  </a:lnTo>
                  <a:close/>
                </a:path>
              </a:pathLst>
            </a:custGeom>
            <a:solidFill>
              <a:srgbClr val="A78B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9" name="Google Shape;529;p9"/>
          <p:cNvGrpSpPr/>
          <p:nvPr/>
        </p:nvGrpSpPr>
        <p:grpSpPr>
          <a:xfrm>
            <a:off x="11716016" y="5858832"/>
            <a:ext cx="5486400" cy="512064"/>
            <a:chOff x="0" y="0"/>
            <a:chExt cx="7315200" cy="682752"/>
          </a:xfrm>
        </p:grpSpPr>
        <p:sp>
          <p:nvSpPr>
            <p:cNvPr id="530" name="Google Shape;530;p9"/>
            <p:cNvSpPr/>
            <p:nvPr/>
          </p:nvSpPr>
          <p:spPr>
            <a:xfrm>
              <a:off x="0" y="0"/>
              <a:ext cx="7315200" cy="682752"/>
            </a:xfrm>
            <a:custGeom>
              <a:rect b="b" l="l" r="r" t="t"/>
              <a:pathLst>
                <a:path extrusionOk="0" h="682752" w="7315200">
                  <a:moveTo>
                    <a:pt x="0" y="0"/>
                  </a:moveTo>
                  <a:lnTo>
                    <a:pt x="7315200" y="0"/>
                  </a:lnTo>
                  <a:lnTo>
                    <a:pt x="7315200" y="682752"/>
                  </a:lnTo>
                  <a:lnTo>
                    <a:pt x="0" y="682752"/>
                  </a:lnTo>
                  <a:close/>
                </a:path>
              </a:pathLst>
            </a:custGeom>
            <a:blipFill rotWithShape="1">
              <a:blip r:embed="rId3">
                <a:alphaModFix amt="0"/>
              </a:blip>
              <a:stretch>
                <a:fillRect b="-158740" l="0" r="0" t="-15874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9"/>
            <p:cNvSpPr txBox="1"/>
            <p:nvPr/>
          </p:nvSpPr>
          <p:spPr>
            <a:xfrm>
              <a:off x="0" y="0"/>
              <a:ext cx="7315200" cy="6827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000"/>
                <a:buFont typeface="Arial"/>
                <a:buNone/>
              </a:pPr>
              <a:r>
                <a:rPr b="1" i="0" lang="en-US" sz="3000" u="none" cap="none" strike="noStrike">
                  <a:solidFill>
                    <a:srgbClr val="A78BFA"/>
                  </a:solidFill>
                  <a:latin typeface="Montserrat"/>
                  <a:ea typeface="Montserrat"/>
                  <a:cs typeface="Montserrat"/>
                  <a:sym typeface="Montserrat"/>
                </a:rPr>
                <a:t>Resource</a:t>
              </a:r>
              <a:endParaRPr b="0" i="0" sz="1400" u="none" cap="none" strike="noStrike">
                <a:solidFill>
                  <a:srgbClr val="000000"/>
                </a:solidFill>
                <a:latin typeface="Arial"/>
                <a:ea typeface="Arial"/>
                <a:cs typeface="Arial"/>
                <a:sym typeface="Arial"/>
              </a:endParaRPr>
            </a:p>
          </p:txBody>
        </p:sp>
      </p:grpSp>
      <p:grpSp>
        <p:nvGrpSpPr>
          <p:cNvPr id="532" name="Google Shape;532;p9"/>
          <p:cNvGrpSpPr/>
          <p:nvPr/>
        </p:nvGrpSpPr>
        <p:grpSpPr>
          <a:xfrm>
            <a:off x="11716016" y="6354227"/>
            <a:ext cx="5486400" cy="647224"/>
            <a:chOff x="0" y="-9525"/>
            <a:chExt cx="7315200" cy="862965"/>
          </a:xfrm>
        </p:grpSpPr>
        <p:sp>
          <p:nvSpPr>
            <p:cNvPr id="533" name="Google Shape;533;p9"/>
            <p:cNvSpPr/>
            <p:nvPr/>
          </p:nvSpPr>
          <p:spPr>
            <a:xfrm>
              <a:off x="0" y="0"/>
              <a:ext cx="7315200" cy="853440"/>
            </a:xfrm>
            <a:custGeom>
              <a:rect b="b" l="l" r="r" t="t"/>
              <a:pathLst>
                <a:path extrusionOk="0" h="853440" w="7315200">
                  <a:moveTo>
                    <a:pt x="0" y="0"/>
                  </a:moveTo>
                  <a:lnTo>
                    <a:pt x="7315200" y="0"/>
                  </a:lnTo>
                  <a:lnTo>
                    <a:pt x="7315200" y="853440"/>
                  </a:lnTo>
                  <a:lnTo>
                    <a:pt x="0" y="853440"/>
                  </a:lnTo>
                  <a:close/>
                </a:path>
              </a:pathLst>
            </a:custGeom>
            <a:blipFill rotWithShape="1">
              <a:blip r:embed="rId3">
                <a:alphaModFix amt="0"/>
              </a:blip>
              <a:stretch>
                <a:fillRect b="-117012" l="0" r="0" t="-11701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4" name="Google Shape;534;p9"/>
            <p:cNvSpPr txBox="1"/>
            <p:nvPr/>
          </p:nvSpPr>
          <p:spPr>
            <a:xfrm>
              <a:off x="0" y="-9525"/>
              <a:ext cx="7315200" cy="862965"/>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Which resources</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Identified by ARNs, * is a wildcard</a:t>
              </a:r>
              <a:endParaRPr b="0" i="0" sz="1400" u="none" cap="none" strike="noStrike">
                <a:solidFill>
                  <a:srgbClr val="000000"/>
                </a:solidFill>
                <a:latin typeface="Arial"/>
                <a:ea typeface="Arial"/>
                <a:cs typeface="Arial"/>
                <a:sym typeface="Arial"/>
              </a:endParaRPr>
            </a:p>
          </p:txBody>
        </p:sp>
      </p:grpSp>
      <p:sp>
        <p:nvSpPr>
          <p:cNvPr id="535" name="Google Shape;535;p9"/>
          <p:cNvSpPr/>
          <p:nvPr/>
        </p:nvSpPr>
        <p:spPr>
          <a:xfrm>
            <a:off x="10893027" y="8110790"/>
            <a:ext cx="548640" cy="25432"/>
          </a:xfrm>
          <a:custGeom>
            <a:rect b="b" l="l" r="r" t="t"/>
            <a:pathLst>
              <a:path extrusionOk="0" h="33909" w="731520">
                <a:moveTo>
                  <a:pt x="237109" y="0"/>
                </a:moveTo>
                <a:lnTo>
                  <a:pt x="338709" y="0"/>
                </a:lnTo>
                <a:lnTo>
                  <a:pt x="338709" y="33909"/>
                </a:lnTo>
                <a:lnTo>
                  <a:pt x="237109" y="33909"/>
                </a:lnTo>
                <a:close/>
                <a:moveTo>
                  <a:pt x="474218" y="0"/>
                </a:moveTo>
                <a:lnTo>
                  <a:pt x="575818" y="0"/>
                </a:lnTo>
                <a:lnTo>
                  <a:pt x="575818" y="33909"/>
                </a:lnTo>
                <a:lnTo>
                  <a:pt x="474218" y="33909"/>
                </a:lnTo>
                <a:close/>
                <a:moveTo>
                  <a:pt x="711200" y="0"/>
                </a:moveTo>
                <a:lnTo>
                  <a:pt x="731520" y="0"/>
                </a:lnTo>
                <a:lnTo>
                  <a:pt x="731520" y="33909"/>
                </a:lnTo>
                <a:lnTo>
                  <a:pt x="711200" y="33909"/>
                </a:lnTo>
                <a:close/>
                <a:moveTo>
                  <a:pt x="0" y="33909"/>
                </a:moveTo>
                <a:lnTo>
                  <a:pt x="101600" y="33909"/>
                </a:lnTo>
                <a:lnTo>
                  <a:pt x="0" y="33909"/>
                </a:lnTo>
                <a:close/>
              </a:path>
            </a:pathLst>
          </a:custGeom>
          <a:solidFill>
            <a:srgbClr val="F8717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36" name="Google Shape;536;p9"/>
          <p:cNvGrpSpPr/>
          <p:nvPr/>
        </p:nvGrpSpPr>
        <p:grpSpPr>
          <a:xfrm>
            <a:off x="11422656" y="7830127"/>
            <a:ext cx="6073140" cy="1599665"/>
            <a:chOff x="0" y="0"/>
            <a:chExt cx="8097520" cy="1757680"/>
          </a:xfrm>
        </p:grpSpPr>
        <p:sp>
          <p:nvSpPr>
            <p:cNvPr id="537" name="Google Shape;537;p9"/>
            <p:cNvSpPr/>
            <p:nvPr/>
          </p:nvSpPr>
          <p:spPr>
            <a:xfrm>
              <a:off x="25400" y="25400"/>
              <a:ext cx="8046720" cy="1706880"/>
            </a:xfrm>
            <a:custGeom>
              <a:rect b="b" l="l" r="r" t="t"/>
              <a:pathLst>
                <a:path extrusionOk="0" h="1706880" w="8046720">
                  <a:moveTo>
                    <a:pt x="0" y="0"/>
                  </a:moveTo>
                  <a:lnTo>
                    <a:pt x="8046720" y="0"/>
                  </a:lnTo>
                  <a:lnTo>
                    <a:pt x="8046720" y="1706880"/>
                  </a:lnTo>
                  <a:lnTo>
                    <a:pt x="0" y="1706880"/>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9"/>
            <p:cNvSpPr/>
            <p:nvPr/>
          </p:nvSpPr>
          <p:spPr>
            <a:xfrm>
              <a:off x="0" y="0"/>
              <a:ext cx="8097520" cy="1757680"/>
            </a:xfrm>
            <a:custGeom>
              <a:rect b="b" l="l" r="r" t="t"/>
              <a:pathLst>
                <a:path extrusionOk="0" h="1757680" w="8097520">
                  <a:moveTo>
                    <a:pt x="25400" y="0"/>
                  </a:moveTo>
                  <a:lnTo>
                    <a:pt x="8072120" y="0"/>
                  </a:lnTo>
                  <a:cubicBezTo>
                    <a:pt x="8086089" y="0"/>
                    <a:pt x="8097520" y="11430"/>
                    <a:pt x="8097520" y="25400"/>
                  </a:cubicBezTo>
                  <a:lnTo>
                    <a:pt x="8097520" y="1732280"/>
                  </a:lnTo>
                  <a:cubicBezTo>
                    <a:pt x="8097520" y="1746250"/>
                    <a:pt x="8086089" y="1757680"/>
                    <a:pt x="8072120" y="1757680"/>
                  </a:cubicBezTo>
                  <a:lnTo>
                    <a:pt x="25400" y="1757680"/>
                  </a:lnTo>
                  <a:cubicBezTo>
                    <a:pt x="11430" y="1757680"/>
                    <a:pt x="0" y="1746250"/>
                    <a:pt x="0" y="1732280"/>
                  </a:cubicBezTo>
                  <a:lnTo>
                    <a:pt x="0" y="25400"/>
                  </a:lnTo>
                  <a:cubicBezTo>
                    <a:pt x="0" y="11430"/>
                    <a:pt x="11430" y="0"/>
                    <a:pt x="25400" y="0"/>
                  </a:cubicBezTo>
                  <a:moveTo>
                    <a:pt x="25400" y="50800"/>
                  </a:moveTo>
                  <a:lnTo>
                    <a:pt x="25400" y="25400"/>
                  </a:lnTo>
                  <a:lnTo>
                    <a:pt x="50800" y="25400"/>
                  </a:lnTo>
                  <a:lnTo>
                    <a:pt x="50800" y="1732280"/>
                  </a:lnTo>
                  <a:lnTo>
                    <a:pt x="25400" y="1732280"/>
                  </a:lnTo>
                  <a:lnTo>
                    <a:pt x="25400" y="1706880"/>
                  </a:lnTo>
                  <a:lnTo>
                    <a:pt x="8072120" y="1706880"/>
                  </a:lnTo>
                  <a:lnTo>
                    <a:pt x="8072120" y="1732280"/>
                  </a:lnTo>
                  <a:lnTo>
                    <a:pt x="8046720" y="1732280"/>
                  </a:lnTo>
                  <a:lnTo>
                    <a:pt x="8046720" y="25400"/>
                  </a:lnTo>
                  <a:lnTo>
                    <a:pt x="8072120" y="25400"/>
                  </a:lnTo>
                  <a:lnTo>
                    <a:pt x="8072120" y="50800"/>
                  </a:lnTo>
                  <a:lnTo>
                    <a:pt x="25400" y="50800"/>
                  </a:lnTo>
                  <a:close/>
                </a:path>
              </a:pathLst>
            </a:custGeom>
            <a:solidFill>
              <a:srgbClr val="F8717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9" name="Google Shape;539;p9"/>
          <p:cNvGrpSpPr/>
          <p:nvPr/>
        </p:nvGrpSpPr>
        <p:grpSpPr>
          <a:xfrm>
            <a:off x="11716016" y="7903269"/>
            <a:ext cx="5486400" cy="512064"/>
            <a:chOff x="0" y="0"/>
            <a:chExt cx="7315200" cy="682752"/>
          </a:xfrm>
        </p:grpSpPr>
        <p:sp>
          <p:nvSpPr>
            <p:cNvPr id="540" name="Google Shape;540;p9"/>
            <p:cNvSpPr/>
            <p:nvPr/>
          </p:nvSpPr>
          <p:spPr>
            <a:xfrm>
              <a:off x="0" y="0"/>
              <a:ext cx="7315200" cy="682752"/>
            </a:xfrm>
            <a:custGeom>
              <a:rect b="b" l="l" r="r" t="t"/>
              <a:pathLst>
                <a:path extrusionOk="0" h="682752" w="7315200">
                  <a:moveTo>
                    <a:pt x="0" y="0"/>
                  </a:moveTo>
                  <a:lnTo>
                    <a:pt x="7315200" y="0"/>
                  </a:lnTo>
                  <a:lnTo>
                    <a:pt x="7315200" y="682752"/>
                  </a:lnTo>
                  <a:lnTo>
                    <a:pt x="0" y="682752"/>
                  </a:lnTo>
                  <a:close/>
                </a:path>
              </a:pathLst>
            </a:custGeom>
            <a:blipFill rotWithShape="1">
              <a:blip r:embed="rId3">
                <a:alphaModFix amt="0"/>
              </a:blip>
              <a:stretch>
                <a:fillRect b="-158740" l="0" r="0" t="-15874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1" name="Google Shape;541;p9"/>
            <p:cNvSpPr txBox="1"/>
            <p:nvPr/>
          </p:nvSpPr>
          <p:spPr>
            <a:xfrm>
              <a:off x="0" y="0"/>
              <a:ext cx="7315200" cy="6827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000"/>
                <a:buFont typeface="Arial"/>
                <a:buNone/>
              </a:pPr>
              <a:r>
                <a:rPr b="1" i="0" lang="en-US" sz="3000" u="none" cap="none" strike="noStrike">
                  <a:solidFill>
                    <a:srgbClr val="F87171"/>
                  </a:solidFill>
                  <a:latin typeface="Montserrat"/>
                  <a:ea typeface="Montserrat"/>
                  <a:cs typeface="Montserrat"/>
                  <a:sym typeface="Montserrat"/>
                </a:rPr>
                <a:t>Condition</a:t>
              </a:r>
              <a:endParaRPr b="0" i="0" sz="1400" u="none" cap="none" strike="noStrike">
                <a:solidFill>
                  <a:srgbClr val="000000"/>
                </a:solidFill>
                <a:latin typeface="Arial"/>
                <a:ea typeface="Arial"/>
                <a:cs typeface="Arial"/>
                <a:sym typeface="Arial"/>
              </a:endParaRPr>
            </a:p>
          </p:txBody>
        </p:sp>
      </p:grpSp>
      <p:grpSp>
        <p:nvGrpSpPr>
          <p:cNvPr id="542" name="Google Shape;542;p9"/>
          <p:cNvGrpSpPr/>
          <p:nvPr/>
        </p:nvGrpSpPr>
        <p:grpSpPr>
          <a:xfrm>
            <a:off x="11716016" y="8327087"/>
            <a:ext cx="5486400" cy="855910"/>
            <a:chOff x="0" y="-9525"/>
            <a:chExt cx="7315200" cy="1141214"/>
          </a:xfrm>
        </p:grpSpPr>
        <p:sp>
          <p:nvSpPr>
            <p:cNvPr id="543" name="Google Shape;543;p9"/>
            <p:cNvSpPr/>
            <p:nvPr/>
          </p:nvSpPr>
          <p:spPr>
            <a:xfrm>
              <a:off x="0" y="0"/>
              <a:ext cx="7315200" cy="1131689"/>
            </a:xfrm>
            <a:custGeom>
              <a:rect b="b" l="l" r="r" t="t"/>
              <a:pathLst>
                <a:path extrusionOk="0" h="1131689" w="7315200">
                  <a:moveTo>
                    <a:pt x="0" y="0"/>
                  </a:moveTo>
                  <a:lnTo>
                    <a:pt x="7315200" y="0"/>
                  </a:lnTo>
                  <a:lnTo>
                    <a:pt x="7315200" y="1131689"/>
                  </a:lnTo>
                  <a:lnTo>
                    <a:pt x="0" y="1131689"/>
                  </a:lnTo>
                  <a:close/>
                </a:path>
              </a:pathLst>
            </a:custGeom>
            <a:blipFill rotWithShape="1">
              <a:blip r:embed="rId3">
                <a:alphaModFix amt="0"/>
              </a:blip>
              <a:stretch>
                <a:fillRect b="-63650" l="0" r="0" t="-882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9"/>
            <p:cNvSpPr txBox="1"/>
            <p:nvPr/>
          </p:nvSpPr>
          <p:spPr>
            <a:xfrm>
              <a:off x="0" y="-9525"/>
              <a:ext cx="7315200" cy="1141214"/>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Under what circumstances</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Uses context about the request</a:t>
              </a:r>
              <a:endParaRPr b="0" i="0" sz="1400" u="none" cap="none" strike="noStrike">
                <a:solidFill>
                  <a:srgbClr val="000000"/>
                </a:solidFill>
                <a:latin typeface="Arial"/>
                <a:ea typeface="Arial"/>
                <a:cs typeface="Arial"/>
                <a:sym typeface="Arial"/>
              </a:endParaRPr>
            </a:p>
          </p:txBody>
        </p:sp>
      </p:grpSp>
      <p:sp>
        <p:nvSpPr>
          <p:cNvPr id="545" name="Google Shape;545;p9"/>
          <p:cNvSpPr/>
          <p:nvPr/>
        </p:nvSpPr>
        <p:spPr>
          <a:xfrm>
            <a:off x="10915249" y="2841152"/>
            <a:ext cx="548640" cy="25432"/>
          </a:xfrm>
          <a:custGeom>
            <a:rect b="b" l="l" r="r" t="t"/>
            <a:pathLst>
              <a:path extrusionOk="0" h="33909" w="731520">
                <a:moveTo>
                  <a:pt x="237109" y="0"/>
                </a:moveTo>
                <a:lnTo>
                  <a:pt x="338709" y="0"/>
                </a:lnTo>
                <a:lnTo>
                  <a:pt x="338709" y="33909"/>
                </a:lnTo>
                <a:lnTo>
                  <a:pt x="237109" y="33909"/>
                </a:lnTo>
                <a:close/>
                <a:moveTo>
                  <a:pt x="474218" y="0"/>
                </a:moveTo>
                <a:lnTo>
                  <a:pt x="575818" y="0"/>
                </a:lnTo>
                <a:lnTo>
                  <a:pt x="575818" y="33909"/>
                </a:lnTo>
                <a:lnTo>
                  <a:pt x="474218" y="33909"/>
                </a:lnTo>
                <a:close/>
                <a:moveTo>
                  <a:pt x="711200" y="0"/>
                </a:moveTo>
                <a:lnTo>
                  <a:pt x="731520" y="0"/>
                </a:lnTo>
                <a:lnTo>
                  <a:pt x="731520" y="33909"/>
                </a:lnTo>
                <a:lnTo>
                  <a:pt x="711200" y="33909"/>
                </a:lnTo>
                <a:close/>
                <a:moveTo>
                  <a:pt x="0" y="33909"/>
                </a:moveTo>
                <a:lnTo>
                  <a:pt x="101600" y="33909"/>
                </a:lnTo>
                <a:lnTo>
                  <a:pt x="0" y="3390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46" name="Google Shape;546;p9"/>
          <p:cNvGrpSpPr/>
          <p:nvPr/>
        </p:nvGrpSpPr>
        <p:grpSpPr>
          <a:xfrm>
            <a:off x="11444868" y="1864229"/>
            <a:ext cx="6073140" cy="1318260"/>
            <a:chOff x="0" y="0"/>
            <a:chExt cx="8097520" cy="1757680"/>
          </a:xfrm>
        </p:grpSpPr>
        <p:sp>
          <p:nvSpPr>
            <p:cNvPr id="547" name="Google Shape;547;p9"/>
            <p:cNvSpPr/>
            <p:nvPr/>
          </p:nvSpPr>
          <p:spPr>
            <a:xfrm>
              <a:off x="25400" y="25400"/>
              <a:ext cx="8046720" cy="1706880"/>
            </a:xfrm>
            <a:custGeom>
              <a:rect b="b" l="l" r="r" t="t"/>
              <a:pathLst>
                <a:path extrusionOk="0" h="1706880" w="8046720">
                  <a:moveTo>
                    <a:pt x="0" y="0"/>
                  </a:moveTo>
                  <a:lnTo>
                    <a:pt x="8046720" y="0"/>
                  </a:lnTo>
                  <a:lnTo>
                    <a:pt x="8046720" y="1706880"/>
                  </a:lnTo>
                  <a:lnTo>
                    <a:pt x="0" y="1706880"/>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9"/>
            <p:cNvSpPr/>
            <p:nvPr/>
          </p:nvSpPr>
          <p:spPr>
            <a:xfrm>
              <a:off x="0" y="0"/>
              <a:ext cx="8097520" cy="1757680"/>
            </a:xfrm>
            <a:custGeom>
              <a:rect b="b" l="l" r="r" t="t"/>
              <a:pathLst>
                <a:path extrusionOk="0" h="1757680" w="8097520">
                  <a:moveTo>
                    <a:pt x="25400" y="0"/>
                  </a:moveTo>
                  <a:lnTo>
                    <a:pt x="8072120" y="0"/>
                  </a:lnTo>
                  <a:cubicBezTo>
                    <a:pt x="8086089" y="0"/>
                    <a:pt x="8097520" y="11430"/>
                    <a:pt x="8097520" y="25400"/>
                  </a:cubicBezTo>
                  <a:lnTo>
                    <a:pt x="8097520" y="1732280"/>
                  </a:lnTo>
                  <a:cubicBezTo>
                    <a:pt x="8097520" y="1746250"/>
                    <a:pt x="8086089" y="1757680"/>
                    <a:pt x="8072120" y="1757680"/>
                  </a:cubicBezTo>
                  <a:lnTo>
                    <a:pt x="25400" y="1757680"/>
                  </a:lnTo>
                  <a:cubicBezTo>
                    <a:pt x="11430" y="1757680"/>
                    <a:pt x="0" y="1746250"/>
                    <a:pt x="0" y="1732280"/>
                  </a:cubicBezTo>
                  <a:lnTo>
                    <a:pt x="0" y="25400"/>
                  </a:lnTo>
                  <a:cubicBezTo>
                    <a:pt x="0" y="11430"/>
                    <a:pt x="11430" y="0"/>
                    <a:pt x="25400" y="0"/>
                  </a:cubicBezTo>
                  <a:moveTo>
                    <a:pt x="25400" y="50800"/>
                  </a:moveTo>
                  <a:lnTo>
                    <a:pt x="25400" y="25400"/>
                  </a:lnTo>
                  <a:lnTo>
                    <a:pt x="50800" y="25400"/>
                  </a:lnTo>
                  <a:lnTo>
                    <a:pt x="50800" y="1732280"/>
                  </a:lnTo>
                  <a:lnTo>
                    <a:pt x="25400" y="1732280"/>
                  </a:lnTo>
                  <a:lnTo>
                    <a:pt x="25400" y="1706880"/>
                  </a:lnTo>
                  <a:lnTo>
                    <a:pt x="8072120" y="1706880"/>
                  </a:lnTo>
                  <a:lnTo>
                    <a:pt x="8072120" y="1732280"/>
                  </a:lnTo>
                  <a:lnTo>
                    <a:pt x="8046720" y="1732280"/>
                  </a:lnTo>
                  <a:lnTo>
                    <a:pt x="8046720" y="25400"/>
                  </a:lnTo>
                  <a:lnTo>
                    <a:pt x="8072120" y="25400"/>
                  </a:lnTo>
                  <a:lnTo>
                    <a:pt x="8072120" y="50800"/>
                  </a:lnTo>
                  <a:lnTo>
                    <a:pt x="25400" y="50800"/>
                  </a:lnTo>
                  <a:close/>
                </a:path>
              </a:pathLst>
            </a:custGeom>
            <a:solidFill>
              <a:srgbClr val="D5DB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9" name="Google Shape;549;p9"/>
          <p:cNvGrpSpPr/>
          <p:nvPr/>
        </p:nvGrpSpPr>
        <p:grpSpPr>
          <a:xfrm>
            <a:off x="11738238" y="1974719"/>
            <a:ext cx="5486400" cy="601599"/>
            <a:chOff x="0" y="0"/>
            <a:chExt cx="7315200" cy="802132"/>
          </a:xfrm>
        </p:grpSpPr>
        <p:sp>
          <p:nvSpPr>
            <p:cNvPr id="550" name="Google Shape;550;p9"/>
            <p:cNvSpPr/>
            <p:nvPr/>
          </p:nvSpPr>
          <p:spPr>
            <a:xfrm>
              <a:off x="0" y="0"/>
              <a:ext cx="7315200" cy="802132"/>
            </a:xfrm>
            <a:custGeom>
              <a:rect b="b" l="l" r="r" t="t"/>
              <a:pathLst>
                <a:path extrusionOk="0" h="802132" w="7315200">
                  <a:moveTo>
                    <a:pt x="0" y="0"/>
                  </a:moveTo>
                  <a:lnTo>
                    <a:pt x="7315200" y="0"/>
                  </a:lnTo>
                  <a:lnTo>
                    <a:pt x="7315200" y="802132"/>
                  </a:lnTo>
                  <a:lnTo>
                    <a:pt x="0" y="802132"/>
                  </a:lnTo>
                  <a:close/>
                </a:path>
              </a:pathLst>
            </a:custGeom>
            <a:blipFill rotWithShape="1">
              <a:blip r:embed="rId3">
                <a:alphaModFix amt="0"/>
              </a:blip>
              <a:stretch>
                <a:fillRect b="-120254" l="0" r="0" t="-13513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9"/>
            <p:cNvSpPr txBox="1"/>
            <p:nvPr/>
          </p:nvSpPr>
          <p:spPr>
            <a:xfrm>
              <a:off x="0" y="0"/>
              <a:ext cx="7315200" cy="8021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Effect</a:t>
              </a:r>
              <a:endParaRPr b="0" i="0" sz="1400" u="none" cap="none" strike="noStrike">
                <a:solidFill>
                  <a:srgbClr val="000000"/>
                </a:solidFill>
                <a:latin typeface="Arial"/>
                <a:ea typeface="Arial"/>
                <a:cs typeface="Arial"/>
                <a:sym typeface="Arial"/>
              </a:endParaRPr>
            </a:p>
          </p:txBody>
        </p:sp>
      </p:grpSp>
      <p:grpSp>
        <p:nvGrpSpPr>
          <p:cNvPr id="552" name="Google Shape;552;p9"/>
          <p:cNvGrpSpPr/>
          <p:nvPr/>
        </p:nvGrpSpPr>
        <p:grpSpPr>
          <a:xfrm>
            <a:off x="11738238" y="2461351"/>
            <a:ext cx="5486400" cy="647224"/>
            <a:chOff x="0" y="-9525"/>
            <a:chExt cx="7315200" cy="862965"/>
          </a:xfrm>
        </p:grpSpPr>
        <p:sp>
          <p:nvSpPr>
            <p:cNvPr id="553" name="Google Shape;553;p9"/>
            <p:cNvSpPr/>
            <p:nvPr/>
          </p:nvSpPr>
          <p:spPr>
            <a:xfrm>
              <a:off x="0" y="0"/>
              <a:ext cx="7315200" cy="853440"/>
            </a:xfrm>
            <a:custGeom>
              <a:rect b="b" l="l" r="r" t="t"/>
              <a:pathLst>
                <a:path extrusionOk="0" h="853440" w="7315200">
                  <a:moveTo>
                    <a:pt x="0" y="0"/>
                  </a:moveTo>
                  <a:lnTo>
                    <a:pt x="7315200" y="0"/>
                  </a:lnTo>
                  <a:lnTo>
                    <a:pt x="7315200" y="853440"/>
                  </a:lnTo>
                  <a:lnTo>
                    <a:pt x="0" y="853440"/>
                  </a:lnTo>
                  <a:close/>
                </a:path>
              </a:pathLst>
            </a:custGeom>
            <a:blipFill rotWithShape="1">
              <a:blip r:embed="rId3">
                <a:alphaModFix amt="0"/>
              </a:blip>
              <a:stretch>
                <a:fillRect b="-117012" l="0" r="0" t="-11701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4" name="Google Shape;554;p9"/>
            <p:cNvSpPr txBox="1"/>
            <p:nvPr/>
          </p:nvSpPr>
          <p:spPr>
            <a:xfrm>
              <a:off x="0" y="-9525"/>
              <a:ext cx="7315200" cy="862965"/>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Arimo"/>
                  <a:ea typeface="Arimo"/>
                  <a:cs typeface="Arimo"/>
                  <a:sym typeface="Arimo"/>
                </a:rPr>
                <a:t>Allow or Deny</a:t>
              </a:r>
              <a:endParaRPr b="0" i="0" sz="1400" u="none" cap="none" strike="noStrike">
                <a:solidFill>
                  <a:srgbClr val="000000"/>
                </a:solidFill>
                <a:latin typeface="Arial"/>
                <a:ea typeface="Arial"/>
                <a:cs typeface="Arial"/>
                <a:sym typeface="Arial"/>
              </a:endParaRPr>
            </a:p>
          </p:txBody>
        </p:sp>
      </p:grpSp>
      <p:sp>
        <p:nvSpPr>
          <p:cNvPr id="555" name="Google Shape;555;p9"/>
          <p:cNvSpPr/>
          <p:nvPr/>
        </p:nvSpPr>
        <p:spPr>
          <a:xfrm>
            <a:off x="866775" y="2679761"/>
            <a:ext cx="10097781" cy="426503"/>
          </a:xfrm>
          <a:custGeom>
            <a:rect b="b" l="l" r="r" t="t"/>
            <a:pathLst>
              <a:path extrusionOk="0" h="570572" w="13508737">
                <a:moveTo>
                  <a:pt x="0" y="0"/>
                </a:moveTo>
                <a:lnTo>
                  <a:pt x="13508737" y="0"/>
                </a:lnTo>
                <a:lnTo>
                  <a:pt x="13508737" y="570572"/>
                </a:lnTo>
                <a:lnTo>
                  <a:pt x="0" y="570572"/>
                </a:lnTo>
                <a:close/>
              </a:path>
            </a:pathLst>
          </a:custGeom>
          <a:solidFill>
            <a:srgbClr val="D5DBDB">
              <a:alpha val="4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65" name="Google Shape;565;p11"/>
          <p:cNvGrpSpPr/>
          <p:nvPr/>
        </p:nvGrpSpPr>
        <p:grpSpPr>
          <a:xfrm>
            <a:off x="914400" y="182880"/>
            <a:ext cx="16459200" cy="1441933"/>
            <a:chOff x="0" y="0"/>
            <a:chExt cx="21945600" cy="1922577"/>
          </a:xfrm>
        </p:grpSpPr>
        <p:sp>
          <p:nvSpPr>
            <p:cNvPr id="566" name="Google Shape;566;p11"/>
            <p:cNvSpPr/>
            <p:nvPr/>
          </p:nvSpPr>
          <p:spPr>
            <a:xfrm>
              <a:off x="0" y="0"/>
              <a:ext cx="21945600" cy="1922577"/>
            </a:xfrm>
            <a:custGeom>
              <a:rect b="b" l="l" r="r" t="t"/>
              <a:pathLst>
                <a:path extrusionOk="0" h="1922577" w="21945600">
                  <a:moveTo>
                    <a:pt x="0" y="0"/>
                  </a:moveTo>
                  <a:lnTo>
                    <a:pt x="21945600" y="0"/>
                  </a:lnTo>
                  <a:lnTo>
                    <a:pt x="21945600" y="1922577"/>
                  </a:lnTo>
                  <a:lnTo>
                    <a:pt x="0" y="1922577"/>
                  </a:lnTo>
                  <a:close/>
                </a:path>
              </a:pathLst>
            </a:custGeom>
            <a:blipFill rotWithShape="1">
              <a:blip r:embed="rId4">
                <a:alphaModFix amt="0"/>
              </a:blip>
              <a:stretch>
                <a:fillRect b="-163613" l="0" r="0" t="-18116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11"/>
            <p:cNvSpPr txBox="1"/>
            <p:nvPr/>
          </p:nvSpPr>
          <p:spPr>
            <a:xfrm>
              <a:off x="0" y="0"/>
              <a:ext cx="21945600" cy="19225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7200"/>
                <a:buFont typeface="Arial"/>
                <a:buNone/>
              </a:pPr>
              <a:r>
                <a:rPr b="1" i="0" lang="en-US" sz="7200" u="none" cap="none" strike="noStrike">
                  <a:solidFill>
                    <a:srgbClr val="FFFFFF"/>
                  </a:solidFill>
                  <a:latin typeface="Montserrat"/>
                  <a:ea typeface="Montserrat"/>
                  <a:cs typeface="Montserrat"/>
                  <a:sym typeface="Montserrat"/>
                </a:rPr>
                <a:t>Policy Evaluation Logic</a:t>
              </a:r>
              <a:endParaRPr b="0" i="0" sz="1400" u="none" cap="none" strike="noStrike">
                <a:solidFill>
                  <a:srgbClr val="000000"/>
                </a:solidFill>
                <a:latin typeface="Arial"/>
                <a:ea typeface="Arial"/>
                <a:cs typeface="Arial"/>
                <a:sym typeface="Arial"/>
              </a:endParaRPr>
            </a:p>
          </p:txBody>
        </p:sp>
      </p:grpSp>
      <p:sp>
        <p:nvSpPr>
          <p:cNvPr id="568" name="Google Shape;568;p11"/>
          <p:cNvSpPr/>
          <p:nvPr/>
        </p:nvSpPr>
        <p:spPr>
          <a:xfrm>
            <a:off x="1159336" y="2447366"/>
            <a:ext cx="15791264" cy="5803289"/>
          </a:xfrm>
          <a:custGeom>
            <a:rect b="b" l="l" r="r" t="t"/>
            <a:pathLst>
              <a:path extrusionOk="0" h="5803289" w="15791264">
                <a:moveTo>
                  <a:pt x="0" y="0"/>
                </a:moveTo>
                <a:lnTo>
                  <a:pt x="15791264" y="0"/>
                </a:lnTo>
                <a:lnTo>
                  <a:pt x="15791264" y="5803289"/>
                </a:lnTo>
                <a:lnTo>
                  <a:pt x="0" y="58032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14"/>
          <p:cNvSpPr/>
          <p:nvPr/>
        </p:nvSpPr>
        <p:spPr>
          <a:xfrm>
            <a:off x="33618"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78" name="Google Shape;578;p14"/>
          <p:cNvGrpSpPr/>
          <p:nvPr/>
        </p:nvGrpSpPr>
        <p:grpSpPr>
          <a:xfrm>
            <a:off x="654116" y="-370161"/>
            <a:ext cx="18188115" cy="2251151"/>
            <a:chOff x="0" y="0"/>
            <a:chExt cx="24250820" cy="3001535"/>
          </a:xfrm>
        </p:grpSpPr>
        <p:sp>
          <p:nvSpPr>
            <p:cNvPr id="579" name="Google Shape;579;p14"/>
            <p:cNvSpPr/>
            <p:nvPr/>
          </p:nvSpPr>
          <p:spPr>
            <a:xfrm>
              <a:off x="0" y="0"/>
              <a:ext cx="24250819" cy="3001535"/>
            </a:xfrm>
            <a:custGeom>
              <a:rect b="b" l="l" r="r" t="t"/>
              <a:pathLst>
                <a:path extrusionOk="0" h="3001535" w="24250819">
                  <a:moveTo>
                    <a:pt x="0" y="0"/>
                  </a:moveTo>
                  <a:lnTo>
                    <a:pt x="24250819" y="0"/>
                  </a:lnTo>
                  <a:lnTo>
                    <a:pt x="24250819" y="3001535"/>
                  </a:lnTo>
                  <a:lnTo>
                    <a:pt x="0" y="3001535"/>
                  </a:lnTo>
                  <a:close/>
                </a:path>
              </a:pathLst>
            </a:custGeom>
            <a:blipFill rotWithShape="1">
              <a:blip r:embed="rId4">
                <a:alphaModFix amt="0"/>
              </a:blip>
              <a:stretch>
                <a:fillRect b="-68860" l="0" r="9504" t="-1160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0" name="Google Shape;580;p14"/>
            <p:cNvSpPr txBox="1"/>
            <p:nvPr/>
          </p:nvSpPr>
          <p:spPr>
            <a:xfrm>
              <a:off x="0" y="0"/>
              <a:ext cx="24250820" cy="30015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6400"/>
                <a:buFont typeface="Arial"/>
                <a:buNone/>
              </a:pPr>
              <a:r>
                <a:rPr b="1" i="0" lang="en-US" sz="6400" u="none" cap="none" strike="noStrike">
                  <a:solidFill>
                    <a:srgbClr val="FFFFFF"/>
                  </a:solidFill>
                  <a:latin typeface="Montserrat"/>
                  <a:ea typeface="Montserrat"/>
                  <a:cs typeface="Montserrat"/>
                  <a:sym typeface="Montserrat"/>
                </a:rPr>
                <a:t>Trust Policies: A Special Resource Policy</a:t>
              </a:r>
              <a:endParaRPr b="0" i="0" sz="1400" u="none" cap="none" strike="noStrike">
                <a:solidFill>
                  <a:srgbClr val="000000"/>
                </a:solidFill>
                <a:latin typeface="Arial"/>
                <a:ea typeface="Arial"/>
                <a:cs typeface="Arial"/>
                <a:sym typeface="Arial"/>
              </a:endParaRPr>
            </a:p>
          </p:txBody>
        </p:sp>
      </p:grpSp>
      <p:grpSp>
        <p:nvGrpSpPr>
          <p:cNvPr id="581" name="Google Shape;581;p14"/>
          <p:cNvGrpSpPr/>
          <p:nvPr/>
        </p:nvGrpSpPr>
        <p:grpSpPr>
          <a:xfrm>
            <a:off x="763121" y="1468685"/>
            <a:ext cx="16459200" cy="1084771"/>
            <a:chOff x="0" y="-19050"/>
            <a:chExt cx="21945600" cy="1446361"/>
          </a:xfrm>
        </p:grpSpPr>
        <p:sp>
          <p:nvSpPr>
            <p:cNvPr id="582" name="Google Shape;582;p14"/>
            <p:cNvSpPr/>
            <p:nvPr/>
          </p:nvSpPr>
          <p:spPr>
            <a:xfrm>
              <a:off x="0" y="0"/>
              <a:ext cx="21945600" cy="1427311"/>
            </a:xfrm>
            <a:custGeom>
              <a:rect b="b" l="l" r="r" t="t"/>
              <a:pathLst>
                <a:path extrusionOk="0" h="1427311" w="21945600">
                  <a:moveTo>
                    <a:pt x="0" y="0"/>
                  </a:moveTo>
                  <a:lnTo>
                    <a:pt x="21945600" y="0"/>
                  </a:lnTo>
                  <a:lnTo>
                    <a:pt x="21945600" y="1427311"/>
                  </a:lnTo>
                  <a:lnTo>
                    <a:pt x="0" y="1427311"/>
                  </a:lnTo>
                  <a:close/>
                </a:path>
              </a:pathLst>
            </a:custGeom>
            <a:blipFill rotWithShape="1">
              <a:blip r:embed="rId4">
                <a:alphaModFix amt="0"/>
              </a:blip>
              <a:stretch>
                <a:fillRect b="-233731" l="0" r="0" t="-2653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14"/>
            <p:cNvSpPr txBox="1"/>
            <p:nvPr/>
          </p:nvSpPr>
          <p:spPr>
            <a:xfrm>
              <a:off x="0" y="-19050"/>
              <a:ext cx="21945600" cy="144636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CBD5E1"/>
                  </a:solidFill>
                  <a:latin typeface="Arimo"/>
                  <a:ea typeface="Arimo"/>
                  <a:cs typeface="Arimo"/>
                  <a:sym typeface="Arimo"/>
                </a:rPr>
                <a:t>A trust policy is the resource policy on an IAM role. It controls WHO can assume that role and use the associated permissions.</a:t>
              </a:r>
              <a:endParaRPr b="0" i="0" sz="1400" u="none" cap="none" strike="noStrike">
                <a:solidFill>
                  <a:srgbClr val="000000"/>
                </a:solidFill>
                <a:latin typeface="Arial"/>
                <a:ea typeface="Arial"/>
                <a:cs typeface="Arial"/>
                <a:sym typeface="Arial"/>
              </a:endParaRPr>
            </a:p>
          </p:txBody>
        </p:sp>
      </p:grpSp>
      <p:grpSp>
        <p:nvGrpSpPr>
          <p:cNvPr id="584" name="Google Shape;584;p14"/>
          <p:cNvGrpSpPr/>
          <p:nvPr/>
        </p:nvGrpSpPr>
        <p:grpSpPr>
          <a:xfrm>
            <a:off x="235325" y="2680075"/>
            <a:ext cx="9663963" cy="5455610"/>
            <a:chOff x="0" y="0"/>
            <a:chExt cx="12217400" cy="6852920"/>
          </a:xfrm>
        </p:grpSpPr>
        <p:sp>
          <p:nvSpPr>
            <p:cNvPr id="585" name="Google Shape;585;p14"/>
            <p:cNvSpPr/>
            <p:nvPr/>
          </p:nvSpPr>
          <p:spPr>
            <a:xfrm>
              <a:off x="12700" y="12700"/>
              <a:ext cx="12192000" cy="6827520"/>
            </a:xfrm>
            <a:custGeom>
              <a:rect b="b" l="l" r="r" t="t"/>
              <a:pathLst>
                <a:path extrusionOk="0" h="6827520" w="12192000">
                  <a:moveTo>
                    <a:pt x="0" y="0"/>
                  </a:moveTo>
                  <a:lnTo>
                    <a:pt x="12192000" y="0"/>
                  </a:lnTo>
                  <a:lnTo>
                    <a:pt x="12192000" y="6827520"/>
                  </a:lnTo>
                  <a:lnTo>
                    <a:pt x="0" y="6827520"/>
                  </a:lnTo>
                  <a:close/>
                </a:path>
              </a:pathLst>
            </a:custGeom>
            <a:solidFill>
              <a:srgbClr val="0D11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6" name="Google Shape;586;p14"/>
            <p:cNvSpPr/>
            <p:nvPr/>
          </p:nvSpPr>
          <p:spPr>
            <a:xfrm>
              <a:off x="0" y="0"/>
              <a:ext cx="12217400" cy="6852920"/>
            </a:xfrm>
            <a:custGeom>
              <a:rect b="b" l="l" r="r" t="t"/>
              <a:pathLst>
                <a:path extrusionOk="0" h="6852920" w="12217400">
                  <a:moveTo>
                    <a:pt x="12700" y="0"/>
                  </a:moveTo>
                  <a:lnTo>
                    <a:pt x="12204700" y="0"/>
                  </a:lnTo>
                  <a:cubicBezTo>
                    <a:pt x="12211685" y="0"/>
                    <a:pt x="12217400" y="5715"/>
                    <a:pt x="12217400" y="12700"/>
                  </a:cubicBezTo>
                  <a:lnTo>
                    <a:pt x="12217400" y="6840220"/>
                  </a:lnTo>
                  <a:cubicBezTo>
                    <a:pt x="12217400" y="6847205"/>
                    <a:pt x="12211685" y="6852920"/>
                    <a:pt x="12204700" y="6852920"/>
                  </a:cubicBezTo>
                  <a:lnTo>
                    <a:pt x="12700" y="6852920"/>
                  </a:lnTo>
                  <a:cubicBezTo>
                    <a:pt x="5715" y="6852920"/>
                    <a:pt x="0" y="6847205"/>
                    <a:pt x="0" y="6840220"/>
                  </a:cubicBezTo>
                  <a:lnTo>
                    <a:pt x="0" y="12700"/>
                  </a:lnTo>
                  <a:cubicBezTo>
                    <a:pt x="0" y="5715"/>
                    <a:pt x="5715" y="0"/>
                    <a:pt x="12700" y="0"/>
                  </a:cubicBezTo>
                  <a:moveTo>
                    <a:pt x="12700" y="25400"/>
                  </a:moveTo>
                  <a:lnTo>
                    <a:pt x="12700" y="12700"/>
                  </a:lnTo>
                  <a:lnTo>
                    <a:pt x="25400" y="12700"/>
                  </a:lnTo>
                  <a:lnTo>
                    <a:pt x="25400" y="6840220"/>
                  </a:lnTo>
                  <a:lnTo>
                    <a:pt x="12700" y="6840220"/>
                  </a:lnTo>
                  <a:lnTo>
                    <a:pt x="12700" y="6827520"/>
                  </a:lnTo>
                  <a:lnTo>
                    <a:pt x="12204700" y="6827520"/>
                  </a:lnTo>
                  <a:lnTo>
                    <a:pt x="12204700" y="6840220"/>
                  </a:lnTo>
                  <a:lnTo>
                    <a:pt x="12192000" y="6840220"/>
                  </a:lnTo>
                  <a:lnTo>
                    <a:pt x="12192000" y="12700"/>
                  </a:lnTo>
                  <a:lnTo>
                    <a:pt x="12204700" y="12700"/>
                  </a:lnTo>
                  <a:lnTo>
                    <a:pt x="12204700" y="25400"/>
                  </a:lnTo>
                  <a:lnTo>
                    <a:pt x="12700" y="25400"/>
                  </a:lnTo>
                  <a:close/>
                </a:path>
              </a:pathLst>
            </a:custGeom>
            <a:solidFill>
              <a:srgbClr val="4755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7" name="Google Shape;587;p14"/>
          <p:cNvGrpSpPr/>
          <p:nvPr/>
        </p:nvGrpSpPr>
        <p:grpSpPr>
          <a:xfrm>
            <a:off x="10438568" y="3139411"/>
            <a:ext cx="7315200" cy="548640"/>
            <a:chOff x="0" y="0"/>
            <a:chExt cx="9753600" cy="731520"/>
          </a:xfrm>
        </p:grpSpPr>
        <p:sp>
          <p:nvSpPr>
            <p:cNvPr id="588" name="Google Shape;588;p14"/>
            <p:cNvSpPr/>
            <p:nvPr/>
          </p:nvSpPr>
          <p:spPr>
            <a:xfrm>
              <a:off x="0" y="0"/>
              <a:ext cx="9753600" cy="731520"/>
            </a:xfrm>
            <a:custGeom>
              <a:rect b="b" l="l" r="r" t="t"/>
              <a:pathLst>
                <a:path extrusionOk="0" h="731520" w="9753600">
                  <a:moveTo>
                    <a:pt x="0" y="0"/>
                  </a:moveTo>
                  <a:lnTo>
                    <a:pt x="9753600" y="0"/>
                  </a:lnTo>
                  <a:lnTo>
                    <a:pt x="9753600" y="731520"/>
                  </a:lnTo>
                  <a:lnTo>
                    <a:pt x="0" y="731520"/>
                  </a:lnTo>
                  <a:close/>
                </a:path>
              </a:pathLst>
            </a:custGeom>
            <a:blipFill rotWithShape="1">
              <a:blip r:embed="rId4">
                <a:alphaModFix amt="0"/>
              </a:blip>
              <a:stretch>
                <a:fillRect b="-209794" l="0" r="0" t="-2097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p14"/>
            <p:cNvSpPr txBox="1"/>
            <p:nvPr/>
          </p:nvSpPr>
          <p:spPr>
            <a:xfrm>
              <a:off x="0" y="0"/>
              <a:ext cx="9753600" cy="7315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600"/>
                <a:buFont typeface="Arial"/>
                <a:buNone/>
              </a:pPr>
              <a:r>
                <a:rPr b="1" i="0" lang="en-US" sz="3600" u="none" cap="none" strike="noStrike">
                  <a:solidFill>
                    <a:srgbClr val="22D3EE"/>
                  </a:solidFill>
                  <a:latin typeface="Montserrat"/>
                  <a:ea typeface="Montserrat"/>
                  <a:cs typeface="Montserrat"/>
                  <a:sym typeface="Montserrat"/>
                </a:rPr>
                <a:t>Principal</a:t>
              </a:r>
              <a:endParaRPr b="0" i="0" sz="1400" u="none" cap="none" strike="noStrike">
                <a:solidFill>
                  <a:srgbClr val="000000"/>
                </a:solidFill>
                <a:latin typeface="Arial"/>
                <a:ea typeface="Arial"/>
                <a:cs typeface="Arial"/>
                <a:sym typeface="Arial"/>
              </a:endParaRPr>
            </a:p>
          </p:txBody>
        </p:sp>
      </p:grpSp>
      <p:grpSp>
        <p:nvGrpSpPr>
          <p:cNvPr id="590" name="Google Shape;590;p14"/>
          <p:cNvGrpSpPr/>
          <p:nvPr/>
        </p:nvGrpSpPr>
        <p:grpSpPr>
          <a:xfrm>
            <a:off x="10438568" y="4867246"/>
            <a:ext cx="7315200" cy="548640"/>
            <a:chOff x="0" y="0"/>
            <a:chExt cx="9753600" cy="731520"/>
          </a:xfrm>
        </p:grpSpPr>
        <p:sp>
          <p:nvSpPr>
            <p:cNvPr id="591" name="Google Shape;591;p14"/>
            <p:cNvSpPr/>
            <p:nvPr/>
          </p:nvSpPr>
          <p:spPr>
            <a:xfrm>
              <a:off x="0" y="0"/>
              <a:ext cx="9753600" cy="731520"/>
            </a:xfrm>
            <a:custGeom>
              <a:rect b="b" l="l" r="r" t="t"/>
              <a:pathLst>
                <a:path extrusionOk="0" h="731520" w="9753600">
                  <a:moveTo>
                    <a:pt x="0" y="0"/>
                  </a:moveTo>
                  <a:lnTo>
                    <a:pt x="9753600" y="0"/>
                  </a:lnTo>
                  <a:lnTo>
                    <a:pt x="9753600" y="731520"/>
                  </a:lnTo>
                  <a:lnTo>
                    <a:pt x="0" y="731520"/>
                  </a:lnTo>
                  <a:close/>
                </a:path>
              </a:pathLst>
            </a:custGeom>
            <a:blipFill rotWithShape="1">
              <a:blip r:embed="rId4">
                <a:alphaModFix amt="0"/>
              </a:blip>
              <a:stretch>
                <a:fillRect b="-209794" l="0" r="0" t="-2097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14"/>
            <p:cNvSpPr txBox="1"/>
            <p:nvPr/>
          </p:nvSpPr>
          <p:spPr>
            <a:xfrm>
              <a:off x="0" y="0"/>
              <a:ext cx="9753600" cy="7315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600"/>
                <a:buFont typeface="Arial"/>
                <a:buNone/>
              </a:pPr>
              <a:r>
                <a:rPr b="1" i="0" lang="en-US" sz="3600" u="none" cap="none" strike="noStrike">
                  <a:solidFill>
                    <a:srgbClr val="F59E0B"/>
                  </a:solidFill>
                  <a:latin typeface="Montserrat"/>
                  <a:ea typeface="Montserrat"/>
                  <a:cs typeface="Montserrat"/>
                  <a:sym typeface="Montserrat"/>
                </a:rPr>
                <a:t>Action</a:t>
              </a:r>
              <a:endParaRPr b="0" i="0" sz="1400" u="none" cap="none" strike="noStrike">
                <a:solidFill>
                  <a:srgbClr val="000000"/>
                </a:solidFill>
                <a:latin typeface="Arial"/>
                <a:ea typeface="Arial"/>
                <a:cs typeface="Arial"/>
                <a:sym typeface="Arial"/>
              </a:endParaRPr>
            </a:p>
          </p:txBody>
        </p:sp>
      </p:grpSp>
      <p:grpSp>
        <p:nvGrpSpPr>
          <p:cNvPr id="593" name="Google Shape;593;p14"/>
          <p:cNvGrpSpPr/>
          <p:nvPr/>
        </p:nvGrpSpPr>
        <p:grpSpPr>
          <a:xfrm>
            <a:off x="10438568" y="6431251"/>
            <a:ext cx="7315200" cy="548640"/>
            <a:chOff x="0" y="0"/>
            <a:chExt cx="9753600" cy="731520"/>
          </a:xfrm>
        </p:grpSpPr>
        <p:sp>
          <p:nvSpPr>
            <p:cNvPr id="594" name="Google Shape;594;p14"/>
            <p:cNvSpPr/>
            <p:nvPr/>
          </p:nvSpPr>
          <p:spPr>
            <a:xfrm>
              <a:off x="0" y="0"/>
              <a:ext cx="9753600" cy="731520"/>
            </a:xfrm>
            <a:custGeom>
              <a:rect b="b" l="l" r="r" t="t"/>
              <a:pathLst>
                <a:path extrusionOk="0" h="731520" w="9753600">
                  <a:moveTo>
                    <a:pt x="0" y="0"/>
                  </a:moveTo>
                  <a:lnTo>
                    <a:pt x="9753600" y="0"/>
                  </a:lnTo>
                  <a:lnTo>
                    <a:pt x="9753600" y="731520"/>
                  </a:lnTo>
                  <a:lnTo>
                    <a:pt x="0" y="731520"/>
                  </a:lnTo>
                  <a:close/>
                </a:path>
              </a:pathLst>
            </a:custGeom>
            <a:blipFill rotWithShape="1">
              <a:blip r:embed="rId4">
                <a:alphaModFix amt="0"/>
              </a:blip>
              <a:stretch>
                <a:fillRect b="-209794" l="0" r="0" t="-2097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5" name="Google Shape;595;p14"/>
            <p:cNvSpPr txBox="1"/>
            <p:nvPr/>
          </p:nvSpPr>
          <p:spPr>
            <a:xfrm>
              <a:off x="0" y="0"/>
              <a:ext cx="9753600" cy="7315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600"/>
                <a:buFont typeface="Arial"/>
                <a:buNone/>
              </a:pPr>
              <a:r>
                <a:rPr b="1" i="0" lang="en-US" sz="3600" u="none" cap="none" strike="noStrike">
                  <a:solidFill>
                    <a:srgbClr val="F87171"/>
                  </a:solidFill>
                  <a:latin typeface="Montserrat"/>
                  <a:ea typeface="Montserrat"/>
                  <a:cs typeface="Montserrat"/>
                  <a:sym typeface="Montserrat"/>
                </a:rPr>
                <a:t>Condition</a:t>
              </a:r>
              <a:endParaRPr b="0" i="0" sz="1400" u="none" cap="none" strike="noStrike">
                <a:solidFill>
                  <a:srgbClr val="000000"/>
                </a:solidFill>
                <a:latin typeface="Arial"/>
                <a:ea typeface="Arial"/>
                <a:cs typeface="Arial"/>
                <a:sym typeface="Arial"/>
              </a:endParaRPr>
            </a:p>
          </p:txBody>
        </p:sp>
      </p:grpSp>
      <p:sp>
        <p:nvSpPr>
          <p:cNvPr descr="Authenticated user resource icon for the General Icons category." id="596" name="Google Shape;596;p14"/>
          <p:cNvSpPr/>
          <p:nvPr/>
        </p:nvSpPr>
        <p:spPr>
          <a:xfrm>
            <a:off x="3875351" y="8596876"/>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14"/>
          <p:cNvSpPr/>
          <p:nvPr/>
        </p:nvSpPr>
        <p:spPr>
          <a:xfrm>
            <a:off x="5637057" y="9419041"/>
            <a:ext cx="2770795" cy="523932"/>
          </a:xfrm>
          <a:custGeom>
            <a:rect b="b" l="l" r="r" t="t"/>
            <a:pathLst>
              <a:path extrusionOk="0" h="523932" w="2770795">
                <a:moveTo>
                  <a:pt x="0" y="0"/>
                </a:moveTo>
                <a:lnTo>
                  <a:pt x="2770795" y="0"/>
                </a:lnTo>
                <a:lnTo>
                  <a:pt x="2770795" y="523933"/>
                </a:lnTo>
                <a:lnTo>
                  <a:pt x="0" y="52393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8" name="Google Shape;598;p14"/>
          <p:cNvSpPr txBox="1"/>
          <p:nvPr/>
        </p:nvSpPr>
        <p:spPr>
          <a:xfrm>
            <a:off x="369800" y="2798538"/>
            <a:ext cx="9246000" cy="52440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Consolas"/>
                <a:ea typeface="Consolas"/>
                <a:cs typeface="Consolas"/>
                <a:sym typeface="Consolas"/>
              </a:rPr>
              <a:t>  "Effect": "Allow",</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22D3EE"/>
                </a:solidFill>
                <a:latin typeface="Consolas"/>
                <a:ea typeface="Consolas"/>
                <a:cs typeface="Consolas"/>
                <a:sym typeface="Consolas"/>
              </a:rPr>
              <a:t>  "Principal"</a:t>
            </a:r>
            <a:r>
              <a:rPr b="0" i="0" lang="en-US" sz="24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22D3EE"/>
                </a:solidFill>
                <a:latin typeface="Consolas"/>
                <a:ea typeface="Consolas"/>
                <a:cs typeface="Consolas"/>
                <a:sym typeface="Consolas"/>
              </a:rPr>
              <a:t>    "AWS": "arn:aws:iam::123456789012:role/ci-runner"</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F59E0B"/>
                </a:solidFill>
                <a:latin typeface="Consolas"/>
                <a:ea typeface="Consolas"/>
                <a:cs typeface="Consolas"/>
                <a:sym typeface="Consolas"/>
              </a:rPr>
              <a:t>  "Action": "sts:AssumeRole",</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Consolas"/>
                <a:ea typeface="Consolas"/>
                <a:cs typeface="Consolas"/>
                <a:sym typeface="Consolas"/>
              </a:rPr>
              <a:t>  "Condition": {</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Consolas"/>
                <a:ea typeface="Consolas"/>
                <a:cs typeface="Consolas"/>
                <a:sym typeface="Consolas"/>
              </a:rPr>
              <a:t>    "StringEquals": {</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Consolas"/>
                <a:ea typeface="Consolas"/>
                <a:cs typeface="Consolas"/>
                <a:sym typeface="Consolas"/>
              </a:rPr>
              <a:t>      "aws:PrincipalTag/team": "platform"</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F8717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599" name="Google Shape;599;p14"/>
          <p:cNvSpPr txBox="1"/>
          <p:nvPr/>
        </p:nvSpPr>
        <p:spPr>
          <a:xfrm>
            <a:off x="10438568" y="3669001"/>
            <a:ext cx="7315200" cy="9480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WHO can assume — could be another role, user, account, or AWS service</a:t>
            </a:r>
            <a:endParaRPr b="0" i="0" sz="1400" u="none" cap="none" strike="noStrike">
              <a:solidFill>
                <a:srgbClr val="000000"/>
              </a:solidFill>
              <a:latin typeface="Arial"/>
              <a:ea typeface="Arial"/>
              <a:cs typeface="Arial"/>
              <a:sym typeface="Arial"/>
            </a:endParaRPr>
          </a:p>
        </p:txBody>
      </p:sp>
      <p:sp>
        <p:nvSpPr>
          <p:cNvPr id="600" name="Google Shape;600;p14"/>
          <p:cNvSpPr txBox="1"/>
          <p:nvPr/>
        </p:nvSpPr>
        <p:spPr>
          <a:xfrm>
            <a:off x="10438568" y="5396836"/>
            <a:ext cx="7315200" cy="9480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Always sts:AssumeRole</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(or AssumeRoleWithSAML, etc.)</a:t>
            </a:r>
            <a:endParaRPr b="0" i="0" sz="1400" u="none" cap="none" strike="noStrike">
              <a:solidFill>
                <a:srgbClr val="000000"/>
              </a:solidFill>
              <a:latin typeface="Arial"/>
              <a:ea typeface="Arial"/>
              <a:cs typeface="Arial"/>
              <a:sym typeface="Arial"/>
            </a:endParaRPr>
          </a:p>
        </p:txBody>
      </p:sp>
      <p:sp>
        <p:nvSpPr>
          <p:cNvPr id="601" name="Google Shape;601;p14"/>
          <p:cNvSpPr txBox="1"/>
          <p:nvPr/>
        </p:nvSpPr>
        <p:spPr>
          <a:xfrm>
            <a:off x="10438568" y="6960841"/>
            <a:ext cx="7315200" cy="9480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Optional guardrails — tags,</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Arimo"/>
                <a:ea typeface="Arimo"/>
                <a:cs typeface="Arimo"/>
                <a:sym typeface="Arimo"/>
              </a:rPr>
              <a:t>source IP, external ID</a:t>
            </a:r>
            <a:endParaRPr b="0" i="0" sz="1400" u="none" cap="none" strike="noStrike">
              <a:solidFill>
                <a:srgbClr val="000000"/>
              </a:solidFill>
              <a:latin typeface="Arial"/>
              <a:ea typeface="Arial"/>
              <a:cs typeface="Arial"/>
              <a:sym typeface="Arial"/>
            </a:endParaRPr>
          </a:p>
        </p:txBody>
      </p:sp>
      <p:sp>
        <p:nvSpPr>
          <p:cNvPr id="602" name="Google Shape;602;p14"/>
          <p:cNvSpPr txBox="1"/>
          <p:nvPr/>
        </p:nvSpPr>
        <p:spPr>
          <a:xfrm>
            <a:off x="5637057" y="9210675"/>
            <a:ext cx="2246100" cy="277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FFFFFF"/>
                </a:solidFill>
                <a:latin typeface="Arial"/>
                <a:ea typeface="Arial"/>
                <a:cs typeface="Arial"/>
                <a:sym typeface="Arial"/>
              </a:rPr>
              <a:t>sts:AssumeRole</a:t>
            </a:r>
            <a:endParaRPr b="0" i="0" sz="1400" u="none" cap="none" strike="noStrike">
              <a:solidFill>
                <a:srgbClr val="000000"/>
              </a:solidFill>
              <a:latin typeface="Arial"/>
              <a:ea typeface="Arial"/>
              <a:cs typeface="Arial"/>
              <a:sym typeface="Arial"/>
            </a:endParaRPr>
          </a:p>
        </p:txBody>
      </p:sp>
      <p:sp>
        <p:nvSpPr>
          <p:cNvPr id="603" name="Google Shape;603;p14"/>
          <p:cNvSpPr txBox="1"/>
          <p:nvPr/>
        </p:nvSpPr>
        <p:spPr>
          <a:xfrm>
            <a:off x="3196077" y="9519674"/>
            <a:ext cx="2246100" cy="609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FFFFFF"/>
                </a:solidFill>
                <a:latin typeface="Arial"/>
                <a:ea typeface="Arial"/>
                <a:cs typeface="Arial"/>
                <a:sym typeface="Arial"/>
              </a:rPr>
              <a:t>authenticated IAM user or role</a:t>
            </a:r>
            <a:endParaRPr b="0" i="0" sz="1400" u="none" cap="none" strike="noStrike">
              <a:solidFill>
                <a:srgbClr val="000000"/>
              </a:solidFill>
              <a:latin typeface="Arial"/>
              <a:ea typeface="Arial"/>
              <a:cs typeface="Arial"/>
              <a:sym typeface="Arial"/>
            </a:endParaRPr>
          </a:p>
        </p:txBody>
      </p:sp>
      <p:sp>
        <p:nvSpPr>
          <p:cNvPr descr="Role resource icon for the IAM service." id="604" name="Google Shape;604;p14"/>
          <p:cNvSpPr/>
          <p:nvPr/>
        </p:nvSpPr>
        <p:spPr>
          <a:xfrm>
            <a:off x="10376102" y="8596876"/>
            <a:ext cx="1165012" cy="1165012"/>
          </a:xfrm>
          <a:custGeom>
            <a:rect b="b" l="l" r="r" t="t"/>
            <a:pathLst>
              <a:path extrusionOk="0" h="1165012" w="1165012">
                <a:moveTo>
                  <a:pt x="0" y="0"/>
                </a:moveTo>
                <a:lnTo>
                  <a:pt x="1165013" y="0"/>
                </a:lnTo>
                <a:lnTo>
                  <a:pt x="1165013" y="1165012"/>
                </a:lnTo>
                <a:lnTo>
                  <a:pt x="0" y="116501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5" name="Google Shape;605;p14"/>
          <p:cNvSpPr txBox="1"/>
          <p:nvPr/>
        </p:nvSpPr>
        <p:spPr>
          <a:xfrm>
            <a:off x="8539586" y="9519674"/>
            <a:ext cx="4922100" cy="609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800"/>
              <a:buFont typeface="Arial"/>
              <a:buNone/>
            </a:pPr>
            <a:r>
              <a:rPr b="0" i="0" lang="en-US" sz="1800" u="none" cap="none" strike="noStrike">
                <a:solidFill>
                  <a:srgbClr val="FFFFFF"/>
                </a:solidFill>
                <a:latin typeface="Arial"/>
                <a:ea typeface="Arial"/>
                <a:cs typeface="Arial"/>
                <a:sym typeface="Arial"/>
              </a:rPr>
              <a:t>Now has short term credentials for (and therefor permissions of) newly assumed role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3"/>
          <p:cNvSpPr/>
          <p:nvPr/>
        </p:nvSpPr>
        <p:spPr>
          <a:xfrm>
            <a:off x="1594875" y="-8762"/>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15" name="Google Shape;615;p13"/>
          <p:cNvGrpSpPr/>
          <p:nvPr/>
        </p:nvGrpSpPr>
        <p:grpSpPr>
          <a:xfrm>
            <a:off x="914400" y="274320"/>
            <a:ext cx="16459200" cy="1463040"/>
            <a:chOff x="0" y="0"/>
            <a:chExt cx="21945600" cy="1950720"/>
          </a:xfrm>
        </p:grpSpPr>
        <p:sp>
          <p:nvSpPr>
            <p:cNvPr id="616" name="Google Shape;616;p13"/>
            <p:cNvSpPr/>
            <p:nvPr/>
          </p:nvSpPr>
          <p:spPr>
            <a:xfrm>
              <a:off x="0" y="0"/>
              <a:ext cx="21945600" cy="1950720"/>
            </a:xfrm>
            <a:custGeom>
              <a:rect b="b" l="l" r="r" t="t"/>
              <a:pathLst>
                <a:path extrusionOk="0" h="1950720" w="21945600">
                  <a:moveTo>
                    <a:pt x="0" y="0"/>
                  </a:moveTo>
                  <a:lnTo>
                    <a:pt x="21945600" y="0"/>
                  </a:lnTo>
                  <a:lnTo>
                    <a:pt x="21945600" y="1950720"/>
                  </a:lnTo>
                  <a:lnTo>
                    <a:pt x="0" y="1950720"/>
                  </a:lnTo>
                  <a:close/>
                </a:path>
              </a:pathLst>
            </a:custGeom>
            <a:blipFill rotWithShape="1">
              <a:blip r:embed="rId4">
                <a:alphaModFix amt="0"/>
              </a:blip>
              <a:stretch>
                <a:fillRect b="-169190" l="0" r="0" t="-1691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p13"/>
            <p:cNvSpPr txBox="1"/>
            <p:nvPr/>
          </p:nvSpPr>
          <p:spPr>
            <a:xfrm>
              <a:off x="0" y="0"/>
              <a:ext cx="21945600" cy="19507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7200"/>
                <a:buFont typeface="Arial"/>
                <a:buNone/>
              </a:pPr>
              <a:r>
                <a:rPr b="1" i="0" lang="en-US" sz="7200" u="none" cap="none" strike="noStrike">
                  <a:solidFill>
                    <a:srgbClr val="FFFFFF"/>
                  </a:solidFill>
                  <a:latin typeface="Montserrat"/>
                  <a:ea typeface="Montserrat"/>
                  <a:cs typeface="Montserrat"/>
                  <a:sym typeface="Montserrat"/>
                </a:rPr>
                <a:t>Deep Dive on Conditions</a:t>
              </a:r>
              <a:endParaRPr b="0" i="0" sz="1400" u="none" cap="none" strike="noStrike">
                <a:solidFill>
                  <a:srgbClr val="000000"/>
                </a:solidFill>
                <a:latin typeface="Arial"/>
                <a:ea typeface="Arial"/>
                <a:cs typeface="Arial"/>
                <a:sym typeface="Arial"/>
              </a:endParaRPr>
            </a:p>
          </p:txBody>
        </p:sp>
      </p:grpSp>
      <p:grpSp>
        <p:nvGrpSpPr>
          <p:cNvPr id="618" name="Google Shape;618;p13"/>
          <p:cNvGrpSpPr/>
          <p:nvPr/>
        </p:nvGrpSpPr>
        <p:grpSpPr>
          <a:xfrm>
            <a:off x="914400" y="1533049"/>
            <a:ext cx="16459200" cy="661511"/>
            <a:chOff x="0" y="-28575"/>
            <a:chExt cx="21945600" cy="882015"/>
          </a:xfrm>
        </p:grpSpPr>
        <p:sp>
          <p:nvSpPr>
            <p:cNvPr id="619" name="Google Shape;619;p13"/>
            <p:cNvSpPr/>
            <p:nvPr/>
          </p:nvSpPr>
          <p:spPr>
            <a:xfrm>
              <a:off x="0" y="0"/>
              <a:ext cx="21945600" cy="853440"/>
            </a:xfrm>
            <a:custGeom>
              <a:rect b="b" l="l" r="r" t="t"/>
              <a:pathLst>
                <a:path extrusionOk="0" h="853440" w="21945600">
                  <a:moveTo>
                    <a:pt x="0" y="0"/>
                  </a:moveTo>
                  <a:lnTo>
                    <a:pt x="21945600" y="0"/>
                  </a:lnTo>
                  <a:lnTo>
                    <a:pt x="21945600" y="853440"/>
                  </a:lnTo>
                  <a:lnTo>
                    <a:pt x="0" y="853440"/>
                  </a:lnTo>
                  <a:close/>
                </a:path>
              </a:pathLst>
            </a:custGeom>
            <a:blipFill rotWithShape="1">
              <a:blip r:embed="rId4">
                <a:alphaModFix amt="0"/>
              </a:blip>
              <a:stretch>
                <a:fillRect b="-450902" l="0" r="0" t="-45090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0" name="Google Shape;620;p13"/>
            <p:cNvSpPr txBox="1"/>
            <p:nvPr/>
          </p:nvSpPr>
          <p:spPr>
            <a:xfrm>
              <a:off x="0" y="-28575"/>
              <a:ext cx="21945600" cy="8820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0" i="0" lang="en-US" sz="3200" u="none" cap="none" strike="noStrike">
                  <a:solidFill>
                    <a:srgbClr val="CBD5E1"/>
                  </a:solidFill>
                  <a:latin typeface="Arimo"/>
                  <a:ea typeface="Arimo"/>
                  <a:cs typeface="Arimo"/>
                  <a:sym typeface="Arimo"/>
                </a:rPr>
                <a:t>The Condition element adds context-based restrictions to a policy statement.</a:t>
              </a:r>
              <a:endParaRPr b="0" i="0" sz="1400" u="none" cap="none" strike="noStrike">
                <a:solidFill>
                  <a:srgbClr val="000000"/>
                </a:solidFill>
                <a:latin typeface="Arial"/>
                <a:ea typeface="Arial"/>
                <a:cs typeface="Arial"/>
                <a:sym typeface="Arial"/>
              </a:endParaRPr>
            </a:p>
          </p:txBody>
        </p:sp>
      </p:grpSp>
      <p:grpSp>
        <p:nvGrpSpPr>
          <p:cNvPr id="621" name="Google Shape;621;p13"/>
          <p:cNvGrpSpPr/>
          <p:nvPr/>
        </p:nvGrpSpPr>
        <p:grpSpPr>
          <a:xfrm>
            <a:off x="722000" y="2459350"/>
            <a:ext cx="10260329" cy="7669129"/>
            <a:chOff x="0" y="0"/>
            <a:chExt cx="13680439" cy="9535160"/>
          </a:xfrm>
        </p:grpSpPr>
        <p:sp>
          <p:nvSpPr>
            <p:cNvPr id="622" name="Google Shape;622;p13"/>
            <p:cNvSpPr/>
            <p:nvPr/>
          </p:nvSpPr>
          <p:spPr>
            <a:xfrm>
              <a:off x="12700" y="12700"/>
              <a:ext cx="13655039" cy="9509760"/>
            </a:xfrm>
            <a:custGeom>
              <a:rect b="b" l="l" r="r" t="t"/>
              <a:pathLst>
                <a:path extrusionOk="0" h="9509760" w="13655039">
                  <a:moveTo>
                    <a:pt x="0" y="0"/>
                  </a:moveTo>
                  <a:lnTo>
                    <a:pt x="13655039" y="0"/>
                  </a:lnTo>
                  <a:lnTo>
                    <a:pt x="13655039" y="9509760"/>
                  </a:lnTo>
                  <a:lnTo>
                    <a:pt x="0" y="9509760"/>
                  </a:lnTo>
                  <a:close/>
                </a:path>
              </a:pathLst>
            </a:custGeom>
            <a:solidFill>
              <a:srgbClr val="0D11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13"/>
            <p:cNvSpPr/>
            <p:nvPr/>
          </p:nvSpPr>
          <p:spPr>
            <a:xfrm>
              <a:off x="0" y="0"/>
              <a:ext cx="13680439" cy="9535160"/>
            </a:xfrm>
            <a:custGeom>
              <a:rect b="b" l="l" r="r" t="t"/>
              <a:pathLst>
                <a:path extrusionOk="0" h="9535160" w="13680439">
                  <a:moveTo>
                    <a:pt x="12700" y="0"/>
                  </a:moveTo>
                  <a:lnTo>
                    <a:pt x="13667739" y="0"/>
                  </a:lnTo>
                  <a:cubicBezTo>
                    <a:pt x="13674725" y="0"/>
                    <a:pt x="13680439" y="5715"/>
                    <a:pt x="13680439" y="12700"/>
                  </a:cubicBezTo>
                  <a:lnTo>
                    <a:pt x="13680439" y="9522460"/>
                  </a:lnTo>
                  <a:cubicBezTo>
                    <a:pt x="13680439" y="9529445"/>
                    <a:pt x="13674725" y="9535160"/>
                    <a:pt x="13667739" y="9535160"/>
                  </a:cubicBezTo>
                  <a:lnTo>
                    <a:pt x="12700" y="9535160"/>
                  </a:lnTo>
                  <a:cubicBezTo>
                    <a:pt x="5715" y="9535160"/>
                    <a:pt x="0" y="9529445"/>
                    <a:pt x="0" y="9522460"/>
                  </a:cubicBezTo>
                  <a:lnTo>
                    <a:pt x="0" y="12700"/>
                  </a:lnTo>
                  <a:cubicBezTo>
                    <a:pt x="0" y="5715"/>
                    <a:pt x="5715" y="0"/>
                    <a:pt x="12700" y="0"/>
                  </a:cubicBezTo>
                  <a:moveTo>
                    <a:pt x="12700" y="25400"/>
                  </a:moveTo>
                  <a:lnTo>
                    <a:pt x="12700" y="12700"/>
                  </a:lnTo>
                  <a:lnTo>
                    <a:pt x="25400" y="12700"/>
                  </a:lnTo>
                  <a:lnTo>
                    <a:pt x="25400" y="9522460"/>
                  </a:lnTo>
                  <a:lnTo>
                    <a:pt x="12700" y="9522460"/>
                  </a:lnTo>
                  <a:lnTo>
                    <a:pt x="12700" y="9509760"/>
                  </a:lnTo>
                  <a:lnTo>
                    <a:pt x="13667739" y="9509760"/>
                  </a:lnTo>
                  <a:lnTo>
                    <a:pt x="13667739" y="9522460"/>
                  </a:lnTo>
                  <a:lnTo>
                    <a:pt x="13655039" y="9522460"/>
                  </a:lnTo>
                  <a:lnTo>
                    <a:pt x="13655039" y="12700"/>
                  </a:lnTo>
                  <a:lnTo>
                    <a:pt x="13667739" y="12700"/>
                  </a:lnTo>
                  <a:lnTo>
                    <a:pt x="13667739" y="25400"/>
                  </a:lnTo>
                  <a:lnTo>
                    <a:pt x="12700" y="25400"/>
                  </a:lnTo>
                  <a:close/>
                </a:path>
              </a:pathLst>
            </a:custGeom>
            <a:solidFill>
              <a:srgbClr val="4755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4" name="Google Shape;624;p13"/>
          <p:cNvSpPr/>
          <p:nvPr/>
        </p:nvSpPr>
        <p:spPr>
          <a:xfrm>
            <a:off x="841248" y="6031584"/>
            <a:ext cx="10131553" cy="2615184"/>
          </a:xfrm>
          <a:custGeom>
            <a:rect b="b" l="l" r="r" t="t"/>
            <a:pathLst>
              <a:path extrusionOk="0" h="3486912" w="13508737">
                <a:moveTo>
                  <a:pt x="0" y="0"/>
                </a:moveTo>
                <a:lnTo>
                  <a:pt x="13508737" y="0"/>
                </a:lnTo>
                <a:lnTo>
                  <a:pt x="13508737" y="3486912"/>
                </a:lnTo>
                <a:lnTo>
                  <a:pt x="0" y="3486912"/>
                </a:lnTo>
                <a:close/>
              </a:path>
            </a:pathLst>
          </a:custGeom>
          <a:solidFill>
            <a:srgbClr val="2A101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p13"/>
          <p:cNvSpPr txBox="1"/>
          <p:nvPr/>
        </p:nvSpPr>
        <p:spPr>
          <a:xfrm>
            <a:off x="841248" y="2459355"/>
            <a:ext cx="9674400" cy="76692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"Version": "2012-10-17",</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"Statement":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"Sid": "AllowPassRoleToEC2Only",</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"Effect": "Allow",</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"Action": "iam:PassRole",</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"Resource": "arn:aws:iam::*:role/iamws-ci-*",</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F87171"/>
                </a:solidFill>
                <a:latin typeface="Consolas"/>
                <a:ea typeface="Consolas"/>
                <a:cs typeface="Consolas"/>
                <a:sym typeface="Consolas"/>
              </a:rPr>
              <a:t>    "Condition"</a:t>
            </a:r>
            <a:r>
              <a:rPr b="0" i="0" lang="en-US" sz="2799"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F87171"/>
                </a:solidFill>
                <a:latin typeface="Consolas"/>
                <a:ea typeface="Consolas"/>
                <a:cs typeface="Consolas"/>
                <a:sym typeface="Consolas"/>
              </a:rPr>
              <a:t>      "StringEquals"</a:t>
            </a:r>
            <a:r>
              <a:rPr b="0" i="0" lang="en-US" sz="2799"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F87171"/>
                </a:solidFill>
                <a:latin typeface="Consolas"/>
                <a:ea typeface="Consolas"/>
                <a:cs typeface="Consolas"/>
                <a:sym typeface="Consolas"/>
              </a:rPr>
              <a:t>        "iam:PassedToService"</a:t>
            </a:r>
            <a:r>
              <a:rPr b="0" i="0" lang="en-US" sz="2799"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F87171"/>
                </a:solidFill>
                <a:latin typeface="Consolas"/>
                <a:ea typeface="Consolas"/>
                <a:cs typeface="Consolas"/>
                <a:sym typeface="Consolas"/>
              </a:rPr>
              <a:t>          "ec2.amazonaws.com"</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799"/>
              <a:buFont typeface="Arial"/>
              <a:buNone/>
            </a:pPr>
            <a:r>
              <a:rPr b="0" i="0" lang="en-US" sz="2799" u="none" cap="none" strike="noStrike">
                <a:solidFill>
                  <a:srgbClr val="CBD5E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626" name="Google Shape;626;p13"/>
          <p:cNvSpPr/>
          <p:nvPr/>
        </p:nvSpPr>
        <p:spPr>
          <a:xfrm>
            <a:off x="10994993" y="7284844"/>
            <a:ext cx="548640" cy="25431"/>
          </a:xfrm>
          <a:custGeom>
            <a:rect b="b" l="l" r="r" t="t"/>
            <a:pathLst>
              <a:path extrusionOk="0" h="33909" w="731520">
                <a:moveTo>
                  <a:pt x="237109" y="0"/>
                </a:moveTo>
                <a:lnTo>
                  <a:pt x="338709" y="0"/>
                </a:lnTo>
                <a:lnTo>
                  <a:pt x="338709" y="33909"/>
                </a:lnTo>
                <a:lnTo>
                  <a:pt x="237109" y="33909"/>
                </a:lnTo>
                <a:close/>
                <a:moveTo>
                  <a:pt x="474218" y="0"/>
                </a:moveTo>
                <a:lnTo>
                  <a:pt x="575818" y="0"/>
                </a:lnTo>
                <a:lnTo>
                  <a:pt x="575818" y="33909"/>
                </a:lnTo>
                <a:lnTo>
                  <a:pt x="474218" y="33909"/>
                </a:lnTo>
                <a:close/>
                <a:moveTo>
                  <a:pt x="711200" y="0"/>
                </a:moveTo>
                <a:lnTo>
                  <a:pt x="731520" y="0"/>
                </a:lnTo>
                <a:lnTo>
                  <a:pt x="731520" y="33909"/>
                </a:lnTo>
                <a:lnTo>
                  <a:pt x="711200" y="33909"/>
                </a:lnTo>
                <a:close/>
                <a:moveTo>
                  <a:pt x="0" y="33909"/>
                </a:moveTo>
                <a:lnTo>
                  <a:pt x="101600" y="33909"/>
                </a:lnTo>
                <a:lnTo>
                  <a:pt x="0" y="33909"/>
                </a:lnTo>
                <a:close/>
              </a:path>
            </a:pathLst>
          </a:custGeom>
          <a:solidFill>
            <a:srgbClr val="F8717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27" name="Google Shape;627;p13"/>
          <p:cNvGrpSpPr/>
          <p:nvPr/>
        </p:nvGrpSpPr>
        <p:grpSpPr>
          <a:xfrm>
            <a:off x="11546843" y="4653755"/>
            <a:ext cx="6217215" cy="4747420"/>
            <a:chOff x="0" y="0"/>
            <a:chExt cx="8289621" cy="6329893"/>
          </a:xfrm>
        </p:grpSpPr>
        <p:sp>
          <p:nvSpPr>
            <p:cNvPr id="628" name="Google Shape;628;p13"/>
            <p:cNvSpPr/>
            <p:nvPr/>
          </p:nvSpPr>
          <p:spPr>
            <a:xfrm>
              <a:off x="26003" y="91472"/>
              <a:ext cx="8237616" cy="6146948"/>
            </a:xfrm>
            <a:custGeom>
              <a:rect b="b" l="l" r="r" t="t"/>
              <a:pathLst>
                <a:path extrusionOk="0" h="6146948" w="8237616">
                  <a:moveTo>
                    <a:pt x="0" y="0"/>
                  </a:moveTo>
                  <a:lnTo>
                    <a:pt x="8237616" y="0"/>
                  </a:lnTo>
                  <a:lnTo>
                    <a:pt x="8237616" y="6146948"/>
                  </a:lnTo>
                  <a:lnTo>
                    <a:pt x="0" y="6146948"/>
                  </a:lnTo>
                  <a:close/>
                </a:path>
              </a:pathLst>
            </a:custGeom>
            <a:solidFill>
              <a:srgbClr val="1A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9" name="Google Shape;629;p13"/>
            <p:cNvSpPr/>
            <p:nvPr/>
          </p:nvSpPr>
          <p:spPr>
            <a:xfrm>
              <a:off x="0" y="0"/>
              <a:ext cx="8289621" cy="6329893"/>
            </a:xfrm>
            <a:custGeom>
              <a:rect b="b" l="l" r="r" t="t"/>
              <a:pathLst>
                <a:path extrusionOk="0" h="6329893" w="8289621">
                  <a:moveTo>
                    <a:pt x="26003" y="0"/>
                  </a:moveTo>
                  <a:lnTo>
                    <a:pt x="8263619" y="0"/>
                  </a:lnTo>
                  <a:cubicBezTo>
                    <a:pt x="8277920" y="0"/>
                    <a:pt x="8289621" y="41163"/>
                    <a:pt x="8289621" y="91472"/>
                  </a:cubicBezTo>
                  <a:lnTo>
                    <a:pt x="8289621" y="6238420"/>
                  </a:lnTo>
                  <a:cubicBezTo>
                    <a:pt x="8289621" y="6288730"/>
                    <a:pt x="8277920" y="6329893"/>
                    <a:pt x="8263619" y="6329893"/>
                  </a:cubicBezTo>
                  <a:lnTo>
                    <a:pt x="26003" y="6329893"/>
                  </a:lnTo>
                  <a:cubicBezTo>
                    <a:pt x="11701" y="6329893"/>
                    <a:pt x="0" y="6288730"/>
                    <a:pt x="0" y="6238420"/>
                  </a:cubicBezTo>
                  <a:lnTo>
                    <a:pt x="0" y="91472"/>
                  </a:lnTo>
                  <a:cubicBezTo>
                    <a:pt x="0" y="41163"/>
                    <a:pt x="11701" y="0"/>
                    <a:pt x="26003" y="0"/>
                  </a:cubicBezTo>
                  <a:moveTo>
                    <a:pt x="26003" y="182945"/>
                  </a:moveTo>
                  <a:lnTo>
                    <a:pt x="26003" y="91472"/>
                  </a:lnTo>
                  <a:lnTo>
                    <a:pt x="52005" y="91472"/>
                  </a:lnTo>
                  <a:lnTo>
                    <a:pt x="52005" y="6238420"/>
                  </a:lnTo>
                  <a:lnTo>
                    <a:pt x="26003" y="6238420"/>
                  </a:lnTo>
                  <a:lnTo>
                    <a:pt x="26003" y="6146948"/>
                  </a:lnTo>
                  <a:lnTo>
                    <a:pt x="8263619" y="6146948"/>
                  </a:lnTo>
                  <a:lnTo>
                    <a:pt x="8263619" y="6238420"/>
                  </a:lnTo>
                  <a:lnTo>
                    <a:pt x="8237616" y="6238420"/>
                  </a:lnTo>
                  <a:lnTo>
                    <a:pt x="8237616" y="91472"/>
                  </a:lnTo>
                  <a:lnTo>
                    <a:pt x="8263619" y="91472"/>
                  </a:lnTo>
                  <a:lnTo>
                    <a:pt x="8263619" y="182945"/>
                  </a:lnTo>
                  <a:lnTo>
                    <a:pt x="26003" y="182945"/>
                  </a:lnTo>
                  <a:close/>
                </a:path>
              </a:pathLst>
            </a:custGeom>
            <a:solidFill>
              <a:srgbClr val="F8717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0" name="Google Shape;630;p13"/>
          <p:cNvSpPr txBox="1"/>
          <p:nvPr/>
        </p:nvSpPr>
        <p:spPr>
          <a:xfrm>
            <a:off x="11777472" y="4933569"/>
            <a:ext cx="5596128" cy="40233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1" i="0" lang="en-US" sz="2600" u="none" cap="none" strike="noStrike">
                <a:solidFill>
                  <a:srgbClr val="F87171"/>
                </a:solidFill>
                <a:latin typeface="Montserrat"/>
                <a:ea typeface="Montserrat"/>
                <a:cs typeface="Montserrat"/>
                <a:sym typeface="Montserrat"/>
              </a:rPr>
              <a:t>Operator</a:t>
            </a:r>
            <a:endParaRPr b="0" i="0" sz="1400" u="none" cap="none" strike="noStrike">
              <a:solidFill>
                <a:srgbClr val="000000"/>
              </a:solidFill>
              <a:latin typeface="Arial"/>
              <a:ea typeface="Arial"/>
              <a:cs typeface="Arial"/>
              <a:sym typeface="Arial"/>
            </a:endParaRPr>
          </a:p>
        </p:txBody>
      </p:sp>
      <p:sp>
        <p:nvSpPr>
          <p:cNvPr id="631" name="Google Shape;631;p13"/>
          <p:cNvSpPr txBox="1"/>
          <p:nvPr/>
        </p:nvSpPr>
        <p:spPr>
          <a:xfrm>
            <a:off x="11777472" y="5316855"/>
            <a:ext cx="5596128"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StringEquals, ArnLike, IpAddress, Bool — how to compare the value</a:t>
            </a:r>
            <a:endParaRPr b="0" i="0" sz="1400" u="none" cap="none" strike="noStrike">
              <a:solidFill>
                <a:srgbClr val="000000"/>
              </a:solidFill>
              <a:latin typeface="Arial"/>
              <a:ea typeface="Arial"/>
              <a:cs typeface="Arial"/>
              <a:sym typeface="Arial"/>
            </a:endParaRPr>
          </a:p>
        </p:txBody>
      </p:sp>
      <p:sp>
        <p:nvSpPr>
          <p:cNvPr id="632" name="Google Shape;632;p13"/>
          <p:cNvSpPr txBox="1"/>
          <p:nvPr/>
        </p:nvSpPr>
        <p:spPr>
          <a:xfrm>
            <a:off x="11753593" y="6313551"/>
            <a:ext cx="5596128" cy="40233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1" i="0" lang="en-US" sz="2600" u="none" cap="none" strike="noStrike">
                <a:solidFill>
                  <a:srgbClr val="F87171"/>
                </a:solidFill>
                <a:latin typeface="Montserrat"/>
                <a:ea typeface="Montserrat"/>
                <a:cs typeface="Montserrat"/>
                <a:sym typeface="Montserrat"/>
              </a:rPr>
              <a:t>Condition Key</a:t>
            </a:r>
            <a:endParaRPr b="0" i="0" sz="1400" u="none" cap="none" strike="noStrike">
              <a:solidFill>
                <a:srgbClr val="000000"/>
              </a:solidFill>
              <a:latin typeface="Arial"/>
              <a:ea typeface="Arial"/>
              <a:cs typeface="Arial"/>
              <a:sym typeface="Arial"/>
            </a:endParaRPr>
          </a:p>
        </p:txBody>
      </p:sp>
      <p:sp>
        <p:nvSpPr>
          <p:cNvPr id="633" name="Google Shape;633;p13"/>
          <p:cNvSpPr txBox="1"/>
          <p:nvPr/>
        </p:nvSpPr>
        <p:spPr>
          <a:xfrm>
            <a:off x="11753593" y="6696837"/>
            <a:ext cx="5596128" cy="78714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iam:PassedToService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the context value checked</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at request time.</a:t>
            </a:r>
            <a:endParaRPr b="0" i="0" sz="1400" u="none" cap="none" strike="noStrike">
              <a:solidFill>
                <a:srgbClr val="000000"/>
              </a:solidFill>
              <a:latin typeface="Arial"/>
              <a:ea typeface="Arial"/>
              <a:cs typeface="Arial"/>
              <a:sym typeface="Arial"/>
            </a:endParaRPr>
          </a:p>
        </p:txBody>
      </p:sp>
      <p:sp>
        <p:nvSpPr>
          <p:cNvPr id="634" name="Google Shape;634;p13"/>
          <p:cNvSpPr txBox="1"/>
          <p:nvPr/>
        </p:nvSpPr>
        <p:spPr>
          <a:xfrm>
            <a:off x="11753593" y="8083296"/>
            <a:ext cx="5596128" cy="40233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600"/>
              <a:buFont typeface="Arial"/>
              <a:buNone/>
            </a:pPr>
            <a:r>
              <a:rPr b="1" i="0" lang="en-US" sz="2600" u="none" cap="none" strike="noStrike">
                <a:solidFill>
                  <a:srgbClr val="F87171"/>
                </a:solidFill>
                <a:latin typeface="Montserrat"/>
                <a:ea typeface="Montserrat"/>
                <a:cs typeface="Montserrat"/>
                <a:sym typeface="Montserrat"/>
              </a:rPr>
              <a:t>Value</a:t>
            </a:r>
            <a:endParaRPr b="0" i="0" sz="1400" u="none" cap="none" strike="noStrike">
              <a:solidFill>
                <a:srgbClr val="000000"/>
              </a:solidFill>
              <a:latin typeface="Arial"/>
              <a:ea typeface="Arial"/>
              <a:cs typeface="Arial"/>
              <a:sym typeface="Arial"/>
            </a:endParaRPr>
          </a:p>
        </p:txBody>
      </p:sp>
      <p:sp>
        <p:nvSpPr>
          <p:cNvPr id="635" name="Google Shape;635;p13"/>
          <p:cNvSpPr txBox="1"/>
          <p:nvPr/>
        </p:nvSpPr>
        <p:spPr>
          <a:xfrm>
            <a:off x="11753593" y="8466582"/>
            <a:ext cx="5596128"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CBD5E1"/>
                </a:solidFill>
                <a:latin typeface="Arimo"/>
                <a:ea typeface="Arimo"/>
                <a:cs typeface="Arimo"/>
                <a:sym typeface="Arimo"/>
              </a:rPr>
              <a:t>"ec2.amazonaws.com" — the role can ONLY be passed to EC2, not Lambda or others.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grpSp>
        <p:nvGrpSpPr>
          <p:cNvPr id="644" name="Google Shape;644;g3bdc728e12b_0_0"/>
          <p:cNvGrpSpPr/>
          <p:nvPr/>
        </p:nvGrpSpPr>
        <p:grpSpPr>
          <a:xfrm>
            <a:off x="219285" y="182875"/>
            <a:ext cx="18560475" cy="1188725"/>
            <a:chOff x="-926820" y="-7"/>
            <a:chExt cx="24747300" cy="1584967"/>
          </a:xfrm>
        </p:grpSpPr>
        <p:sp>
          <p:nvSpPr>
            <p:cNvPr id="645" name="Google Shape;645;g3bdc728e12b_0_0"/>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3">
                <a:alphaModFix amt="0"/>
              </a:blip>
              <a:stretch>
                <a:fillRect b="-219763" l="0" r="0" t="-2197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g3bdc728e12b_0_0"/>
            <p:cNvSpPr txBox="1"/>
            <p:nvPr/>
          </p:nvSpPr>
          <p:spPr>
            <a:xfrm>
              <a:off x="-926820" y="-7"/>
              <a:ext cx="24747300" cy="1584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6600"/>
                <a:buFont typeface="Arial"/>
                <a:buNone/>
              </a:pPr>
              <a:r>
                <a:rPr b="1" i="0" lang="en-US" sz="6600" u="none" cap="none" strike="noStrike">
                  <a:solidFill>
                    <a:srgbClr val="FFFFFF"/>
                  </a:solidFill>
                  <a:latin typeface="Montserrat"/>
                  <a:ea typeface="Montserrat"/>
                  <a:cs typeface="Montserrat"/>
                  <a:sym typeface="Montserrat"/>
                </a:rPr>
                <a:t>Attribute Based Access Control (ABAC)</a:t>
              </a:r>
              <a:endParaRPr b="0" i="0" sz="800" u="none" cap="none" strike="noStrike">
                <a:solidFill>
                  <a:srgbClr val="000000"/>
                </a:solidFill>
                <a:latin typeface="Arial"/>
                <a:ea typeface="Arial"/>
                <a:cs typeface="Arial"/>
                <a:sym typeface="Arial"/>
              </a:endParaRPr>
            </a:p>
          </p:txBody>
        </p:sp>
      </p:grpSp>
      <p:pic>
        <p:nvPicPr>
          <p:cNvPr id="647" name="Google Shape;647;g3bdc728e12b_0_0"/>
          <p:cNvPicPr preferRelativeResize="0"/>
          <p:nvPr/>
        </p:nvPicPr>
        <p:blipFill rotWithShape="1">
          <a:blip r:embed="rId4">
            <a:alphaModFix/>
          </a:blip>
          <a:srcRect b="0" l="0" r="0" t="0"/>
          <a:stretch/>
        </p:blipFill>
        <p:spPr>
          <a:xfrm>
            <a:off x="1926700" y="1995073"/>
            <a:ext cx="14219475" cy="6296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grpSp>
        <p:nvGrpSpPr>
          <p:cNvPr id="656" name="Google Shape;656;p15"/>
          <p:cNvGrpSpPr/>
          <p:nvPr/>
        </p:nvGrpSpPr>
        <p:grpSpPr>
          <a:xfrm>
            <a:off x="832421" y="1442188"/>
            <a:ext cx="16623158" cy="3736181"/>
            <a:chOff x="0" y="-104775"/>
            <a:chExt cx="22164210" cy="4981575"/>
          </a:xfrm>
        </p:grpSpPr>
        <p:sp>
          <p:nvSpPr>
            <p:cNvPr id="657" name="Google Shape;657;p15"/>
            <p:cNvSpPr/>
            <p:nvPr/>
          </p:nvSpPr>
          <p:spPr>
            <a:xfrm>
              <a:off x="0" y="0"/>
              <a:ext cx="22164210" cy="4876800"/>
            </a:xfrm>
            <a:custGeom>
              <a:rect b="b" l="l" r="r" t="t"/>
              <a:pathLst>
                <a:path extrusionOk="0" h="4876800" w="22164210">
                  <a:moveTo>
                    <a:pt x="0" y="0"/>
                  </a:moveTo>
                  <a:lnTo>
                    <a:pt x="22164210" y="0"/>
                  </a:lnTo>
                  <a:lnTo>
                    <a:pt x="22164210" y="4876800"/>
                  </a:lnTo>
                  <a:lnTo>
                    <a:pt x="0" y="4876800"/>
                  </a:lnTo>
                  <a:close/>
                </a:path>
              </a:pathLst>
            </a:custGeom>
            <a:blipFill rotWithShape="1">
              <a:blip r:embed="rId3">
                <a:alphaModFix amt="0"/>
              </a:blip>
              <a:stretch>
                <a:fillRect b="-32807" l="0" r="6486" t="-328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p15"/>
            <p:cNvSpPr txBox="1"/>
            <p:nvPr/>
          </p:nvSpPr>
          <p:spPr>
            <a:xfrm>
              <a:off x="0" y="-104775"/>
              <a:ext cx="22164210" cy="4981575"/>
            </a:xfrm>
            <a:prstGeom prst="rect">
              <a:avLst/>
            </a:prstGeom>
            <a:noFill/>
            <a:ln>
              <a:noFill/>
            </a:ln>
          </p:spPr>
          <p:txBody>
            <a:bodyPr anchorCtr="0" anchor="ctr" bIns="0" lIns="0" spcFirstLastPara="1" rIns="0" wrap="square" tIns="0">
              <a:noAutofit/>
            </a:bodyPr>
            <a:lstStyle/>
            <a:p>
              <a:pPr indent="0" lvl="0" marL="0" marR="0" rtl="0" algn="ctr">
                <a:lnSpc>
                  <a:spcPct val="132000"/>
                </a:lnSpc>
                <a:spcBef>
                  <a:spcPts val="0"/>
                </a:spcBef>
                <a:spcAft>
                  <a:spcPts val="0"/>
                </a:spcAft>
                <a:buClr>
                  <a:srgbClr val="000000"/>
                </a:buClr>
                <a:buSzPts val="9600"/>
                <a:buFont typeface="Arial"/>
                <a:buNone/>
              </a:pPr>
              <a:r>
                <a:rPr b="1" i="0" lang="en-US" sz="9600" u="none" cap="none" strike="noStrike">
                  <a:solidFill>
                    <a:srgbClr val="FFFFFF"/>
                  </a:solidFill>
                  <a:latin typeface="Montserrat"/>
                  <a:ea typeface="Montserrat"/>
                  <a:cs typeface="Montserrat"/>
                  <a:sym typeface="Montserrat"/>
                </a:rPr>
                <a:t>AWS Privilege Escalation for Fun and Profit</a:t>
              </a:r>
              <a:endParaRPr b="0" i="0" sz="1400" u="none" cap="none" strike="noStrike">
                <a:solidFill>
                  <a:srgbClr val="000000"/>
                </a:solidFill>
                <a:latin typeface="Arial"/>
                <a:ea typeface="Arial"/>
                <a:cs typeface="Arial"/>
                <a:sym typeface="Arial"/>
              </a:endParaRPr>
            </a:p>
          </p:txBody>
        </p:sp>
      </p:grpSp>
      <p:sp>
        <p:nvSpPr>
          <p:cNvPr id="659" name="Google Shape;659;p15"/>
          <p:cNvSpPr/>
          <p:nvPr/>
        </p:nvSpPr>
        <p:spPr>
          <a:xfrm>
            <a:off x="6712009" y="5178370"/>
            <a:ext cx="3792042" cy="4290853"/>
          </a:xfrm>
          <a:custGeom>
            <a:rect b="b" l="l" r="r" t="t"/>
            <a:pathLst>
              <a:path extrusionOk="0" h="4290853" w="3792042">
                <a:moveTo>
                  <a:pt x="0" y="0"/>
                </a:moveTo>
                <a:lnTo>
                  <a:pt x="3792041" y="0"/>
                </a:lnTo>
                <a:lnTo>
                  <a:pt x="3792041" y="4290853"/>
                </a:lnTo>
                <a:lnTo>
                  <a:pt x="0" y="429085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69" name="Google Shape;669;p16"/>
          <p:cNvGrpSpPr/>
          <p:nvPr/>
        </p:nvGrpSpPr>
        <p:grpSpPr>
          <a:xfrm>
            <a:off x="914400" y="182880"/>
            <a:ext cx="16459200" cy="1518336"/>
            <a:chOff x="0" y="0"/>
            <a:chExt cx="21945600" cy="2024448"/>
          </a:xfrm>
        </p:grpSpPr>
        <p:sp>
          <p:nvSpPr>
            <p:cNvPr id="670" name="Google Shape;670;p16"/>
            <p:cNvSpPr/>
            <p:nvPr/>
          </p:nvSpPr>
          <p:spPr>
            <a:xfrm>
              <a:off x="0" y="0"/>
              <a:ext cx="21945600" cy="2024448"/>
            </a:xfrm>
            <a:custGeom>
              <a:rect b="b" l="l" r="r" t="t"/>
              <a:pathLst>
                <a:path extrusionOk="0" h="2024448" w="21945600">
                  <a:moveTo>
                    <a:pt x="0" y="0"/>
                  </a:moveTo>
                  <a:lnTo>
                    <a:pt x="21945600" y="0"/>
                  </a:lnTo>
                  <a:lnTo>
                    <a:pt x="21945600" y="2024448"/>
                  </a:lnTo>
                  <a:lnTo>
                    <a:pt x="0" y="2024448"/>
                  </a:lnTo>
                  <a:close/>
                </a:path>
              </a:pathLst>
            </a:custGeom>
            <a:blipFill rotWithShape="1">
              <a:blip r:embed="rId4">
                <a:alphaModFix amt="0"/>
              </a:blip>
              <a:stretch>
                <a:fillRect b="-153369" l="0" r="0" t="-16905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1" name="Google Shape;671;p16"/>
            <p:cNvSpPr txBox="1"/>
            <p:nvPr/>
          </p:nvSpPr>
          <p:spPr>
            <a:xfrm>
              <a:off x="0" y="0"/>
              <a:ext cx="21945600" cy="20244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7600"/>
                <a:buFont typeface="Arial"/>
                <a:buNone/>
              </a:pPr>
              <a:r>
                <a:rPr b="1" i="0" lang="en-US" sz="7600" u="none" cap="none" strike="noStrike">
                  <a:solidFill>
                    <a:srgbClr val="FFFFFF"/>
                  </a:solidFill>
                  <a:latin typeface="Montserrat"/>
                  <a:ea typeface="Montserrat"/>
                  <a:cs typeface="Montserrat"/>
                  <a:sym typeface="Montserrat"/>
                </a:rPr>
                <a:t>Types of Privilege Escalation</a:t>
              </a:r>
              <a:endParaRPr b="0" i="0" sz="1400" u="none" cap="none" strike="noStrike">
                <a:solidFill>
                  <a:srgbClr val="000000"/>
                </a:solidFill>
                <a:latin typeface="Arial"/>
                <a:ea typeface="Arial"/>
                <a:cs typeface="Arial"/>
                <a:sym typeface="Arial"/>
              </a:endParaRPr>
            </a:p>
          </p:txBody>
        </p:sp>
      </p:grpSp>
      <p:graphicFrame>
        <p:nvGraphicFramePr>
          <p:cNvPr id="672" name="Google Shape;672;p16"/>
          <p:cNvGraphicFramePr/>
          <p:nvPr/>
        </p:nvGraphicFramePr>
        <p:xfrm>
          <a:off x="939800" y="2032583"/>
          <a:ext cx="3000000" cy="3000000"/>
        </p:xfrm>
        <a:graphic>
          <a:graphicData uri="http://schemas.openxmlformats.org/drawingml/2006/table">
            <a:tbl>
              <a:tblPr>
                <a:noFill/>
                <a:tableStyleId>{79643B1D-9803-458B-AC4E-7CA0FF1CF9E7}</a:tableStyleId>
              </a:tblPr>
              <a:tblGrid>
                <a:gridCol w="4382350"/>
                <a:gridCol w="6573525"/>
                <a:gridCol w="5477925"/>
              </a:tblGrid>
              <a:tr h="655025">
                <a:tc>
                  <a:txBody>
                    <a:bodyPr/>
                    <a:lstStyle/>
                    <a:p>
                      <a:pPr indent="0" lvl="0" marL="0" marR="0" rtl="0" algn="l">
                        <a:lnSpc>
                          <a:spcPct val="120007"/>
                        </a:lnSpc>
                        <a:spcBef>
                          <a:spcPts val="0"/>
                        </a:spcBef>
                        <a:spcAft>
                          <a:spcPts val="0"/>
                        </a:spcAft>
                        <a:buClr>
                          <a:srgbClr val="000000"/>
                        </a:buClr>
                        <a:buSzPts val="2799"/>
                        <a:buFont typeface="Arial"/>
                        <a:buNone/>
                      </a:pPr>
                      <a:r>
                        <a:rPr b="1" lang="en-US" sz="2799" u="none" cap="none" strike="noStrike">
                          <a:solidFill>
                            <a:srgbClr val="64748B"/>
                          </a:solidFill>
                          <a:latin typeface="Montserrat"/>
                          <a:ea typeface="Montserrat"/>
                          <a:cs typeface="Montserrat"/>
                          <a:sym typeface="Montserrat"/>
                        </a:rPr>
                        <a:t>Category</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64748B"/>
                      </a:solidFill>
                      <a:prstDash val="solid"/>
                      <a:round/>
                      <a:headEnd len="sm" w="sm" type="none"/>
                      <a:tailEnd len="sm" w="sm" type="none"/>
                    </a:lnB>
                    <a:solidFill>
                      <a:srgbClr val="0B1120"/>
                    </a:solidFill>
                  </a:tcPr>
                </a:tc>
                <a:tc>
                  <a:txBody>
                    <a:bodyPr/>
                    <a:lstStyle/>
                    <a:p>
                      <a:pPr indent="0" lvl="0" marL="0" marR="0" rtl="0" algn="l">
                        <a:lnSpc>
                          <a:spcPct val="120007"/>
                        </a:lnSpc>
                        <a:spcBef>
                          <a:spcPts val="0"/>
                        </a:spcBef>
                        <a:spcAft>
                          <a:spcPts val="0"/>
                        </a:spcAft>
                        <a:buClr>
                          <a:srgbClr val="000000"/>
                        </a:buClr>
                        <a:buSzPts val="2799"/>
                        <a:buFont typeface="Arial"/>
                        <a:buNone/>
                      </a:pPr>
                      <a:r>
                        <a:rPr b="1" lang="en-US" sz="2799" u="none" cap="none" strike="noStrike">
                          <a:solidFill>
                            <a:srgbClr val="64748B"/>
                          </a:solidFill>
                          <a:latin typeface="Montserrat"/>
                          <a:ea typeface="Montserrat"/>
                          <a:cs typeface="Montserrat"/>
                          <a:sym typeface="Montserrat"/>
                        </a:rPr>
                        <a:t>What Happens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64748B"/>
                      </a:solidFill>
                      <a:prstDash val="solid"/>
                      <a:round/>
                      <a:headEnd len="sm" w="sm" type="none"/>
                      <a:tailEnd len="sm" w="sm" type="none"/>
                    </a:lnB>
                    <a:solidFill>
                      <a:srgbClr val="0B1120"/>
                    </a:solidFill>
                  </a:tcPr>
                </a:tc>
                <a:tc>
                  <a:txBody>
                    <a:bodyPr/>
                    <a:lstStyle/>
                    <a:p>
                      <a:pPr indent="0" lvl="0" marL="0" marR="0" rtl="0" algn="r">
                        <a:lnSpc>
                          <a:spcPct val="120007"/>
                        </a:lnSpc>
                        <a:spcBef>
                          <a:spcPts val="0"/>
                        </a:spcBef>
                        <a:spcAft>
                          <a:spcPts val="0"/>
                        </a:spcAft>
                        <a:buClr>
                          <a:srgbClr val="000000"/>
                        </a:buClr>
                        <a:buSzPts val="2799"/>
                        <a:buFont typeface="Arial"/>
                        <a:buNone/>
                      </a:pPr>
                      <a:r>
                        <a:rPr b="1" lang="en-US" sz="2799" u="none" cap="none" strike="noStrike">
                          <a:solidFill>
                            <a:srgbClr val="64748B"/>
                          </a:solidFill>
                          <a:latin typeface="Montserrat"/>
                          <a:ea typeface="Montserrat"/>
                          <a:cs typeface="Montserrat"/>
                          <a:sym typeface="Montserrat"/>
                        </a:rPr>
                        <a:t>Example Calls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64748B"/>
                      </a:solidFill>
                      <a:prstDash val="solid"/>
                      <a:round/>
                      <a:headEnd len="sm" w="sm" type="none"/>
                      <a:tailEnd len="sm" w="sm" type="none"/>
                    </a:lnB>
                    <a:solidFill>
                      <a:srgbClr val="0B1120"/>
                    </a:solidFill>
                  </a:tcPr>
                </a:tc>
              </a:tr>
              <a:tr h="1296300">
                <a:tc>
                  <a:txBody>
                    <a:bodyPr/>
                    <a:lstStyle/>
                    <a:p>
                      <a:pPr indent="0" lvl="0" marL="0" marR="0" rtl="0" algn="l">
                        <a:lnSpc>
                          <a:spcPct val="120000"/>
                        </a:lnSpc>
                        <a:spcBef>
                          <a:spcPts val="0"/>
                        </a:spcBef>
                        <a:spcAft>
                          <a:spcPts val="0"/>
                        </a:spcAft>
                        <a:buClr>
                          <a:srgbClr val="000000"/>
                        </a:buClr>
                        <a:buSzPts val="3200"/>
                        <a:buFont typeface="Arial"/>
                        <a:buNone/>
                      </a:pPr>
                      <a:r>
                        <a:rPr b="1" lang="en-US" sz="3200" u="none" cap="none" strike="noStrike">
                          <a:solidFill>
                            <a:srgbClr val="FFFFFF"/>
                          </a:solidFill>
                          <a:latin typeface="Montserrat"/>
                          <a:ea typeface="Montserrat"/>
                          <a:cs typeface="Montserrat"/>
                          <a:sym typeface="Montserrat"/>
                        </a:rPr>
                        <a:t>Self-Escalation</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64748B"/>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Clr>
                          <a:srgbClr val="000000"/>
                        </a:buClr>
                        <a:buSzPts val="3200"/>
                        <a:buFont typeface="Arial"/>
                        <a:buNone/>
                      </a:pPr>
                      <a:r>
                        <a:rPr lang="en-US" sz="3200" u="none" cap="none" strike="noStrike">
                          <a:solidFill>
                            <a:srgbClr val="CBD5E1"/>
                          </a:solidFill>
                          <a:latin typeface="Arimo"/>
                          <a:ea typeface="Arimo"/>
                          <a:cs typeface="Arimo"/>
                          <a:sym typeface="Arimo"/>
                        </a:rPr>
                        <a:t>Modify your own permissions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64748B"/>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CreatePolicyVersion</a:t>
                      </a:r>
                      <a:endParaRPr sz="1100" u="none" cap="none" strike="noStrike"/>
                    </a:p>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PutGroupPolicy</a:t>
                      </a:r>
                      <a:endParaRPr sz="14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64748B"/>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r>
              <a:tr h="1296300">
                <a:tc>
                  <a:txBody>
                    <a:bodyPr/>
                    <a:lstStyle/>
                    <a:p>
                      <a:pPr indent="0" lvl="0" marL="0" marR="0" rtl="0" algn="l">
                        <a:lnSpc>
                          <a:spcPct val="120000"/>
                        </a:lnSpc>
                        <a:spcBef>
                          <a:spcPts val="0"/>
                        </a:spcBef>
                        <a:spcAft>
                          <a:spcPts val="0"/>
                        </a:spcAft>
                        <a:buClr>
                          <a:srgbClr val="000000"/>
                        </a:buClr>
                        <a:buSzPts val="3200"/>
                        <a:buFont typeface="Arial"/>
                        <a:buNone/>
                      </a:pPr>
                      <a:r>
                        <a:rPr b="1" lang="en-US" sz="3200" u="none" cap="none" strike="noStrike">
                          <a:solidFill>
                            <a:srgbClr val="FFFFFF"/>
                          </a:solidFill>
                          <a:latin typeface="Montserrat"/>
                          <a:ea typeface="Montserrat"/>
                          <a:cs typeface="Montserrat"/>
                          <a:sym typeface="Montserrat"/>
                        </a:rPr>
                        <a:t>Principal Access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Clr>
                          <a:srgbClr val="000000"/>
                        </a:buClr>
                        <a:buSzPts val="3200"/>
                        <a:buFont typeface="Arial"/>
                        <a:buNone/>
                      </a:pPr>
                      <a:r>
                        <a:rPr lang="en-US" sz="3200" u="none" cap="none" strike="noStrike">
                          <a:solidFill>
                            <a:srgbClr val="CBD5E1"/>
                          </a:solidFill>
                          <a:latin typeface="Arimo"/>
                          <a:ea typeface="Arimo"/>
                          <a:cs typeface="Arimo"/>
                          <a:sym typeface="Arimo"/>
                        </a:rPr>
                        <a:t>Assume a more powerful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AssumeRole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r>
              <a:tr h="1296300">
                <a:tc>
                  <a:txBody>
                    <a:bodyPr/>
                    <a:lstStyle/>
                    <a:p>
                      <a:pPr indent="0" lvl="0" marL="0" marR="0" rtl="0" algn="l">
                        <a:lnSpc>
                          <a:spcPct val="120000"/>
                        </a:lnSpc>
                        <a:spcBef>
                          <a:spcPts val="0"/>
                        </a:spcBef>
                        <a:spcAft>
                          <a:spcPts val="0"/>
                        </a:spcAft>
                        <a:buClr>
                          <a:srgbClr val="000000"/>
                        </a:buClr>
                        <a:buSzPts val="3200"/>
                        <a:buFont typeface="Arial"/>
                        <a:buNone/>
                      </a:pPr>
                      <a:r>
                        <a:rPr b="1" lang="en-US" sz="3200" u="none" cap="none" strike="noStrike">
                          <a:solidFill>
                            <a:srgbClr val="FFFFFF"/>
                          </a:solidFill>
                          <a:latin typeface="Montserrat"/>
                          <a:ea typeface="Montserrat"/>
                          <a:cs typeface="Montserrat"/>
                          <a:sym typeface="Montserrat"/>
                        </a:rPr>
                        <a:t>New PassRole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Clr>
                          <a:srgbClr val="000000"/>
                        </a:buClr>
                        <a:buSzPts val="3200"/>
                        <a:buFont typeface="Arial"/>
                        <a:buNone/>
                      </a:pPr>
                      <a:r>
                        <a:rPr lang="en-US" sz="3200" u="none" cap="none" strike="noStrike">
                          <a:solidFill>
                            <a:srgbClr val="CBD5E1"/>
                          </a:solidFill>
                          <a:latin typeface="Arimo"/>
                          <a:ea typeface="Arimo"/>
                          <a:cs typeface="Arimo"/>
                          <a:sym typeface="Arimo"/>
                        </a:rPr>
                        <a:t>Create compute + pass a privileged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PassRole</a:t>
                      </a:r>
                      <a:endParaRPr sz="1100" u="none" cap="none" strike="noStrike"/>
                    </a:p>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RunInstances</a:t>
                      </a:r>
                      <a:endParaRPr sz="14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r>
              <a:tr h="1296300">
                <a:tc>
                  <a:txBody>
                    <a:bodyPr/>
                    <a:lstStyle/>
                    <a:p>
                      <a:pPr indent="0" lvl="0" marL="0" marR="0" rtl="0" algn="l">
                        <a:lnSpc>
                          <a:spcPct val="120000"/>
                        </a:lnSpc>
                        <a:spcBef>
                          <a:spcPts val="0"/>
                        </a:spcBef>
                        <a:spcAft>
                          <a:spcPts val="0"/>
                        </a:spcAft>
                        <a:buClr>
                          <a:srgbClr val="000000"/>
                        </a:buClr>
                        <a:buSzPts val="3200"/>
                        <a:buFont typeface="Arial"/>
                        <a:buNone/>
                      </a:pPr>
                      <a:r>
                        <a:rPr b="1" lang="en-US" sz="3200" u="none" cap="none" strike="noStrike">
                          <a:solidFill>
                            <a:srgbClr val="FFFFFF"/>
                          </a:solidFill>
                          <a:latin typeface="Montserrat"/>
                          <a:ea typeface="Montserrat"/>
                          <a:cs typeface="Montserrat"/>
                          <a:sym typeface="Montserrat"/>
                        </a:rPr>
                        <a:t>Existing PassRole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Clr>
                          <a:srgbClr val="000000"/>
                        </a:buClr>
                        <a:buSzPts val="3200"/>
                        <a:buFont typeface="Arial"/>
                        <a:buNone/>
                      </a:pPr>
                      <a:r>
                        <a:rPr lang="en-US" sz="3200" u="none" cap="none" strike="noStrike">
                          <a:solidFill>
                            <a:srgbClr val="CBD5E1"/>
                          </a:solidFill>
                          <a:latin typeface="Arimo"/>
                          <a:ea typeface="Arimo"/>
                          <a:cs typeface="Arimo"/>
                          <a:sym typeface="Arimo"/>
                        </a:rPr>
                        <a:t>Modify compute that has a privileged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UpdateFunctionCode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12700">
                      <a:solidFill>
                        <a:srgbClr val="475569"/>
                      </a:solidFill>
                      <a:prstDash val="solid"/>
                      <a:round/>
                      <a:headEnd len="sm" w="sm" type="none"/>
                      <a:tailEnd len="sm" w="sm" type="none"/>
                    </a:lnB>
                    <a:solidFill>
                      <a:srgbClr val="1A2540"/>
                    </a:solidFill>
                  </a:tcPr>
                </a:tc>
              </a:tr>
              <a:tr h="1271775">
                <a:tc>
                  <a:txBody>
                    <a:bodyPr/>
                    <a:lstStyle/>
                    <a:p>
                      <a:pPr indent="0" lvl="0" marL="0" marR="0" rtl="0" algn="l">
                        <a:lnSpc>
                          <a:spcPct val="120000"/>
                        </a:lnSpc>
                        <a:spcBef>
                          <a:spcPts val="0"/>
                        </a:spcBef>
                        <a:spcAft>
                          <a:spcPts val="0"/>
                        </a:spcAft>
                        <a:buClr>
                          <a:srgbClr val="000000"/>
                        </a:buClr>
                        <a:buSzPts val="3200"/>
                        <a:buFont typeface="Arial"/>
                        <a:buNone/>
                      </a:pPr>
                      <a:r>
                        <a:rPr b="1" lang="en-US" sz="3200" u="none" cap="none" strike="noStrike">
                          <a:solidFill>
                            <a:srgbClr val="FFFFFF"/>
                          </a:solidFill>
                          <a:latin typeface="Montserrat"/>
                          <a:ea typeface="Montserrat"/>
                          <a:cs typeface="Montserrat"/>
                          <a:sym typeface="Montserrat"/>
                        </a:rPr>
                        <a:t>Credential Access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Clr>
                          <a:srgbClr val="000000"/>
                        </a:buClr>
                        <a:buSzPts val="3200"/>
                        <a:buFont typeface="Arial"/>
                        <a:buNone/>
                      </a:pPr>
                      <a:r>
                        <a:rPr lang="en-US" sz="3200" u="none" cap="none" strike="noStrike">
                          <a:solidFill>
                            <a:srgbClr val="CBD5E1"/>
                          </a:solidFill>
                          <a:latin typeface="Arimo"/>
                          <a:ea typeface="Arimo"/>
                          <a:cs typeface="Arimo"/>
                          <a:sym typeface="Arimo"/>
                        </a:rPr>
                        <a:t>Access stored secrets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GetFunctionConfig</a:t>
                      </a:r>
                      <a:endParaRPr sz="1100" u="none" cap="none" strike="noStrike"/>
                    </a:p>
                    <a:p>
                      <a:pPr indent="0" lvl="0" marL="0" marR="0" rtl="0" algn="r">
                        <a:lnSpc>
                          <a:spcPct val="120000"/>
                        </a:lnSpc>
                        <a:spcBef>
                          <a:spcPts val="0"/>
                        </a:spcBef>
                        <a:spcAft>
                          <a:spcPts val="0"/>
                        </a:spcAft>
                        <a:buClr>
                          <a:srgbClr val="000000"/>
                        </a:buClr>
                        <a:buSzPts val="2600"/>
                        <a:buFont typeface="Arial"/>
                        <a:buNone/>
                      </a:pPr>
                      <a:r>
                        <a:rPr lang="en-US" sz="2600" u="none" cap="none" strike="noStrike">
                          <a:solidFill>
                            <a:srgbClr val="E2E8F0"/>
                          </a:solidFill>
                          <a:latin typeface="Consolas"/>
                          <a:ea typeface="Consolas"/>
                          <a:cs typeface="Consolas"/>
                          <a:sym typeface="Consolas"/>
                        </a:rPr>
                        <a:t>SSM Parameters</a:t>
                      </a:r>
                      <a:endParaRPr sz="14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475569"/>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bl>
          </a:graphicData>
        </a:graphic>
      </p:graphicFrame>
      <p:grpSp>
        <p:nvGrpSpPr>
          <p:cNvPr id="673" name="Google Shape;673;p16"/>
          <p:cNvGrpSpPr/>
          <p:nvPr/>
        </p:nvGrpSpPr>
        <p:grpSpPr>
          <a:xfrm>
            <a:off x="-11029519" y="9468806"/>
            <a:ext cx="16459200" cy="555784"/>
            <a:chOff x="0" y="-9525"/>
            <a:chExt cx="21945600" cy="741045"/>
          </a:xfrm>
        </p:grpSpPr>
        <p:sp>
          <p:nvSpPr>
            <p:cNvPr id="674" name="Google Shape;674;p16"/>
            <p:cNvSpPr/>
            <p:nvPr/>
          </p:nvSpPr>
          <p:spPr>
            <a:xfrm>
              <a:off x="0" y="0"/>
              <a:ext cx="21945600" cy="731520"/>
            </a:xfrm>
            <a:custGeom>
              <a:rect b="b" l="l" r="r" t="t"/>
              <a:pathLst>
                <a:path extrusionOk="0" h="731520" w="21945600">
                  <a:moveTo>
                    <a:pt x="0" y="0"/>
                  </a:moveTo>
                  <a:lnTo>
                    <a:pt x="21945600" y="0"/>
                  </a:lnTo>
                  <a:lnTo>
                    <a:pt x="21945600" y="731520"/>
                  </a:lnTo>
                  <a:lnTo>
                    <a:pt x="0" y="731520"/>
                  </a:lnTo>
                  <a:close/>
                </a:path>
              </a:pathLst>
            </a:custGeom>
            <a:blipFill rotWithShape="1">
              <a:blip r:embed="rId4">
                <a:alphaModFix amt="0"/>
              </a:blip>
              <a:stretch>
                <a:fillRect b="-534385" l="0" r="0" t="-53438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5" name="Google Shape;675;p16"/>
            <p:cNvSpPr txBox="1"/>
            <p:nvPr/>
          </p:nvSpPr>
          <p:spPr>
            <a:xfrm>
              <a:off x="0" y="-9525"/>
              <a:ext cx="21945600" cy="741045"/>
            </a:xfrm>
            <a:prstGeom prst="rect">
              <a:avLst/>
            </a:prstGeom>
            <a:noFill/>
            <a:ln>
              <a:noFill/>
            </a:ln>
          </p:spPr>
          <p:txBody>
            <a:bodyPr anchorCtr="0" anchor="ctr" bIns="0" lIns="0" spcFirstLastPara="1" rIns="0" wrap="square" tIns="0">
              <a:noAutofit/>
            </a:bodyPr>
            <a:lstStyle/>
            <a:p>
              <a:pPr indent="0" lvl="0" marL="0" marR="0" rtl="0" algn="r">
                <a:lnSpc>
                  <a:spcPct val="119958"/>
                </a:lnSpc>
                <a:spcBef>
                  <a:spcPts val="0"/>
                </a:spcBef>
                <a:spcAft>
                  <a:spcPts val="0"/>
                </a:spcAft>
                <a:buClr>
                  <a:srgbClr val="000000"/>
                </a:buClr>
                <a:buSzPts val="2400"/>
                <a:buFont typeface="Arial"/>
                <a:buNone/>
              </a:pPr>
              <a:r>
                <a:rPr b="0" i="1" lang="en-US" sz="2400" u="none" cap="none" strike="noStrike">
                  <a:solidFill>
                    <a:srgbClr val="475569"/>
                  </a:solidFill>
                  <a:latin typeface="Arimo"/>
                  <a:ea typeface="Arimo"/>
                  <a:cs typeface="Arimo"/>
                  <a:sym typeface="Arimo"/>
                </a:rPr>
                <a:t>Categories from pathfinding.cloud</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85" name="Google Shape;685;p17"/>
          <p:cNvGrpSpPr/>
          <p:nvPr/>
        </p:nvGrpSpPr>
        <p:grpSpPr>
          <a:xfrm>
            <a:off x="1463040" y="1949550"/>
            <a:ext cx="10420106" cy="4904899"/>
            <a:chOff x="0" y="-200025"/>
            <a:chExt cx="13893474" cy="6539865"/>
          </a:xfrm>
        </p:grpSpPr>
        <p:sp>
          <p:nvSpPr>
            <p:cNvPr id="686" name="Google Shape;686;p17"/>
            <p:cNvSpPr/>
            <p:nvPr/>
          </p:nvSpPr>
          <p:spPr>
            <a:xfrm>
              <a:off x="0" y="0"/>
              <a:ext cx="13893474" cy="6339840"/>
            </a:xfrm>
            <a:custGeom>
              <a:rect b="b" l="l" r="r" t="t"/>
              <a:pathLst>
                <a:path extrusionOk="0" h="6339840" w="13893474">
                  <a:moveTo>
                    <a:pt x="0" y="0"/>
                  </a:moveTo>
                  <a:lnTo>
                    <a:pt x="13893474" y="0"/>
                  </a:lnTo>
                  <a:lnTo>
                    <a:pt x="13893474" y="6339840"/>
                  </a:lnTo>
                  <a:lnTo>
                    <a:pt x="0" y="6339840"/>
                  </a:lnTo>
                  <a:close/>
                </a:path>
              </a:pathLst>
            </a:custGeom>
            <a:blipFill rotWithShape="1">
              <a:blip r:embed="rId4">
                <a:alphaModFix amt="0"/>
              </a:blip>
              <a:stretch>
                <a:fillRect b="-12949" l="0" r="-47421" t="-129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7" name="Google Shape;687;p17"/>
            <p:cNvSpPr txBox="1"/>
            <p:nvPr/>
          </p:nvSpPr>
          <p:spPr>
            <a:xfrm>
              <a:off x="0" y="-200025"/>
              <a:ext cx="13893474" cy="6539865"/>
            </a:xfrm>
            <a:prstGeom prst="rect">
              <a:avLst/>
            </a:prstGeom>
            <a:noFill/>
            <a:ln>
              <a:noFill/>
            </a:ln>
          </p:spPr>
          <p:txBody>
            <a:bodyPr anchorCtr="0" anchor="ctr" bIns="0" lIns="0" spcFirstLastPara="1" rIns="0" wrap="square" tIns="0">
              <a:noAutofit/>
            </a:bodyPr>
            <a:lstStyle/>
            <a:p>
              <a:pPr indent="0" lvl="0" marL="0" marR="0" rtl="0" algn="l">
                <a:lnSpc>
                  <a:spcPct val="156000"/>
                </a:lnSpc>
                <a:spcBef>
                  <a:spcPts val="0"/>
                </a:spcBef>
                <a:spcAft>
                  <a:spcPts val="0"/>
                </a:spcAft>
                <a:buClr>
                  <a:srgbClr val="000000"/>
                </a:buClr>
                <a:buSzPts val="6000"/>
                <a:buFont typeface="Arial"/>
                <a:buNone/>
              </a:pPr>
              <a:r>
                <a:rPr b="0" i="1" lang="en-US" sz="6000" u="none" cap="none" strike="noStrike">
                  <a:solidFill>
                    <a:srgbClr val="FFFFFF"/>
                  </a:solidFill>
                  <a:latin typeface="Montserrat"/>
                  <a:ea typeface="Montserrat"/>
                  <a:cs typeface="Montserrat"/>
                  <a:sym typeface="Montserrat"/>
                </a:rPr>
                <a:t>"Defenders think in </a:t>
              </a:r>
              <a:r>
                <a:rPr b="1" i="1" lang="en-US" sz="6000" u="none" cap="none" strike="noStrike">
                  <a:solidFill>
                    <a:srgbClr val="F59E0B"/>
                  </a:solidFill>
                  <a:latin typeface="Montserrat"/>
                  <a:ea typeface="Montserrat"/>
                  <a:cs typeface="Montserrat"/>
                  <a:sym typeface="Montserrat"/>
                </a:rPr>
                <a:t>lists.</a:t>
              </a:r>
              <a:endParaRPr b="0" i="0" sz="1400" u="none" cap="none" strike="noStrike">
                <a:solidFill>
                  <a:srgbClr val="000000"/>
                </a:solidFill>
                <a:latin typeface="Arial"/>
                <a:ea typeface="Arial"/>
                <a:cs typeface="Arial"/>
                <a:sym typeface="Arial"/>
              </a:endParaRPr>
            </a:p>
            <a:p>
              <a:pPr indent="0" lvl="0" marL="0" marR="0" rtl="0" algn="l">
                <a:lnSpc>
                  <a:spcPct val="156000"/>
                </a:lnSpc>
                <a:spcBef>
                  <a:spcPts val="0"/>
                </a:spcBef>
                <a:spcAft>
                  <a:spcPts val="0"/>
                </a:spcAft>
                <a:buClr>
                  <a:srgbClr val="000000"/>
                </a:buClr>
                <a:buSzPts val="6000"/>
                <a:buFont typeface="Arial"/>
                <a:buNone/>
              </a:pPr>
              <a:r>
                <a:rPr b="0" i="1" lang="en-US" sz="6000" u="none" cap="none" strike="noStrike">
                  <a:solidFill>
                    <a:srgbClr val="FFFFFF"/>
                  </a:solidFill>
                  <a:latin typeface="Montserrat"/>
                  <a:ea typeface="Montserrat"/>
                  <a:cs typeface="Montserrat"/>
                  <a:sym typeface="Montserrat"/>
                </a:rPr>
                <a:t>Attackers think in </a:t>
              </a:r>
              <a:r>
                <a:rPr b="1" i="1" lang="en-US" sz="6000" u="none" cap="none" strike="noStrike">
                  <a:solidFill>
                    <a:srgbClr val="F59E0B"/>
                  </a:solidFill>
                  <a:latin typeface="Montserrat"/>
                  <a:ea typeface="Montserrat"/>
                  <a:cs typeface="Montserrat"/>
                  <a:sym typeface="Montserrat"/>
                </a:rPr>
                <a:t>graphs.</a:t>
              </a:r>
              <a:endParaRPr b="0" i="0" sz="1400" u="none" cap="none" strike="noStrike">
                <a:solidFill>
                  <a:srgbClr val="000000"/>
                </a:solidFill>
                <a:latin typeface="Arial"/>
                <a:ea typeface="Arial"/>
                <a:cs typeface="Arial"/>
                <a:sym typeface="Arial"/>
              </a:endParaRPr>
            </a:p>
            <a:p>
              <a:pPr indent="0" lvl="0" marL="0" marR="0" rtl="0" algn="l">
                <a:lnSpc>
                  <a:spcPct val="156000"/>
                </a:lnSpc>
                <a:spcBef>
                  <a:spcPts val="0"/>
                </a:spcBef>
                <a:spcAft>
                  <a:spcPts val="0"/>
                </a:spcAft>
                <a:buClr>
                  <a:srgbClr val="000000"/>
                </a:buClr>
                <a:buSzPts val="6000"/>
                <a:buFont typeface="Arial"/>
                <a:buNone/>
              </a:pPr>
              <a:r>
                <a:rPr b="0" i="1" lang="en-US" sz="6000" u="none" cap="none" strike="noStrike">
                  <a:solidFill>
                    <a:srgbClr val="FFFFFF"/>
                  </a:solidFill>
                  <a:latin typeface="Montserrat"/>
                  <a:ea typeface="Montserrat"/>
                  <a:cs typeface="Montserrat"/>
                  <a:sym typeface="Montserrat"/>
                </a:rPr>
                <a:t>As long as this is true, </a:t>
              </a:r>
              <a:r>
                <a:rPr b="1" i="1" lang="en-US" sz="6000" u="none" cap="none" strike="noStrike">
                  <a:solidFill>
                    <a:srgbClr val="F59E0B"/>
                  </a:solidFill>
                  <a:latin typeface="Montserrat"/>
                  <a:ea typeface="Montserrat"/>
                  <a:cs typeface="Montserrat"/>
                  <a:sym typeface="Montserrat"/>
                </a:rPr>
                <a:t>attackers win.</a:t>
              </a:r>
              <a:r>
                <a:rPr b="0" i="1" lang="en-US" sz="6000"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p:txBody>
        </p:sp>
      </p:grpSp>
      <p:grpSp>
        <p:nvGrpSpPr>
          <p:cNvPr id="688" name="Google Shape;688;p17"/>
          <p:cNvGrpSpPr/>
          <p:nvPr/>
        </p:nvGrpSpPr>
        <p:grpSpPr>
          <a:xfrm>
            <a:off x="1463040" y="7110889"/>
            <a:ext cx="15361921" cy="752951"/>
            <a:chOff x="0" y="-28575"/>
            <a:chExt cx="20482561" cy="1003935"/>
          </a:xfrm>
        </p:grpSpPr>
        <p:sp>
          <p:nvSpPr>
            <p:cNvPr id="689" name="Google Shape;689;p17"/>
            <p:cNvSpPr/>
            <p:nvPr/>
          </p:nvSpPr>
          <p:spPr>
            <a:xfrm>
              <a:off x="0" y="0"/>
              <a:ext cx="20482561" cy="975360"/>
            </a:xfrm>
            <a:custGeom>
              <a:rect b="b" l="l" r="r" t="t"/>
              <a:pathLst>
                <a:path extrusionOk="0" h="975360" w="20482561">
                  <a:moveTo>
                    <a:pt x="0" y="0"/>
                  </a:moveTo>
                  <a:lnTo>
                    <a:pt x="20482561" y="0"/>
                  </a:lnTo>
                  <a:lnTo>
                    <a:pt x="20482561" y="975360"/>
                  </a:lnTo>
                  <a:lnTo>
                    <a:pt x="0" y="975360"/>
                  </a:lnTo>
                  <a:close/>
                </a:path>
              </a:pathLst>
            </a:custGeom>
            <a:blipFill rotWithShape="1">
              <a:blip r:embed="rId4">
                <a:alphaModFix amt="0"/>
              </a:blip>
              <a:stretch>
                <a:fillRect b="-359128" l="0" r="0" t="-35913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17"/>
            <p:cNvSpPr txBox="1"/>
            <p:nvPr/>
          </p:nvSpPr>
          <p:spPr>
            <a:xfrm>
              <a:off x="0" y="-28575"/>
              <a:ext cx="20482560" cy="10039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0" i="1" lang="en-US" sz="3200" u="none" cap="none" strike="noStrike">
                  <a:solidFill>
                    <a:srgbClr val="475569"/>
                  </a:solidFill>
                  <a:latin typeface="Arimo"/>
                  <a:ea typeface="Arimo"/>
                  <a:cs typeface="Arimo"/>
                  <a:sym typeface="Arimo"/>
                </a:rPr>
                <a:t>— John Lambert, Distinguished Engineer at Microsoft</a:t>
              </a:r>
              <a:endParaRPr b="0" i="0" sz="1400" u="none" cap="none" strike="noStrike">
                <a:solidFill>
                  <a:srgbClr val="000000"/>
                </a:solidFill>
                <a:latin typeface="Arial"/>
                <a:ea typeface="Arial"/>
                <a:cs typeface="Arial"/>
                <a:sym typeface="Arial"/>
              </a:endParaRPr>
            </a:p>
          </p:txBody>
        </p:sp>
      </p:grpSp>
      <p:grpSp>
        <p:nvGrpSpPr>
          <p:cNvPr id="691" name="Google Shape;691;p17"/>
          <p:cNvGrpSpPr/>
          <p:nvPr/>
        </p:nvGrpSpPr>
        <p:grpSpPr>
          <a:xfrm>
            <a:off x="1463040" y="8398193"/>
            <a:ext cx="15361921" cy="928688"/>
            <a:chOff x="0" y="-19050"/>
            <a:chExt cx="20482561" cy="1238250"/>
          </a:xfrm>
        </p:grpSpPr>
        <p:sp>
          <p:nvSpPr>
            <p:cNvPr id="692" name="Google Shape;692;p17"/>
            <p:cNvSpPr/>
            <p:nvPr/>
          </p:nvSpPr>
          <p:spPr>
            <a:xfrm>
              <a:off x="0" y="0"/>
              <a:ext cx="20482561" cy="1219200"/>
            </a:xfrm>
            <a:custGeom>
              <a:rect b="b" l="l" r="r" t="t"/>
              <a:pathLst>
                <a:path extrusionOk="0" h="1219200" w="20482561">
                  <a:moveTo>
                    <a:pt x="0" y="0"/>
                  </a:moveTo>
                  <a:lnTo>
                    <a:pt x="20482561" y="0"/>
                  </a:lnTo>
                  <a:lnTo>
                    <a:pt x="20482561" y="1219200"/>
                  </a:lnTo>
                  <a:lnTo>
                    <a:pt x="0" y="1219200"/>
                  </a:lnTo>
                  <a:close/>
                </a:path>
              </a:pathLst>
            </a:custGeom>
            <a:blipFill rotWithShape="1">
              <a:blip r:embed="rId4">
                <a:alphaModFix amt="0"/>
              </a:blip>
              <a:stretch>
                <a:fillRect b="-277311" l="0" r="0" t="-27731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p17"/>
            <p:cNvSpPr txBox="1"/>
            <p:nvPr/>
          </p:nvSpPr>
          <p:spPr>
            <a:xfrm>
              <a:off x="0" y="-19050"/>
              <a:ext cx="20482560" cy="12382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CBD5E1"/>
                  </a:solidFill>
                  <a:latin typeface="Arimo"/>
                  <a:ea typeface="Arimo"/>
                  <a:cs typeface="Arimo"/>
                  <a:sym typeface="Arimo"/>
                </a:rPr>
                <a:t>That's why we need graph-based tools.</a:t>
              </a:r>
              <a:endParaRPr b="0" i="0" sz="1400" u="none" cap="none" strike="noStrike">
                <a:solidFill>
                  <a:srgbClr val="000000"/>
                </a:solidFill>
                <a:latin typeface="Arial"/>
                <a:ea typeface="Arial"/>
                <a:cs typeface="Arial"/>
                <a:sym typeface="Arial"/>
              </a:endParaRPr>
            </a:p>
          </p:txBody>
        </p:sp>
      </p:grpSp>
      <p:sp>
        <p:nvSpPr>
          <p:cNvPr id="694" name="Google Shape;694;p17"/>
          <p:cNvSpPr/>
          <p:nvPr/>
        </p:nvSpPr>
        <p:spPr>
          <a:xfrm>
            <a:off x="13035922" y="2099569"/>
            <a:ext cx="4704588" cy="8229600"/>
          </a:xfrm>
          <a:custGeom>
            <a:rect b="b" l="l" r="r" t="t"/>
            <a:pathLst>
              <a:path extrusionOk="0" h="8229600" w="4704588">
                <a:moveTo>
                  <a:pt x="0" y="0"/>
                </a:moveTo>
                <a:lnTo>
                  <a:pt x="4704588" y="0"/>
                </a:lnTo>
                <a:lnTo>
                  <a:pt x="4704588" y="8229600"/>
                </a:lnTo>
                <a:lnTo>
                  <a:pt x="0" y="82296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1abbeaaa8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60" l="0" r="0" t="-92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04" name="Google Shape;704;g3e1abbeaaa8_0_0"/>
          <p:cNvGrpSpPr/>
          <p:nvPr/>
        </p:nvGrpSpPr>
        <p:grpSpPr>
          <a:xfrm>
            <a:off x="1463040" y="1949550"/>
            <a:ext cx="10420200" cy="4905000"/>
            <a:chOff x="0" y="-200025"/>
            <a:chExt cx="13893600" cy="6540000"/>
          </a:xfrm>
        </p:grpSpPr>
        <p:sp>
          <p:nvSpPr>
            <p:cNvPr id="705" name="Google Shape;705;g3e1abbeaaa8_0_0"/>
            <p:cNvSpPr/>
            <p:nvPr/>
          </p:nvSpPr>
          <p:spPr>
            <a:xfrm>
              <a:off x="0" y="0"/>
              <a:ext cx="13893474" cy="6339840"/>
            </a:xfrm>
            <a:custGeom>
              <a:rect b="b" l="l" r="r" t="t"/>
              <a:pathLst>
                <a:path extrusionOk="0" h="6339840" w="13893474">
                  <a:moveTo>
                    <a:pt x="0" y="0"/>
                  </a:moveTo>
                  <a:lnTo>
                    <a:pt x="13893474" y="0"/>
                  </a:lnTo>
                  <a:lnTo>
                    <a:pt x="13893474" y="6339840"/>
                  </a:lnTo>
                  <a:lnTo>
                    <a:pt x="0" y="6339840"/>
                  </a:lnTo>
                  <a:close/>
                </a:path>
              </a:pathLst>
            </a:custGeom>
            <a:blipFill rotWithShape="1">
              <a:blip r:embed="rId4">
                <a:alphaModFix amt="0"/>
              </a:blip>
              <a:stretch>
                <a:fillRect b="-12950" l="0" r="-47421" t="-1295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6" name="Google Shape;706;g3e1abbeaaa8_0_0"/>
            <p:cNvSpPr txBox="1"/>
            <p:nvPr/>
          </p:nvSpPr>
          <p:spPr>
            <a:xfrm>
              <a:off x="0" y="-200025"/>
              <a:ext cx="13893600" cy="6540000"/>
            </a:xfrm>
            <a:prstGeom prst="rect">
              <a:avLst/>
            </a:prstGeom>
            <a:noFill/>
            <a:ln>
              <a:noFill/>
            </a:ln>
          </p:spPr>
          <p:txBody>
            <a:bodyPr anchorCtr="0" anchor="ctr" bIns="0" lIns="0" spcFirstLastPara="1" rIns="0" wrap="square" tIns="0">
              <a:noAutofit/>
            </a:bodyPr>
            <a:lstStyle/>
            <a:p>
              <a:pPr indent="0" lvl="0" marL="0" marR="0" rtl="0" algn="l">
                <a:lnSpc>
                  <a:spcPct val="156000"/>
                </a:lnSpc>
                <a:spcBef>
                  <a:spcPts val="0"/>
                </a:spcBef>
                <a:spcAft>
                  <a:spcPts val="0"/>
                </a:spcAft>
                <a:buClr>
                  <a:srgbClr val="000000"/>
                </a:buClr>
                <a:buSzPts val="6000"/>
                <a:buFont typeface="Arial"/>
                <a:buNone/>
              </a:pPr>
              <a:r>
                <a:rPr i="1" lang="en-US" sz="6000">
                  <a:solidFill>
                    <a:srgbClr val="FFFFFF"/>
                  </a:solidFill>
                  <a:latin typeface="Montserrat"/>
                  <a:ea typeface="Montserrat"/>
                  <a:cs typeface="Montserrat"/>
                  <a:sym typeface="Montserrat"/>
                </a:rPr>
                <a:t>Todo - lab preview with roles and users - crown jewels</a:t>
              </a:r>
              <a:endParaRPr b="0" i="0" sz="1400" u="none" cap="none" strike="noStrike">
                <a:solidFill>
                  <a:srgbClr val="000000"/>
                </a:solidFill>
                <a:latin typeface="Arial"/>
                <a:ea typeface="Arial"/>
                <a:cs typeface="Arial"/>
                <a:sym typeface="Arial"/>
              </a:endParaRPr>
            </a:p>
          </p:txBody>
        </p:sp>
      </p:grpSp>
      <p:sp>
        <p:nvSpPr>
          <p:cNvPr id="707" name="Google Shape;707;g3e1abbeaaa8_0_0"/>
          <p:cNvSpPr/>
          <p:nvPr/>
        </p:nvSpPr>
        <p:spPr>
          <a:xfrm>
            <a:off x="1463040" y="7132320"/>
            <a:ext cx="15361921" cy="731520"/>
          </a:xfrm>
          <a:custGeom>
            <a:rect b="b" l="l" r="r" t="t"/>
            <a:pathLst>
              <a:path extrusionOk="0" h="975360" w="20482561">
                <a:moveTo>
                  <a:pt x="0" y="0"/>
                </a:moveTo>
                <a:lnTo>
                  <a:pt x="20482561" y="0"/>
                </a:lnTo>
                <a:lnTo>
                  <a:pt x="20482561" y="975360"/>
                </a:lnTo>
                <a:lnTo>
                  <a:pt x="0" y="975360"/>
                </a:lnTo>
                <a:close/>
              </a:path>
            </a:pathLst>
          </a:custGeom>
          <a:blipFill rotWithShape="1">
            <a:blip r:embed="rId4">
              <a:alphaModFix amt="0"/>
            </a:blip>
            <a:stretch>
              <a:fillRect b="-359120" l="0" r="0" t="-35914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