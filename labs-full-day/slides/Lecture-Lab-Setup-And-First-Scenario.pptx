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10287000" cx="18288000"/>
  <p:notesSz cx="6858000" cy="9144000"/>
  <p:embeddedFontLst>
    <p:embeddedFont>
      <p:font typeface="Arimo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Assistant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jEzEWTIoVXE28DCnjprD6iWyAX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25FFC5-688C-4EE8-BEED-22D7C9311C37}">
  <a:tblStyle styleId="{7725FFC5-688C-4EE8-BEED-22D7C9311C3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Arimo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ssistant-regular.fntdata"/><Relationship Id="rId25" Type="http://schemas.openxmlformats.org/officeDocument/2006/relationships/font" Target="fonts/Montserrat-boldItalic.fntdata"/><Relationship Id="rId28" Type="http://customschemas.google.com/relationships/presentationmetadata" Target="metadata"/><Relationship Id="rId27" Type="http://schemas.openxmlformats.org/officeDocument/2006/relationships/font" Target="fonts/Assistan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Arimo-bold.fntdata"/><Relationship Id="rId18" Type="http://schemas.openxmlformats.org/officeDocument/2006/relationships/font" Target="fonts/Arim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0fe2dc280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e0fe2dc280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2" name="Google Shape;102;g3e0fe2dc280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e0fe2dc280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g3e0fe2dc280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e0fe2dc280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9" name="Google Shape;119;p1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Call out to traditional pentesting tools (that of course attackers can use too)</a:t>
            </a:r>
            <a:endParaRPr/>
          </a:p>
        </p:txBody>
      </p:sp>
      <p:sp>
        <p:nvSpPr>
          <p:cNvPr id="121" name="Google Shape;121;p1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3" name="Google Shape;153;p1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22</a:t>
            </a:r>
            <a:endParaRPr/>
          </a:p>
        </p:txBody>
      </p:sp>
      <p:sp>
        <p:nvSpPr>
          <p:cNvPr id="155" name="Google Shape;155;p1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7" name="Google Shape;187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Do this first and everything will be ready for you when we start the lab in a few minutes</a:t>
            </a:r>
            <a:endParaRPr/>
          </a:p>
        </p:txBody>
      </p:sp>
      <p:sp>
        <p:nvSpPr>
          <p:cNvPr id="189" name="Google Shape;189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e7988685e_0_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be7988685e_0_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5" name="Google Shape;205;g3be7988685e_0_14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be7988685e_0_14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be7988685e_0_14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be7988685e_0_14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e7988685e_0_5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be7988685e_0_5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6" name="Google Shape;216;g3be7988685e_0_59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be7988685e_0_59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the preferred method of accessing the VM - for smoothest experience</a:t>
            </a:r>
            <a:endParaRPr/>
          </a:p>
        </p:txBody>
      </p:sp>
      <p:sp>
        <p:nvSpPr>
          <p:cNvPr id="218" name="Google Shape;218;g3be7988685e_0_59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be7988685e_0_59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e7988685e_0_4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be7988685e_0_4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8" name="Google Shape;228;g3be7988685e_0_48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be7988685e_0_48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Do this first and everything will be ready for you when we start the lab in a few minutes</a:t>
            </a:r>
            <a:endParaRPr/>
          </a:p>
        </p:txBody>
      </p:sp>
      <p:sp>
        <p:nvSpPr>
          <p:cNvPr id="230" name="Google Shape;230;g3be7988685e_0_48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be7988685e_0_48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e7988685e_0_7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be7988685e_0_7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0" name="Google Shape;240;g3be7988685e_0_73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be7988685e_0_73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Do this first and everything will be ready for you when we start the lab in a few minutes</a:t>
            </a:r>
            <a:endParaRPr/>
          </a:p>
        </p:txBody>
      </p:sp>
      <p:sp>
        <p:nvSpPr>
          <p:cNvPr id="242" name="Google Shape;242;g3be7988685e_0_73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be7988685e_0_73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4" name="Google Shape;254;p2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You will try most of these strategies hands-on in the workshop</a:t>
            </a:r>
            <a:endParaRPr/>
          </a:p>
        </p:txBody>
      </p:sp>
      <p:sp>
        <p:nvSpPr>
          <p:cNvPr id="256" name="Google Shape;256;p2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0fe2dc280_0_3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e0fe2dc280_0_3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6" name="Google Shape;266;g3e0fe2dc280_0_37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e0fe2dc280_0_37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You will try most of these strategies hands-on in the workshop</a:t>
            </a:r>
            <a:endParaRPr/>
          </a:p>
        </p:txBody>
      </p:sp>
      <p:sp>
        <p:nvSpPr>
          <p:cNvPr id="268" name="Google Shape;268;g3e0fe2dc280_0_37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e0fe2dc280_0_37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"/>
          <p:cNvGrpSpPr/>
          <p:nvPr/>
        </p:nvGrpSpPr>
        <p:grpSpPr>
          <a:xfrm>
            <a:off x="-219297" y="1451305"/>
            <a:ext cx="11438450" cy="6795225"/>
            <a:chOff x="0" y="-104775"/>
            <a:chExt cx="15251267" cy="9060300"/>
          </a:xfrm>
        </p:grpSpPr>
        <p:sp>
          <p:nvSpPr>
            <p:cNvPr id="93" name="Google Shape;93;p1"/>
            <p:cNvSpPr/>
            <p:nvPr/>
          </p:nvSpPr>
          <p:spPr>
            <a:xfrm>
              <a:off x="0" y="0"/>
              <a:ext cx="14249623" cy="8955430"/>
            </a:xfrm>
            <a:custGeom>
              <a:rect b="b" l="l" r="r" t="t"/>
              <a:pathLst>
                <a:path extrusionOk="0" h="8955430" w="14249623">
                  <a:moveTo>
                    <a:pt x="0" y="0"/>
                  </a:moveTo>
                  <a:lnTo>
                    <a:pt x="14249623" y="0"/>
                  </a:lnTo>
                  <a:lnTo>
                    <a:pt x="14249623" y="8955430"/>
                  </a:lnTo>
                  <a:lnTo>
                    <a:pt x="0" y="895543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27674" l="0" r="-45448" t="-1786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1001567" y="-104775"/>
              <a:ext cx="14249700" cy="90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600"/>
                <a:buFont typeface="Arial"/>
                <a:buNone/>
              </a:pPr>
              <a:r>
                <a:rPr b="1" i="0" lang="en-US" sz="96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Wrangling Identity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600"/>
                <a:buFont typeface="Arial"/>
                <a:buNone/>
              </a:pPr>
              <a:r>
                <a:rPr b="1" i="0" lang="en-US" sz="96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&amp; Access in AWS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1417164" y="6937054"/>
            <a:ext cx="13716000" cy="2243897"/>
            <a:chOff x="0" y="-1693682"/>
            <a:chExt cx="18288000" cy="2991860"/>
          </a:xfrm>
        </p:grpSpPr>
        <p:sp>
          <p:nvSpPr>
            <p:cNvPr id="96" name="Google Shape;96;p1"/>
            <p:cNvSpPr/>
            <p:nvPr/>
          </p:nvSpPr>
          <p:spPr>
            <a:xfrm>
              <a:off x="0" y="0"/>
              <a:ext cx="18288000" cy="1298178"/>
            </a:xfrm>
            <a:custGeom>
              <a:rect b="b" l="l" r="r" t="t"/>
              <a:pathLst>
                <a:path extrusionOk="0" h="129817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98178"/>
                  </a:lnTo>
                  <a:lnTo>
                    <a:pt x="0" y="129817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0210" l="0" r="0" t="-20872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0" y="-1693682"/>
              <a:ext cx="18288000" cy="131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0" i="0" lang="en-US" sz="4800" u="none" cap="none" strike="noStrike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Lecture </a:t>
              </a:r>
              <a:r>
                <a:rPr lang="en-US" sz="4800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  <a:r>
                <a:rPr b="0" i="0" lang="en-US" sz="4800" u="none" cap="none" strike="noStrike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: La</a:t>
              </a:r>
              <a:r>
                <a:rPr lang="en-US" sz="4800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b Introduction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1"/>
          <p:cNvSpPr/>
          <p:nvPr/>
        </p:nvSpPr>
        <p:spPr>
          <a:xfrm>
            <a:off x="11438451" y="1604675"/>
            <a:ext cx="6411018" cy="6796782"/>
          </a:xfrm>
          <a:custGeom>
            <a:rect b="b" l="l" r="r" t="t"/>
            <a:pathLst>
              <a:path extrusionOk="0" h="7347872" w="7347872">
                <a:moveTo>
                  <a:pt x="0" y="0"/>
                </a:moveTo>
                <a:lnTo>
                  <a:pt x="7347871" y="0"/>
                </a:lnTo>
                <a:lnTo>
                  <a:pt x="7347871" y="7347872"/>
                </a:lnTo>
                <a:lnTo>
                  <a:pt x="0" y="7347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236" l="-5783" r="-4322" t="-487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g3e0fe2dc280_0_0"/>
          <p:cNvGrpSpPr/>
          <p:nvPr/>
        </p:nvGrpSpPr>
        <p:grpSpPr>
          <a:xfrm>
            <a:off x="914400" y="182880"/>
            <a:ext cx="12801600" cy="1005840"/>
            <a:chOff x="0" y="0"/>
            <a:chExt cx="17068800" cy="1341120"/>
          </a:xfrm>
        </p:grpSpPr>
        <p:sp>
          <p:nvSpPr>
            <p:cNvPr id="108" name="Google Shape;108;g3e0fe2dc280_0_0"/>
            <p:cNvSpPr/>
            <p:nvPr/>
          </p:nvSpPr>
          <p:spPr>
            <a:xfrm>
              <a:off x="0" y="0"/>
              <a:ext cx="17068800" cy="1341120"/>
            </a:xfrm>
            <a:custGeom>
              <a:rect b="b" l="l" r="r" t="t"/>
              <a:pathLst>
                <a:path extrusionOk="0"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7972" l="0" r="0" t="-19796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g3e0fe2dc280_0_0"/>
            <p:cNvSpPr txBox="1"/>
            <p:nvPr/>
          </p:nvSpPr>
          <p:spPr>
            <a:xfrm>
              <a:off x="0" y="0"/>
              <a:ext cx="17068800" cy="13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Arial"/>
                <a:buNone/>
              </a:pPr>
              <a:r>
                <a:rPr b="1" lang="en-US" sz="7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IAM recon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g3e0fe2dc280_0_0"/>
          <p:cNvSpPr/>
          <p:nvPr/>
        </p:nvSpPr>
        <p:spPr>
          <a:xfrm>
            <a:off x="914400" y="1097280"/>
            <a:ext cx="12801600" cy="640080"/>
          </a:xfrm>
          <a:custGeom>
            <a:rect b="b" l="l" r="r" t="t"/>
            <a:pathLst>
              <a:path extrusionOk="0" h="853440" w="17068800">
                <a:moveTo>
                  <a:pt x="0" y="0"/>
                </a:moveTo>
                <a:lnTo>
                  <a:pt x="17068800" y="0"/>
                </a:lnTo>
                <a:lnTo>
                  <a:pt x="17068800" y="853440"/>
                </a:lnTo>
                <a:lnTo>
                  <a:pt x="0" y="8534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39651" l="0" r="0" t="-33965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e0fe2dc280_0_0"/>
          <p:cNvSpPr/>
          <p:nvPr/>
        </p:nvSpPr>
        <p:spPr>
          <a:xfrm>
            <a:off x="1371600" y="3200400"/>
            <a:ext cx="12042916" cy="822960"/>
          </a:xfrm>
          <a:custGeom>
            <a:rect b="b" l="l" r="r" t="t"/>
            <a:pathLst>
              <a:path extrusionOk="0" h="1097280" w="9265920">
                <a:moveTo>
                  <a:pt x="0" y="0"/>
                </a:moveTo>
                <a:lnTo>
                  <a:pt x="9265920" y="0"/>
                </a:lnTo>
                <a:lnTo>
                  <a:pt x="9265920" y="1097280"/>
                </a:lnTo>
                <a:lnTo>
                  <a:pt x="0" y="109728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14539" l="0" r="0" t="-11453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e0fe2dc280_0_0"/>
          <p:cNvSpPr txBox="1"/>
          <p:nvPr/>
        </p:nvSpPr>
        <p:spPr>
          <a:xfrm>
            <a:off x="5001088" y="8247850"/>
            <a:ext cx="71808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https://github.com/andrewkrug/iam-recon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g3e0fe2dc280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9025" y="2141050"/>
            <a:ext cx="9607823" cy="600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e0fe2dc280_0_0"/>
          <p:cNvSpPr txBox="1"/>
          <p:nvPr/>
        </p:nvSpPr>
        <p:spPr>
          <a:xfrm>
            <a:off x="4413180" y="8871400"/>
            <a:ext cx="103326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Inspired by PMapper, awspx, pathfinding.cloud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e0fe2dc280_0_0"/>
          <p:cNvSpPr txBox="1"/>
          <p:nvPr/>
        </p:nvSpPr>
        <p:spPr>
          <a:xfrm>
            <a:off x="914400" y="1097275"/>
            <a:ext cx="14895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AWS IAM privilege escalation and attack path mapper.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8"/>
          <p:cNvGrpSpPr/>
          <p:nvPr/>
        </p:nvGrpSpPr>
        <p:grpSpPr>
          <a:xfrm>
            <a:off x="914400" y="182875"/>
            <a:ext cx="16187400" cy="1005845"/>
            <a:chOff x="0" y="-7"/>
            <a:chExt cx="21583200" cy="1341127"/>
          </a:xfrm>
        </p:grpSpPr>
        <p:sp>
          <p:nvSpPr>
            <p:cNvPr id="125" name="Google Shape;125;p18"/>
            <p:cNvSpPr/>
            <p:nvPr/>
          </p:nvSpPr>
          <p:spPr>
            <a:xfrm>
              <a:off x="0" y="0"/>
              <a:ext cx="17068800" cy="1341120"/>
            </a:xfrm>
            <a:custGeom>
              <a:rect b="b" l="l" r="r" t="t"/>
              <a:pathLst>
                <a:path extrusionOk="0"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7957" l="0" r="0" t="-19795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8"/>
            <p:cNvSpPr txBox="1"/>
            <p:nvPr/>
          </p:nvSpPr>
          <p:spPr>
            <a:xfrm>
              <a:off x="0" y="-7"/>
              <a:ext cx="21583200" cy="13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Arial"/>
                <a:buNone/>
              </a:pPr>
              <a:r>
                <a:rPr b="1" lang="en-US" sz="7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Traditional IAM pentesting tools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p18"/>
          <p:cNvGrpSpPr/>
          <p:nvPr/>
        </p:nvGrpSpPr>
        <p:grpSpPr>
          <a:xfrm>
            <a:off x="914400" y="1097280"/>
            <a:ext cx="12801600" cy="640080"/>
            <a:chOff x="0" y="0"/>
            <a:chExt cx="17068800" cy="853440"/>
          </a:xfrm>
        </p:grpSpPr>
        <p:sp>
          <p:nvSpPr>
            <p:cNvPr id="128" name="Google Shape;128;p18"/>
            <p:cNvSpPr/>
            <p:nvPr/>
          </p:nvSpPr>
          <p:spPr>
            <a:xfrm>
              <a:off x="0" y="0"/>
              <a:ext cx="17068800" cy="853440"/>
            </a:xfrm>
            <a:custGeom>
              <a:rect b="b" l="l" r="r" t="t"/>
              <a:pathLst>
                <a:path extrusionOk="0" h="85344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9651" l="0" r="0" t="-339651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8"/>
            <p:cNvSpPr txBox="1"/>
            <p:nvPr/>
          </p:nvSpPr>
          <p:spPr>
            <a:xfrm>
              <a:off x="0" y="0"/>
              <a:ext cx="17068800" cy="853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en-US" sz="4000">
                  <a:solidFill>
                    <a:srgbClr val="22D3E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Inspirations for IAM recon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18"/>
          <p:cNvGrpSpPr/>
          <p:nvPr/>
        </p:nvGrpSpPr>
        <p:grpSpPr>
          <a:xfrm>
            <a:off x="1371600" y="2377440"/>
            <a:ext cx="6949440" cy="731520"/>
            <a:chOff x="0" y="0"/>
            <a:chExt cx="9265920" cy="975360"/>
          </a:xfrm>
        </p:grpSpPr>
        <p:sp>
          <p:nvSpPr>
            <p:cNvPr id="131" name="Google Shape;131;p18"/>
            <p:cNvSpPr/>
            <p:nvPr/>
          </p:nvSpPr>
          <p:spPr>
            <a:xfrm>
              <a:off x="0" y="0"/>
              <a:ext cx="9265920" cy="975360"/>
            </a:xfrm>
            <a:custGeom>
              <a:rect b="b" l="l" r="r" t="t"/>
              <a:pathLst>
                <a:path extrusionOk="0"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5094" l="0" r="0" t="-13509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8"/>
            <p:cNvSpPr txBox="1"/>
            <p:nvPr/>
          </p:nvSpPr>
          <p:spPr>
            <a:xfrm>
              <a:off x="0" y="9525"/>
              <a:ext cx="9265920" cy="965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pmapper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18"/>
          <p:cNvGrpSpPr/>
          <p:nvPr/>
        </p:nvGrpSpPr>
        <p:grpSpPr>
          <a:xfrm>
            <a:off x="1371600" y="3186113"/>
            <a:ext cx="6949440" cy="837247"/>
            <a:chOff x="0" y="-19050"/>
            <a:chExt cx="9265920" cy="1116330"/>
          </a:xfrm>
        </p:grpSpPr>
        <p:sp>
          <p:nvSpPr>
            <p:cNvPr id="134" name="Google Shape;134;p18"/>
            <p:cNvSpPr/>
            <p:nvPr/>
          </p:nvSpPr>
          <p:spPr>
            <a:xfrm>
              <a:off x="0" y="0"/>
              <a:ext cx="9265920" cy="1097280"/>
            </a:xfrm>
            <a:custGeom>
              <a:rect b="b" l="l" r="r" t="t"/>
              <a:pathLst>
                <a:path extrusionOk="0"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539" l="0" r="0" t="-11453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8"/>
            <p:cNvSpPr txBox="1"/>
            <p:nvPr/>
          </p:nvSpPr>
          <p:spPr>
            <a:xfrm>
              <a:off x="0" y="-19050"/>
              <a:ext cx="9265920" cy="11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rgbClr val="CBD5E1"/>
                  </a:solidFill>
                  <a:latin typeface="Arimo"/>
                  <a:ea typeface="Arimo"/>
                  <a:cs typeface="Arimo"/>
                  <a:sym typeface="Arimo"/>
                </a:rPr>
                <a:t>Automated IAM privesc path discovery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" name="Google Shape;136;p18"/>
          <p:cNvGrpSpPr/>
          <p:nvPr/>
        </p:nvGrpSpPr>
        <p:grpSpPr>
          <a:xfrm>
            <a:off x="1371600" y="4071938"/>
            <a:ext cx="6949440" cy="865822"/>
            <a:chOff x="0" y="-57150"/>
            <a:chExt cx="9265920" cy="1154430"/>
          </a:xfrm>
        </p:grpSpPr>
        <p:sp>
          <p:nvSpPr>
            <p:cNvPr id="137" name="Google Shape;137;p18"/>
            <p:cNvSpPr/>
            <p:nvPr/>
          </p:nvSpPr>
          <p:spPr>
            <a:xfrm>
              <a:off x="0" y="0"/>
              <a:ext cx="9265920" cy="1097280"/>
            </a:xfrm>
            <a:custGeom>
              <a:rect b="b" l="l" r="r" t="t"/>
              <a:pathLst>
                <a:path extrusionOk="0"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539" l="0" r="0" t="-11453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8"/>
            <p:cNvSpPr txBox="1"/>
            <p:nvPr/>
          </p:nvSpPr>
          <p:spPr>
            <a:xfrm>
              <a:off x="0" y="-57150"/>
              <a:ext cx="9265920" cy="1154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https://github.com/nccgroup/PMapper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18"/>
          <p:cNvGrpSpPr/>
          <p:nvPr/>
        </p:nvGrpSpPr>
        <p:grpSpPr>
          <a:xfrm>
            <a:off x="9966960" y="2377440"/>
            <a:ext cx="6949440" cy="731520"/>
            <a:chOff x="0" y="0"/>
            <a:chExt cx="9265920" cy="975360"/>
          </a:xfrm>
        </p:grpSpPr>
        <p:sp>
          <p:nvSpPr>
            <p:cNvPr id="140" name="Google Shape;140;p18"/>
            <p:cNvSpPr/>
            <p:nvPr/>
          </p:nvSpPr>
          <p:spPr>
            <a:xfrm>
              <a:off x="0" y="0"/>
              <a:ext cx="9265920" cy="975360"/>
            </a:xfrm>
            <a:custGeom>
              <a:rect b="b" l="l" r="r" t="t"/>
              <a:pathLst>
                <a:path extrusionOk="0"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5094" l="0" r="0" t="-13509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8"/>
            <p:cNvSpPr txBox="1"/>
            <p:nvPr/>
          </p:nvSpPr>
          <p:spPr>
            <a:xfrm>
              <a:off x="0" y="9525"/>
              <a:ext cx="9265920" cy="965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awspx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" name="Google Shape;142;p18"/>
          <p:cNvGrpSpPr/>
          <p:nvPr/>
        </p:nvGrpSpPr>
        <p:grpSpPr>
          <a:xfrm>
            <a:off x="9966960" y="3186113"/>
            <a:ext cx="6949440" cy="837247"/>
            <a:chOff x="0" y="-19050"/>
            <a:chExt cx="9265920" cy="1116330"/>
          </a:xfrm>
        </p:grpSpPr>
        <p:sp>
          <p:nvSpPr>
            <p:cNvPr id="143" name="Google Shape;143;p18"/>
            <p:cNvSpPr/>
            <p:nvPr/>
          </p:nvSpPr>
          <p:spPr>
            <a:xfrm>
              <a:off x="0" y="0"/>
              <a:ext cx="9265920" cy="1097280"/>
            </a:xfrm>
            <a:custGeom>
              <a:rect b="b" l="l" r="r" t="t"/>
              <a:pathLst>
                <a:path extrusionOk="0"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539" l="0" r="0" t="-11453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8"/>
            <p:cNvSpPr txBox="1"/>
            <p:nvPr/>
          </p:nvSpPr>
          <p:spPr>
            <a:xfrm>
              <a:off x="0" y="-19050"/>
              <a:ext cx="9265920" cy="11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rgbClr val="CBD5E1"/>
                  </a:solidFill>
                  <a:latin typeface="Arimo"/>
                  <a:ea typeface="Arimo"/>
                  <a:cs typeface="Arimo"/>
                  <a:sym typeface="Arimo"/>
                </a:rPr>
                <a:t>Visual IAM graph with attack edges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" name="Google Shape;145;p18"/>
          <p:cNvGrpSpPr/>
          <p:nvPr/>
        </p:nvGrpSpPr>
        <p:grpSpPr>
          <a:xfrm>
            <a:off x="9966960" y="4071938"/>
            <a:ext cx="6949440" cy="865822"/>
            <a:chOff x="0" y="-57150"/>
            <a:chExt cx="9265920" cy="1154430"/>
          </a:xfrm>
        </p:grpSpPr>
        <p:sp>
          <p:nvSpPr>
            <p:cNvPr id="146" name="Google Shape;146;p18"/>
            <p:cNvSpPr/>
            <p:nvPr/>
          </p:nvSpPr>
          <p:spPr>
            <a:xfrm>
              <a:off x="0" y="0"/>
              <a:ext cx="9265920" cy="1097280"/>
            </a:xfrm>
            <a:custGeom>
              <a:rect b="b" l="l" r="r" t="t"/>
              <a:pathLst>
                <a:path extrusionOk="0"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539" l="0" r="0" t="-11453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8"/>
            <p:cNvSpPr txBox="1"/>
            <p:nvPr/>
          </p:nvSpPr>
          <p:spPr>
            <a:xfrm>
              <a:off x="0" y="-57150"/>
              <a:ext cx="9265920" cy="1154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https://github.com/ReversecLabs/awspx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8" name="Google Shape;148;p18" title="Screenshot 2026-02-12 at 9.39.42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225" y="5337300"/>
            <a:ext cx="7562826" cy="3978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title="Screenshot 2026-02-12 at 9.48.24 A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91990" y="4937760"/>
            <a:ext cx="6146655" cy="504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9"/>
          <p:cNvGrpSpPr/>
          <p:nvPr/>
        </p:nvGrpSpPr>
        <p:grpSpPr>
          <a:xfrm>
            <a:off x="914400" y="182880"/>
            <a:ext cx="12801600" cy="1005840"/>
            <a:chOff x="0" y="0"/>
            <a:chExt cx="17068800" cy="1341120"/>
          </a:xfrm>
        </p:grpSpPr>
        <p:sp>
          <p:nvSpPr>
            <p:cNvPr id="159" name="Google Shape;159;p19"/>
            <p:cNvSpPr/>
            <p:nvPr/>
          </p:nvSpPr>
          <p:spPr>
            <a:xfrm>
              <a:off x="0" y="0"/>
              <a:ext cx="17068800" cy="1341120"/>
            </a:xfrm>
            <a:custGeom>
              <a:rect b="b" l="l" r="r" t="t"/>
              <a:pathLst>
                <a:path extrusionOk="0"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7957" l="0" r="0" t="-19795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9"/>
            <p:cNvSpPr txBox="1"/>
            <p:nvPr/>
          </p:nvSpPr>
          <p:spPr>
            <a:xfrm>
              <a:off x="0" y="0"/>
              <a:ext cx="17068800" cy="1341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Arial"/>
                <a:buNone/>
              </a:pPr>
              <a:r>
                <a:rPr b="1" lang="en-US" sz="7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pathfinding.cloud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" name="Google Shape;161;p19"/>
          <p:cNvGrpSpPr/>
          <p:nvPr/>
        </p:nvGrpSpPr>
        <p:grpSpPr>
          <a:xfrm>
            <a:off x="914400" y="1097280"/>
            <a:ext cx="12801600" cy="792607"/>
            <a:chOff x="0" y="0"/>
            <a:chExt cx="17068800" cy="1056809"/>
          </a:xfrm>
        </p:grpSpPr>
        <p:sp>
          <p:nvSpPr>
            <p:cNvPr id="162" name="Google Shape;162;p19"/>
            <p:cNvSpPr/>
            <p:nvPr/>
          </p:nvSpPr>
          <p:spPr>
            <a:xfrm>
              <a:off x="0" y="0"/>
              <a:ext cx="17068800" cy="1056809"/>
            </a:xfrm>
            <a:custGeom>
              <a:rect b="b" l="l" r="r" t="t"/>
              <a:pathLst>
                <a:path extrusionOk="0" h="1056809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56809"/>
                  </a:lnTo>
                  <a:lnTo>
                    <a:pt x="0" y="105680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55063" l="0" r="0" t="-27430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0" y="0"/>
              <a:ext cx="17068800" cy="1056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22D3E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Privilege escalation playgrounds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p19"/>
          <p:cNvGrpSpPr/>
          <p:nvPr/>
        </p:nvGrpSpPr>
        <p:grpSpPr>
          <a:xfrm>
            <a:off x="1371600" y="2377440"/>
            <a:ext cx="6949440" cy="731520"/>
            <a:chOff x="0" y="0"/>
            <a:chExt cx="9265920" cy="975360"/>
          </a:xfrm>
        </p:grpSpPr>
        <p:sp>
          <p:nvSpPr>
            <p:cNvPr id="165" name="Google Shape;165;p19"/>
            <p:cNvSpPr/>
            <p:nvPr/>
          </p:nvSpPr>
          <p:spPr>
            <a:xfrm>
              <a:off x="0" y="0"/>
              <a:ext cx="9265920" cy="975360"/>
            </a:xfrm>
            <a:custGeom>
              <a:rect b="b" l="l" r="r" t="t"/>
              <a:pathLst>
                <a:path extrusionOk="0"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5094" l="0" r="0" t="-13509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9"/>
            <p:cNvSpPr txBox="1"/>
            <p:nvPr/>
          </p:nvSpPr>
          <p:spPr>
            <a:xfrm>
              <a:off x="0" y="9525"/>
              <a:ext cx="9265920" cy="965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pathfinding.cloud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" name="Google Shape;167;p19"/>
          <p:cNvGrpSpPr/>
          <p:nvPr/>
        </p:nvGrpSpPr>
        <p:grpSpPr>
          <a:xfrm>
            <a:off x="1371600" y="3186113"/>
            <a:ext cx="6949440" cy="837247"/>
            <a:chOff x="0" y="-19050"/>
            <a:chExt cx="9265920" cy="1116330"/>
          </a:xfrm>
        </p:grpSpPr>
        <p:sp>
          <p:nvSpPr>
            <p:cNvPr id="168" name="Google Shape;168;p19"/>
            <p:cNvSpPr/>
            <p:nvPr/>
          </p:nvSpPr>
          <p:spPr>
            <a:xfrm>
              <a:off x="0" y="0"/>
              <a:ext cx="9265920" cy="1097280"/>
            </a:xfrm>
            <a:custGeom>
              <a:rect b="b" l="l" r="r" t="t"/>
              <a:pathLst>
                <a:path extrusionOk="0"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539" l="0" r="0" t="-11453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9"/>
            <p:cNvSpPr txBox="1"/>
            <p:nvPr/>
          </p:nvSpPr>
          <p:spPr>
            <a:xfrm>
              <a:off x="0" y="-19050"/>
              <a:ext cx="9265920" cy="11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rgbClr val="CBD5E1"/>
                  </a:solidFill>
                  <a:latin typeface="Arimo"/>
                  <a:ea typeface="Arimo"/>
                  <a:cs typeface="Arimo"/>
                  <a:sym typeface="Arimo"/>
                </a:rPr>
                <a:t>Privesc knowledge base — categories, paths, detections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" name="Google Shape;170;p19"/>
          <p:cNvGrpSpPr/>
          <p:nvPr/>
        </p:nvGrpSpPr>
        <p:grpSpPr>
          <a:xfrm>
            <a:off x="1371600" y="4071938"/>
            <a:ext cx="6949440" cy="865822"/>
            <a:chOff x="0" y="-57150"/>
            <a:chExt cx="9265920" cy="1154430"/>
          </a:xfrm>
        </p:grpSpPr>
        <p:sp>
          <p:nvSpPr>
            <p:cNvPr id="171" name="Google Shape;171;p19"/>
            <p:cNvSpPr/>
            <p:nvPr/>
          </p:nvSpPr>
          <p:spPr>
            <a:xfrm>
              <a:off x="0" y="0"/>
              <a:ext cx="9265920" cy="1097280"/>
            </a:xfrm>
            <a:custGeom>
              <a:rect b="b" l="l" r="r" t="t"/>
              <a:pathLst>
                <a:path extrusionOk="0"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539" l="0" r="0" t="-11453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0" y="-57150"/>
              <a:ext cx="9265920" cy="1154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https://pathfinding.cloud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p19"/>
          <p:cNvGrpSpPr/>
          <p:nvPr/>
        </p:nvGrpSpPr>
        <p:grpSpPr>
          <a:xfrm>
            <a:off x="9966960" y="3186113"/>
            <a:ext cx="6949440" cy="837247"/>
            <a:chOff x="0" y="-19050"/>
            <a:chExt cx="9265920" cy="1116330"/>
          </a:xfrm>
        </p:grpSpPr>
        <p:sp>
          <p:nvSpPr>
            <p:cNvPr id="174" name="Google Shape;174;p19"/>
            <p:cNvSpPr/>
            <p:nvPr/>
          </p:nvSpPr>
          <p:spPr>
            <a:xfrm>
              <a:off x="0" y="0"/>
              <a:ext cx="9265920" cy="1097280"/>
            </a:xfrm>
            <a:custGeom>
              <a:rect b="b" l="l" r="r" t="t"/>
              <a:pathLst>
                <a:path extrusionOk="0"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539" l="0" r="0" t="-11453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9"/>
            <p:cNvSpPr txBox="1"/>
            <p:nvPr/>
          </p:nvSpPr>
          <p:spPr>
            <a:xfrm>
              <a:off x="0" y="-19050"/>
              <a:ext cx="9265920" cy="11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rgbClr val="CBD5E1"/>
                  </a:solidFill>
                  <a:latin typeface="Arimo"/>
                  <a:ea typeface="Arimo"/>
                  <a:cs typeface="Arimo"/>
                  <a:sym typeface="Arimo"/>
                </a:rPr>
                <a:t>Hands-on privilege escalation scenarios similar to the ones you will do today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p19"/>
          <p:cNvGrpSpPr/>
          <p:nvPr/>
        </p:nvGrpSpPr>
        <p:grpSpPr>
          <a:xfrm>
            <a:off x="9966960" y="4071938"/>
            <a:ext cx="6949440" cy="865822"/>
            <a:chOff x="0" y="-57150"/>
            <a:chExt cx="9265920" cy="1154430"/>
          </a:xfrm>
        </p:grpSpPr>
        <p:sp>
          <p:nvSpPr>
            <p:cNvPr id="177" name="Google Shape;177;p19"/>
            <p:cNvSpPr/>
            <p:nvPr/>
          </p:nvSpPr>
          <p:spPr>
            <a:xfrm>
              <a:off x="0" y="0"/>
              <a:ext cx="9265920" cy="1097280"/>
            </a:xfrm>
            <a:custGeom>
              <a:rect b="b" l="l" r="r" t="t"/>
              <a:pathLst>
                <a:path extrusionOk="0"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539" l="0" r="0" t="-11453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9"/>
            <p:cNvSpPr txBox="1"/>
            <p:nvPr/>
          </p:nvSpPr>
          <p:spPr>
            <a:xfrm>
              <a:off x="0" y="-57150"/>
              <a:ext cx="9265920" cy="1154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-US" sz="26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*official release coming soon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19"/>
          <p:cNvGrpSpPr/>
          <p:nvPr/>
        </p:nvGrpSpPr>
        <p:grpSpPr>
          <a:xfrm>
            <a:off x="9966960" y="2377440"/>
            <a:ext cx="6949440" cy="731520"/>
            <a:chOff x="0" y="0"/>
            <a:chExt cx="9265920" cy="975360"/>
          </a:xfrm>
        </p:grpSpPr>
        <p:sp>
          <p:nvSpPr>
            <p:cNvPr id="180" name="Google Shape;180;p19"/>
            <p:cNvSpPr/>
            <p:nvPr/>
          </p:nvSpPr>
          <p:spPr>
            <a:xfrm>
              <a:off x="0" y="0"/>
              <a:ext cx="9265920" cy="975360"/>
            </a:xfrm>
            <a:custGeom>
              <a:rect b="b" l="l" r="r" t="t"/>
              <a:pathLst>
                <a:path extrusionOk="0"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5091" l="0" r="0" t="-13510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9"/>
            <p:cNvSpPr txBox="1"/>
            <p:nvPr/>
          </p:nvSpPr>
          <p:spPr>
            <a:xfrm>
              <a:off x="0" y="9525"/>
              <a:ext cx="9265800" cy="9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lang="en-US" sz="4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pathfinding.cloud labs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" name="Google Shape;182;p19"/>
          <p:cNvSpPr/>
          <p:nvPr/>
        </p:nvSpPr>
        <p:spPr>
          <a:xfrm>
            <a:off x="1202550" y="5103925"/>
            <a:ext cx="6357216" cy="4211470"/>
          </a:xfrm>
          <a:custGeom>
            <a:rect b="b" l="l" r="r" t="t"/>
            <a:pathLst>
              <a:path extrusionOk="0" h="3982478" w="5899968">
                <a:moveTo>
                  <a:pt x="0" y="0"/>
                </a:moveTo>
                <a:lnTo>
                  <a:pt x="5899968" y="0"/>
                </a:lnTo>
                <a:lnTo>
                  <a:pt x="5899968" y="3982478"/>
                </a:lnTo>
                <a:lnTo>
                  <a:pt x="0" y="3982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9" title="Screenshot 2026-05-13 at 4.33.2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25362" y="5143500"/>
            <a:ext cx="7693676" cy="413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"/>
          <p:cNvSpPr txBox="1"/>
          <p:nvPr/>
        </p:nvSpPr>
        <p:spPr>
          <a:xfrm>
            <a:off x="713812" y="1363745"/>
            <a:ext cx="12907531" cy="629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Navigate to workshop modules and enroll with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" name="Google Shape;193;p3"/>
          <p:cNvGrpSpPr/>
          <p:nvPr/>
        </p:nvGrpSpPr>
        <p:grpSpPr>
          <a:xfrm>
            <a:off x="539795" y="1189799"/>
            <a:ext cx="977811" cy="1011149"/>
            <a:chOff x="0" y="-44450"/>
            <a:chExt cx="1303747" cy="1348197"/>
          </a:xfrm>
        </p:grpSpPr>
        <p:grpSp>
          <p:nvGrpSpPr>
            <p:cNvPr id="194" name="Google Shape;194;p3"/>
            <p:cNvGrpSpPr/>
            <p:nvPr/>
          </p:nvGrpSpPr>
          <p:grpSpPr>
            <a:xfrm>
              <a:off x="0" y="0"/>
              <a:ext cx="1303747" cy="1303747"/>
              <a:chOff x="0" y="0"/>
              <a:chExt cx="812800" cy="812800"/>
            </a:xfrm>
          </p:grpSpPr>
          <p:sp>
            <p:nvSpPr>
              <p:cNvPr id="195" name="Google Shape;195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noFill/>
              <a:ln cap="sq" cmpd="sng" w="85725">
                <a:solidFill>
                  <a:srgbClr val="B2D6CA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7" name="Google Shape;197;p3"/>
            <p:cNvSpPr txBox="1"/>
            <p:nvPr/>
          </p:nvSpPr>
          <p:spPr>
            <a:xfrm>
              <a:off x="433096" y="-44450"/>
              <a:ext cx="437555" cy="1182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4"/>
                <a:buFont typeface="Arial"/>
                <a:buNone/>
              </a:pPr>
              <a:r>
                <a:rPr b="1" i="0" lang="en-US" sz="5404" u="none" cap="none" strike="noStrike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" name="Google Shape;198;p3"/>
          <p:cNvSpPr txBox="1"/>
          <p:nvPr/>
        </p:nvSpPr>
        <p:spPr>
          <a:xfrm>
            <a:off x="357259" y="260227"/>
            <a:ext cx="16408541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Do this first - start lab resources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"/>
          <p:cNvSpPr txBox="1"/>
          <p:nvPr/>
        </p:nvSpPr>
        <p:spPr>
          <a:xfrm>
            <a:off x="1517600" y="2422477"/>
            <a:ext cx="119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https://learn.resilientsecurity.cloud/course/course-002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9" l="0" r="0" t="-925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 txBox="1"/>
          <p:nvPr/>
        </p:nvSpPr>
        <p:spPr>
          <a:xfrm>
            <a:off x="357259" y="260227"/>
            <a:ext cx="16408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Start here - access the workshop environment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e7988685e_0_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60" l="0" r="0" t="-92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be7988685e_0_14"/>
          <p:cNvSpPr txBox="1"/>
          <p:nvPr/>
        </p:nvSpPr>
        <p:spPr>
          <a:xfrm>
            <a:off x="357259" y="260227"/>
            <a:ext cx="16408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Find lab instructions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g3be7988685e_0_14" title="Screenshot 2026-02-12 at 12.45.04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6750" y="1397700"/>
            <a:ext cx="8510374" cy="7260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e7988685e_0_5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9" l="0" r="0" t="-925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be7988685e_0_59"/>
          <p:cNvSpPr txBox="1"/>
          <p:nvPr/>
        </p:nvSpPr>
        <p:spPr>
          <a:xfrm>
            <a:off x="357259" y="260227"/>
            <a:ext cx="16408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Sign in to your virtual desktop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g3be7988685e_0_59" title="Screenshot 2026-02-12 at 12.28.36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000" y="1509625"/>
            <a:ext cx="17002127" cy="235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be7988685e_0_59" title="Screenshot 2026-02-12 at 12.31.26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03737" y="3650750"/>
            <a:ext cx="8915523" cy="607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e7988685e_0_4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9" l="0" r="0" t="-925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be7988685e_0_48"/>
          <p:cNvSpPr txBox="1"/>
          <p:nvPr/>
        </p:nvSpPr>
        <p:spPr>
          <a:xfrm>
            <a:off x="357259" y="260227"/>
            <a:ext cx="16408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Find lab instructions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g3be7988685e_0_48" title="Screenshot 2026-02-12 at 12.26.26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3175" y="1209150"/>
            <a:ext cx="11321426" cy="835287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be7988685e_0_48"/>
          <p:cNvSpPr/>
          <p:nvPr/>
        </p:nvSpPr>
        <p:spPr>
          <a:xfrm>
            <a:off x="1920250" y="8307975"/>
            <a:ext cx="4095300" cy="97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e7988685e_0_7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9" l="0" r="0" t="-925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be7988685e_0_73"/>
          <p:cNvSpPr txBox="1"/>
          <p:nvPr/>
        </p:nvSpPr>
        <p:spPr>
          <a:xfrm>
            <a:off x="357259" y="260227"/>
            <a:ext cx="164085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Paste your sandbox AWS creds into virtual workstation terminal </a:t>
            </a:r>
            <a:endParaRPr b="1" i="0" sz="5100" u="none" cap="none" strike="noStrike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247" name="Google Shape;247;g3be7988685e_0_73" title="Screenshot 2026-02-12 at 12.34.43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9375" y="2266875"/>
            <a:ext cx="8136024" cy="433022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be7988685e_0_73"/>
          <p:cNvSpPr/>
          <p:nvPr/>
        </p:nvSpPr>
        <p:spPr>
          <a:xfrm rot="-2699603">
            <a:off x="4270748" y="6205754"/>
            <a:ext cx="3677521" cy="67076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g3be7988685e_0_73" title="Screenshot 2026-02-12 at 12.35.27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1625" y="8078325"/>
            <a:ext cx="95821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3be7988685e_0_73" title="Screenshot 2026-02-12 at 12.35.56 PM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2900" y="3234988"/>
            <a:ext cx="6973426" cy="4543825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20"/>
          <p:cNvGrpSpPr/>
          <p:nvPr/>
        </p:nvGrpSpPr>
        <p:grpSpPr>
          <a:xfrm>
            <a:off x="914400" y="182880"/>
            <a:ext cx="16459200" cy="1280250"/>
            <a:chOff x="0" y="0"/>
            <a:chExt cx="21945600" cy="1707000"/>
          </a:xfrm>
        </p:grpSpPr>
        <p:sp>
          <p:nvSpPr>
            <p:cNvPr id="260" name="Google Shape;260;p20"/>
            <p:cNvSpPr/>
            <p:nvPr/>
          </p:nvSpPr>
          <p:spPr>
            <a:xfrm>
              <a:off x="0" y="0"/>
              <a:ext cx="21945600" cy="1706880"/>
            </a:xfrm>
            <a:custGeom>
              <a:rect b="b" l="l" r="r" t="t"/>
              <a:pathLst>
                <a:path extrusionOk="0"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0501" l="0" r="0" t="-200501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20"/>
            <p:cNvSpPr txBox="1"/>
            <p:nvPr/>
          </p:nvSpPr>
          <p:spPr>
            <a:xfrm>
              <a:off x="0" y="0"/>
              <a:ext cx="21945600" cy="17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00"/>
                <a:buFont typeface="Arial"/>
                <a:buNone/>
              </a:pPr>
              <a:r>
                <a:rPr b="1" i="0" lang="en-US" sz="76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Lab</a:t>
              </a:r>
              <a:r>
                <a:rPr b="1" i="0" lang="en-US" sz="76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1: </a:t>
              </a:r>
              <a:r>
                <a:rPr b="1" i="0" lang="en-US" sz="76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Mission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262" name="Google Shape;262;p20"/>
          <p:cNvGraphicFramePr/>
          <p:nvPr/>
        </p:nvGraphicFramePr>
        <p:xfrm>
          <a:off x="860338" y="20107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{7725FFC5-688C-4EE8-BEED-22D7C9311C37}</a:tableStyleId>
              </a:tblPr>
              <a:tblGrid>
                <a:gridCol w="1397675"/>
                <a:gridCol w="7547050"/>
                <a:gridCol w="7622575"/>
              </a:tblGrid>
              <a:tr h="831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64748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</a:t>
                      </a:r>
                      <a:endParaRPr sz="1100" u="none" cap="none" strike="noStrike"/>
                    </a:p>
                  </a:txBody>
                  <a:tcPr marT="109725" marB="109725" marR="109725" marL="1097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64748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Exercise</a:t>
                      </a:r>
                      <a:endParaRPr sz="1100" u="none" cap="none" strike="noStrike"/>
                    </a:p>
                  </a:txBody>
                  <a:tcPr marT="109725" marB="109725" marR="109725" marL="1097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64748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You Will...</a:t>
                      </a:r>
                      <a:endParaRPr sz="1100" u="none" cap="none" strike="noStrike"/>
                    </a:p>
                  </a:txBody>
                  <a:tcPr marT="109725" marB="109725" marR="109725" marL="1097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120"/>
                    </a:solidFill>
                  </a:tcPr>
                </a:tc>
              </a:tr>
              <a:tr h="200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4600" u="none" cap="none" strike="noStrike">
                          <a:solidFill>
                            <a:srgbClr val="22D3E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2100" u="none" cap="none" strike="noStrike"/>
                    </a:p>
                  </a:txBody>
                  <a:tcPr marT="109725" marB="109725" marR="109725" marL="1097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b="1" lang="en-US" sz="30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Environment </a:t>
                      </a:r>
                      <a:r>
                        <a:rPr b="1" lang="en-US" sz="3099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Setup </a:t>
                      </a:r>
                      <a:endParaRPr u="none" cap="none" strike="noStrike"/>
                    </a:p>
                  </a:txBody>
                  <a:tcPr marT="109725" marB="109725" marR="109725" marL="1097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30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 set up in lab environment</a:t>
                      </a:r>
                      <a:endParaRPr u="none" cap="none" strike="noStrike"/>
                    </a:p>
                  </a:txBody>
                  <a:tcPr marT="109725" marB="109725" marR="109725" marL="1097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40"/>
                    </a:solidFill>
                  </a:tcPr>
                </a:tc>
              </a:tr>
              <a:tr h="2234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4600" u="none" cap="none" strike="noStrike">
                          <a:solidFill>
                            <a:srgbClr val="22D3E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2100" u="none" cap="none" strike="noStrike"/>
                    </a:p>
                  </a:txBody>
                  <a:tcPr marT="109725" marB="109725" marR="109725" marL="1097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99"/>
                        <a:buFont typeface="Arial"/>
                        <a:buNone/>
                      </a:pPr>
                      <a:r>
                        <a:rPr b="1" lang="en-US" sz="3099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Initial </a:t>
                      </a:r>
                      <a:r>
                        <a:rPr b="1" lang="en-US" sz="3099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Recon</a:t>
                      </a:r>
                      <a:endParaRPr u="none" cap="none" strike="noStrike"/>
                    </a:p>
                  </a:txBody>
                  <a:tcPr marT="109725" marB="109725" marR="109725" marL="1097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30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Map attack paths with iam-recon</a:t>
                      </a:r>
                      <a:endParaRPr u="none" cap="none" strike="noStrike"/>
                    </a:p>
                  </a:txBody>
                  <a:tcPr marT="109725" marB="109725" marR="109725" marL="1097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40"/>
                    </a:solidFill>
                  </a:tcPr>
                </a:tc>
              </a:tr>
              <a:tr h="280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4600" u="none" cap="none" strike="noStrike">
                          <a:solidFill>
                            <a:srgbClr val="22D3E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2100" u="none" cap="none" strike="noStrike"/>
                    </a:p>
                  </a:txBody>
                  <a:tcPr marT="109725" marB="109725" marR="109725" marL="1097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99"/>
                        <a:buFont typeface="Arial"/>
                        <a:buNone/>
                      </a:pPr>
                      <a:r>
                        <a:rPr b="1" lang="en-US" sz="3099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Lab Scenario 1</a:t>
                      </a:r>
                      <a:endParaRPr sz="1700"/>
                    </a:p>
                  </a:txBody>
                  <a:tcPr marT="109725" marB="109725" marR="109725" marL="1097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30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Self escalation lab scenario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09725" marB="109725" marR="109725" marL="1097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g3e0fe2dc280_0_37"/>
          <p:cNvGrpSpPr/>
          <p:nvPr/>
        </p:nvGrpSpPr>
        <p:grpSpPr>
          <a:xfrm>
            <a:off x="137150" y="182875"/>
            <a:ext cx="17995500" cy="1280250"/>
            <a:chOff x="-1036333" y="-7"/>
            <a:chExt cx="23994000" cy="1707000"/>
          </a:xfrm>
        </p:grpSpPr>
        <p:sp>
          <p:nvSpPr>
            <p:cNvPr id="272" name="Google Shape;272;g3e0fe2dc280_0_37"/>
            <p:cNvSpPr/>
            <p:nvPr/>
          </p:nvSpPr>
          <p:spPr>
            <a:xfrm>
              <a:off x="0" y="0"/>
              <a:ext cx="21945600" cy="1706880"/>
            </a:xfrm>
            <a:custGeom>
              <a:rect b="b" l="l" r="r" t="t"/>
              <a:pathLst>
                <a:path extrusionOk="0"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0501" l="0" r="0" t="-200501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g3e0fe2dc280_0_37"/>
            <p:cNvSpPr txBox="1"/>
            <p:nvPr/>
          </p:nvSpPr>
          <p:spPr>
            <a:xfrm>
              <a:off x="-1036333" y="-7"/>
              <a:ext cx="23994000" cy="17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00"/>
                <a:buFont typeface="Arial"/>
                <a:buNone/>
              </a:pPr>
              <a:r>
                <a:rPr b="1" lang="en-US" sz="5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Scenario 1 CreatePolicyVersion self-escalation</a:t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4" name="Google Shape;274;g3e0fe2dc280_0_37" title="Screenshot 2026-05-11 at 9.16.5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3888" y="1900430"/>
            <a:ext cx="8810763" cy="762883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e0fe2dc280_0_37"/>
          <p:cNvSpPr txBox="1"/>
          <p:nvPr/>
        </p:nvSpPr>
        <p:spPr>
          <a:xfrm>
            <a:off x="713250" y="2167100"/>
            <a:ext cx="6926700" cy="75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`iamws-policy-developer` user has `iam:CreatePolicyVersion` on a customer-managed policy that's attached to themselves.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misconfiguration 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constraint → user can create a v2 policy granting admin and set it as default.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Privesc category 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Self-Escalation scenario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