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8"/>
    <p:sldId id="257" r:id="rId19"/>
    <p:sldId id="258" r:id="rId20"/>
    <p:sldId id="259" r:id="rId21"/>
    <p:sldId id="260" r:id="rId22"/>
    <p:sldId id="261" r:id="rId23"/>
  </p:sldIdLst>
  <p:sldSz cy="10287000" cx="18288000"/>
  <p:notesSz cx="6858000" cy="9144000"/>
  <p:embeddedFontLst>
    <p:embeddedFont>
      <p:font typeface="Arim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Assistan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u3iHEyULb6y8uBKm1Lf/FTOz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643B1D-9803-458B-AC4E-7CA0FF1CF9E7}">
  <a:tblStyle styleId="{79643B1D-9803-458B-AC4E-7CA0FF1CF9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30" Type="http://schemas.openxmlformats.org/officeDocument/2006/relationships/font" Target="fonts/Arimo-regular.fntdata"/><Relationship Id="rId31" Type="http://schemas.openxmlformats.org/officeDocument/2006/relationships/font" Target="fonts/Arimo-bold.fntdata"/><Relationship Id="rId32" Type="http://schemas.openxmlformats.org/officeDocument/2006/relationships/font" Target="fonts/Arimo-italic.fntdata"/><Relationship Id="rId33" Type="http://schemas.openxmlformats.org/officeDocument/2006/relationships/font" Target="fonts/Arimo-boldItalic.fntdata"/><Relationship Id="rId34" Type="http://schemas.openxmlformats.org/officeDocument/2006/relationships/font" Target="fonts/Montserrat-regular.fntdata"/><Relationship Id="rId35" Type="http://schemas.openxmlformats.org/officeDocument/2006/relationships/font" Target="fonts/Montserrat-bold.fntdata"/><Relationship Id="rId36" Type="http://schemas.openxmlformats.org/officeDocument/2006/relationships/font" Target="fonts/Montserrat-italic.fntdata"/><Relationship Id="rId37" Type="http://schemas.openxmlformats.org/officeDocument/2006/relationships/font" Target="fonts/Montserrat-boldItalic.fntdata"/><Relationship Id="rId38" Type="http://schemas.openxmlformats.org/officeDocument/2006/relationships/font" Target="fonts/Assistant-regular.fntdata"/><Relationship Id="rId39" Type="http://schemas.openxmlformats.org/officeDocument/2006/relationships/font" Target="fonts/Assistant-bold.fntdata"/><Relationship Id="rId4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C6D26"/>
                </a:solidFill>
                <a:latin typeface="Assistant"/>
              </a:rPr>
              <a:t>AFTERNOON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7190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Assistant"/>
              </a:rPr>
              <a:t>Specs Before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719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ssistant"/>
              </a:rPr>
              <a:t>Hardening an EC2 role with </a:t>
            </a:r>
            <a:r>
              <a:rPr sz="4200" b="1">
                <a:solidFill>
                  <a:srgbClr val="FC6D26"/>
                </a:solidFill>
                <a:latin typeface="Assistant"/>
              </a:rPr>
              <a:t>Kiro</a:t>
            </a:r>
            <a:r>
              <a:rPr sz="4200" b="1">
                <a:solidFill>
                  <a:srgbClr val="FFFFFF"/>
                </a:solidFill>
                <a:latin typeface="Assistant"/>
              </a:rPr>
              <a:t> + </a:t>
            </a:r>
            <a:r>
              <a:rPr sz="4200" b="1">
                <a:solidFill>
                  <a:srgbClr val="FC6D26"/>
                </a:solidFill>
                <a:latin typeface="Assistant"/>
              </a:rPr>
              <a:t>AWS MCP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onsolas"/>
              </a:rPr>
              <a:t>STARTING POINT  </a:t>
            </a:r>
            <a:r>
              <a:rPr sz="1600" b="0">
                <a:solidFill>
                  <a:srgbClr val="CBD5E1"/>
                </a:solidFill>
                <a:latin typeface="Consolas"/>
              </a:rPr>
              <a:t>AnalyticsAppRole-Insecure  (Action: "*", Resource: "*")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GOAL  </a:t>
            </a:r>
            <a:r>
              <a:rPr sz="1600" b="0">
                <a:solidFill>
                  <a:srgbClr val="CBD5E1"/>
                </a:solidFill>
                <a:latin typeface="Consolas"/>
              </a:rPr>
              <a:t>least-privilege role generated from a Kiro Spec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7190720" cy="777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You inherited an EC2-based analytics application. The instance role has the classic </a:t>
            </a:r>
            <a:r>
              <a:rPr sz="2800" b="1">
                <a:solidFill>
                  <a:srgbClr val="FC6D26"/>
                </a:solidFill>
                <a:latin typeface="Assistant"/>
              </a:rPr>
              <a:t>"Stack Overflow copy-paste"</a:t>
            </a:r>
            <a:r>
              <a:rPr sz="2800" b="1">
                <a:solidFill>
                  <a:srgbClr val="FFFFFF"/>
                </a:solidFill>
                <a:latin typeface="Assistant"/>
              </a:rPr>
              <a:t> policy: </a:t>
            </a:r>
            <a:r>
              <a:rPr sz="2800" b="1">
                <a:solidFill>
                  <a:srgbClr val="F87171"/>
                </a:solidFill>
                <a:latin typeface="Assistant"/>
              </a:rPr>
              <a:t>Action: "*", Resource: "*"</a:t>
            </a:r>
            <a:r>
              <a:rPr sz="2800" b="1">
                <a:solidFill>
                  <a:srgbClr val="FFFFFF"/>
                </a:solidFill>
                <a:latin typeface="Assistant"/>
              </a:rPr>
              <a:t>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The job: replace it with a least-privilege role that allows </a:t>
            </a:r>
            <a:r>
              <a:rPr sz="2800" b="1">
                <a:solidFill>
                  <a:srgbClr val="FC6D26"/>
                </a:solidFill>
                <a:latin typeface="Assistant"/>
              </a:rPr>
              <a:t>only what the app actually needs</a:t>
            </a:r>
            <a:r>
              <a:rPr sz="2800" b="1">
                <a:solidFill>
                  <a:srgbClr val="FFFFFF"/>
                </a:solidFill>
                <a:latin typeface="Assistant"/>
              </a:rPr>
              <a:t>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FC6D26"/>
                </a:solidFill>
                <a:latin typeface="Assistant"/>
              </a:rPr>
              <a:t>    •  </a:t>
            </a:r>
            <a:r>
              <a:rPr sz="2600" b="1">
                <a:solidFill>
                  <a:srgbClr val="FFFFFF"/>
                </a:solidFill>
                <a:latin typeface="Assistant"/>
              </a:rPr>
              <a:t>Read</a:t>
            </a:r>
            <a:r>
              <a:rPr sz="2600" b="1">
                <a:solidFill>
                  <a:srgbClr val="FFFFFF"/>
                </a:solidFill>
                <a:latin typeface="Assistant"/>
              </a:rPr>
              <a:t> objects from a specific S3 bucket — </a:t>
            </a:r>
            <a:r>
              <a:rPr sz="2600" b="1">
                <a:solidFill>
                  <a:srgbClr val="FC6D26"/>
                </a:solidFill>
                <a:latin typeface="Assistant"/>
              </a:rPr>
              <a:t>only</a:t>
            </a:r>
            <a:r>
              <a:rPr sz="2600" b="1">
                <a:solidFill>
                  <a:srgbClr val="FFFFFF"/>
                </a:solidFill>
                <a:latin typeface="Assistant"/>
              </a:rPr>
              <a:t> under the </a:t>
            </a:r>
            <a:r>
              <a:rPr sz="2600" b="1">
                <a:solidFill>
                  <a:srgbClr val="22D3EE"/>
                </a:solidFill>
                <a:latin typeface="Assistant"/>
              </a:rPr>
              <a:t>reports/</a:t>
            </a:r>
            <a:r>
              <a:rPr sz="2600" b="1">
                <a:solidFill>
                  <a:srgbClr val="FFFFFF"/>
                </a:solidFill>
                <a:latin typeface="Assistant"/>
              </a:rPr>
              <a:t> prefix, TLS-only.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FC6D26"/>
                </a:solidFill>
                <a:latin typeface="Assistant"/>
              </a:rPr>
              <a:t>    •  </a:t>
            </a:r>
            <a:r>
              <a:rPr sz="2600" b="1">
                <a:solidFill>
                  <a:srgbClr val="FFFFFF"/>
                </a:solidFill>
                <a:latin typeface="Assistant"/>
              </a:rPr>
              <a:t>Write</a:t>
            </a:r>
            <a:r>
              <a:rPr sz="2600" b="1">
                <a:solidFill>
                  <a:srgbClr val="FFFFFF"/>
                </a:solidFill>
                <a:latin typeface="Assistant"/>
              </a:rPr>
              <a:t> CloudWatch Logs — scoped to </a:t>
            </a:r>
            <a:r>
              <a:rPr sz="2600" b="1">
                <a:solidFill>
                  <a:srgbClr val="22D3EE"/>
                </a:solidFill>
                <a:latin typeface="Assistant"/>
              </a:rPr>
              <a:t>/app/analytics/</a:t>
            </a:r>
            <a:r>
              <a:rPr sz="2600" b="1">
                <a:solidFill>
                  <a:srgbClr val="FFFFFF"/>
                </a:solidFill>
                <a:latin typeface="Assistant"/>
              </a:rPr>
              <a:t> log groups.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FC6D26"/>
                </a:solidFill>
                <a:latin typeface="Assistant"/>
              </a:rPr>
              <a:t>    •  </a:t>
            </a:r>
            <a:r>
              <a:rPr sz="2600" b="1">
                <a:solidFill>
                  <a:srgbClr val="FFFFFF"/>
                </a:solidFill>
                <a:latin typeface="Assistant"/>
              </a:rPr>
              <a:t>Describe</a:t>
            </a:r>
            <a:r>
              <a:rPr sz="2600" b="1">
                <a:solidFill>
                  <a:srgbClr val="FFFFFF"/>
                </a:solidFill>
                <a:latin typeface="Assistant"/>
              </a:rPr>
              <a:t> EC2 instances for health checks — current region only.</a:t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FC6D26"/>
                </a:solidFill>
                <a:latin typeface="Assistant"/>
              </a:rPr>
              <a:t>    •  </a:t>
            </a:r>
            <a:r>
              <a:rPr sz="2600" b="1">
                <a:solidFill>
                  <a:srgbClr val="FFFFFF"/>
                </a:solidFill>
                <a:latin typeface="Assistant"/>
              </a:rPr>
              <a:t>SSM Agent</a:t>
            </a:r>
            <a:r>
              <a:rPr sz="2600" b="1">
                <a:solidFill>
                  <a:srgbClr val="FFFFFF"/>
                </a:solidFill>
                <a:latin typeface="Assistant"/>
              </a:rPr>
              <a:t> — so Session Manager works without SSH keys on the box.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600" b="1">
                <a:solidFill>
                  <a:srgbClr val="94A3B8"/>
                </a:solidFill>
                <a:latin typeface="Assistant"/>
              </a:rPr>
              <a:t>And: a permissions boundary that explicitly denies </a:t>
            </a:r>
            <a:r>
              <a:rPr sz="2600" b="1">
                <a:solidFill>
                  <a:srgbClr val="FC6D26"/>
                </a:solidFill>
                <a:latin typeface="Assistant"/>
              </a:rPr>
              <a:t>iam:* </a:t>
            </a:r>
            <a:r>
              <a:rPr sz="2600" b="1">
                <a:solidFill>
                  <a:srgbClr val="94A3B8"/>
                </a:solidFill>
                <a:latin typeface="Assistant"/>
              </a:rPr>
              <a:t>and </a:t>
            </a:r>
            <a:r>
              <a:rPr sz="2600" b="1">
                <a:solidFill>
                  <a:srgbClr val="FC6D26"/>
                </a:solidFill>
                <a:latin typeface="Assistant"/>
              </a:rPr>
              <a:t>organizations:* </a:t>
            </a:r>
            <a:r>
              <a:rPr sz="2600" b="1">
                <a:solidFill>
                  <a:srgbClr val="94A3B8"/>
                </a:solidFill>
                <a:latin typeface="Assistant"/>
              </a:rPr>
              <a:t>— belt and suspenders.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IaC &amp; CloudFormation, briefly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4A3B8"/>
                </a:solidFill>
                <a:latin typeface="Assistant"/>
              </a:rPr>
              <a:t>Why we deploy AWS resources from text files instead of clicking around the console.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68880"/>
            <a:ext cx="822960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1840" y="2672080"/>
            <a:ext cx="7823200" cy="370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C6D26"/>
                </a:solidFill>
                <a:latin typeface="Assistant"/>
              </a:rPr>
              <a:t>Infrastructure as Code (IaC)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Define cloud resources as </a:t>
            </a:r>
            <a:r>
              <a:rPr sz="2200" b="1">
                <a:solidFill>
                  <a:srgbClr val="FC6D26"/>
                </a:solidFill>
                <a:latin typeface="Assistant"/>
              </a:rPr>
              <a:t>declarative text files</a:t>
            </a:r>
            <a:r>
              <a:rPr sz="2200" b="1">
                <a:solidFill>
                  <a:srgbClr val="FFFFFF"/>
                </a:solidFill>
                <a:latin typeface="Assistant"/>
              </a:rPr>
              <a:t>.  Track them in git, review them in PRs, deploy them with one command, roll them back the same way.</a:t>
            </a:r>
            <a:r>
              <a:rPr sz="2200" b="1">
                <a:solidFill>
                  <a:srgbClr val="FFFFFF"/>
                </a:solidFill>
                <a:latin typeface="Assistant"/>
              </a:rPr>
              <a:t>
</a:t>
            </a:r>
            <a:r>
              <a:rPr sz="2200" b="1">
                <a:solidFill>
                  <a:srgbClr val="FFFFFF"/>
                </a:solidFill>
                <a:latin typeface="Assistant"/>
              </a:rPr>
              <a:t>Same template = same infrastructure, every time.  Reproducible by definition.</a:t>
            </a:r>
            <a:r>
              <a:rPr sz="2200" b="1">
                <a:solidFill>
                  <a:srgbClr val="FFFFFF"/>
                </a:solidFill>
                <a:latin typeface="Assistant"/>
              </a:rPr>
              <a:t>
</a:t>
            </a:r>
            <a:r>
              <a:rPr sz="2200" b="1">
                <a:solidFill>
                  <a:srgbClr val="94A3B8"/>
                </a:solidFill>
                <a:latin typeface="Assistant"/>
              </a:rPr>
              <a:t>Common tools: </a:t>
            </a:r>
            <a:r>
              <a:rPr sz="2200" b="1">
                <a:solidFill>
                  <a:srgbClr val="FC6D26"/>
                </a:solidFill>
                <a:latin typeface="Assistant"/>
              </a:rPr>
              <a:t>CloudFormation</a:t>
            </a:r>
            <a:r>
              <a:rPr sz="2200" b="1">
                <a:solidFill>
                  <a:srgbClr val="94A3B8"/>
                </a:solidFill>
                <a:latin typeface="Assistant"/>
              </a:rPr>
              <a:t>, </a:t>
            </a:r>
            <a:r>
              <a:rPr sz="2200" b="1">
                <a:solidFill>
                  <a:srgbClr val="FC6D26"/>
                </a:solidFill>
                <a:latin typeface="Assistant"/>
              </a:rPr>
              <a:t>Terraform</a:t>
            </a:r>
            <a:r>
              <a:rPr sz="2200" b="1">
                <a:solidFill>
                  <a:srgbClr val="94A3B8"/>
                </a:solidFill>
                <a:latin typeface="Assistant"/>
              </a:rPr>
              <a:t>, </a:t>
            </a:r>
            <a:r>
              <a:rPr sz="2200" b="1">
                <a:solidFill>
                  <a:srgbClr val="FC6D26"/>
                </a:solidFill>
                <a:latin typeface="Assistant"/>
              </a:rPr>
              <a:t>CDK</a:t>
            </a:r>
            <a:r>
              <a:rPr sz="2200" b="1">
                <a:solidFill>
                  <a:srgbClr val="94A3B8"/>
                </a:solidFill>
                <a:latin typeface="Assistant"/>
              </a:rPr>
              <a:t>, </a:t>
            </a:r>
            <a:r>
              <a:rPr sz="2200" b="1">
                <a:solidFill>
                  <a:srgbClr val="FC6D26"/>
                </a:solidFill>
                <a:latin typeface="Assistant"/>
              </a:rPr>
              <a:t>Pulumi</a:t>
            </a:r>
            <a:r>
              <a:rPr sz="2200" b="1">
                <a:solidFill>
                  <a:srgbClr val="94A3B8"/>
                </a:solidFill>
                <a:latin typeface="Assistan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9760" y="2468880"/>
            <a:ext cx="8229600" cy="4114800"/>
          </a:xfrm>
          <a:prstGeom prst="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712960" y="2672080"/>
            <a:ext cx="7823200" cy="3708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ssistant"/>
              </a:rPr>
              <a:t>AWS CloudFormation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AWS's native IaC service.  Templates in </a:t>
            </a:r>
            <a:r>
              <a:rPr sz="2200" b="1">
                <a:solidFill>
                  <a:srgbClr val="22D3EE"/>
                </a:solidFill>
                <a:latin typeface="Assistant"/>
              </a:rPr>
              <a:t>YAML or JSON</a:t>
            </a:r>
            <a:r>
              <a:rPr sz="2200" b="1">
                <a:solidFill>
                  <a:srgbClr val="FFFFFF"/>
                </a:solidFill>
                <a:latin typeface="Assistant"/>
              </a:rPr>
              <a:t> describe the resources you want; CloudFormation makes the API calls to create or update them.</a:t>
            </a:r>
            <a:r>
              <a:rPr sz="2200" b="1">
                <a:solidFill>
                  <a:srgbClr val="FFFFFF"/>
                </a:solidFill>
                <a:latin typeface="Assistant"/>
              </a:rPr>
              <a:t>
</a:t>
            </a:r>
            <a:r>
              <a:rPr sz="2200" b="1">
                <a:solidFill>
                  <a:srgbClr val="FFFFFF"/>
                </a:solidFill>
                <a:latin typeface="Assistant"/>
              </a:rPr>
              <a:t>A </a:t>
            </a:r>
            <a:r>
              <a:rPr sz="2200" b="1">
                <a:solidFill>
                  <a:srgbClr val="22D3EE"/>
                </a:solidFill>
                <a:latin typeface="Assistant"/>
              </a:rPr>
              <a:t>stack</a:t>
            </a:r>
            <a:r>
              <a:rPr sz="2200" b="1">
                <a:solidFill>
                  <a:srgbClr val="FFFFFF"/>
                </a:solidFill>
                <a:latin typeface="Assistant"/>
              </a:rPr>
              <a:t> is one deployed instance of a template.  Re-deploying the same template is safe — CloudFormation diffs and applies only the changes.</a:t>
            </a:r>
            <a:r>
              <a:rPr sz="2200" b="1">
                <a:solidFill>
                  <a:srgbClr val="FFFFFF"/>
                </a:solidFill>
                <a:latin typeface="Assistant"/>
              </a:rPr>
              <a:t>
</a:t>
            </a:r>
            <a:r>
              <a:rPr sz="2200" b="1">
                <a:solidFill>
                  <a:srgbClr val="94A3B8"/>
                </a:solidFill>
                <a:latin typeface="Assistant"/>
              </a:rPr>
              <a:t>This lab uses three CloudFormation stacks (insecure role, bucket, hardened role).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85800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94A3B8"/>
                </a:solidFill>
                <a:latin typeface="Assistant"/>
              </a:rPr>
              <a:t>What a CloudFormation template looks like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7406640"/>
            <a:ext cx="11887200" cy="246888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6440" y="7584440"/>
            <a:ext cx="11531600" cy="2113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AWSTemplateFormatVersion: '2010-09-09'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Resources: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</a:t>
            </a:r>
            <a:r>
              <a:rPr sz="2000">
                <a:solidFill>
                  <a:srgbClr val="FC6D26"/>
                </a:solidFill>
                <a:latin typeface="Consolas"/>
              </a:rPr>
              <a:t>AnalyticsBucket</a:t>
            </a:r>
            <a:r>
              <a:rPr sz="2000">
                <a:solidFill>
                  <a:srgbClr val="CBD5E1"/>
                </a:solidFill>
                <a:latin typeface="Consolas"/>
              </a:rPr>
              <a:t>: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Type: </a:t>
            </a:r>
            <a:r>
              <a:rPr sz="2000">
                <a:solidFill>
                  <a:srgbClr val="22D3EE"/>
                </a:solidFill>
                <a:latin typeface="Consolas"/>
              </a:rPr>
              <a:t>AWS::S3::Bucket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Properties: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  BucketName: </a:t>
            </a:r>
            <a:r>
              <a:rPr sz="2000">
                <a:solidFill>
                  <a:srgbClr val="A78BFA"/>
                </a:solidFill>
                <a:latin typeface="Consolas"/>
              </a:rPr>
              <a:t>analytics-data-123456789012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0" y="74066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Deploy + delete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0" y="7818120"/>
            <a:ext cx="4937760" cy="20574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79400" y="7995920"/>
            <a:ext cx="4582160" cy="170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>
                <a:solidFill>
                  <a:srgbClr val="CBD5E1"/>
                </a:solidFill>
                <a:latin typeface="Consolas"/>
              </a:rPr>
              <a:t>aws cloudformation \</a:t>
            </a:r>
          </a:p>
          <a:p>
            <a:pPr algn="l"/>
            <a:r>
              <a:rPr sz="1400">
                <a:solidFill>
                  <a:srgbClr val="CBD5E1"/>
                </a:solidFill>
                <a:latin typeface="Consolas"/>
              </a:rPr>
              <a:t>  </a:t>
            </a:r>
            <a:r>
              <a:rPr sz="1400">
                <a:solidFill>
                  <a:srgbClr val="22D3EE"/>
                </a:solidFill>
                <a:latin typeface="Consolas"/>
              </a:rPr>
              <a:t>deploy</a:t>
            </a:r>
            <a:r>
              <a:rPr sz="14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400">
                <a:solidFill>
                  <a:srgbClr val="CBD5E1"/>
                </a:solidFill>
                <a:latin typeface="Consolas"/>
              </a:rPr>
              <a:t>  --template-file ...</a:t>
            </a:r>
          </a:p>
          <a:p>
            <a:pPr algn="l"/>
            <a:r>
              <a:rPr sz="1400">
                <a:solidFill>
                  <a:srgbClr val="CBD5E1"/>
                </a:solidFill>
                <a:latin typeface="Consolas"/>
              </a:rPr>
              <a:t>  --stack-name ...</a:t>
            </a:r>
          </a:p>
          <a:p>
            <a:pPr algn="l"/>
            <a:r>
              <a:rPr sz="1400">
                <a:solidFill>
                  <a:srgbClr val="CBD5E1"/>
                </a:solidFill>
                <a:latin typeface="Consolas"/>
              </a:rPr>
              <a:t/>
            </a:r>
          </a:p>
          <a:p>
            <a:pPr algn="l"/>
            <a:r>
              <a:rPr sz="1400">
                <a:solidFill>
                  <a:srgbClr val="CBD5E1"/>
                </a:solidFill>
                <a:latin typeface="Consolas"/>
              </a:rPr>
              <a:t>aws cloudformation \</a:t>
            </a:r>
          </a:p>
          <a:p>
            <a:pPr algn="l"/>
            <a:r>
              <a:rPr sz="1400">
                <a:solidFill>
                  <a:srgbClr val="CBD5E1"/>
                </a:solidFill>
                <a:latin typeface="Consolas"/>
              </a:rPr>
              <a:t>  </a:t>
            </a:r>
            <a:r>
              <a:rPr sz="1400">
                <a:solidFill>
                  <a:srgbClr val="22D3EE"/>
                </a:solidFill>
                <a:latin typeface="Consolas"/>
              </a:rPr>
              <a:t>delete-stack</a:t>
            </a:r>
            <a:r>
              <a:rPr sz="1400">
                <a:solidFill>
                  <a:srgbClr val="CBD5E1"/>
                </a:solidFill>
                <a:latin typeface="Consolas"/>
              </a:rPr>
              <a:t> --stack-name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The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AnalyticsAppRole-Insecure</a:t>
            </a:r>
            <a:r>
              <a:rPr sz="2200" b="0">
                <a:solidFill>
                  <a:srgbClr val="94A3B8"/>
                </a:solidFill>
                <a:latin typeface="Consolas"/>
              </a:rPr>
              <a:t>  —  the role you'll deploy first, then replace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ssistant"/>
              </a:rPr>
              <a:t>OverlyPermissivePolicy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attached to the EC2 instance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1005840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6440" y="3149600"/>
            <a:ext cx="970280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>
                <a:solidFill>
                  <a:srgbClr val="CBD5E1"/>
                </a:solidFill>
                <a:latin typeface="Consolas"/>
              </a:rPr>
              <a:t>PolicyDocument:</a:t>
            </a:r>
          </a:p>
          <a:p>
            <a:pPr algn="l"/>
            <a:r>
              <a:rPr sz="2400">
                <a:solidFill>
                  <a:srgbClr val="CBD5E1"/>
                </a:solidFill>
                <a:latin typeface="Consolas"/>
              </a:rPr>
              <a:t>  Version: '2012-10-17'</a:t>
            </a:r>
          </a:p>
          <a:p>
            <a:pPr algn="l"/>
            <a:r>
              <a:rPr sz="2400">
                <a:solidFill>
                  <a:srgbClr val="CBD5E1"/>
                </a:solidFill>
                <a:latin typeface="Consolas"/>
              </a:rPr>
              <a:t>  Statement:</a:t>
            </a:r>
          </a:p>
          <a:p>
            <a:pPr algn="l"/>
            <a:r>
              <a:rPr sz="2400">
                <a:solidFill>
                  <a:srgbClr val="CBD5E1"/>
                </a:solidFill>
                <a:latin typeface="Consolas"/>
              </a:rPr>
              <a:t>    - Effect: </a:t>
            </a:r>
            <a:r>
              <a:rPr sz="2400">
                <a:solidFill>
                  <a:srgbClr val="CBD5E1"/>
                </a:solidFill>
                <a:latin typeface="Consolas"/>
              </a:rPr>
              <a:t>Allow</a:t>
            </a:r>
          </a:p>
          <a:p>
            <a:pPr algn="l"/>
            <a:r>
              <a:rPr sz="2400">
                <a:solidFill>
                  <a:srgbClr val="CBD5E1"/>
                </a:solidFill>
                <a:latin typeface="Consolas"/>
              </a:rPr>
              <a:t>      Action: </a:t>
            </a:r>
            <a:r>
              <a:rPr sz="2400">
                <a:solidFill>
                  <a:srgbClr val="F87171"/>
                </a:solidFill>
                <a:latin typeface="Consolas"/>
              </a:rPr>
              <a:t>'*'</a:t>
            </a:r>
          </a:p>
          <a:p>
            <a:pPr algn="l"/>
            <a:r>
              <a:rPr sz="2400">
                <a:solidFill>
                  <a:srgbClr val="CBD5E1"/>
                </a:solidFill>
                <a:latin typeface="Consolas"/>
              </a:rPr>
              <a:t>      Resource: </a:t>
            </a:r>
            <a:r>
              <a:rPr sz="2400">
                <a:solidFill>
                  <a:srgbClr val="F87171"/>
                </a:solidFill>
                <a:latin typeface="Consolas"/>
              </a:rPr>
              <a:t>'*'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1381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Six lines. Six lines is the entire blast radius of any EC2 instance running with this profile attached.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237744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C6D26"/>
                </a:solidFill>
                <a:latin typeface="Assistant"/>
              </a:rPr>
              <a:t>Simulator says...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0" y="2971800"/>
            <a:ext cx="658368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33480" y="3149600"/>
            <a:ext cx="622808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aws iam simulate-principal-policy \</a:t>
            </a:r>
          </a:p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  --policy-source-arn $ROLE \</a:t>
            </a:r>
          </a:p>
          <a:p>
            <a:pPr algn="l"/>
            <a:r>
              <a:rPr sz="1800">
                <a:solidFill>
                  <a:srgbClr val="94A3B8"/>
                </a:solidFill>
                <a:latin typeface="Consolas"/>
              </a:rPr>
              <a:t>  --action-names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s3:DeleteBucket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ec2:TerminateInstances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iam:CreateUser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iam:DeleteRole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/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→  </a:t>
            </a:r>
            <a:r>
              <a:rPr sz="1800">
                <a:solidFill>
                  <a:srgbClr val="F87171"/>
                </a:solidFill>
                <a:latin typeface="Consolas"/>
              </a:rPr>
              <a:t>allowed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→  </a:t>
            </a:r>
            <a:r>
              <a:rPr sz="1800">
                <a:solidFill>
                  <a:srgbClr val="F87171"/>
                </a:solidFill>
                <a:latin typeface="Consolas"/>
              </a:rPr>
              <a:t>allowed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→  </a:t>
            </a:r>
            <a:r>
              <a:rPr sz="1800">
                <a:solidFill>
                  <a:srgbClr val="F87171"/>
                </a:solidFill>
                <a:latin typeface="Consolas"/>
              </a:rPr>
              <a:t>allowed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→  </a:t>
            </a:r>
            <a:r>
              <a:rPr sz="1800">
                <a:solidFill>
                  <a:srgbClr val="F87171"/>
                </a:solidFill>
                <a:latin typeface="Consolas"/>
              </a:rPr>
              <a:t>allowed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813816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Delete buckets. Terminate prod. Create IAM users. </a:t>
            </a:r>
            <a:r>
              <a:rPr sz="2200" b="1">
                <a:solidFill>
                  <a:srgbClr val="F87171"/>
                </a:solidFill>
                <a:latin typeface="Assistant"/>
              </a:rPr>
              <a:t>All allowed.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50976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Any SSRF against IMDS, any stolen instance creds — full account access. This is what you're about to fix.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94A3B8"/>
                </a:solidFill>
                <a:latin typeface="Assistant"/>
              </a:rPr>
              <a:t>Spec  →  Validate  →  Simulate. Three gates, none of them is Kiro vibing JSON into existence.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560320"/>
            <a:ext cx="457200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1840" y="2763520"/>
            <a:ext cx="41656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1 · KIRO SPEC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You write the requirements (REQ-001..REQ-009) </a:t>
            </a:r>
            <a:r>
              <a:rPr sz="2000" b="1">
                <a:solidFill>
                  <a:srgbClr val="FC6D26"/>
                </a:solidFill>
                <a:latin typeface="Assistant"/>
              </a:rPr>
              <a:t>before</a:t>
            </a:r>
            <a:r>
              <a:rPr sz="2000" b="1">
                <a:solidFill>
                  <a:srgbClr val="FFFFFF"/>
                </a:solidFill>
                <a:latin typeface="Assistant"/>
              </a:rPr>
              <a:t> any policy JSON exists. Kiro turns the spec into Requirements → Design → Tasks → CloudFormation.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212080" y="3886200"/>
            <a:ext cx="685800" cy="548640"/>
          </a:xfrm>
          <a:prstGeom prst="rightArrow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89320" y="2560320"/>
            <a:ext cx="457200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192520" y="2763520"/>
            <a:ext cx="41656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ssistant"/>
              </a:rPr>
              <a:t>2 · MCP VALIDATE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22D3EE"/>
                </a:solidFill>
                <a:latin typeface="Assistant"/>
              </a:rPr>
              <a:t>AWS IaC MCP Server</a:t>
            </a:r>
            <a:r>
              <a:rPr sz="2000" b="1">
                <a:solidFill>
                  <a:srgbClr val="FFFFFF"/>
                </a:solidFill>
                <a:latin typeface="Assistant"/>
              </a:rPr>
              <a:t> reviews the generated CloudFormation for wildcards, missing conditions, broad ARNs. </a:t>
            </a:r>
            <a:r>
              <a:rPr sz="2000" b="1">
                <a:solidFill>
                  <a:srgbClr val="22D3EE"/>
                </a:solidFill>
                <a:latin typeface="Assistant"/>
              </a:rPr>
              <a:t>AWS Documentation MCP Server</a:t>
            </a:r>
            <a:r>
              <a:rPr sz="2000" b="1">
                <a:solidFill>
                  <a:srgbClr val="FFFFFF"/>
                </a:solidFill>
                <a:latin typeface="Assistant"/>
              </a:rPr>
              <a:t> answers condition-key questions inline.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652760" y="3886200"/>
            <a:ext cx="685800" cy="548640"/>
          </a:xfrm>
          <a:prstGeom prst="rightArrow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430000" y="2560320"/>
            <a:ext cx="4572000" cy="3200400"/>
          </a:xfrm>
          <a:prstGeom prst="rect">
            <a:avLst/>
          </a:prstGeom>
          <a:solidFill>
            <a:srgbClr val="0F172A"/>
          </a:solidFill>
          <a:ln w="1905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633200" y="2763520"/>
            <a:ext cx="41656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A78BFA"/>
                </a:solidFill>
                <a:latin typeface="Assistant"/>
              </a:rPr>
              <a:t>3 · POLICY SIMULATOR</a:t>
            </a:r>
          </a:p>
          <a:p>
            <a:pPr algn="l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Assistant"/>
              </a:rPr>
              <a:t>Deploy the hardened role, then </a:t>
            </a:r>
            <a:r>
              <a:rPr sz="2000" b="1">
                <a:solidFill>
                  <a:srgbClr val="A78BFA"/>
                </a:solidFill>
                <a:latin typeface="Assistant"/>
              </a:rPr>
              <a:t>simulate-principal-policy</a:t>
            </a:r>
            <a:r>
              <a:rPr sz="2000" b="1">
                <a:solidFill>
                  <a:srgbClr val="FFFFFF"/>
                </a:solidFill>
                <a:latin typeface="Assistant"/>
              </a:rPr>
              <a:t> against both </a:t>
            </a:r>
            <a:r>
              <a:rPr sz="2000" b="1">
                <a:solidFill>
                  <a:srgbClr val="86EFAC"/>
                </a:solidFill>
                <a:latin typeface="Assistant"/>
              </a:rPr>
              <a:t>allowed</a:t>
            </a:r>
            <a:r>
              <a:rPr sz="2000" b="1">
                <a:solidFill>
                  <a:srgbClr val="FFFFFF"/>
                </a:solidFill>
                <a:latin typeface="Assistant"/>
              </a:rPr>
              <a:t> and </a:t>
            </a:r>
            <a:r>
              <a:rPr sz="2000" b="1">
                <a:solidFill>
                  <a:srgbClr val="F87171"/>
                </a:solidFill>
                <a:latin typeface="Assistant"/>
              </a:rPr>
              <a:t>denied</a:t>
            </a:r>
            <a:r>
              <a:rPr sz="2000" b="1">
                <a:solidFill>
                  <a:srgbClr val="FFFFFF"/>
                </a:solidFill>
                <a:latin typeface="Assistant"/>
              </a:rPr>
              <a:t> actions. The simulator is the final gate, not the validator.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858000"/>
            <a:ext cx="17190720" cy="2377440"/>
          </a:xfrm>
          <a:prstGeom prst="rect">
            <a:avLst/>
          </a:prstGeom>
          <a:solidFill>
            <a:srgbClr val="0F172A"/>
          </a:solidFill>
          <a:ln w="1905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7040880"/>
            <a:ext cx="1664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C6D26"/>
                </a:solidFill>
                <a:latin typeface="Assistant"/>
              </a:rPr>
              <a:t>Why the spec matters more than the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7589520"/>
            <a:ext cx="1664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Anything </a:t>
            </a:r>
            <a:r>
              <a:rPr sz="2200" b="1">
                <a:solidFill>
                  <a:srgbClr val="FC6D26"/>
                </a:solidFill>
                <a:latin typeface="Assistant"/>
              </a:rPr>
              <a:t>not in the spec</a:t>
            </a:r>
            <a:r>
              <a:rPr sz="2200" b="1">
                <a:solidFill>
                  <a:srgbClr val="FFFFFF"/>
                </a:solidFill>
                <a:latin typeface="Assistant"/>
              </a:rPr>
              <a:t> may not end up in the generated code. The discipline of enumerating each REQ — "S3 reads under reports/, TLS-only, region-locked, no IAM mutations" — is what stops over-permissioning. The IDE just types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What you'll do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294640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2194560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C6D26"/>
                </a:solidFill>
                <a:latin typeface="Assistant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6400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Set up Kiro and MCP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19456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Install Kiro, configure aws-iac and aws-docs MCP servers, verify connectivity.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72364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971800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C6D26"/>
                </a:solidFill>
                <a:latin typeface="Assistant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6400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Deploy the insecure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CloudFormation deploys the wildcard role + an analytics S3 bucket from /assets/.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450088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749040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C6D26"/>
                </a:solidFill>
                <a:latin typeface="Assistant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6400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Write the Kiro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74904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Enter the prompt; Kiro produces Requirements (REQ-001..009) → Design → Tasks → YAML.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27812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4526280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C6D26"/>
                </a:solidFill>
                <a:latin typeface="Assistant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26280"/>
            <a:ext cx="6400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Validate the generated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52628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Manual checklist + AWS IaC MCP server review. Iterate with Kiro until findings clear.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05536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5303520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C6D26"/>
                </a:solidFill>
                <a:latin typeface="Assistant"/>
              </a:rP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303520"/>
            <a:ext cx="6400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Deploy and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30352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Simulator confirms allowed actions still work and dangerous ones now deny.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83260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080760"/>
            <a:ext cx="822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C6D26"/>
                </a:solidFill>
                <a:latin typeface="Assistant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6080760"/>
            <a:ext cx="6400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Discuss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080760"/>
            <a:ext cx="9601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Spec rigor vs. free-form prompts; MCP validation as a CI/CD gate; permissions boundaries at scale.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94A3B8"/>
                </a:solidFill>
                <a:latin typeface="Assistant"/>
              </a:rPr>
              <a:t>Full step-by-step in </a:t>
            </a:r>
            <a:r>
              <a:rPr sz="2200" b="1">
                <a:solidFill>
                  <a:srgbClr val="CBD5E1"/>
                </a:solidFill>
                <a:latin typeface="Assistant"/>
              </a:rPr>
              <a:t>labs-full-day/kiro-iam-hardening/instructions.md</a:t>
            </a:r>
            <a:r>
              <a:rPr sz="2200" b="1">
                <a:solidFill>
                  <a:srgbClr val="94A3B8"/>
                </a:solidFill>
                <a:latin typeface="Assistant"/>
              </a:rPr>
              <a:t>.  Wave down an instructor any time you get stuck.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