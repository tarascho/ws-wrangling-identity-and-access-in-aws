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16093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FFFFFF"/>
                </a:solidFill>
                <a:latin typeface="Assistant"/>
              </a:rPr>
              <a:t>IAM Spy </a:t>
            </a:r>
            <a:r>
              <a:rPr sz="11000" b="1" i="0">
                <a:solidFill>
                  <a:srgbClr val="FC6D26"/>
                </a:solidFill>
                <a:latin typeface="Assistant"/>
              </a:rPr>
              <a:t>&amp; Provers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0"/>
            <a:ext cx="1609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8F8F8"/>
                </a:solidFill>
                <a:latin typeface="Assistant"/>
              </a:rPr>
              <a:t>When heuristics aren't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609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CBD5E1"/>
                </a:solidFill>
                <a:latin typeface="Assistant"/>
              </a:rPr>
              <a:t>From graph search to mathematical proof in cloud authorization.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778240"/>
            <a:ext cx="1609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Assistant"/>
              </a:rPr>
              <a:t>Andrew Krug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·  Wrangling Identity &amp; Access in AWS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914400"/>
            <a:ext cx="548640" cy="164592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777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BD5E1"/>
                </a:solidFill>
                <a:latin typeface="Assistant"/>
              </a:rPr>
              <a:t>LECTURE  ·  3:15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Assistant"/>
              </a:rPr>
              <a:t>Three ways to think about IAM.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4023360"/>
            <a:ext cx="4937760" cy="475488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4389120"/>
            <a:ext cx="457200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6177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475569"/>
                </a:solidFill>
                <a:latin typeface="Assistant"/>
              </a:rPr>
              <a:t>01  /  EXPLOIT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3035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ssistant"/>
              </a:rPr>
              <a:t>This morning.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03504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We hunted attack paths by hand and with graph tools. Findings were paths — not proofs.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023360"/>
            <a:ext cx="4937760" cy="475488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4389120"/>
            <a:ext cx="457200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46177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475569"/>
                </a:solidFill>
                <a:latin typeface="Assistant"/>
              </a:rPr>
              <a:t>02  / 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53035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ssistant"/>
              </a:rPr>
              <a:t>Midday.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603504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We wrote boundaries, trust policies, and condition keys. Tested them by hand and hoped we covered the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4023360"/>
            <a:ext cx="4937760" cy="475488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435840" y="4389120"/>
            <a:ext cx="457200" cy="109728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0" y="46177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03  /  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53035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ssistant"/>
              </a:rPr>
              <a:t>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0" y="603504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A third class of tools doesn't guess. It asks an SMT solver to mathematically prove your policy means what you think.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9144000"/>
            <a:ext cx="1627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1">
                <a:solidFill>
                  <a:srgbClr val="FC6D26"/>
                </a:solidFill>
                <a:latin typeface="Assistant"/>
              </a:rPr>
              <a:t>You've been reasoning by hand. Provers reason for 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Assistant"/>
              </a:rPr>
              <a:t>One question. Five interacting policy 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291840"/>
            <a:ext cx="9692640" cy="512064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4A3B8"/>
                </a:solidFill>
                <a:latin typeface="Consolas"/>
              </a:rPr>
              <a:t>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onsolas"/>
              </a:rPr>
              <a:t>Can principal P call  s3:GetObject  on bucket B?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4A3B8"/>
                </a:solidFill>
                <a:latin typeface="Consolas"/>
              </a:rPr>
              <a:t>what actually decides the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D3EE"/>
                </a:solidFill>
                <a:latin typeface="Consolas"/>
              </a:rPr>
              <a:t>identity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52120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onsolas"/>
              </a:rPr>
              <a:t>Allow s3:Get* on arn:aws:s3:::*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7900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onsolas"/>
              </a:rPr>
              <a:t>resource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5779008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onsolas"/>
              </a:rPr>
              <a:t>Deny  Principal != "P"  on bucket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34593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A78BFA"/>
                </a:solidFill>
                <a:latin typeface="Consolas"/>
              </a:rPr>
              <a:t>SCP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6345936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onsolas"/>
              </a:rPr>
              <a:t>Deny  Action: s3:*  if  aws:SourceIp NOT in 10.0.0.0/8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91286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3C47D"/>
                </a:solidFill>
                <a:latin typeface="Consolas"/>
              </a:rPr>
              <a:t>permissions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912864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onsolas"/>
              </a:rPr>
              <a:t>Allow s3:GetObject only when  aws:RequestTag/env == 'dev'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479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87171"/>
                </a:solidFill>
                <a:latin typeface="Consolas"/>
              </a:rPr>
              <a:t>NotAction wildcard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7479792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onsolas"/>
              </a:rPr>
              <a:t>Allow  NotAction: ["iam:*"]  on Resource: "*"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3520440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4A3B8"/>
                </a:solidFill>
                <a:latin typeface="Assistant"/>
              </a:rPr>
              <a:t>AND THE TOOLS WE USED EARLIER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4114800"/>
            <a:ext cx="61264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600" b="1" i="0">
                <a:solidFill>
                  <a:srgbClr val="FC6D26"/>
                </a:solidFill>
                <a:latin typeface="Assistant"/>
              </a:rPr>
              <a:t>Linters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check syntax. They don't know what your policy means.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600" b="1" i="0">
                <a:solidFill>
                  <a:srgbClr val="FC6D26"/>
                </a:solidFill>
                <a:latin typeface="Assistant"/>
              </a:rPr>
              <a:t>Graph tools  </a:t>
            </a:r>
            <a:r>
              <a:rPr sz="2000" b="0" i="0">
                <a:solidFill>
                  <a:srgbClr val="94A3B8"/>
                </a:solidFill>
                <a:latin typeface="Assistant"/>
              </a:rPr>
              <a:t>(awspx, pmapper)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approximate reachability. They miss conditions, NotAction, and exceptions.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600" b="1" i="0">
                <a:solidFill>
                  <a:srgbClr val="FC6D26"/>
                </a:solidFill>
                <a:latin typeface="Assistant"/>
              </a:rPr>
              <a:t>Humans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miss the interactions. Five layers × wildcards × conditions = combinatoric.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8869680"/>
            <a:ext cx="1627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1">
                <a:solidFill>
                  <a:srgbClr val="FC6D26"/>
                </a:solidFill>
                <a:latin typeface="Assistant"/>
              </a:rPr>
              <a:t>We need a tool that reasons about meaning.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A DIFFERENT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Assistant"/>
              </a:rPr>
              <a:t>Don't review. Prove.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3657600"/>
            <a:ext cx="4937760" cy="402336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4023360"/>
            <a:ext cx="457200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2519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475569"/>
                </a:solidFill>
                <a:latin typeface="Assistant"/>
              </a:rPr>
              <a:t>LINTER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8463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ssistant"/>
              </a:rPr>
              <a:t>checks 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6692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Will the policy parse? Are the action names valid?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657600"/>
            <a:ext cx="4937760" cy="402336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4023360"/>
            <a:ext cx="457200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42519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475569"/>
                </a:solidFill>
                <a:latin typeface="Assistant"/>
              </a:rPr>
              <a:t>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8463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ssistant"/>
              </a:rPr>
              <a:t>checks reachability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6692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Can a path be drawn between A and B in the permission graph?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657600"/>
            <a:ext cx="4937760" cy="402336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435840" y="4023360"/>
            <a:ext cx="457200" cy="109728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0" y="42519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C6D26"/>
                </a:solidFill>
                <a:latin typeface="Assistant"/>
              </a:rPr>
              <a:t>PROVER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48463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ssistant"/>
              </a:rPr>
              <a:t>checks meaning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0" y="56692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For every possible principal, context, and value — is access allowed or denied?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8686800"/>
            <a:ext cx="1627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1">
                <a:solidFill>
                  <a:srgbClr val="FC6D26"/>
                </a:solidFill>
                <a:latin typeface="Assistant"/>
              </a:rPr>
              <a:t>“If the prover says no access, the answer is mathematically no.”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FFFFF"/>
                </a:solidFill>
                <a:latin typeface="Assistant"/>
              </a:rPr>
              <a:t>Satisfiability Modulo Theories.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566160"/>
            <a:ext cx="3108960" cy="173736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51760" y="3840480"/>
            <a:ext cx="365760" cy="914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475569"/>
                </a:solidFill>
                <a:latin typeface="Assistant"/>
              </a:rPr>
              <a:t>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45262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JSON statements,
conditions, wildcards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43434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C6D26"/>
                </a:solidFill>
                <a:latin typeface="Assistan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3566160"/>
            <a:ext cx="3108960" cy="173736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3840480"/>
            <a:ext cx="36576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2D3EE"/>
                </a:solidFill>
                <a:latin typeface="Assistant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262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Logical encoding
over strings, ints, regex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43434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C6D26"/>
                </a:solidFill>
                <a:latin typeface="Assistan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3566160"/>
            <a:ext cx="3108960" cy="173736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0" y="3840480"/>
            <a:ext cx="365760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A78BFA"/>
                </a:solidFill>
                <a:latin typeface="Assistant"/>
              </a:rPr>
              <a:t>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5262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Z3 · cvc5
MonoSAT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81560" y="43434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C6D26"/>
                </a:solidFill>
                <a:latin typeface="Assistan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0" y="3566160"/>
            <a:ext cx="3108960" cy="173736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075920" y="3840480"/>
            <a:ext cx="365760" cy="91440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07592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0" y="45262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Counterexample
or proof of 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852160"/>
            <a:ext cx="9144000" cy="32004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612648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4A3B8"/>
                </a:solidFill>
                <a:latin typeface="Assistant"/>
              </a:rPr>
              <a:t>TINY ANALOGY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49224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Ask the solver: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99516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8F8F8"/>
                </a:solidFill>
                <a:latin typeface="Consolas"/>
              </a:rPr>
              <a:t>Is  </a:t>
            </a:r>
            <a:r>
              <a:rPr sz="3000" b="1" i="0">
                <a:solidFill>
                  <a:srgbClr val="22D3EE"/>
                </a:solidFill>
                <a:latin typeface="Consolas"/>
              </a:rPr>
              <a:t>x + y &gt; x − y</a:t>
            </a:r>
            <a:r>
              <a:rPr sz="2800" b="0" i="0">
                <a:solidFill>
                  <a:srgbClr val="F8F8F8"/>
                </a:solidFill>
                <a:latin typeface="Consolas"/>
              </a:rPr>
              <a:t>  always true?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726679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It instantly returns: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818388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87171"/>
                </a:solidFill>
                <a:latin typeface="Consolas"/>
              </a:rPr>
              <a:t>x = 5,  y = −1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1264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4A3B8"/>
                </a:solidFill>
                <a:latin typeface="Assistant"/>
              </a:rPr>
              <a:t>THE IAM EQUIVALENT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629400"/>
            <a:ext cx="6583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2400" b="0" i="0">
                <a:solidFill>
                  <a:srgbClr val="CBD5E1"/>
                </a:solidFill>
                <a:latin typeface="Assistant"/>
              </a:rPr>
              <a:t>Ask: 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is there any principal, action, resource, 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and request context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  under which this policy grants access?</a:t>
            </a:r>
          </a:p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CBD5E1"/>
                </a:solidFill>
                <a:latin typeface="Assistant"/>
              </a:rPr>
              <a:t>Get back either a </a:t>
            </a:r>
            <a:r>
              <a:rPr sz="2400" b="1" i="0">
                <a:solidFill>
                  <a:srgbClr val="FC6D26"/>
                </a:solidFill>
                <a:latin typeface="Assistant"/>
              </a:rPr>
              <a:t>witness</a:t>
            </a:r>
            <a:r>
              <a:rPr sz="2400" b="0" i="0">
                <a:solidFill>
                  <a:srgbClr val="CBD5E1"/>
                </a:solidFill>
                <a:latin typeface="Assistant"/>
              </a:rPr>
              <a:t> (“yes, here’s how”) or </a:t>
            </a:r>
            <a:r>
              <a:rPr sz="2400" b="1" i="0">
                <a:solidFill>
                  <a:srgbClr val="93C47D"/>
                </a:solidFill>
                <a:latin typeface="Consolas"/>
              </a:rPr>
              <a:t>UNSAT</a:t>
            </a:r>
            <a:r>
              <a:rPr sz="2400" b="0" i="0">
                <a:solidFill>
                  <a:srgbClr val="CBD5E1"/>
                </a:solidFill>
                <a:latin typeface="Assistant"/>
              </a:rPr>
              <a:t> — a mathematical proof of 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TWO WORDS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Assistant"/>
              </a:rPr>
              <a:t>Sound vs. complete.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657600"/>
            <a:ext cx="7863840" cy="420624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0" y="4114800"/>
            <a:ext cx="548640" cy="128016"/>
          </a:xfrm>
          <a:prstGeom prst="rect">
            <a:avLst/>
          </a:prstGeom>
          <a:solidFill>
            <a:srgbClr val="93C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3891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93C47D"/>
                </a:solidFill>
                <a:latin typeface="Assistant"/>
              </a:rPr>
              <a:t>SOUND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ssistant"/>
              </a:rPr>
              <a:t>Any “no” is really a 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6309360"/>
            <a:ext cx="6949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When the prover says access is impossible, it's mathematically impossible — not just “we didn't find a path.”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3657600"/>
            <a:ext cx="7863840" cy="420624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0" y="4114800"/>
            <a:ext cx="54864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43891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59E0B"/>
                </a:solidFill>
                <a:latin typeface="Assistant"/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507492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ssistant"/>
              </a:rPr>
              <a:t>Any “yes” is really a yes.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309360"/>
            <a:ext cx="6949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Real-world provers favor soundness. They may answer “don’t know” rather than guess wrong.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8595360"/>
            <a:ext cx="1627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1">
                <a:solidFill>
                  <a:srgbClr val="FC6D26"/>
                </a:solidFill>
                <a:latin typeface="Assistant"/>
              </a:rPr>
              <a:t>“Provably no public access”  ≠  “we didn’t find a path.”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AWS'S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0" b="1" i="0">
                <a:solidFill>
                  <a:srgbClr val="FFFFFF"/>
                </a:solidFill>
                <a:latin typeface="Assistant"/>
              </a:rPr>
              <a:t>Zelkova.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1627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1">
                <a:solidFill>
                  <a:srgbClr val="CBD5E1"/>
                </a:solidFill>
                <a:latin typeface="Assistant"/>
              </a:rPr>
              <a:t>AWS's internal automated-reasoning engine for IAM.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1627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FC6D26"/>
                </a:solidFill>
                <a:latin typeface="Assistant"/>
              </a:rPr>
              <a:t>1,000,000,000+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806440"/>
            <a:ext cx="1627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8F8F8"/>
                </a:solidFill>
                <a:latin typeface="Assistant"/>
              </a:rPr>
              <a:t>SMT queries per day at AWS.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7315200"/>
            <a:ext cx="274320" cy="91440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7498080"/>
            <a:ext cx="518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ssistant"/>
              </a:rPr>
              <a:t>Portfolio 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8092440"/>
            <a:ext cx="5181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Z3, cvc5, MonoSAT, and a custom
automaton solver — winner-take-all.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3200" y="7315200"/>
            <a:ext cx="274320" cy="91440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7498080"/>
            <a:ext cx="518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ssistant"/>
              </a:rPr>
              <a:t>Encodes IAM semantics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8092440"/>
            <a:ext cx="5181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Strings, regex, bit-vectors, integers,
dates, IP addresses.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00560" y="7315200"/>
            <a:ext cx="274320" cy="91440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00560" y="7498080"/>
            <a:ext cx="518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ssistant"/>
              </a:rPr>
              <a:t>Inside AWS, not a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0" y="8092440"/>
            <a:ext cx="5181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You don't call Zelkova directly.
It's the engine under the AWS features
you already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PROVERS YOU ALREADY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Assistant"/>
              </a:rPr>
              <a:t>You’re using a prover. You just didn’t know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840480"/>
            <a:ext cx="7772400" cy="210312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4206240"/>
            <a:ext cx="365760" cy="109728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434840"/>
            <a:ext cx="7040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ssistant"/>
              </a:rPr>
              <a:t>S3 Block Public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74920"/>
            <a:ext cx="7040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Asks Zelkova: does this bucket policy grant public access?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3840480"/>
            <a:ext cx="7772400" cy="210312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4206240"/>
            <a:ext cx="36576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4434840"/>
            <a:ext cx="7040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ssistant"/>
              </a:rPr>
              <a:t>KMS cross-account warnings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5074920"/>
            <a:ext cx="7040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Asks Zelkova: does this key policy grant cross-account access?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6492240"/>
            <a:ext cx="7772400" cy="210312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6858000"/>
            <a:ext cx="36576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7086600"/>
            <a:ext cx="7040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ssistant"/>
              </a:rPr>
              <a:t>IAM Access Analyzer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726680"/>
            <a:ext cx="7040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Surfaces resource policies that escape your zone of trust.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6492240"/>
            <a:ext cx="7772400" cy="210312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6858000"/>
            <a:ext cx="3657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7086600"/>
            <a:ext cx="7040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ssistant"/>
              </a:rPr>
              <a:t>IAM policy validator (console)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7726680"/>
            <a:ext cx="7040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Flags overly broad statements the moment you click Save.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9189720"/>
            <a:ext cx="1627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1">
                <a:solidFill>
                  <a:srgbClr val="FC6D26"/>
                </a:solidFill>
                <a:latin typeface="Assistant"/>
              </a:rPr>
              <a:t>All Zelkova underneath.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ACCESS ANALYZER  ·  CUSTOM POLICY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FFFFF"/>
                </a:solidFill>
                <a:latin typeface="Assistant"/>
              </a:rPr>
              <a:t>Bring proofs into your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3657600"/>
            <a:ext cx="4937760" cy="384048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4023360"/>
            <a:ext cx="457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2519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2D3EE"/>
                </a:solidFill>
                <a:latin typeface="Consolas"/>
              </a:rPr>
              <a:t>CheckNoNewAccess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9377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FFFFFF"/>
                </a:solidFill>
                <a:latin typeface="Assistant"/>
              </a:rPr>
              <a:t>PR opens a wider door?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6692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Diffs an updated policy against its predecessor and proves it grants no permissions the old one didn't.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657600"/>
            <a:ext cx="4937760" cy="384048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4023360"/>
            <a:ext cx="457200" cy="109728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42519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C6D26"/>
                </a:solidFill>
                <a:latin typeface="Consolas"/>
              </a:rPr>
              <a:t>CheckAccessNotGranted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9377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FFFFFF"/>
                </a:solidFill>
                <a:latin typeface="Assistant"/>
              </a:rPr>
              <a:t>Powerful actions slipping 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6692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You list permissions that must never be granted. The check proves the policy can't reach them — for any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657600"/>
            <a:ext cx="4937760" cy="384048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435840" y="4023360"/>
            <a:ext cx="45720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0" y="42519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78BFA"/>
                </a:solidFill>
                <a:latin typeface="Consolas"/>
              </a:rPr>
              <a:t>CheckNoPublicAccess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49377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FFFFFF"/>
                </a:solidFill>
                <a:latin typeface="Assistant"/>
              </a:rPr>
              <a:t>Resource policy gone public?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0" y="56692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Proves a resource policy cannot grant public access — across S3, KMS, SQS, Secrets Manager, and more.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8229600"/>
            <a:ext cx="1627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ssistant"/>
              </a:rPr>
              <a:t>Wire them into a PR check, a CI gate, or run from a dev laptop.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886968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94A3B8"/>
                </a:solidFill>
                <a:latin typeface="Assistant"/>
              </a:rPr>
              <a:t>External-access findings are free. Custom checks and unused-access findings are priced per analyzer.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THE WIDER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00" b="1" i="0">
                <a:solidFill>
                  <a:srgbClr val="FFFFFF"/>
                </a:solidFill>
                <a:latin typeface="Assistant"/>
              </a:rPr>
              <a:t>Not just IAM.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657600"/>
            <a:ext cx="7863840" cy="493776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0" y="4114800"/>
            <a:ext cx="548640" cy="128016"/>
          </a:xfrm>
          <a:prstGeom prst="rect">
            <a:avLst/>
          </a:prstGeom>
          <a:solidFill>
            <a:srgbClr val="93C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3891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3C47D"/>
                </a:solidFill>
                <a:latin typeface="Assistant"/>
              </a:rPr>
              <a:t>CEDAR  ·  application authz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292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ssistant"/>
              </a:rPr>
              <a:t>An open-source policy language for your own apps.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6126480"/>
            <a:ext cx="6949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•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Authorizer formally verified in </a:t>
            </a:r>
            <a:r>
              <a:rPr sz="2200" b="1" i="0">
                <a:solidFill>
                  <a:srgbClr val="F8F8F8"/>
                </a:solidFill>
                <a:latin typeface="Assistant"/>
              </a:rPr>
              <a:t>Lean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 — the first policy language built this way.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•  </a:t>
            </a:r>
            <a:r>
              <a:rPr sz="2200" b="1" i="0">
                <a:solidFill>
                  <a:srgbClr val="F8F8F8"/>
                </a:solidFill>
                <a:latin typeface="Assistant"/>
              </a:rPr>
              <a:t>Cedar Analysis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 (open source) lets you prove properties of your own policies.</a:t>
            </a:r>
          </a:p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•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Powers </a:t>
            </a:r>
            <a:r>
              <a:rPr sz="2200" b="1" i="0">
                <a:solidFill>
                  <a:srgbClr val="F8F8F8"/>
                </a:solidFill>
                <a:latin typeface="Assistant"/>
              </a:rPr>
              <a:t>Amazon Verified Permissions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3657600"/>
            <a:ext cx="7863840" cy="493776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0" y="4114800"/>
            <a:ext cx="548640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43891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2D3EE"/>
                </a:solidFill>
                <a:latin typeface="Assistant"/>
              </a:rPr>
              <a:t>TIROS  ·  network reachability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50292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ssistant"/>
              </a:rPr>
              <a:t>Proves which paths exist across your VPC.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126480"/>
            <a:ext cx="6949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•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Engines: </a:t>
            </a:r>
            <a:r>
              <a:rPr sz="2200" b="1" i="0">
                <a:solidFill>
                  <a:srgbClr val="F8F8F8"/>
                </a:solidFill>
                <a:latin typeface="Assistant"/>
              </a:rPr>
              <a:t>Soufflé (Datalog), MonoSAT, Vampire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•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Models route tables, security groups, NACLs, load balancers — the whole stack.</a:t>
            </a:r>
          </a:p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•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Ships as </a:t>
            </a:r>
            <a:r>
              <a:rPr sz="2200" b="1" i="0">
                <a:solidFill>
                  <a:srgbClr val="F8F8F8"/>
                </a:solidFill>
                <a:latin typeface="Assistant"/>
              </a:rPr>
              <a:t>VPC Reachability Analyzer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 and inside Inspector network checks.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9052560"/>
            <a:ext cx="1627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CBD5E1"/>
                </a:solidFill>
                <a:latin typeface="Assistant"/>
              </a:rPr>
              <a:t>The same idea, three problems: IAM, app authz, network reachability.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THE OPEN-SOURCE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0" b="1" i="0">
                <a:solidFill>
                  <a:srgbClr val="FFFFFF"/>
                </a:solidFill>
                <a:latin typeface="Assistant"/>
              </a:rPr>
              <a:t>IAMSpy.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627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FC6D26"/>
                </a:solidFill>
                <a:latin typeface="Assistant"/>
              </a:rPr>
              <a:t>Provable IAM, offline.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4A3B8"/>
                </a:solidFill>
                <a:latin typeface="Assistant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26280"/>
            <a:ext cx="76809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400" b="0" i="0">
                <a:solidFill>
                  <a:srgbClr val="F8F8F8"/>
                </a:solidFill>
                <a:latin typeface="Assistant"/>
              </a:rPr>
              <a:t>An open-source Python library that loads your IAM policies and uses the </a:t>
            </a:r>
            <a:r>
              <a:rPr sz="2400" b="1" i="0">
                <a:solidFill>
                  <a:srgbClr val="22D3EE"/>
                </a:solidFill>
                <a:latin typeface="Assistant"/>
              </a:rPr>
              <a:t>Z3 SMT solver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 to </a:t>
            </a:r>
            <a:r>
              <a:rPr sz="2400" b="1" i="1">
                <a:solidFill>
                  <a:srgbClr val="FC6D26"/>
                </a:solidFill>
                <a:latin typeface="Assistant"/>
              </a:rPr>
              <a:t>prove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 whether a given action is possible.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CBD5E1"/>
                </a:solidFill>
                <a:latin typeface="Assistant"/>
              </a:rPr>
              <a:t>From </a:t>
            </a:r>
            <a:r>
              <a:rPr sz="2200" b="1" i="0">
                <a:solidFill>
                  <a:srgbClr val="F8F8F8"/>
                </a:solidFill>
                <a:latin typeface="Assistant"/>
              </a:rPr>
              <a:t>ReversecLabs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 (formerly WithSecureLabs). Released by </a:t>
            </a:r>
            <a:r>
              <a:rPr sz="2200" b="1" i="0">
                <a:solidFill>
                  <a:srgbClr val="F8F8F8"/>
                </a:solidFill>
                <a:latin typeface="Assistant"/>
              </a:rPr>
              <a:t>Mohit Gupta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 and </a:t>
            </a:r>
            <a:r>
              <a:rPr sz="2200" b="1" i="0">
                <a:solidFill>
                  <a:srgbClr val="F8F8F8"/>
                </a:solidFill>
                <a:latin typeface="Assistant"/>
              </a:rPr>
              <a:t>Nick Jones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 at fwd:cloudsec 2022 — </a:t>
            </a:r>
            <a:r>
              <a:rPr sz="2200" b="0" i="1">
                <a:solidFill>
                  <a:srgbClr val="CBD5E1"/>
                </a:solidFill>
                <a:latin typeface="Assistant"/>
              </a:rPr>
              <a:t>“Dismantling the Beast.”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402336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4A3B8"/>
                </a:solidFill>
                <a:latin typeface="Assistant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4526280"/>
            <a:ext cx="80467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FC6D26"/>
                </a:solidFill>
                <a:latin typeface="Assistant"/>
              </a:rPr>
              <a:t>1.  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Ingests </a:t>
            </a:r>
            <a:r>
              <a:rPr sz="2400" b="1" i="0">
                <a:solidFill>
                  <a:srgbClr val="F8F8F8"/>
                </a:solidFill>
                <a:latin typeface="Assistant"/>
              </a:rPr>
              <a:t>identity, resource, SCP, and boundary policies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FC6D26"/>
                </a:solidFill>
                <a:latin typeface="Assistant"/>
              </a:rPr>
              <a:t>2.  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Encodes them as a Z3 model.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FC6D26"/>
                </a:solidFill>
                <a:latin typeface="Assistant"/>
              </a:rPr>
              <a:t>3.  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Answers: </a:t>
            </a:r>
            <a:r>
              <a:rPr sz="2400" b="0" i="1">
                <a:solidFill>
                  <a:srgbClr val="F8F8F8"/>
                </a:solidFill>
                <a:latin typeface="Assistant"/>
              </a:rPr>
              <a:t>Can entity X do action Y on resource Z under context C?</a:t>
            </a:r>
          </a:p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C6D26"/>
                </a:solidFill>
                <a:latin typeface="Assistant"/>
              </a:rPr>
              <a:t>4.  </a:t>
            </a:r>
            <a:r>
              <a:rPr sz="2400" b="0" i="0">
                <a:solidFill>
                  <a:srgbClr val="F8F8F8"/>
                </a:solidFill>
                <a:latin typeface="Assistant"/>
              </a:rPr>
              <a:t>Returns yes (with a witness) or a proof of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9052560"/>
            <a:ext cx="1627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1">
                <a:solidFill>
                  <a:srgbClr val="FC6D26"/>
                </a:solidFill>
                <a:latin typeface="Assistant"/>
              </a:rPr>
              <a:t>The offline, scriptable cousin of Access Analyzer.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WHERE IAMSPY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Assistant"/>
              </a:rPr>
              <a:t>IAMSpy   vs.   awspx  ·  pmapper.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657600"/>
            <a:ext cx="7863840" cy="484632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0" y="4114800"/>
            <a:ext cx="548640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3891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2D3EE"/>
                </a:solidFill>
                <a:latin typeface="Assistant"/>
              </a:rPr>
              <a:t>GRAPH REACHABILITY  ·  awspx · pmapper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292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ssistant"/>
              </a:rPr>
              <a:t>Fast. Visual. Built for attack-path hunting.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6035040"/>
            <a:ext cx="6949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i="0">
                <a:solidFill>
                  <a:srgbClr val="93C47D"/>
                </a:solidFill>
                <a:latin typeface="Assistant"/>
              </a:rPr>
              <a:t>+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Scales to whole orgs in minutes.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i="0">
                <a:solidFill>
                  <a:srgbClr val="93C47D"/>
                </a:solidFill>
                <a:latin typeface="Assistant"/>
              </a:rPr>
              <a:t>+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Great for “who can pivot to admin?” hunts.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i="0">
                <a:solidFill>
                  <a:srgbClr val="F87171"/>
                </a:solidFill>
                <a:latin typeface="Assistant"/>
              </a:rPr>
              <a:t>−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Approximates conditions, NotAction, exceptions.</a:t>
            </a:r>
          </a:p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87171"/>
                </a:solidFill>
                <a:latin typeface="Assistant"/>
              </a:rPr>
              <a:t>−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Path found ≠ access truly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3657600"/>
            <a:ext cx="7863840" cy="4846320"/>
          </a:xfrm>
          <a:prstGeom prst="roundRect">
            <a:avLst>
              <a:gd name="adj" fmla="val 3000"/>
            </a:avLst>
          </a:prstGeom>
          <a:solidFill>
            <a:srgbClr val="0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0" y="4114800"/>
            <a:ext cx="548640" cy="128016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43891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C6D26"/>
                </a:solidFill>
                <a:latin typeface="Assistant"/>
              </a:rPr>
              <a:t>SMT PROOF  ·  IAMSpy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50292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ssistant"/>
              </a:rPr>
              <a:t>Slower. Definitive on the hard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035040"/>
            <a:ext cx="6949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i="0">
                <a:solidFill>
                  <a:srgbClr val="93C47D"/>
                </a:solidFill>
                <a:latin typeface="Assistant"/>
              </a:rPr>
              <a:t>+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Handles NotAction, conditions, request context.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i="0">
                <a:solidFill>
                  <a:srgbClr val="93C47D"/>
                </a:solidFill>
                <a:latin typeface="Assistant"/>
              </a:rPr>
              <a:t>+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Answers “provably no”, not just “no path found.”</a:t>
            </a:r>
          </a:p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87171"/>
                </a:solidFill>
                <a:latin typeface="Assistant"/>
              </a:rPr>
              <a:t>−  </a:t>
            </a:r>
            <a:r>
              <a:rPr sz="2200" b="0" i="0">
                <a:solidFill>
                  <a:srgbClr val="CBD5E1"/>
                </a:solidFill>
                <a:latin typeface="Assistant"/>
              </a:rPr>
              <a:t>Work-in-progress: doesn’t yet model every IAM quirk.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8961120"/>
            <a:ext cx="1627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1">
                <a:solidFill>
                  <a:srgbClr val="F8F8F8"/>
                </a:solidFill>
                <a:latin typeface="Assistant"/>
              </a:rPr>
              <a:t>Use them together.   Graph to spot attack paths.   Prover to verify what those paths actually permit.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PICK THE RIGHT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FFFFF"/>
                </a:solidFill>
                <a:latin typeface="Assistant"/>
              </a:rPr>
              <a:t>Match the question to the technique.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657600"/>
            <a:ext cx="16276320" cy="118872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4023360"/>
            <a:ext cx="137160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388620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ssistant"/>
              </a:rPr>
              <a:t>Lint a single policy?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43891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94A3B8"/>
                </a:solidFill>
                <a:latin typeface="Assistant"/>
              </a:rPr>
              <a:t>rule-based linter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9776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22D3EE"/>
                </a:solidFill>
                <a:latin typeface="Assistan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397764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2D3EE"/>
                </a:solidFill>
                <a:latin typeface="Consolas"/>
              </a:rPr>
              <a:t>Parliament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074920"/>
            <a:ext cx="16276320" cy="118872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5440680"/>
            <a:ext cx="13716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530352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ssistant"/>
              </a:rPr>
              <a:t>Map attack paths across an account?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58064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94A3B8"/>
                </a:solidFill>
                <a:latin typeface="Assistant"/>
              </a:rPr>
              <a:t>graph reachability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539496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A78BFA"/>
                </a:solidFill>
                <a:latin typeface="Assistan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539496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78BFA"/>
                </a:solidFill>
                <a:latin typeface="Consolas"/>
              </a:rPr>
              <a:t>awspx  ·  pmapper  ·  pathfinding.cloud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6492240"/>
            <a:ext cx="16276320" cy="118872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6858000"/>
            <a:ext cx="137160" cy="457200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672084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ssistant"/>
              </a:rPr>
              <a:t>Prove a specific property holds?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72237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94A3B8"/>
                </a:solidFill>
                <a:latin typeface="Assistant"/>
              </a:rPr>
              <a:t>automated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81228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C6D26"/>
                </a:solidFill>
                <a:latin typeface="Assistant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81228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C6D26"/>
                </a:solidFill>
                <a:latin typeface="Consolas"/>
              </a:rPr>
              <a:t>Access Analyzer custom checks   |   IAMSpy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7909560"/>
            <a:ext cx="16276320" cy="118872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8275320"/>
            <a:ext cx="137160" cy="457200"/>
          </a:xfrm>
          <a:prstGeom prst="rect">
            <a:avLst/>
          </a:prstGeom>
          <a:solidFill>
            <a:srgbClr val="93C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813816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ssistant"/>
              </a:rPr>
              <a:t>Authoring app-level authorization?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864108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94A3B8"/>
                </a:solidFill>
                <a:latin typeface="Assistant"/>
              </a:rPr>
              <a:t>verified policy language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822960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93C47D"/>
                </a:solidFill>
                <a:latin typeface="Assistant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822960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93C47D"/>
                </a:solidFill>
                <a:latin typeface="Consolas"/>
              </a:rPr>
              <a:t>Cedar   +   Cedar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C6D26"/>
                </a:solidFill>
                <a:latin typeface="Assistant"/>
              </a:rPr>
              <a:t>WRAPPING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627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0" b="1" i="0">
                <a:solidFill>
                  <a:srgbClr val="FFFFFF"/>
                </a:solidFill>
                <a:latin typeface="Assistant"/>
              </a:rPr>
              <a:t>Takeaways.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93192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C6D26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39319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ssistant"/>
              </a:rPr>
              <a:t>Provers verify meaning, not syntax.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4617720"/>
            <a:ext cx="8138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They answer the question linters and graphs can't: what does this policy actually mean for every possible request?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2356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C6D26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562356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ssistant"/>
              </a:rPr>
              <a:t>You’re already using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6309360"/>
            <a:ext cx="8138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Every time S3 Block Public Access, Access Analyzer, or the console policy validator catches something — that's Zelkova.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731520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C6D26"/>
                </a:solidFill>
                <a:latin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731520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ssistant"/>
              </a:rPr>
              <a:t>You can put them in your pipeline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8001000"/>
            <a:ext cx="8138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BD5E1"/>
                </a:solidFill>
                <a:latin typeface="Assistant"/>
              </a:rPr>
              <a:t>Access Analyzer custom policy checks in CI; IAMSpy on a laptop for offline analysis. Start with one PR check this quarter.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3931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4A3B8"/>
                </a:solidFill>
                <a:latin typeface="Assistant"/>
              </a:rPr>
              <a:t>FURTHER READING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45720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ssistant"/>
              </a:rPr>
              <a:t>Access Analyzer custom policy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5120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C6D26"/>
                </a:solidFill>
                <a:latin typeface="Consolas"/>
              </a:rPr>
              <a:t>aws.amazon.com/iam/access-analyzer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55778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ssistant"/>
              </a:rPr>
              <a:t>“Semantic-based Automated Reasoning
for AWS Access Policies” (Zelkova)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126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C6D26"/>
                </a:solidFill>
                <a:latin typeface="Consolas"/>
              </a:rPr>
              <a:t>FMCAD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5836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ssistant"/>
              </a:rPr>
              <a:t>IAMSpy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7132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C6D26"/>
                </a:solidFill>
                <a:latin typeface="Consolas"/>
              </a:rPr>
              <a:t>github.com/ReversecLabs/IAMSpy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75895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ssistant"/>
              </a:rPr>
              <a:t>Cedar  +  Cedar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8138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C6D26"/>
                </a:solidFill>
                <a:latin typeface="Consolas"/>
              </a:rPr>
              <a:t>github.com/cedar-policy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859536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ssistant"/>
              </a:rPr>
              <a:t>“Dismantling the Beast”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9144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C6D26"/>
                </a:solidFill>
                <a:latin typeface="Consolas"/>
              </a:rPr>
              <a:t>Nick Jones &amp; Mohit Gupta  ·  fwd:cloudsec 2022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