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</p:sldIdLst>
  <p:sldSz cy="10287000" cx="18288000"/>
  <p:notesSz cx="6858000" cy="9144000"/>
  <p:embeddedFontLst>
    <p:embeddedFont>
      <p:font typeface="Arimo"/>
      <p:regular r:id="rId30"/>
      <p:bold r:id="rId31"/>
      <p:italic r:id="rId32"/>
      <p:boldItalic r:id="rId33"/>
    </p:embeddedFont>
    <p:embeddedFont>
      <p:font typeface="Montserrat"/>
      <p:regular r:id="rId34"/>
      <p:bold r:id="rId35"/>
      <p:italic r:id="rId36"/>
      <p:boldItalic r:id="rId37"/>
    </p:embeddedFont>
    <p:embeddedFont>
      <p:font typeface="Assistant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0" roundtripDataSignature="AMtx7miu3iHEyULb6y8uBKm1Lf/FTOzt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643B1D-9803-458B-AC4E-7CA0FF1CF9E7}">
  <a:tblStyle styleId="{79643B1D-9803-458B-AC4E-7CA0FF1CF9E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30" Type="http://schemas.openxmlformats.org/officeDocument/2006/relationships/font" Target="fonts/Arimo-regular.fntdata"/><Relationship Id="rId31" Type="http://schemas.openxmlformats.org/officeDocument/2006/relationships/font" Target="fonts/Arimo-bold.fntdata"/><Relationship Id="rId32" Type="http://schemas.openxmlformats.org/officeDocument/2006/relationships/font" Target="fonts/Arimo-italic.fntdata"/><Relationship Id="rId33" Type="http://schemas.openxmlformats.org/officeDocument/2006/relationships/font" Target="fonts/Arimo-boldItalic.fntdata"/><Relationship Id="rId34" Type="http://schemas.openxmlformats.org/officeDocument/2006/relationships/font" Target="fonts/Montserrat-regular.fntdata"/><Relationship Id="rId35" Type="http://schemas.openxmlformats.org/officeDocument/2006/relationships/font" Target="fonts/Montserrat-bold.fntdata"/><Relationship Id="rId36" Type="http://schemas.openxmlformats.org/officeDocument/2006/relationships/font" Target="fonts/Montserrat-italic.fntdata"/><Relationship Id="rId37" Type="http://schemas.openxmlformats.org/officeDocument/2006/relationships/font" Target="fonts/Montserrat-boldItalic.fntdata"/><Relationship Id="rId38" Type="http://schemas.openxmlformats.org/officeDocument/2006/relationships/font" Target="fonts/Assistant-regular.fntdata"/><Relationship Id="rId39" Type="http://schemas.openxmlformats.org/officeDocument/2006/relationships/font" Target="fonts/Assistant-bold.fntdata"/><Relationship Id="rId4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719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C6D26"/>
                </a:solidFill>
                <a:latin typeface="Assistant"/>
              </a:rPr>
              <a:t>SCENARIO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171907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200" b="1">
                <a:solidFill>
                  <a:srgbClr val="FFFFFF"/>
                </a:solidFill>
                <a:latin typeface="Assistant"/>
              </a:rPr>
              <a:t>Pass to Lambda, Land in EC2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852160"/>
            <a:ext cx="1719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ssistant"/>
              </a:rPr>
              <a:t>Privilege escalation via unscoped </a:t>
            </a:r>
            <a:r>
              <a:rPr sz="4200" b="1">
                <a:solidFill>
                  <a:srgbClr val="FC6D26"/>
                </a:solidFill>
                <a:latin typeface="Assistant"/>
              </a:rPr>
              <a:t>iam:PassRole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778240"/>
            <a:ext cx="1719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onsolas"/>
              </a:rPr>
              <a:t>STARTING IDENTITY  </a:t>
            </a:r>
            <a:r>
              <a:rPr sz="1600" b="0">
                <a:solidFill>
                  <a:srgbClr val="CBD5E1"/>
                </a:solidFill>
                <a:latin typeface="Consolas"/>
              </a:rPr>
              <a:t>user/iamws-ci-runner-user</a:t>
            </a:r>
            <a:r>
              <a:rPr sz="1600" b="0">
                <a:solidFill>
                  <a:srgbClr val="94A3B8"/>
                </a:solidFill>
                <a:latin typeface="Consolas"/>
              </a:rPr>
              <a:t>     TARGET  </a:t>
            </a:r>
            <a:r>
              <a:rPr sz="1600" b="0">
                <a:solidFill>
                  <a:srgbClr val="CBD5E1"/>
                </a:solidFill>
                <a:latin typeface="Consolas"/>
              </a:rPr>
              <a:t>role/iamws-prod-deploy-role  via EC2 instance profile</a:t>
            </a:r>
            <a:r>
              <a:rPr sz="1600" b="0">
                <a:solidFill>
                  <a:srgbClr val="94A3B8"/>
                </a:solidFill>
                <a:latin typeface="Consolas"/>
              </a:rPr>
              <a:t>     CATEGORY  </a:t>
            </a:r>
            <a:r>
              <a:rPr sz="1600" b="0">
                <a:solidFill>
                  <a:srgbClr val="CBD5E1"/>
                </a:solidFill>
                <a:latin typeface="Consolas"/>
              </a:rPr>
              <a:t>New PassRole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Assistant"/>
              </a:rPr>
              <a:t>The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7190720" cy="777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Assistant"/>
              </a:rPr>
              <a:t>A CI/CD pipeline user, </a:t>
            </a:r>
            <a:r>
              <a:rPr sz="3000" b="1">
                <a:solidFill>
                  <a:srgbClr val="FC6D26"/>
                </a:solidFill>
                <a:latin typeface="Assistant"/>
              </a:rPr>
              <a:t>iamws-ci-runner-user</a:t>
            </a:r>
            <a:r>
              <a:rPr sz="3000" b="1">
                <a:solidFill>
                  <a:srgbClr val="FFFFFF"/>
                </a:solidFill>
                <a:latin typeface="Assistant"/>
              </a:rPr>
              <a:t>, deploys a Lambda function on every merge to main.</a:t>
            </a:r>
          </a:p>
          <a:p>
            <a:pPr algn="l"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Assistant"/>
              </a:rPr>
              <a:t>To deploy that Lambda, the user needs </a:t>
            </a:r>
            <a:r>
              <a:rPr sz="3000" b="1">
                <a:solidFill>
                  <a:srgbClr val="FC6D26"/>
                </a:solidFill>
                <a:latin typeface="Assistant"/>
              </a:rPr>
              <a:t>iam:PassRole</a:t>
            </a:r>
            <a:r>
              <a:rPr sz="3000" b="1">
                <a:solidFill>
                  <a:srgbClr val="FFFFFF"/>
                </a:solidFill>
                <a:latin typeface="Assistant"/>
              </a:rPr>
              <a:t> — Lambda needs an execution role attached, and PassRole is the gate that lets the deployer hand the role over.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Assistant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Assistant"/>
              </a:rPr>
              <a:t>The same CI runner also manages build infrastructure, so it has </a:t>
            </a:r>
            <a:r>
              <a:rPr sz="3000" b="1">
                <a:solidFill>
                  <a:srgbClr val="FC6D26"/>
                </a:solidFill>
                <a:latin typeface="Assistant"/>
              </a:rPr>
              <a:t>ec2:RunInstances</a:t>
            </a:r>
            <a:r>
              <a:rPr sz="3000" b="1">
                <a:solidFill>
                  <a:srgbClr val="FFFFFF"/>
                </a:solidFill>
                <a:latin typeface="Assistant"/>
              </a:rPr>
              <a:t> for spinning up build agents.</a:t>
            </a:r>
          </a:p>
          <a:p>
            <a:pPr algn="l"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Assistant"/>
              </a:rPr>
              <a:t>Two reasonable permissions on their own. The bug is in the </a:t>
            </a:r>
            <a:r>
              <a:rPr sz="3000" b="1">
                <a:solidFill>
                  <a:srgbClr val="FC6D26"/>
                </a:solidFill>
                <a:latin typeface="Assistant"/>
              </a:rPr>
              <a:t>PassRole</a:t>
            </a:r>
            <a:r>
              <a:rPr sz="3000" b="1">
                <a:solidFill>
                  <a:srgbClr val="FFFFFF"/>
                </a:solidFill>
                <a:latin typeface="Assistant"/>
              </a:rPr>
              <a:t> statement: it allows passing </a:t>
            </a:r>
            <a:r>
              <a:rPr sz="3000" b="1">
                <a:solidFill>
                  <a:srgbClr val="FC6D26"/>
                </a:solidFill>
                <a:latin typeface="Assistant"/>
              </a:rPr>
              <a:t>any role to any service</a:t>
            </a:r>
            <a:r>
              <a:rPr sz="3000" b="1">
                <a:solidFill>
                  <a:srgbClr val="FFFFFF"/>
                </a:solidFill>
                <a:latin typeface="Assistant"/>
              </a:rPr>
              <a:t> — Lambda was the intent, EC2 is the loophole.</a:t>
            </a:r>
          </a:p>
          <a:p>
            <a:pPr algn="l">
              <a:lnSpc>
                <a:spcPct val="125000"/>
              </a:lnSpc>
            </a:pPr>
            <a:r>
              <a:rPr sz="3000" b="1">
                <a:solidFill>
                  <a:srgbClr val="94A3B8"/>
                </a:solidFill>
                <a:latin typeface="Assistant"/>
              </a:rPr>
              <a:t>Pass a privileged role to a fresh EC2 instance, SSM in, walk out with admin credentials.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Assistant"/>
              </a:rPr>
              <a:t>What is PassRole?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719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94A3B8"/>
                </a:solidFill>
                <a:latin typeface="Assistant"/>
              </a:rPr>
              <a:t>The IAM gate that lets a user hand a role to an AWS service.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0"/>
            <a:ext cx="4572000" cy="2286000"/>
          </a:xfrm>
          <a:prstGeom prst="rect">
            <a:avLst/>
          </a:prstGeom>
          <a:solidFill>
            <a:srgbClr val="0F172A"/>
          </a:solidFill>
          <a:ln w="19050">
            <a:solidFill>
              <a:srgbClr val="FC6D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51840" y="2946400"/>
            <a:ext cx="4165600" cy="187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C6D26"/>
                </a:solidFill>
                <a:latin typeface="Assistant"/>
              </a:rPr>
              <a:t>USER / ROLE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Assistant"/>
              </a:rPr>
              <a:t>Holds </a:t>
            </a:r>
            <a:r>
              <a:rPr sz="2000" b="1">
                <a:solidFill>
                  <a:srgbClr val="FC6D26"/>
                </a:solidFill>
                <a:latin typeface="Assistant"/>
              </a:rPr>
              <a:t>iam:PassRole</a:t>
            </a:r>
            <a:r>
              <a:rPr sz="2000" b="1">
                <a:solidFill>
                  <a:srgbClr val="FFFFFF"/>
                </a:solidFill>
                <a:latin typeface="Assistant"/>
              </a:rPr>
              <a:t>.  Calls </a:t>
            </a:r>
            <a:r>
              <a:rPr sz="2000" b="1">
                <a:solidFill>
                  <a:srgbClr val="22D3EE"/>
                </a:solidFill>
                <a:latin typeface="Assistant"/>
              </a:rPr>
              <a:t>RunInstances</a:t>
            </a:r>
            <a:r>
              <a:rPr sz="2000" b="1">
                <a:solidFill>
                  <a:srgbClr val="FFFFFF"/>
                </a:solidFill>
                <a:latin typeface="Assistant"/>
              </a:rPr>
              <a:t>, </a:t>
            </a:r>
            <a:r>
              <a:rPr sz="2000" b="1">
                <a:solidFill>
                  <a:srgbClr val="22D3EE"/>
                </a:solidFill>
                <a:latin typeface="Assistant"/>
              </a:rPr>
              <a:t>CreateFunction</a:t>
            </a:r>
            <a:r>
              <a:rPr sz="2000" b="1">
                <a:solidFill>
                  <a:srgbClr val="FFFFFF"/>
                </a:solidFill>
                <a:latin typeface="Assistant"/>
              </a:rPr>
              <a:t>, etc., naming a role (or instance profile) to attach.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212080" y="3611880"/>
            <a:ext cx="685800" cy="548640"/>
          </a:xfrm>
          <a:prstGeom prst="rightArrow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89320" y="2743200"/>
            <a:ext cx="4572000" cy="2286000"/>
          </a:xfrm>
          <a:prstGeom prst="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192520" y="2946400"/>
            <a:ext cx="4165600" cy="187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D3EE"/>
                </a:solidFill>
                <a:latin typeface="Assistant"/>
              </a:rPr>
              <a:t>AWS SERVICE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Assistant"/>
              </a:rPr>
              <a:t>EC2 / Lambda / ECS / Glue / etc.</a:t>
            </a:r>
            <a:r>
              <a:rPr sz="2000" b="1">
                <a:solidFill>
                  <a:srgbClr val="FFFFFF"/>
                </a:solidFill>
                <a:latin typeface="Assistant"/>
              </a:rPr>
              <a:t>
</a:t>
            </a:r>
            <a:r>
              <a:rPr sz="2000" b="1">
                <a:solidFill>
                  <a:srgbClr val="FFFFFF"/>
                </a:solidFill>
                <a:latin typeface="Assistant"/>
              </a:rPr>
              <a:t>Receives the role and runs workloads as it.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0652760" y="3611880"/>
            <a:ext cx="685800" cy="548640"/>
          </a:xfrm>
          <a:prstGeom prst="rightArrow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430000" y="2743200"/>
            <a:ext cx="4572000" cy="2286000"/>
          </a:xfrm>
          <a:prstGeom prst="rect">
            <a:avLst/>
          </a:prstGeom>
          <a:solidFill>
            <a:srgbClr val="0F172A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633200" y="2946400"/>
            <a:ext cx="4165600" cy="187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A78BFA"/>
                </a:solidFill>
                <a:latin typeface="Assistant"/>
              </a:rPr>
              <a:t>IAM ROLE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Assistant"/>
              </a:rPr>
              <a:t>The workload runs with the role's permissions. Anyone with code execution on that compute calls AWS as the role.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17190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ssistant"/>
              </a:rPr>
              <a:t>AWS evaluates </a:t>
            </a:r>
            <a:r>
              <a:rPr sz="2400" b="1">
                <a:solidFill>
                  <a:srgbClr val="FC6D26"/>
                </a:solidFill>
                <a:latin typeface="Assistant"/>
              </a:rPr>
              <a:t>three</a:t>
            </a:r>
            <a:r>
              <a:rPr sz="2400" b="1">
                <a:solidFill>
                  <a:srgbClr val="FFFFFF"/>
                </a:solidFill>
                <a:latin typeface="Assistant"/>
              </a:rPr>
              <a:t> checks before PassRole succeeds. Each must pass.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00800"/>
            <a:ext cx="5486400" cy="3200400"/>
          </a:xfrm>
          <a:prstGeom prst="rect">
            <a:avLst/>
          </a:prstGeom>
          <a:solidFill>
            <a:srgbClr val="0F172A"/>
          </a:solidFill>
          <a:ln w="19050">
            <a:solidFill>
              <a:srgbClr val="FC6D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1840" y="6604000"/>
            <a:ext cx="5080000" cy="279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C6D26"/>
                </a:solidFill>
                <a:latin typeface="Assistant"/>
              </a:rPr>
              <a:t>USER · iam:PassRole · Resource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Assistant"/>
              </a:rPr>
              <a:t>Which role can be passed.</a:t>
            </a:r>
            <a:r>
              <a:rPr sz="2000" b="1">
                <a:solidFill>
                  <a:srgbClr val="FFFFFF"/>
                </a:solidFill>
                <a:latin typeface="Assistant"/>
              </a:rPr>
              <a:t>
</a:t>
            </a:r>
            <a:r>
              <a:rPr sz="2000" b="1">
                <a:solidFill>
                  <a:srgbClr val="FFFFFF"/>
                </a:solidFill>
                <a:latin typeface="Assistant"/>
              </a:rPr>
              <a:t>If </a:t>
            </a:r>
            <a:r>
              <a:rPr sz="2000" b="1">
                <a:solidFill>
                  <a:srgbClr val="F87171"/>
                </a:solidFill>
                <a:latin typeface="Assistant"/>
              </a:rPr>
              <a:t>"*"</a:t>
            </a:r>
            <a:r>
              <a:rPr sz="2000" b="1">
                <a:solidFill>
                  <a:srgbClr val="FFFFFF"/>
                </a:solidFill>
                <a:latin typeface="Assistant"/>
              </a:rPr>
              <a:t>, the user can pass </a:t>
            </a:r>
            <a:r>
              <a:rPr sz="2000" b="1">
                <a:solidFill>
                  <a:srgbClr val="FC6D26"/>
                </a:solidFill>
                <a:latin typeface="Assistant"/>
              </a:rPr>
              <a:t>any role</a:t>
            </a:r>
            <a:r>
              <a:rPr sz="2000" b="1">
                <a:solidFill>
                  <a:srgbClr val="FFFFFF"/>
                </a:solidFill>
                <a:latin typeface="Assistant"/>
              </a:rPr>
              <a:t> they can name — including AdministratorAccess.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6400800"/>
            <a:ext cx="5486400" cy="3200400"/>
          </a:xfrm>
          <a:prstGeom prst="rect">
            <a:avLst/>
          </a:prstGeom>
          <a:solidFill>
            <a:srgbClr val="0F172A"/>
          </a:solidFill>
          <a:ln w="19050">
            <a:solidFill>
              <a:srgbClr val="FC6D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12560" y="6604000"/>
            <a:ext cx="5080000" cy="279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C6D26"/>
                </a:solidFill>
                <a:latin typeface="Assistant"/>
              </a:rPr>
              <a:t>USER · iam:PassRole · Condition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22D3EE"/>
                </a:solidFill>
                <a:latin typeface="Assistant"/>
              </a:rPr>
              <a:t>iam:PassedToService</a:t>
            </a:r>
            <a:r>
              <a:rPr sz="2000" b="1">
                <a:solidFill>
                  <a:srgbClr val="FFFFFF"/>
                </a:solidFill>
                <a:latin typeface="Assistant"/>
              </a:rPr>
              <a:t> — which service the user can pass it to.</a:t>
            </a:r>
            <a:r>
              <a:rPr sz="2000" b="1">
                <a:solidFill>
                  <a:srgbClr val="FFFFFF"/>
                </a:solidFill>
                <a:latin typeface="Assistant"/>
              </a:rPr>
              <a:t>
</a:t>
            </a:r>
            <a:r>
              <a:rPr sz="2000" b="1">
                <a:solidFill>
                  <a:srgbClr val="FFFFFF"/>
                </a:solidFill>
                <a:latin typeface="Assistant"/>
              </a:rPr>
              <a:t>If absent, the user can pass to </a:t>
            </a:r>
            <a:r>
              <a:rPr sz="2000" b="1">
                <a:solidFill>
                  <a:srgbClr val="FC6D26"/>
                </a:solidFill>
                <a:latin typeface="Assistant"/>
              </a:rPr>
              <a:t>any service</a:t>
            </a:r>
            <a:r>
              <a:rPr sz="2000" b="1">
                <a:solidFill>
                  <a:srgbClr val="FFFFFF"/>
                </a:solidFill>
                <a:latin typeface="Assistant"/>
              </a:rPr>
              <a:t> — EC2 was the loophole this lab exploits.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70080" y="6400800"/>
            <a:ext cx="5486400" cy="3200400"/>
          </a:xfrm>
          <a:prstGeom prst="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273280" y="6604000"/>
            <a:ext cx="5080000" cy="279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D3EE"/>
                </a:solidFill>
                <a:latin typeface="Assistant"/>
              </a:rPr>
              <a:t>ROLE · trust policy · Principal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Assistant"/>
              </a:rPr>
              <a:t>Which services the role itself accepts.</a:t>
            </a:r>
            <a:r>
              <a:rPr sz="2000" b="1">
                <a:solidFill>
                  <a:srgbClr val="FFFFFF"/>
                </a:solidFill>
                <a:latin typeface="Assistant"/>
              </a:rPr>
              <a:t>
</a:t>
            </a:r>
            <a:r>
              <a:rPr sz="2000" b="1">
                <a:solidFill>
                  <a:srgbClr val="FFFFFF"/>
                </a:solidFill>
                <a:latin typeface="Assistant"/>
              </a:rPr>
              <a:t>If the </a:t>
            </a:r>
            <a:r>
              <a:rPr sz="2000" b="1">
                <a:solidFill>
                  <a:srgbClr val="22D3EE"/>
                </a:solidFill>
                <a:latin typeface="Assistant"/>
              </a:rPr>
              <a:t>"Service"</a:t>
            </a:r>
            <a:r>
              <a:rPr sz="2000" b="1">
                <a:solidFill>
                  <a:srgbClr val="FFFFFF"/>
                </a:solidFill>
                <a:latin typeface="Assistant"/>
              </a:rPr>
              <a:t> list is broad, the role accepts every service the user can pass it 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Assistant"/>
              </a:rPr>
              <a:t>EC2 Instance Profiles + IMDS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719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94A3B8"/>
                </a:solidFill>
                <a:latin typeface="Assistant"/>
              </a:rPr>
              <a:t>How an IAM role becomes credentials sitting inside a virtual machine.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468880"/>
            <a:ext cx="8229600" cy="2194560"/>
          </a:xfrm>
          <a:prstGeom prst="rect">
            <a:avLst/>
          </a:prstGeom>
          <a:solidFill>
            <a:srgbClr val="0F172A"/>
          </a:solidFill>
          <a:ln w="19050">
            <a:solidFill>
              <a:srgbClr val="FC6D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51840" y="2672080"/>
            <a:ext cx="7823200" cy="1788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C6D26"/>
                </a:solidFill>
                <a:latin typeface="Assistant"/>
              </a:rPr>
              <a:t>Instance Profile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Assistant"/>
              </a:rPr>
              <a:t>A wrapper around an IAM role that EC2 understands. Attached at launch with </a:t>
            </a:r>
            <a:r>
              <a:rPr sz="2200" b="1">
                <a:solidFill>
                  <a:srgbClr val="22D3EE"/>
                </a:solidFill>
                <a:latin typeface="Assistant"/>
              </a:rPr>
              <a:t>--iam-instance-profile</a:t>
            </a:r>
            <a:r>
              <a:rPr sz="2200" b="1">
                <a:solidFill>
                  <a:srgbClr val="FFFFFF"/>
                </a:solidFill>
                <a:latin typeface="Assistant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46320"/>
            <a:ext cx="8229600" cy="2194560"/>
          </a:xfrm>
          <a:prstGeom prst="rect">
            <a:avLst/>
          </a:prstGeom>
          <a:solidFill>
            <a:srgbClr val="0F172A"/>
          </a:solidFill>
          <a:ln w="19050">
            <a:solidFill>
              <a:srgbClr val="FC6D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51840" y="5049520"/>
            <a:ext cx="7823200" cy="1788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C6D26"/>
                </a:solidFill>
                <a:latin typeface="Assistant"/>
              </a:rPr>
              <a:t>Instance Metadata Service (IMDS)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Assistant"/>
              </a:rPr>
              <a:t>HTTP endpoint at </a:t>
            </a:r>
            <a:r>
              <a:rPr sz="2200" b="1">
                <a:solidFill>
                  <a:srgbClr val="22D3EE"/>
                </a:solidFill>
                <a:latin typeface="Assistant"/>
              </a:rPr>
              <a:t>169.254.169.254</a:t>
            </a:r>
            <a:r>
              <a:rPr sz="2200" b="1">
                <a:solidFill>
                  <a:srgbClr val="FFFFFF"/>
                </a:solidFill>
                <a:latin typeface="Assistant"/>
              </a:rPr>
              <a:t>, reachable from inside the instance. Returns short-term credentials for the attached role.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7223760"/>
            <a:ext cx="8229600" cy="2194560"/>
          </a:xfrm>
          <a:prstGeom prst="rect">
            <a:avLst/>
          </a:prstGeom>
          <a:solidFill>
            <a:srgbClr val="0F172A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51840" y="7426960"/>
            <a:ext cx="7823200" cy="1788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87171"/>
                </a:solidFill>
                <a:latin typeface="Assistant"/>
              </a:rPr>
              <a:t>Anyone on the box becomes the role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Assistant"/>
              </a:rPr>
              <a:t>SSM session, SSH, RCE in the workload — every code path that lands on the instance can read IMDS and call AWS APIs as the role.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2468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94A3B8"/>
                </a:solidFill>
                <a:latin typeface="Assistant"/>
              </a:rPr>
              <a:t>What an attacker runs from the instance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0" y="3108960"/>
            <a:ext cx="8229600" cy="630936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87560" y="3286760"/>
            <a:ext cx="7874000" cy="5953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>
                <a:solidFill>
                  <a:srgbClr val="94A3B8"/>
                </a:solidFill>
                <a:latin typeface="Consolas"/>
              </a:rPr>
              <a:t># IMDSv2 — get a session token first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TOKEN=$(curl -X PUT </a:t>
            </a:r>
            <a:r>
              <a:rPr sz="1800">
                <a:solidFill>
                  <a:srgbClr val="22D3EE"/>
                </a:solidFill>
                <a:latin typeface="Consolas"/>
              </a:rPr>
              <a:t>"http://169.254.169.254/latest/api/token"</a:t>
            </a:r>
            <a:r>
              <a:rPr sz="1800">
                <a:solidFill>
                  <a:srgbClr val="CBD5E1"/>
                </a:solidFill>
                <a:latin typeface="Consolas"/>
              </a:rPr>
              <a:t> \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-H </a:t>
            </a:r>
            <a:r>
              <a:rPr sz="1800">
                <a:solidFill>
                  <a:srgbClr val="22D3EE"/>
                </a:solidFill>
                <a:latin typeface="Consolas"/>
              </a:rPr>
              <a:t>"X-aws-ec2-metadata-token-ttl-seconds: 60"</a:t>
            </a:r>
            <a:r>
              <a:rPr sz="1800">
                <a:solidFill>
                  <a:srgbClr val="CBD5E1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/>
            </a:r>
          </a:p>
          <a:p>
            <a:pPr algn="l"/>
            <a:r>
              <a:rPr sz="1800">
                <a:solidFill>
                  <a:srgbClr val="94A3B8"/>
                </a:solidFill>
                <a:latin typeface="Consolas"/>
              </a:rPr>
              <a:t># List the role attached to this instance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curl -H </a:t>
            </a:r>
            <a:r>
              <a:rPr sz="1800">
                <a:solidFill>
                  <a:srgbClr val="22D3EE"/>
                </a:solidFill>
                <a:latin typeface="Consolas"/>
              </a:rPr>
              <a:t>"X-aws-ec2-metadata-token: $TOKEN"</a:t>
            </a:r>
            <a:r>
              <a:rPr sz="1800">
                <a:solidFill>
                  <a:srgbClr val="CBD5E1"/>
                </a:solidFill>
                <a:latin typeface="Consolas"/>
              </a:rPr>
              <a:t> \</a:t>
            </a:r>
          </a:p>
          <a:p>
            <a:pPr algn="l"/>
            <a:r>
              <a:rPr sz="1800">
                <a:solidFill>
                  <a:srgbClr val="A78BFA"/>
                </a:solidFill>
                <a:latin typeface="Consolas"/>
              </a:rPr>
              <a:t>  http://169.254.169.254/latest/meta-data/</a:t>
            </a:r>
          </a:p>
          <a:p>
            <a:pPr algn="l"/>
            <a:r>
              <a:rPr sz="1800">
                <a:solidFill>
                  <a:srgbClr val="A78BFA"/>
                </a:solidFill>
                <a:latin typeface="Consolas"/>
              </a:rPr>
              <a:t>    iam/security-credentials/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/>
            </a:r>
          </a:p>
          <a:p>
            <a:pPr algn="l"/>
            <a:r>
              <a:rPr sz="1800">
                <a:solidFill>
                  <a:srgbClr val="94A3B8"/>
                </a:solidFill>
                <a:latin typeface="Consolas"/>
              </a:rPr>
              <a:t># Pull short-term creds for the role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curl -H </a:t>
            </a:r>
            <a:r>
              <a:rPr sz="1800">
                <a:solidFill>
                  <a:srgbClr val="22D3EE"/>
                </a:solidFill>
                <a:latin typeface="Consolas"/>
              </a:rPr>
              <a:t>"X-aws-ec2-metadata-token: $TOKEN"</a:t>
            </a:r>
            <a:r>
              <a:rPr sz="1800">
                <a:solidFill>
                  <a:srgbClr val="CBD5E1"/>
                </a:solidFill>
                <a:latin typeface="Consolas"/>
              </a:rPr>
              <a:t> \</a:t>
            </a:r>
          </a:p>
          <a:p>
            <a:pPr algn="l"/>
            <a:r>
              <a:rPr sz="1800">
                <a:solidFill>
                  <a:srgbClr val="A78BFA"/>
                </a:solidFill>
                <a:latin typeface="Consolas"/>
              </a:rPr>
              <a:t>  http://169.254.169.254/latest/meta-data/</a:t>
            </a:r>
          </a:p>
          <a:p>
            <a:pPr algn="l"/>
            <a:r>
              <a:rPr sz="1800">
                <a:solidFill>
                  <a:srgbClr val="A78BFA"/>
                </a:solidFill>
                <a:latin typeface="Consolas"/>
              </a:rPr>
              <a:t>    iam/security-credentials/</a:t>
            </a:r>
            <a:r>
              <a:rPr sz="1800">
                <a:solidFill>
                  <a:srgbClr val="FC6D26"/>
                </a:solidFill>
                <a:latin typeface="Consolas"/>
              </a:rPr>
              <a:t>iamws-prod-deploy-role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Assistant"/>
              </a:rPr>
              <a:t>The misconfiguration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719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C6D26"/>
                </a:solidFill>
                <a:latin typeface="Consolas"/>
              </a:rPr>
              <a:t>iamws-ci-runner-policy</a:t>
            </a:r>
            <a:r>
              <a:rPr sz="2200" b="0">
                <a:solidFill>
                  <a:srgbClr val="94A3B8"/>
                </a:solidFill>
                <a:latin typeface="Consolas"/>
              </a:rPr>
              <a:t>  —  attached to </a:t>
            </a:r>
            <a:r>
              <a:rPr sz="2200" b="0">
                <a:solidFill>
                  <a:srgbClr val="FC6D26"/>
                </a:solidFill>
                <a:latin typeface="Consolas"/>
              </a:rPr>
              <a:t>iamws-ci-runner-user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87171"/>
                </a:solidFill>
                <a:latin typeface="Assistant"/>
              </a:rPr>
              <a:t>PassRole statement</a:t>
            </a:r>
            <a:r>
              <a:rPr sz="2400" b="1">
                <a:solidFill>
                  <a:srgbClr val="94A3B8"/>
                </a:solidFill>
                <a:latin typeface="Assistant"/>
              </a:rPr>
              <a:t>   on the user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71800"/>
            <a:ext cx="10058400" cy="50292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26440" y="3149600"/>
            <a:ext cx="9702800" cy="4673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{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"Sid": "AllowPassRole",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"Effect": "Allow",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"Action": </a:t>
            </a:r>
            <a:r>
              <a:rPr sz="2200">
                <a:solidFill>
                  <a:srgbClr val="F87171"/>
                </a:solidFill>
                <a:latin typeface="Consolas"/>
              </a:rPr>
              <a:t>"iam:PassRole"</a:t>
            </a:r>
            <a:r>
              <a:rPr sz="2200">
                <a:solidFill>
                  <a:srgbClr val="CBD5E1"/>
                </a:solidFill>
                <a:latin typeface="Consolas"/>
              </a:rPr>
              <a:t>,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"Resource": </a:t>
            </a:r>
            <a:r>
              <a:rPr sz="2200">
                <a:solidFill>
                  <a:srgbClr val="F87171"/>
                </a:solidFill>
                <a:latin typeface="Consolas"/>
              </a:rPr>
              <a:t>"*"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                    </a:t>
            </a:r>
          </a:p>
          <a:p>
            <a:pPr algn="l"/>
            <a:r>
              <a:rPr sz="2200">
                <a:solidFill>
                  <a:srgbClr val="F87171"/>
                </a:solidFill>
                <a:latin typeface="Consolas"/>
              </a:rPr>
              <a:t>  // No "Condition" block.</a:t>
            </a:r>
          </a:p>
          <a:p>
            <a:pPr algn="l"/>
            <a:r>
              <a:rPr sz="2200">
                <a:solidFill>
                  <a:srgbClr val="F87171"/>
                </a:solidFill>
                <a:latin typeface="Consolas"/>
              </a:rPr>
              <a:t>  // No iam:PassedToService.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13816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ssistant"/>
              </a:rPr>
              <a:t>Both gates are wide open: </a:t>
            </a:r>
            <a:r>
              <a:rPr sz="2200" b="1">
                <a:solidFill>
                  <a:srgbClr val="F87171"/>
                </a:solidFill>
                <a:latin typeface="Assistant"/>
              </a:rPr>
              <a:t>any role</a:t>
            </a:r>
            <a:r>
              <a:rPr sz="2200" b="1">
                <a:solidFill>
                  <a:srgbClr val="FFFFFF"/>
                </a:solidFill>
                <a:latin typeface="Assistant"/>
              </a:rPr>
              <a:t>, to </a:t>
            </a:r>
            <a:r>
              <a:rPr sz="2200" b="1">
                <a:solidFill>
                  <a:srgbClr val="F87171"/>
                </a:solidFill>
                <a:latin typeface="Assistant"/>
              </a:rPr>
              <a:t>any service</a:t>
            </a:r>
            <a:r>
              <a:rPr sz="2200" b="1">
                <a:solidFill>
                  <a:srgbClr val="FFFFFF"/>
                </a:solidFill>
                <a:latin typeface="Assistant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2377440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C6D26"/>
                </a:solidFill>
                <a:latin typeface="Assistant"/>
              </a:rPr>
              <a:t>Trust policy</a:t>
            </a:r>
            <a:r>
              <a:rPr sz="2400" b="1">
                <a:solidFill>
                  <a:srgbClr val="94A3B8"/>
                </a:solidFill>
                <a:latin typeface="Assistant"/>
              </a:rPr>
              <a:t>   on iamws-prod-deploy-role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55680" y="2971800"/>
            <a:ext cx="6583680" cy="50292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333480" y="3149600"/>
            <a:ext cx="6228080" cy="4673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{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"Effect": "Allow",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"Action": "sts:AssumeRole",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"Principal": { </a:t>
            </a:r>
            <a:r>
              <a:rPr sz="1800">
                <a:solidFill>
                  <a:srgbClr val="22D3EE"/>
                </a:solidFill>
                <a:latin typeface="Consolas"/>
              </a:rPr>
              <a:t>"Service"</a:t>
            </a:r>
            <a:r>
              <a:rPr sz="1800">
                <a:solidFill>
                  <a:srgbClr val="CBD5E1"/>
                </a:solidFill>
                <a:latin typeface="Consolas"/>
              </a:rPr>
              <a:t>: [</a:t>
            </a:r>
          </a:p>
          <a:p>
            <a:pPr algn="l"/>
            <a:r>
              <a:rPr sz="1800">
                <a:solidFill>
                  <a:srgbClr val="F87171"/>
                </a:solidFill>
                <a:latin typeface="Consolas"/>
              </a:rPr>
              <a:t>    "ec2.amazonaws.com",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  "lambda.amazonaws.com",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  "ecs-tasks.amazonaws.com",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  "cloudformation.amazonaws.com",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  "glue.amazonaws.com",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  "...",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] }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813816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Assistant"/>
              </a:rPr>
              <a:t>The role accepts EC2. The user can pass to EC2. </a:t>
            </a:r>
            <a:r>
              <a:rPr sz="2200" b="1">
                <a:solidFill>
                  <a:srgbClr val="F87171"/>
                </a:solidFill>
                <a:latin typeface="Assistant"/>
              </a:rPr>
              <a:t>Bridge built.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9509760"/>
            <a:ext cx="17190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ssistant"/>
              </a:rPr>
              <a:t>Lambda was the intended path. EC2 was the loophole — and the role's broad service trust list made it possible.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Assistant"/>
              </a:rPr>
              <a:t>Privilege escalation path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2103120"/>
            <a:ext cx="640080" cy="640080"/>
          </a:xfrm>
          <a:prstGeom prst="ellipse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ssistant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148840"/>
            <a:ext cx="8823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ssistant"/>
              </a:rPr>
              <a:t>Run an EC2 instance, attach iamws-prod-deploy-profile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017520"/>
            <a:ext cx="640080" cy="640080"/>
          </a:xfrm>
          <a:prstGeom prst="ellipse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ssistan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3063240"/>
            <a:ext cx="8823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ssistant"/>
              </a:rPr>
              <a:t>Wait for SSM agent, start a session into the instance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931920"/>
            <a:ext cx="640080" cy="640080"/>
          </a:xfrm>
          <a:prstGeom prst="ellipse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ssistan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977640"/>
            <a:ext cx="8823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ssistant"/>
              </a:rPr>
              <a:t>Call AWS as iamws-prod-deploy-role  →  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212080"/>
            <a:ext cx="9692640" cy="219456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26440" y="5389880"/>
            <a:ext cx="9337040" cy="1838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aws ec2 </a:t>
            </a:r>
            <a:r>
              <a:rPr sz="1800">
                <a:solidFill>
                  <a:srgbClr val="22D3EE"/>
                </a:solidFill>
                <a:latin typeface="Consolas"/>
              </a:rPr>
              <a:t>run-instances</a:t>
            </a:r>
            <a:r>
              <a:rPr sz="1800">
                <a:solidFill>
                  <a:srgbClr val="CBD5E1"/>
                </a:solidFill>
                <a:latin typeface="Consolas"/>
              </a:rPr>
              <a:t> \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--image-id $AMI \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--instance-type t2.micro \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--iam-instance-profile Name=</a:t>
            </a:r>
            <a:r>
              <a:rPr sz="1800">
                <a:solidFill>
                  <a:srgbClr val="F87171"/>
                </a:solidFill>
                <a:latin typeface="Consolas"/>
              </a:rPr>
              <a:t>iamws-prod-deploy-profile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58952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94A3B8"/>
                </a:solidFill>
                <a:latin typeface="Assistant"/>
              </a:rPr>
              <a:t>PassRole approves the attachment. EC2 boots the instance. The role's creds appear at IMDS. SSM session in, </a:t>
            </a:r>
            <a:r>
              <a:rPr sz="1800" b="1">
                <a:solidFill>
                  <a:srgbClr val="CBD5E1"/>
                </a:solidFill>
                <a:latin typeface="Assistant"/>
              </a:rPr>
              <a:t>get-caller-identity</a:t>
            </a:r>
            <a:r>
              <a:rPr sz="1800" b="1">
                <a:solidFill>
                  <a:srgbClr val="94A3B8"/>
                </a:solidFill>
                <a:latin typeface="Assistant"/>
              </a:rPr>
              <a:t> returns the prod role.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07040" y="2103120"/>
            <a:ext cx="7132320" cy="6858000"/>
          </a:xfrm>
          <a:prstGeom prst="rect">
            <a:avLst/>
          </a:prstGeom>
          <a:solidFill>
            <a:srgbClr val="0F172A"/>
          </a:solidFill>
          <a:ln w="25400">
            <a:solidFill>
              <a:srgbClr val="FC6D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607040" y="2103120"/>
            <a:ext cx="713232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ssistant"/>
              </a:rPr>
              <a:t>[ INSERT pathfinding.cloud</a:t>
            </a:r>
          </a:p>
          <a:p>
            <a:pPr algn="ctr"/>
            <a:r>
              <a:rPr sz="2400" b="1">
                <a:solidFill>
                  <a:srgbClr val="94A3B8"/>
                </a:solidFill>
                <a:latin typeface="Assistant"/>
              </a:rPr>
              <a:t>diagram for </a:t>
            </a:r>
            <a:r>
              <a:rPr sz="2400" b="1">
                <a:solidFill>
                  <a:srgbClr val="FC6D26"/>
                </a:solidFill>
                <a:latin typeface="Assistant"/>
              </a:rPr>
              <a:t>ec2-001</a:t>
            </a:r>
            <a:r>
              <a:rPr sz="2400" b="1">
                <a:solidFill>
                  <a:srgbClr val="94A3B8"/>
                </a:solidFill>
                <a:latin typeface="Assistant"/>
              </a:rPr>
              <a:t> ]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Assistant"/>
              </a:rPr>
              <a:t/>
            </a:r>
          </a:p>
          <a:p>
            <a:pPr algn="ctr"/>
            <a:r>
              <a:rPr sz="1600" b="0">
                <a:solidFill>
                  <a:srgbClr val="CBD5E1"/>
                </a:solidFill>
                <a:latin typeface="Consolas"/>
              </a:rPr>
              <a:t>https://www.pathfinding.cloud/paths/ec2-001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Assistant"/>
              </a:rPr>
              <a:t>Other PassRole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7190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ssistant"/>
              </a:rPr>
              <a:t>EC2 is just the most familiar destination. </a:t>
            </a:r>
            <a:r>
              <a:rPr sz="2400" b="1">
                <a:solidFill>
                  <a:srgbClr val="FFFFFF"/>
                </a:solidFill>
                <a:latin typeface="Assistant"/>
              </a:rPr>
              <a:t>Any service that runs code on a role you can pass is a target: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  <a:latin typeface="Assistant"/>
              </a:rPr>
              <a:t>API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25603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  <a:latin typeface="Assistant"/>
              </a:rPr>
              <a:t>WHAT IT GIVES THE ATTACKER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860800"/>
            <a:ext cx="1709928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108960"/>
            <a:ext cx="7680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FC6D26"/>
                </a:solidFill>
                <a:latin typeface="Consolas"/>
              </a:rPr>
              <a:t>ec2:RunInstances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3108960"/>
            <a:ext cx="9144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ssistant"/>
              </a:rPr>
              <a:t>Launch an EC2 instance with the role attached. (This lab.)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638040"/>
            <a:ext cx="1709928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3886200"/>
            <a:ext cx="7680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FC6D26"/>
                </a:solidFill>
                <a:latin typeface="Consolas"/>
              </a:rPr>
              <a:t>lambda:CreateFunction + Invoke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886200"/>
            <a:ext cx="9144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ssistant"/>
              </a:rPr>
              <a:t>Deploy a function that runs your code as the role.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5415280"/>
            <a:ext cx="1709928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4663440"/>
            <a:ext cx="7680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FC6D26"/>
                </a:solidFill>
                <a:latin typeface="Consolas"/>
              </a:rPr>
              <a:t>glue:CreateJob + StartJobRun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663440"/>
            <a:ext cx="9144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ssistant"/>
              </a:rPr>
              <a:t>Start a Glue ETL job that executes as the role.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192520"/>
            <a:ext cx="1709928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5440680"/>
            <a:ext cx="7680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FC6D26"/>
                </a:solidFill>
                <a:latin typeface="Consolas"/>
              </a:rPr>
              <a:t>codebuild:CreateProject + StartBuild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440680"/>
            <a:ext cx="9144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ssistant"/>
              </a:rPr>
              <a:t>Run a CodeBuild project whose buildspec calls AWS as the role.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969760"/>
            <a:ext cx="1709928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217920"/>
            <a:ext cx="7680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FC6D26"/>
                </a:solidFill>
                <a:latin typeface="Consolas"/>
              </a:rPr>
              <a:t>cloudformation:CreateStack with ServiceRole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6217920"/>
            <a:ext cx="9144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ssistant"/>
              </a:rPr>
              <a:t>CFN executes the stack with the role's permissions.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995160"/>
            <a:ext cx="7680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FC6D26"/>
                </a:solidFill>
                <a:latin typeface="Consolas"/>
              </a:rPr>
              <a:t>sagemaker:CreateNotebookInstance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6995160"/>
            <a:ext cx="9144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ssistant"/>
              </a:rPr>
              <a:t>Launch a notebook with the role; jupyter terminal = role shell.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8778240"/>
            <a:ext cx="1719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Assistant"/>
              </a:rPr>
              <a:t>All blocked by the same control: </a:t>
            </a:r>
            <a:r>
              <a:rPr sz="2200" b="1">
                <a:solidFill>
                  <a:srgbClr val="FC6D26"/>
                </a:solidFill>
                <a:latin typeface="Assistant"/>
              </a:rPr>
              <a:t>iam:PassedToService</a:t>
            </a:r>
            <a:r>
              <a:rPr sz="2200" b="1">
                <a:solidFill>
                  <a:srgbClr val="FFFFFF"/>
                </a:solidFill>
                <a:latin typeface="Assistant"/>
              </a:rPr>
              <a:t> condition + a Resource constraint that names which roles can be passed.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