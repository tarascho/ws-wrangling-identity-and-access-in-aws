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18"/>
    <p:sldId id="257" r:id="rId19"/>
    <p:sldId id="258" r:id="rId20"/>
    <p:sldId id="259" r:id="rId21"/>
    <p:sldId id="260" r:id="rId22"/>
  </p:sldIdLst>
  <p:sldSz cy="10287000" cx="18288000"/>
  <p:notesSz cx="6858000" cy="9144000"/>
  <p:embeddedFontLst>
    <p:embeddedFont>
      <p:font typeface="Arimo"/>
      <p:regular r:id="rId30"/>
      <p:bold r:id="rId31"/>
      <p:italic r:id="rId32"/>
      <p:boldItalic r:id="rId33"/>
    </p:embeddedFont>
    <p:embeddedFont>
      <p:font typeface="Montserrat"/>
      <p:regular r:id="rId34"/>
      <p:bold r:id="rId35"/>
      <p:italic r:id="rId36"/>
      <p:boldItalic r:id="rId37"/>
    </p:embeddedFont>
    <p:embeddedFont>
      <p:font typeface="Assistan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iu3iHEyULb6y8uBKm1Lf/FTOzt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643B1D-9803-458B-AC4E-7CA0FF1CF9E7}">
  <a:tblStyle styleId="{79643B1D-9803-458B-AC4E-7CA0FF1CF9E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30" Type="http://schemas.openxmlformats.org/officeDocument/2006/relationships/font" Target="fonts/Arimo-regular.fntdata"/><Relationship Id="rId31" Type="http://schemas.openxmlformats.org/officeDocument/2006/relationships/font" Target="fonts/Arimo-bold.fntdata"/><Relationship Id="rId32" Type="http://schemas.openxmlformats.org/officeDocument/2006/relationships/font" Target="fonts/Arimo-italic.fntdata"/><Relationship Id="rId33" Type="http://schemas.openxmlformats.org/officeDocument/2006/relationships/font" Target="fonts/Arimo-boldItalic.fntdata"/><Relationship Id="rId34" Type="http://schemas.openxmlformats.org/officeDocument/2006/relationships/font" Target="fonts/Montserrat-regular.fntdata"/><Relationship Id="rId35" Type="http://schemas.openxmlformats.org/officeDocument/2006/relationships/font" Target="fonts/Montserrat-bold.fntdata"/><Relationship Id="rId36" Type="http://schemas.openxmlformats.org/officeDocument/2006/relationships/font" Target="fonts/Montserrat-italic.fntdata"/><Relationship Id="rId37" Type="http://schemas.openxmlformats.org/officeDocument/2006/relationships/font" Target="fonts/Montserrat-boldItalic.fntdata"/><Relationship Id="rId38" Type="http://schemas.openxmlformats.org/officeDocument/2006/relationships/font" Target="fonts/Assistant-regular.fntdata"/><Relationship Id="rId39" Type="http://schemas.openxmlformats.org/officeDocument/2006/relationships/font" Target="fonts/Assistant-bold.fntdata"/><Relationship Id="rId4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C6D26"/>
                </a:solidFill>
                <a:latin typeface="Assistant"/>
              </a:rPr>
              <a:t>SCENARIO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719072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0" b="1">
                <a:solidFill>
                  <a:srgbClr val="FFFFFF"/>
                </a:solidFill>
                <a:latin typeface="Assistant"/>
              </a:rPr>
              <a:t>The :root That Isn't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577840"/>
            <a:ext cx="17190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ssistant"/>
              </a:rPr>
              <a:t>Privilege escalation via a permissive trust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778240"/>
            <a:ext cx="1719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4A3B8"/>
                </a:solidFill>
                <a:latin typeface="Consolas"/>
              </a:rPr>
              <a:t>STARTING IDENTITY  </a:t>
            </a:r>
            <a:r>
              <a:rPr sz="1600" b="0">
                <a:solidFill>
                  <a:srgbClr val="CBD5E1"/>
                </a:solidFill>
                <a:latin typeface="Consolas"/>
              </a:rPr>
              <a:t>user/iamws-role-assumer-user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TARGET  </a:t>
            </a:r>
            <a:r>
              <a:rPr sz="1600" b="0">
                <a:solidFill>
                  <a:srgbClr val="CBD5E1"/>
                </a:solidFill>
                <a:latin typeface="Consolas"/>
              </a:rPr>
              <a:t>role/iamws-privileged-admin-role  →  crown jewels</a:t>
            </a:r>
            <a:r>
              <a:rPr sz="1600" b="0">
                <a:solidFill>
                  <a:srgbClr val="94A3B8"/>
                </a:solidFill>
                <a:latin typeface="Consolas"/>
              </a:rPr>
              <a:t>     CATEGORY  </a:t>
            </a:r>
            <a:r>
              <a:rPr sz="1600" b="0">
                <a:solidFill>
                  <a:srgbClr val="CBD5E1"/>
                </a:solidFill>
                <a:latin typeface="Consolas"/>
              </a:rPr>
              <a:t>Principal 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The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7190720" cy="777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An engineer needs an admin-tier role for a same-account automation pipeline.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They reach for the canonical AWS pattern for </a:t>
            </a:r>
            <a:r>
              <a:rPr sz="3000" b="1">
                <a:solidFill>
                  <a:srgbClr val="FC6D26"/>
                </a:solidFill>
                <a:latin typeface="Assistant"/>
              </a:rPr>
              <a:t>cross-account</a:t>
            </a:r>
            <a:r>
              <a:rPr sz="3000" b="1">
                <a:solidFill>
                  <a:srgbClr val="FFFFFF"/>
                </a:solidFill>
                <a:latin typeface="Assistant"/>
              </a:rPr>
              <a:t> role delegation:</a:t>
            </a:r>
          </a:p>
          <a:p>
            <a:pPr algn="l">
              <a:lnSpc>
                <a:spcPct val="125000"/>
              </a:lnSpc>
            </a:pPr>
            <a:r>
              <a:rPr sz="2600" b="1">
                <a:solidFill>
                  <a:srgbClr val="94A3B8"/>
                </a:solidFill>
                <a:latin typeface="Assistant"/>
              </a:rPr>
              <a:t>    “trust the partner account's </a:t>
            </a:r>
            <a:r>
              <a:rPr sz="2600" b="1">
                <a:solidFill>
                  <a:srgbClr val="FC6D26"/>
                </a:solidFill>
                <a:latin typeface="Assistant"/>
              </a:rPr>
              <a:t>:root</a:t>
            </a:r>
            <a:r>
              <a:rPr sz="2600" b="1">
                <a:solidFill>
                  <a:srgbClr val="94A3B8"/>
                </a:solidFill>
                <a:latin typeface="Assistant"/>
              </a:rPr>
              <a:t>, let the partner's IAM admin gate who can actually assume.”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Assistant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They paste it into a same-account role and swap the partner's account ID for their own.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FFFFFF"/>
                </a:solidFill>
                <a:latin typeface="Assistant"/>
              </a:rPr>
              <a:t>The trust policy now </a:t>
            </a:r>
            <a:r>
              <a:rPr sz="3000" b="1">
                <a:solidFill>
                  <a:srgbClr val="FC6D26"/>
                </a:solidFill>
                <a:latin typeface="Assistant"/>
              </a:rPr>
              <a:t>looks</a:t>
            </a:r>
            <a:r>
              <a:rPr sz="3000" b="1">
                <a:solidFill>
                  <a:srgbClr val="FFFFFF"/>
                </a:solidFill>
                <a:latin typeface="Assistant"/>
              </a:rPr>
              <a:t> like the AWS-recommended scoped pattern. The second-layer gate — the partner account's IAM admin — silently disappears.</a:t>
            </a:r>
          </a:p>
          <a:p>
            <a:pPr algn="l">
              <a:lnSpc>
                <a:spcPct val="125000"/>
              </a:lnSpc>
            </a:pPr>
            <a:r>
              <a:rPr sz="3000" b="1">
                <a:solidFill>
                  <a:srgbClr val="94A3B8"/>
                </a:solidFill>
                <a:latin typeface="Assistant"/>
              </a:rPr>
              <a:t>Inside one account, </a:t>
            </a:r>
            <a:r>
              <a:rPr sz="3000" b="1">
                <a:solidFill>
                  <a:srgbClr val="FC6D26"/>
                </a:solidFill>
                <a:latin typeface="Assistant"/>
              </a:rPr>
              <a:t>:root</a:t>
            </a:r>
            <a:r>
              <a:rPr sz="3000" b="1">
                <a:solidFill>
                  <a:srgbClr val="94A3B8"/>
                </a:solidFill>
                <a:latin typeface="Assistant"/>
              </a:rPr>
              <a:t> doesn't restrict to the AWS root user. It trusts every IAM principal in the account that holds </a:t>
            </a:r>
            <a:r>
              <a:rPr sz="3000" b="1">
                <a:solidFill>
                  <a:srgbClr val="FC6D26"/>
                </a:solidFill>
                <a:latin typeface="Assistant"/>
              </a:rPr>
              <a:t>sts:AssumeRole</a:t>
            </a:r>
            <a:r>
              <a:rPr sz="3000" b="1">
                <a:solidFill>
                  <a:srgbClr val="94A3B8"/>
                </a:solidFill>
                <a:latin typeface="Assistan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The misconfiguration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7190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C6D26"/>
                </a:solidFill>
                <a:latin typeface="Consolas"/>
              </a:rPr>
              <a:t>iamws-privileged-admin-role</a:t>
            </a:r>
            <a:r>
              <a:rPr sz="2200" b="0">
                <a:solidFill>
                  <a:srgbClr val="94A3B8"/>
                </a:solidFill>
                <a:latin typeface="Consolas"/>
              </a:rPr>
              <a:t>  —  trust policy</a:t>
            </a:r>
            <a:r>
              <a:rPr sz="2200" b="0">
                <a:solidFill>
                  <a:srgbClr val="94A3B8"/>
                </a:solidFill>
                <a:latin typeface="Consolas"/>
              </a:rPr>
              <a:t>            +            </a:t>
            </a:r>
            <a:r>
              <a:rPr sz="2200" b="0">
                <a:solidFill>
                  <a:srgbClr val="FC6D26"/>
                </a:solidFill>
                <a:latin typeface="Consolas"/>
              </a:rPr>
              <a:t>AdministratorAccess </a:t>
            </a:r>
            <a:r>
              <a:rPr sz="2200" b="0">
                <a:solidFill>
                  <a:srgbClr val="94A3B8"/>
                </a:solidFill>
                <a:latin typeface="Consolas"/>
              </a:rPr>
              <a:t>attached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87171"/>
                </a:solidFill>
                <a:latin typeface="Assistant"/>
              </a:rPr>
              <a:t>Trust policy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on the privileged role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71800"/>
            <a:ext cx="1005840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26440" y="3149600"/>
            <a:ext cx="970280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"Version": "2012-10-17",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"Statement": [{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"Effect": "Allow",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"Principal": { </a:t>
            </a:r>
            <a:r>
              <a:rPr sz="2200">
                <a:solidFill>
                  <a:srgbClr val="22D3EE"/>
                </a:solidFill>
                <a:latin typeface="Consolas"/>
              </a:rPr>
              <a:t>"AWS"</a:t>
            </a:r>
            <a:r>
              <a:rPr sz="2200">
                <a:solidFill>
                  <a:srgbClr val="CBD5E1"/>
                </a:solidFill>
                <a:latin typeface="Consolas"/>
              </a:rPr>
              <a:t>: </a:t>
            </a:r>
            <a:r>
              <a:rPr sz="2200">
                <a:solidFill>
                  <a:srgbClr val="F87171"/>
                </a:solidFill>
                <a:latin typeface="Consolas"/>
              </a:rPr>
              <a:t>"arn:aws:iam::ACCOUNT_ID:root"</a:t>
            </a:r>
            <a:r>
              <a:rPr sz="2200">
                <a:solidFill>
                  <a:srgbClr val="CBD5E1"/>
                </a:solidFill>
                <a:latin typeface="Consolas"/>
              </a:rPr>
              <a:t> },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  "Action": "sts:AssumeRole"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  }]</a:t>
            </a:r>
          </a:p>
          <a:p>
            <a:pPr algn="l"/>
            <a:r>
              <a:rPr sz="22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13816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87171"/>
                </a:solidFill>
                <a:latin typeface="Assistant"/>
              </a:rPr>
              <a:t>:root</a:t>
            </a:r>
            <a:r>
              <a:rPr sz="2200" b="1">
                <a:solidFill>
                  <a:srgbClr val="FFFFFF"/>
                </a:solidFill>
                <a:latin typeface="Assistant"/>
              </a:rPr>
              <a:t> looks like “this account, scoped”. AWS reads it as “everyone in this account with sts:AssumeRole”.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237744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FC6D26"/>
                </a:solidFill>
                <a:latin typeface="Assistant"/>
              </a:rPr>
              <a:t>Identity policy</a:t>
            </a:r>
            <a:r>
              <a:rPr sz="2400" b="1">
                <a:solidFill>
                  <a:srgbClr val="94A3B8"/>
                </a:solidFill>
                <a:latin typeface="Assistant"/>
              </a:rPr>
              <a:t>   on the user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1155680" y="2971800"/>
            <a:ext cx="6583680" cy="502920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333480" y="3149600"/>
            <a:ext cx="6228080" cy="4673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"Statement": [{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"Sid": "AllowAssumeRole",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"Effect": "Allow",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"Action": </a:t>
            </a:r>
            <a:r>
              <a:rPr sz="1800">
                <a:solidFill>
                  <a:srgbClr val="FC6D26"/>
                </a:solidFill>
                <a:latin typeface="Consolas"/>
              </a:rPr>
              <a:t>"sts:AssumeRole"</a:t>
            </a:r>
            <a:r>
              <a:rPr sz="18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"Resource": </a:t>
            </a:r>
            <a:r>
              <a:rPr sz="1800">
                <a:solidFill>
                  <a:srgbClr val="FC6D26"/>
                </a:solidFill>
                <a:latin typeface="Consolas"/>
              </a:rPr>
              <a:t>"*"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}, {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"Sid": "AllowReadOnly",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"Effect": "Allow",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"Action": [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  </a:t>
            </a:r>
            <a:r>
              <a:rPr sz="1800">
                <a:solidFill>
                  <a:srgbClr val="CBD5E1"/>
                </a:solidFill>
                <a:latin typeface="Consolas"/>
              </a:rPr>
              <a:t>"iam:ListRoles"</a:t>
            </a:r>
            <a:r>
              <a:rPr sz="1800">
                <a:solidFill>
                  <a:srgbClr val="CBD5E1"/>
                </a:solidFill>
                <a:latin typeface="Consolas"/>
              </a:rPr>
              <a:t>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  </a:t>
            </a:r>
            <a:r>
              <a:rPr sz="1800">
                <a:solidFill>
                  <a:srgbClr val="CBD5E1"/>
                </a:solidFill>
                <a:latin typeface="Consolas"/>
              </a:rPr>
              <a:t>"iam:GetRole"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],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  "Resource": "*"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}]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8138160"/>
            <a:ext cx="6583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FFFFF"/>
                </a:solidFill>
                <a:latin typeface="Assistant"/>
              </a:rPr>
              <a:t>Common, low-suspicion permissions. Innocuous on most accounts.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950976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ssistant"/>
              </a:rPr>
              <a:t>Either policy alone is fine. The combination — permissive trust </a:t>
            </a:r>
            <a:r>
              <a:rPr sz="2200" b="1">
                <a:solidFill>
                  <a:srgbClr val="FC6D26"/>
                </a:solidFill>
                <a:latin typeface="Assistant"/>
              </a:rPr>
              <a:t>+</a:t>
            </a:r>
            <a:r>
              <a:rPr sz="2200" b="1">
                <a:solidFill>
                  <a:srgbClr val="FFFFFF"/>
                </a:solidFill>
                <a:latin typeface="Assistant"/>
              </a:rPr>
              <a:t> any user with sts:AssumeRole — is account takeover.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b="1">
                <a:solidFill>
                  <a:srgbClr val="FFFFFF"/>
                </a:solidFill>
                <a:latin typeface="Assistant"/>
              </a:rPr>
              <a:t>Privilege escalation path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1031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1488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List roles in the account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30175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0632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Assume iamws-privileged-admin-role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931920"/>
            <a:ext cx="640080" cy="640080"/>
          </a:xfrm>
          <a:prstGeom prst="ellipse">
            <a:avLst/>
          </a:prstGeom>
          <a:solidFill>
            <a:srgbClr val="FC6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>
                <a:solidFill>
                  <a:srgbClr val="FFFFFF"/>
                </a:solidFill>
                <a:latin typeface="Assistan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977640"/>
            <a:ext cx="88239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ssistant"/>
              </a:rPr>
              <a:t>Walk into the crown jewels as 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9692640" cy="2377440"/>
          </a:xfrm>
          <a:prstGeom prst="rect">
            <a:avLst/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26440" y="5389880"/>
            <a:ext cx="9337040" cy="202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aws sts </a:t>
            </a:r>
            <a:r>
              <a:rPr sz="1800">
                <a:solidFill>
                  <a:srgbClr val="22D3EE"/>
                </a:solidFill>
                <a:latin typeface="Consolas"/>
              </a:rPr>
              <a:t>assume-role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--role-arn </a:t>
            </a:r>
            <a:r>
              <a:rPr sz="1800">
                <a:solidFill>
                  <a:srgbClr val="A78BFA"/>
                </a:solidFill>
                <a:latin typeface="Consolas"/>
              </a:rPr>
              <a:t>arn:aws:iam::ACCT:role/iamws-privileged-admin-role</a:t>
            </a:r>
            <a:r>
              <a:rPr sz="1800">
                <a:solidFill>
                  <a:srgbClr val="CBD5E1"/>
                </a:solidFill>
                <a:latin typeface="Consolas"/>
              </a:rPr>
              <a:t> \</a:t>
            </a:r>
          </a:p>
          <a:p>
            <a:pPr algn="l"/>
            <a:r>
              <a:rPr sz="1800">
                <a:solidFill>
                  <a:srgbClr val="CBD5E1"/>
                </a:solidFill>
                <a:latin typeface="Consolas"/>
              </a:rPr>
              <a:t>  --role-session-name </a:t>
            </a:r>
            <a:r>
              <a:rPr sz="1800">
                <a:solidFill>
                  <a:srgbClr val="F87171"/>
                </a:solidFill>
                <a:latin typeface="Consolas"/>
              </a:rPr>
              <a:t>escalated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777240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94A3B8"/>
                </a:solidFill>
                <a:latin typeface="Assistant"/>
              </a:rPr>
              <a:t>Returns short-term admin credentials. From there, every API call runs as </a:t>
            </a:r>
            <a:r>
              <a:rPr sz="2000" b="1">
                <a:solidFill>
                  <a:srgbClr val="FC6D26"/>
                </a:solidFill>
                <a:latin typeface="Assistant"/>
              </a:rPr>
              <a:t>AdministratorAccess</a:t>
            </a:r>
            <a:r>
              <a:rPr sz="2000" b="1">
                <a:solidFill>
                  <a:srgbClr val="94A3B8"/>
                </a:solidFill>
                <a:latin typeface="Assistant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solidFill>
            <a:srgbClr val="0F172A"/>
          </a:solidFill>
          <a:ln w="25400">
            <a:solidFill>
              <a:srgbClr val="FC6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607040" y="2103120"/>
            <a:ext cx="71323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[ INSERT pathfinding.cloud</a:t>
            </a:r>
          </a:p>
          <a:p>
            <a:pPr algn="ctr"/>
            <a:r>
              <a:rPr sz="2400" b="1">
                <a:solidFill>
                  <a:srgbClr val="94A3B8"/>
                </a:solidFill>
                <a:latin typeface="Assistant"/>
              </a:rPr>
              <a:t>diagram for </a:t>
            </a:r>
            <a:r>
              <a:rPr sz="2400" b="1">
                <a:solidFill>
                  <a:srgbClr val="FC6D26"/>
                </a:solidFill>
                <a:latin typeface="Assistant"/>
              </a:rPr>
              <a:t>sts-001</a:t>
            </a:r>
            <a:r>
              <a:rPr sz="2400" b="1">
                <a:solidFill>
                  <a:srgbClr val="94A3B8"/>
                </a:solidFill>
                <a:latin typeface="Assistant"/>
              </a:rPr>
              <a:t> ]</a:t>
            </a:r>
          </a:p>
          <a:p>
            <a:pPr algn="l"/>
            <a:r>
              <a:rPr sz="1000" b="0">
                <a:solidFill>
                  <a:srgbClr val="94A3B8"/>
                </a:solidFill>
                <a:latin typeface="Assistant"/>
              </a:rPr>
              <a:t/>
            </a:r>
          </a:p>
          <a:p>
            <a:pPr algn="ctr"/>
            <a:r>
              <a:rPr sz="1600" b="0">
                <a:solidFill>
                  <a:srgbClr val="CBD5E1"/>
                </a:solidFill>
                <a:latin typeface="Consolas"/>
              </a:rPr>
              <a:t>https://www.pathfinding.cloud/paths/sts-001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7190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Assistant"/>
              </a:rPr>
              <a:t>Other Permissive Trust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7190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87171"/>
                </a:solidFill>
                <a:latin typeface="Assistant"/>
              </a:rPr>
              <a:t>:root</a:t>
            </a:r>
            <a:r>
              <a:rPr sz="2800" b="1">
                <a:solidFill>
                  <a:srgbClr val="FFFFFF"/>
                </a:solidFill>
                <a:latin typeface="Assistant"/>
              </a:rPr>
              <a:t> is one of several trust-policy shapes that look scoped but aren't: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5603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TRUST POLICY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25603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ssistant"/>
              </a:rPr>
              <a:t>WHO IT ACTUALLY TRUSTS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95224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310896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"AWS": "arn:aws:iam::ACCT:root"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310896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Anyone in the account with sts:AssumeRole. The lab scenario.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482092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397764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"AWS": "*"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97764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Anyone in any AWS account, anywhere. Worst-case shape.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568960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84632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"AWS": "arn:aws:iam::OTHER:root"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484632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Cross-account: only safe if the partner account's IAM admin gates assumption.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558280"/>
            <a:ext cx="1709928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571500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"Service": "*"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571500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Any AWS service can assume. Bypasses the iam:PassedToService gate entirely.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83680"/>
            <a:ext cx="76809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FC6D26"/>
                </a:solidFill>
                <a:latin typeface="Consolas"/>
              </a:rPr>
              <a:t>Federated trust with no aud / sub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583680"/>
            <a:ext cx="91440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ssistant"/>
              </a:rPr>
              <a:t>Any token from the IdP can assume. ExternalId / SAML conditions are mandatory, not optional.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