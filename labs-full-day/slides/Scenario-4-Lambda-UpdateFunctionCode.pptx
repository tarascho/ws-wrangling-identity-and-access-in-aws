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18"/>
    <p:sldId id="257" r:id="rId19"/>
    <p:sldId id="258" r:id="rId20"/>
    <p:sldId id="259" r:id="rId21"/>
    <p:sldId id="260" r:id="rId22"/>
    <p:sldId id="261" r:id="rId23"/>
  </p:sldIdLst>
  <p:sldSz cy="10287000" cx="18288000"/>
  <p:notesSz cx="6858000" cy="9144000"/>
  <p:embeddedFontLst>
    <p:embeddedFont>
      <p:font typeface="Arimo"/>
      <p:regular r:id="rId30"/>
      <p:bold r:id="rId31"/>
      <p:italic r:id="rId32"/>
      <p:boldItalic r:id="rId33"/>
    </p:embeddedFont>
    <p:embeddedFont>
      <p:font typeface="Montserrat"/>
      <p:regular r:id="rId34"/>
      <p:bold r:id="rId35"/>
      <p:italic r:id="rId36"/>
      <p:boldItalic r:id="rId37"/>
    </p:embeddedFont>
    <p:embeddedFont>
      <p:font typeface="Assistant"/>
      <p:regular r:id="rId38"/>
      <p:bold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0" roundtripDataSignature="AMtx7miu3iHEyULb6y8uBKm1Lf/FTOzt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9643B1D-9803-458B-AC4E-7CA0FF1CF9E7}">
  <a:tblStyle styleId="{79643B1D-9803-458B-AC4E-7CA0FF1CF9E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30" Type="http://schemas.openxmlformats.org/officeDocument/2006/relationships/font" Target="fonts/Arimo-regular.fntdata"/><Relationship Id="rId31" Type="http://schemas.openxmlformats.org/officeDocument/2006/relationships/font" Target="fonts/Arimo-bold.fntdata"/><Relationship Id="rId32" Type="http://schemas.openxmlformats.org/officeDocument/2006/relationships/font" Target="fonts/Arimo-italic.fntdata"/><Relationship Id="rId33" Type="http://schemas.openxmlformats.org/officeDocument/2006/relationships/font" Target="fonts/Arimo-boldItalic.fntdata"/><Relationship Id="rId34" Type="http://schemas.openxmlformats.org/officeDocument/2006/relationships/font" Target="fonts/Montserrat-regular.fntdata"/><Relationship Id="rId35" Type="http://schemas.openxmlformats.org/officeDocument/2006/relationships/font" Target="fonts/Montserrat-bold.fntdata"/><Relationship Id="rId36" Type="http://schemas.openxmlformats.org/officeDocument/2006/relationships/font" Target="fonts/Montserrat-italic.fntdata"/><Relationship Id="rId37" Type="http://schemas.openxmlformats.org/officeDocument/2006/relationships/font" Target="fonts/Montserrat-boldItalic.fntdata"/><Relationship Id="rId38" Type="http://schemas.openxmlformats.org/officeDocument/2006/relationships/font" Target="fonts/Assistant-regular.fntdata"/><Relationship Id="rId39" Type="http://schemas.openxmlformats.org/officeDocument/2006/relationships/font" Target="fonts/Assistant-bold.fntdata"/><Relationship Id="rId40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719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C6D26"/>
                </a:solidFill>
                <a:latin typeface="Assistant"/>
              </a:rPr>
              <a:t>SCENARIO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91840"/>
            <a:ext cx="171907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0" b="1">
                <a:solidFill>
                  <a:srgbClr val="FFFFFF"/>
                </a:solidFill>
                <a:latin typeface="Assistant"/>
              </a:rPr>
              <a:t>Their Lambda, Your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852160"/>
            <a:ext cx="17190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ssistant"/>
              </a:rPr>
              <a:t>Existing PassRole via </a:t>
            </a:r>
            <a:r>
              <a:rPr sz="4200" b="1">
                <a:solidFill>
                  <a:srgbClr val="FC6D26"/>
                </a:solidFill>
                <a:latin typeface="Assistant"/>
              </a:rPr>
              <a:t>lambda:UpdateFunctionCode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778240"/>
            <a:ext cx="17190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onsolas"/>
              </a:rPr>
              <a:t>STARTING IDENTITY  </a:t>
            </a:r>
            <a:r>
              <a:rPr sz="1600" b="0">
                <a:solidFill>
                  <a:srgbClr val="CBD5E1"/>
                </a:solidFill>
                <a:latin typeface="Consolas"/>
              </a:rPr>
              <a:t>user/iamws-lambda-developer-user</a:t>
            </a:r>
            <a:r>
              <a:rPr sz="1600" b="0">
                <a:solidFill>
                  <a:srgbClr val="94A3B8"/>
                </a:solidFill>
                <a:latin typeface="Consolas"/>
              </a:rPr>
              <a:t>     TARGET  </a:t>
            </a:r>
            <a:r>
              <a:rPr sz="1600" b="0">
                <a:solidFill>
                  <a:srgbClr val="CBD5E1"/>
                </a:solidFill>
                <a:latin typeface="Consolas"/>
              </a:rPr>
              <a:t>role/iamws-privileged-lambda-role  via existing function</a:t>
            </a:r>
            <a:r>
              <a:rPr sz="1600" b="0">
                <a:solidFill>
                  <a:srgbClr val="94A3B8"/>
                </a:solidFill>
                <a:latin typeface="Consolas"/>
              </a:rPr>
              <a:t>     CATEGORY  </a:t>
            </a:r>
            <a:r>
              <a:rPr sz="1600" b="0">
                <a:solidFill>
                  <a:srgbClr val="CBD5E1"/>
                </a:solidFill>
                <a:latin typeface="Consolas"/>
              </a:rPr>
              <a:t>Existing PassRole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7190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0" b="1">
                <a:solidFill>
                  <a:srgbClr val="FFFFFF"/>
                </a:solidFill>
                <a:latin typeface="Assistant"/>
              </a:rPr>
              <a:t>The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17190720" cy="777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Assistant"/>
              </a:rPr>
              <a:t>A developer's identity policy has </a:t>
            </a:r>
            <a:r>
              <a:rPr sz="2800" b="1">
                <a:solidFill>
                  <a:srgbClr val="FC6D26"/>
                </a:solidFill>
                <a:latin typeface="Assistant"/>
              </a:rPr>
              <a:t>lambda:UpdateFunctionCode</a:t>
            </a:r>
            <a:r>
              <a:rPr sz="2800" b="1">
                <a:solidFill>
                  <a:srgbClr val="FFFFFF"/>
                </a:solidFill>
                <a:latin typeface="Assistant"/>
              </a:rPr>
              <a:t> with </a:t>
            </a:r>
            <a:r>
              <a:rPr sz="2800" b="1">
                <a:solidFill>
                  <a:srgbClr val="FC6D26"/>
                </a:solidFill>
                <a:latin typeface="Assistant"/>
              </a:rPr>
              <a:t>Resource: "*"</a:t>
            </a:r>
            <a:r>
              <a:rPr sz="2800" b="1">
                <a:solidFill>
                  <a:srgbClr val="FFFFFF"/>
                </a:solidFill>
                <a:latin typeface="Assistant"/>
              </a:rPr>
              <a:t> — the kind of overly-broad policy ChatGPT was spitting out a couple years ago that nobody ever tightened.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Assistant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Assistant"/>
              </a:rPr>
              <a:t>Every Lambda in the account ships with its own execution role attached. Some of those roles are far more privileged than the developer's own permissions: </a:t>
            </a:r>
            <a:r>
              <a:rPr sz="2800" b="1">
                <a:solidFill>
                  <a:srgbClr val="FC6D26"/>
                </a:solidFill>
                <a:latin typeface="Assistant"/>
              </a:rPr>
              <a:t>admin-tier automation</a:t>
            </a:r>
            <a:r>
              <a:rPr sz="2800" b="1">
                <a:solidFill>
                  <a:srgbClr val="FFFFFF"/>
                </a:solidFill>
                <a:latin typeface="Assistant"/>
              </a:rPr>
              <a:t>, a </a:t>
            </a:r>
            <a:r>
              <a:rPr sz="2800" b="1">
                <a:solidFill>
                  <a:srgbClr val="FC6D26"/>
                </a:solidFill>
                <a:latin typeface="Assistant"/>
              </a:rPr>
              <a:t>secrets rotator</a:t>
            </a:r>
            <a:r>
              <a:rPr sz="2800" b="1">
                <a:solidFill>
                  <a:srgbClr val="FFFFFF"/>
                </a:solidFill>
                <a:latin typeface="Assistant"/>
              </a:rPr>
              <a:t>, a </a:t>
            </a:r>
            <a:r>
              <a:rPr sz="2800" b="1">
                <a:solidFill>
                  <a:srgbClr val="FC6D26"/>
                </a:solidFill>
                <a:latin typeface="Assistant"/>
              </a:rPr>
              <a:t>nightly backup job</a:t>
            </a:r>
            <a:r>
              <a:rPr sz="2800" b="1">
                <a:solidFill>
                  <a:srgbClr val="FFFFFF"/>
                </a:solidFill>
                <a:latin typeface="Assistant"/>
              </a:rPr>
              <a:t>.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Assistant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Assistant"/>
              </a:rPr>
              <a:t>Overwrite any of those functions and the developer's code now runs with that function's role.</a:t>
            </a:r>
          </a:p>
          <a:p>
            <a:pPr algn="l">
              <a:lnSpc>
                <a:spcPct val="125000"/>
              </a:lnSpc>
            </a:pPr>
            <a:r>
              <a:rPr sz="2800" b="1">
                <a:solidFill>
                  <a:srgbClr val="FC6D26"/>
                </a:solidFill>
                <a:latin typeface="Assistant"/>
              </a:rPr>
              <a:t>Wildcard write on Lambda = whatever the most-privileged Lambda in the account can do.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Assistant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2800" b="1">
                <a:solidFill>
                  <a:srgbClr val="94A3B8"/>
                </a:solidFill>
                <a:latin typeface="Assistant"/>
              </a:rPr>
              <a:t>No </a:t>
            </a:r>
            <a:r>
              <a:rPr sz="2800" b="1">
                <a:solidFill>
                  <a:srgbClr val="FC6D26"/>
                </a:solidFill>
                <a:latin typeface="Assistant"/>
              </a:rPr>
              <a:t>iam:PassRole</a:t>
            </a:r>
            <a:r>
              <a:rPr sz="2800" b="1">
                <a:solidFill>
                  <a:srgbClr val="94A3B8"/>
                </a:solidFill>
                <a:latin typeface="Assistant"/>
              </a:rPr>
              <a:t> needed. The role was already passed in at create time by someone else.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7190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ssistant"/>
              </a:rPr>
              <a:t>Lambda Execution Roles + Existing PassRole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719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94A3B8"/>
                </a:solidFill>
                <a:latin typeface="Assistant"/>
              </a:rPr>
              <a:t>The role is already attached. There's nothing to pass.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560320"/>
            <a:ext cx="4572000" cy="2194560"/>
          </a:xfrm>
          <a:prstGeom prst="rect">
            <a:avLst/>
          </a:prstGeom>
          <a:solidFill>
            <a:srgbClr val="0F172A"/>
          </a:solidFill>
          <a:ln w="19050">
            <a:solidFill>
              <a:srgbClr val="FC6D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51840" y="2763520"/>
            <a:ext cx="4165600" cy="1788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C6D26"/>
                </a:solidFill>
                <a:latin typeface="Assistant"/>
              </a:rPr>
              <a:t>FUNCTION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Assistant"/>
              </a:rPr>
              <a:t>Created with </a:t>
            </a:r>
            <a:r>
              <a:rPr sz="2000" b="1">
                <a:solidFill>
                  <a:srgbClr val="22D3EE"/>
                </a:solidFill>
                <a:latin typeface="Assistant"/>
              </a:rPr>
              <a:t>--role &lt;execution-role-arn&gt;</a:t>
            </a:r>
            <a:r>
              <a:rPr sz="2000" b="1">
                <a:solidFill>
                  <a:srgbClr val="FFFFFF"/>
                </a:solidFill>
                <a:latin typeface="Assistant"/>
              </a:rPr>
              <a:t>.  Role attaches at create time and stays for the function's life.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212080" y="3383280"/>
            <a:ext cx="685800" cy="548640"/>
          </a:xfrm>
          <a:prstGeom prst="rightArrow">
            <a:avLst/>
          </a:prstGeom>
          <a:solidFill>
            <a:srgbClr val="FC6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89320" y="2560320"/>
            <a:ext cx="4572000" cy="2194560"/>
          </a:xfrm>
          <a:prstGeom prst="rect">
            <a:avLst/>
          </a:prstGeom>
          <a:solidFill>
            <a:srgbClr val="0F172A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192520" y="2763520"/>
            <a:ext cx="4165600" cy="1788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2D3EE"/>
                </a:solidFill>
                <a:latin typeface="Assistant"/>
              </a:rPr>
              <a:t>RUNTIME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Assistant"/>
              </a:rPr>
              <a:t>On every invocation, Lambda injects the role's short-term creds as env vars: </a:t>
            </a:r>
            <a:r>
              <a:rPr sz="2000" b="1">
                <a:solidFill>
                  <a:srgbClr val="22D3EE"/>
                </a:solidFill>
                <a:latin typeface="Assistant"/>
              </a:rPr>
              <a:t>AWS_ACCESS_KEY_ID</a:t>
            </a:r>
            <a:r>
              <a:rPr sz="2000" b="1">
                <a:solidFill>
                  <a:srgbClr val="FFFFFF"/>
                </a:solidFill>
                <a:latin typeface="Assistant"/>
              </a:rPr>
              <a:t>, </a:t>
            </a:r>
            <a:r>
              <a:rPr sz="2000" b="1">
                <a:solidFill>
                  <a:srgbClr val="22D3EE"/>
                </a:solidFill>
                <a:latin typeface="Assistant"/>
              </a:rPr>
              <a:t>AWS_SESSION_TOKEN</a:t>
            </a:r>
            <a:r>
              <a:rPr sz="2000" b="1">
                <a:solidFill>
                  <a:srgbClr val="FFFFFF"/>
                </a:solidFill>
                <a:latin typeface="Assistant"/>
              </a:rPr>
              <a:t>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0652760" y="3383280"/>
            <a:ext cx="685800" cy="548640"/>
          </a:xfrm>
          <a:prstGeom prst="rightArrow">
            <a:avLst/>
          </a:prstGeom>
          <a:solidFill>
            <a:srgbClr val="FC6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1430000" y="2560320"/>
            <a:ext cx="4572000" cy="2194560"/>
          </a:xfrm>
          <a:prstGeom prst="rect">
            <a:avLst/>
          </a:prstGeom>
          <a:solidFill>
            <a:srgbClr val="0F172A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633200" y="2763520"/>
            <a:ext cx="4165600" cy="1788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A78BFA"/>
                </a:solidFill>
                <a:latin typeface="Assistant"/>
              </a:rPr>
              <a:t>HANDLER CODE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Assistant"/>
              </a:rPr>
              <a:t>boto3 / SDK clients pick up the env creds automatically. Every API call leaves AWS as the execution role.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212080"/>
            <a:ext cx="17190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ssistant"/>
              </a:rPr>
              <a:t>Two flavors of role-takeover via compute: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943600"/>
            <a:ext cx="8229600" cy="3657600"/>
          </a:xfrm>
          <a:prstGeom prst="rect">
            <a:avLst/>
          </a:prstGeom>
          <a:solidFill>
            <a:srgbClr val="0F172A"/>
          </a:solidFill>
          <a:ln w="19050">
            <a:solidFill>
              <a:srgbClr val="FC6D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51840" y="6146800"/>
            <a:ext cx="7823200" cy="325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C6D26"/>
                </a:solidFill>
                <a:latin typeface="Assistant"/>
              </a:rPr>
              <a:t>NEW PASSROLE   ·   Scenario 3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Assistant"/>
              </a:rPr>
              <a:t>Attacker creates </a:t>
            </a:r>
            <a:r>
              <a:rPr sz="2200" b="1">
                <a:solidFill>
                  <a:srgbClr val="FC6D26"/>
                </a:solidFill>
                <a:latin typeface="Assistant"/>
              </a:rPr>
              <a:t>new</a:t>
            </a:r>
            <a:r>
              <a:rPr sz="2200" b="1">
                <a:solidFill>
                  <a:srgbClr val="FFFFFF"/>
                </a:solidFill>
                <a:latin typeface="Assistant"/>
              </a:rPr>
              <a:t> compute (EC2 / Lambda / Glue / etc.) and attaches the privileged role at create time. Requires </a:t>
            </a:r>
            <a:r>
              <a:rPr sz="2200" b="1">
                <a:solidFill>
                  <a:srgbClr val="FC6D26"/>
                </a:solidFill>
                <a:latin typeface="Assistant"/>
              </a:rPr>
              <a:t>iam:PassRole</a:t>
            </a:r>
            <a:r>
              <a:rPr sz="2200" b="1">
                <a:solidFill>
                  <a:srgbClr val="FFFFFF"/>
                </a:solidFill>
                <a:latin typeface="Assistant"/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5943600"/>
            <a:ext cx="8229600" cy="3657600"/>
          </a:xfrm>
          <a:prstGeom prst="rect">
            <a:avLst/>
          </a:prstGeom>
          <a:solidFill>
            <a:srgbClr val="0F172A"/>
          </a:solidFill>
          <a:ln w="1905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47200" y="6146800"/>
            <a:ext cx="7823200" cy="325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87171"/>
                </a:solidFill>
                <a:latin typeface="Assistant"/>
              </a:rPr>
              <a:t>EXISTING PASSROLE   ·   This scenario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Assistant"/>
              </a:rPr>
              <a:t>Attacker hijacks </a:t>
            </a:r>
            <a:r>
              <a:rPr sz="2200" b="1">
                <a:solidFill>
                  <a:srgbClr val="F87171"/>
                </a:solidFill>
                <a:latin typeface="Assistant"/>
              </a:rPr>
              <a:t>existing</a:t>
            </a:r>
            <a:r>
              <a:rPr sz="2200" b="1">
                <a:solidFill>
                  <a:srgbClr val="FFFFFF"/>
                </a:solidFill>
                <a:latin typeface="Assistant"/>
              </a:rPr>
              <a:t> compute that already has the privileged role attached. </a:t>
            </a:r>
            <a:r>
              <a:rPr sz="2200" b="1">
                <a:solidFill>
                  <a:srgbClr val="F87171"/>
                </a:solidFill>
                <a:latin typeface="Assistant"/>
              </a:rPr>
              <a:t>No iam:PassRole needed</a:t>
            </a:r>
            <a:r>
              <a:rPr sz="2200" b="1">
                <a:solidFill>
                  <a:srgbClr val="FFFFFF"/>
                </a:solidFill>
                <a:latin typeface="Assistant"/>
              </a:rPr>
              <a:t> — the role was passed in at create time by someone else.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7190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Assistant"/>
              </a:rPr>
              <a:t>The misconfiguration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719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FC6D26"/>
                </a:solidFill>
                <a:latin typeface="Consolas"/>
              </a:rPr>
              <a:t>iamws-lambda-developer-policy</a:t>
            </a:r>
            <a:r>
              <a:rPr sz="2200" b="0">
                <a:solidFill>
                  <a:srgbClr val="94A3B8"/>
                </a:solidFill>
                <a:latin typeface="Consolas"/>
              </a:rPr>
              <a:t>  —  attached to </a:t>
            </a:r>
            <a:r>
              <a:rPr sz="2200" b="0">
                <a:solidFill>
                  <a:srgbClr val="FC6D26"/>
                </a:solidFill>
                <a:latin typeface="Consolas"/>
              </a:rPr>
              <a:t>iamws-lambda-developer-user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87171"/>
                </a:solidFill>
                <a:latin typeface="Assistant"/>
              </a:rPr>
              <a:t>UpdateFunctionCode statement</a:t>
            </a:r>
            <a:r>
              <a:rPr sz="2400" b="1">
                <a:solidFill>
                  <a:srgbClr val="94A3B8"/>
                </a:solidFill>
                <a:latin typeface="Assistant"/>
              </a:rPr>
              <a:t>   on the user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971800"/>
            <a:ext cx="10058400" cy="502920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26440" y="3149600"/>
            <a:ext cx="9702800" cy="4673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00">
                <a:solidFill>
                  <a:srgbClr val="CBD5E1"/>
                </a:solidFill>
                <a:latin typeface="Consolas"/>
              </a:rPr>
              <a:t>{</a:t>
            </a:r>
          </a:p>
          <a:p>
            <a:pPr algn="l"/>
            <a:r>
              <a:rPr sz="2200">
                <a:solidFill>
                  <a:srgbClr val="CBD5E1"/>
                </a:solidFill>
                <a:latin typeface="Consolas"/>
              </a:rPr>
              <a:t>  "Sid": "AllowLambdaCodeManagement",</a:t>
            </a:r>
          </a:p>
          <a:p>
            <a:pPr algn="l"/>
            <a:r>
              <a:rPr sz="2200">
                <a:solidFill>
                  <a:srgbClr val="CBD5E1"/>
                </a:solidFill>
                <a:latin typeface="Consolas"/>
              </a:rPr>
              <a:t>  "Effect": "Allow",</a:t>
            </a:r>
          </a:p>
          <a:p>
            <a:pPr algn="l"/>
            <a:r>
              <a:rPr sz="2200">
                <a:solidFill>
                  <a:srgbClr val="CBD5E1"/>
                </a:solidFill>
                <a:latin typeface="Consolas"/>
              </a:rPr>
              <a:t>  "Action": [</a:t>
            </a:r>
          </a:p>
          <a:p>
            <a:pPr algn="l"/>
            <a:r>
              <a:rPr sz="2200">
                <a:solidFill>
                  <a:srgbClr val="CBD5E1"/>
                </a:solidFill>
                <a:latin typeface="Consolas"/>
              </a:rPr>
              <a:t>    </a:t>
            </a:r>
            <a:r>
              <a:rPr sz="2200">
                <a:solidFill>
                  <a:srgbClr val="F87171"/>
                </a:solidFill>
                <a:latin typeface="Consolas"/>
              </a:rPr>
              <a:t>"lambda:UpdateFunctionCode"</a:t>
            </a:r>
            <a:r>
              <a:rPr sz="2200">
                <a:solidFill>
                  <a:srgbClr val="CBD5E1"/>
                </a:solidFill>
                <a:latin typeface="Consolas"/>
              </a:rPr>
              <a:t>,</a:t>
            </a:r>
          </a:p>
          <a:p>
            <a:pPr algn="l"/>
            <a:r>
              <a:rPr sz="2200">
                <a:solidFill>
                  <a:srgbClr val="CBD5E1"/>
                </a:solidFill>
                <a:latin typeface="Consolas"/>
              </a:rPr>
              <a:t>    "lambda:GetFunction",</a:t>
            </a:r>
          </a:p>
          <a:p>
            <a:pPr algn="l"/>
            <a:r>
              <a:rPr sz="2200">
                <a:solidFill>
                  <a:srgbClr val="CBD5E1"/>
                </a:solidFill>
                <a:latin typeface="Consolas"/>
              </a:rPr>
              <a:t>    "lambda:InvokeFunction",</a:t>
            </a:r>
          </a:p>
          <a:p>
            <a:pPr algn="l"/>
            <a:r>
              <a:rPr sz="2200">
                <a:solidFill>
                  <a:srgbClr val="CBD5E1"/>
                </a:solidFill>
                <a:latin typeface="Consolas"/>
              </a:rPr>
              <a:t>    "lambda:ListFunctions"</a:t>
            </a:r>
          </a:p>
          <a:p>
            <a:pPr algn="l"/>
            <a:r>
              <a:rPr sz="2200">
                <a:solidFill>
                  <a:srgbClr val="CBD5E1"/>
                </a:solidFill>
                <a:latin typeface="Consolas"/>
              </a:rPr>
              <a:t>  ],</a:t>
            </a:r>
          </a:p>
          <a:p>
            <a:pPr algn="l"/>
            <a:r>
              <a:rPr sz="2200">
                <a:solidFill>
                  <a:srgbClr val="CBD5E1"/>
                </a:solidFill>
                <a:latin typeface="Consolas"/>
              </a:rPr>
              <a:t>  "Resource": </a:t>
            </a:r>
            <a:r>
              <a:rPr sz="2200">
                <a:solidFill>
                  <a:srgbClr val="F87171"/>
                </a:solidFill>
                <a:latin typeface="Consolas"/>
              </a:rPr>
              <a:t>"*"</a:t>
            </a:r>
          </a:p>
          <a:p>
            <a:pPr algn="l"/>
            <a:r>
              <a:rPr sz="2200">
                <a:solidFill>
                  <a:srgbClr val="CBD5E1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13816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ssistant"/>
              </a:rPr>
              <a:t>UpdateFunctionCode + InvokeFunction on </a:t>
            </a:r>
            <a:r>
              <a:rPr sz="2200" b="1">
                <a:solidFill>
                  <a:srgbClr val="F87171"/>
                </a:solidFill>
                <a:latin typeface="Assistant"/>
              </a:rPr>
              <a:t>any function</a:t>
            </a:r>
            <a:r>
              <a:rPr sz="2200" b="1">
                <a:solidFill>
                  <a:srgbClr val="FFFFFF"/>
                </a:solidFill>
                <a:latin typeface="Assistant"/>
              </a:rPr>
              <a:t> in the account.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2377440"/>
            <a:ext cx="6583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C6D26"/>
                </a:solidFill>
                <a:latin typeface="Assistant"/>
              </a:rPr>
              <a:t>One privileged target   </a:t>
            </a:r>
            <a:r>
              <a:rPr sz="2200" b="1">
                <a:solidFill>
                  <a:srgbClr val="94A3B8"/>
                </a:solidFill>
                <a:latin typeface="Assistant"/>
              </a:rPr>
              <a:t>(of many in a real account)</a:t>
            </a:r>
          </a:p>
        </p:txBody>
      </p:sp>
      <p:sp>
        <p:nvSpPr>
          <p:cNvPr id="9" name="Rectangle 8"/>
          <p:cNvSpPr/>
          <p:nvPr/>
        </p:nvSpPr>
        <p:spPr>
          <a:xfrm>
            <a:off x="11155680" y="2971800"/>
            <a:ext cx="6583680" cy="246888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1333480" y="3149600"/>
            <a:ext cx="6228080" cy="2113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>
                <a:solidFill>
                  <a:srgbClr val="94A3B8"/>
                </a:solidFill>
                <a:latin typeface="Consolas"/>
              </a:rPr>
              <a:t>aws lambda get-function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--function-name </a:t>
            </a:r>
            <a:r>
              <a:rPr sz="1800">
                <a:solidFill>
                  <a:srgbClr val="FC6D26"/>
                </a:solidFill>
                <a:latin typeface="Consolas"/>
              </a:rPr>
              <a:t>iamws-privileged-lambda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/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FunctionName: </a:t>
            </a:r>
            <a:r>
              <a:rPr sz="1800">
                <a:solidFill>
                  <a:srgbClr val="FC6D26"/>
                </a:solidFill>
                <a:latin typeface="Consolas"/>
              </a:rPr>
              <a:t>iamws-privileged-lambda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Runtime:      </a:t>
            </a:r>
            <a:r>
              <a:rPr sz="1800">
                <a:solidFill>
                  <a:srgbClr val="CBD5E1"/>
                </a:solidFill>
                <a:latin typeface="Consolas"/>
              </a:rPr>
              <a:t>python3.11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Role:         </a:t>
            </a:r>
            <a:r>
              <a:rPr sz="1800">
                <a:solidFill>
                  <a:srgbClr val="A78BFA"/>
                </a:solidFill>
                <a:latin typeface="Consolas"/>
              </a:rPr>
              <a:t>...iamws-privileged-lambda-role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55680" y="5577840"/>
            <a:ext cx="6583680" cy="242316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1333480" y="5755640"/>
            <a:ext cx="6228080" cy="2067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>
                <a:solidFill>
                  <a:srgbClr val="94A3B8"/>
                </a:solidFill>
                <a:latin typeface="Consolas"/>
              </a:rPr>
              <a:t># Role's attached policies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arn:aws:iam::aws:policy/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</a:t>
            </a:r>
            <a:r>
              <a:rPr sz="1800">
                <a:solidFill>
                  <a:srgbClr val="F87171"/>
                </a:solidFill>
                <a:latin typeface="Consolas"/>
              </a:rPr>
              <a:t>AdministratorAccess</a:t>
            </a:r>
            <a:r>
              <a:rPr sz="1800">
                <a:solidFill>
                  <a:srgbClr val="94A3B8"/>
                </a:solidFill>
                <a:latin typeface="Consolas"/>
              </a:rPr>
              <a:t>   (*:*)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arn:aws:iam::aws:policy/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service-role/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AWSLambdaBasicExecutionRole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8138160"/>
            <a:ext cx="6583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Assistant"/>
              </a:rPr>
              <a:t>Function created by the platform team. </a:t>
            </a:r>
            <a:r>
              <a:rPr sz="2200" b="1">
                <a:solidFill>
                  <a:srgbClr val="F87171"/>
                </a:solidFill>
                <a:latin typeface="Assistant"/>
              </a:rPr>
              <a:t>Already wears an admin role.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9509760"/>
            <a:ext cx="17190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ssistant"/>
              </a:rPr>
              <a:t>UpdateFunctionCode on </a:t>
            </a:r>
            <a:r>
              <a:rPr sz="2200" b="1">
                <a:solidFill>
                  <a:srgbClr val="F87171"/>
                </a:solidFill>
                <a:latin typeface="Assistant"/>
              </a:rPr>
              <a:t>any</a:t>
            </a:r>
            <a:r>
              <a:rPr sz="2200" b="1">
                <a:solidFill>
                  <a:srgbClr val="FFFFFF"/>
                </a:solidFill>
                <a:latin typeface="Assistant"/>
              </a:rPr>
              <a:t> function = inherit </a:t>
            </a:r>
            <a:r>
              <a:rPr sz="2200" b="1">
                <a:solidFill>
                  <a:srgbClr val="F87171"/>
                </a:solidFill>
                <a:latin typeface="Assistant"/>
              </a:rPr>
              <a:t>any</a:t>
            </a:r>
            <a:r>
              <a:rPr sz="2200" b="1">
                <a:solidFill>
                  <a:srgbClr val="FFFFFF"/>
                </a:solidFill>
                <a:latin typeface="Assistant"/>
              </a:rPr>
              <a:t> execution role in the account. The fix is a Resource scope on the developer's policy (</a:t>
            </a:r>
            <a:r>
              <a:rPr sz="2200" b="1">
                <a:solidFill>
                  <a:srgbClr val="86EFAC"/>
                </a:solidFill>
                <a:latin typeface="Assistant"/>
              </a:rPr>
              <a:t>function:dev-*</a:t>
            </a:r>
            <a:r>
              <a:rPr sz="2200" b="1">
                <a:solidFill>
                  <a:srgbClr val="FFFFFF"/>
                </a:solidFill>
                <a:latin typeface="Assistant"/>
              </a:rPr>
              <a:t>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7190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0" b="1">
                <a:solidFill>
                  <a:srgbClr val="FFFFFF"/>
                </a:solidFill>
                <a:latin typeface="Assistant"/>
              </a:rPr>
              <a:t>Privilege escalation path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2103120"/>
            <a:ext cx="640080" cy="640080"/>
          </a:xfrm>
          <a:prstGeom prst="ellipse">
            <a:avLst/>
          </a:prstGeom>
          <a:solidFill>
            <a:srgbClr val="FC6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Assistant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148840"/>
            <a:ext cx="8823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ssistant"/>
              </a:rPr>
              <a:t>ListFunctions  →  pick the one with the privileged role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3017520"/>
            <a:ext cx="640080" cy="640080"/>
          </a:xfrm>
          <a:prstGeom prst="ellipse">
            <a:avLst/>
          </a:prstGeom>
          <a:solidFill>
            <a:srgbClr val="FC6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Assistant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3063240"/>
            <a:ext cx="8823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ssistant"/>
              </a:rPr>
              <a:t>Replace its code with a handler that calls AWS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931920"/>
            <a:ext cx="640080" cy="640080"/>
          </a:xfrm>
          <a:prstGeom prst="ellipse">
            <a:avLst/>
          </a:prstGeom>
          <a:solidFill>
            <a:srgbClr val="FC6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Assistan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3977640"/>
            <a:ext cx="8823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ssistant"/>
              </a:rPr>
              <a:t>Invoke  →  handler runs as iamws-privileged-lambda-role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212080"/>
            <a:ext cx="9692640" cy="219456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26440" y="5389880"/>
            <a:ext cx="9337040" cy="1838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aws lambda </a:t>
            </a:r>
            <a:r>
              <a:rPr sz="1800">
                <a:solidFill>
                  <a:srgbClr val="22D3EE"/>
                </a:solidFill>
                <a:latin typeface="Consolas"/>
              </a:rPr>
              <a:t>update-function-code</a:t>
            </a:r>
            <a:r>
              <a:rPr sz="1800">
                <a:solidFill>
                  <a:srgbClr val="CBD5E1"/>
                </a:solidFill>
                <a:latin typeface="Consolas"/>
              </a:rPr>
              <a:t> \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--function-name </a:t>
            </a:r>
            <a:r>
              <a:rPr sz="1800">
                <a:solidFill>
                  <a:srgbClr val="F87171"/>
                </a:solidFill>
                <a:latin typeface="Consolas"/>
              </a:rPr>
              <a:t>iamws-privileged-lambda</a:t>
            </a:r>
            <a:r>
              <a:rPr sz="1800">
                <a:solidFill>
                  <a:srgbClr val="CBD5E1"/>
                </a:solidFill>
                <a:latin typeface="Consolas"/>
              </a:rPr>
              <a:t> \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--zip-file fileb://exploit.zip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758952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94A3B8"/>
                </a:solidFill>
                <a:latin typeface="Assistant"/>
              </a:rPr>
              <a:t>Next </a:t>
            </a:r>
            <a:r>
              <a:rPr sz="1800" b="1">
                <a:solidFill>
                  <a:srgbClr val="CBD5E1"/>
                </a:solidFill>
                <a:latin typeface="Assistant"/>
              </a:rPr>
              <a:t>Invoke</a:t>
            </a:r>
            <a:r>
              <a:rPr sz="1800" b="1">
                <a:solidFill>
                  <a:srgbClr val="94A3B8"/>
                </a:solidFill>
                <a:latin typeface="Assistant"/>
              </a:rPr>
              <a:t> runs the new handler. </a:t>
            </a:r>
            <a:r>
              <a:rPr sz="1800" b="1">
                <a:solidFill>
                  <a:srgbClr val="CBD5E1"/>
                </a:solidFill>
                <a:latin typeface="Assistant"/>
              </a:rPr>
              <a:t>get-caller-identity</a:t>
            </a:r>
            <a:r>
              <a:rPr sz="1800" b="1">
                <a:solidFill>
                  <a:srgbClr val="94A3B8"/>
                </a:solidFill>
                <a:latin typeface="Assistant"/>
              </a:rPr>
              <a:t> inside the handler returns the privileged role.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607040" y="2103120"/>
            <a:ext cx="7132320" cy="6858000"/>
          </a:xfrm>
          <a:prstGeom prst="rect">
            <a:avLst/>
          </a:prstGeom>
          <a:solidFill>
            <a:srgbClr val="0F172A"/>
          </a:solidFill>
          <a:ln w="25400">
            <a:solidFill>
              <a:srgbClr val="FC6D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607040" y="2103120"/>
            <a:ext cx="7132320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94A3B8"/>
                </a:solidFill>
                <a:latin typeface="Assistant"/>
              </a:rPr>
              <a:t>[ INSERT pathfinding.cloud</a:t>
            </a:r>
          </a:p>
          <a:p>
            <a:pPr algn="ctr"/>
            <a:r>
              <a:rPr sz="2400" b="1">
                <a:solidFill>
                  <a:srgbClr val="94A3B8"/>
                </a:solidFill>
                <a:latin typeface="Assistant"/>
              </a:rPr>
              <a:t>diagrams for </a:t>
            </a:r>
            <a:r>
              <a:rPr sz="2400" b="1">
                <a:solidFill>
                  <a:srgbClr val="FC6D26"/>
                </a:solidFill>
                <a:latin typeface="Assistant"/>
              </a:rPr>
              <a:t>lambda-003</a:t>
            </a:r>
            <a:r>
              <a:rPr sz="2400" b="1">
                <a:solidFill>
                  <a:srgbClr val="94A3B8"/>
                </a:solidFill>
                <a:latin typeface="Assistant"/>
              </a:rPr>
              <a:t> / </a:t>
            </a:r>
            <a:r>
              <a:rPr sz="2400" b="1">
                <a:solidFill>
                  <a:srgbClr val="FC6D26"/>
                </a:solidFill>
                <a:latin typeface="Assistant"/>
              </a:rPr>
              <a:t>lambda-004</a:t>
            </a:r>
            <a:r>
              <a:rPr sz="2400" b="1">
                <a:solidFill>
                  <a:srgbClr val="94A3B8"/>
                </a:solidFill>
                <a:latin typeface="Assistant"/>
              </a:rPr>
              <a:t> ]</a:t>
            </a:r>
          </a:p>
          <a:p>
            <a:pPr algn="l"/>
            <a:r>
              <a:rPr sz="1000" b="0">
                <a:solidFill>
                  <a:srgbClr val="94A3B8"/>
                </a:solidFill>
                <a:latin typeface="Assistant"/>
              </a:rPr>
              <a:t/>
            </a:r>
          </a:p>
          <a:p>
            <a:pPr algn="ctr"/>
            <a:r>
              <a:rPr sz="1400" b="0">
                <a:solidFill>
                  <a:srgbClr val="CBD5E1"/>
                </a:solidFill>
                <a:latin typeface="Consolas"/>
              </a:rPr>
              <a:t>https://www.pathfinding.cloud/paths/lambda-003</a:t>
            </a:r>
          </a:p>
          <a:p>
            <a:pPr algn="ctr"/>
            <a:r>
              <a:rPr sz="1400" b="0">
                <a:solidFill>
                  <a:srgbClr val="CBD5E1"/>
                </a:solidFill>
                <a:latin typeface="Consolas"/>
              </a:rPr>
              <a:t>https://www.pathfinding.cloud/paths/lambda-004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7190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Assistant"/>
              </a:rPr>
              <a:t>Other Lambda Hijack Vectors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7190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ssistant"/>
              </a:rPr>
              <a:t>UpdateFunctionCode is the most direct, but anything that influences </a:t>
            </a:r>
            <a:r>
              <a:rPr sz="2400" b="1">
                <a:solidFill>
                  <a:srgbClr val="FC6D26"/>
                </a:solidFill>
                <a:latin typeface="Assistant"/>
              </a:rPr>
              <a:t>what runs</a:t>
            </a:r>
            <a:r>
              <a:rPr sz="2400" b="1">
                <a:solidFill>
                  <a:srgbClr val="FFFFFF"/>
                </a:solidFill>
                <a:latin typeface="Assistant"/>
              </a:rPr>
              <a:t> in the function gets you the role: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60320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4A3B8"/>
                </a:solidFill>
                <a:latin typeface="Assistant"/>
              </a:rPr>
              <a:t>API 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25603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4A3B8"/>
                </a:solidFill>
                <a:latin typeface="Assistant"/>
              </a:rPr>
              <a:t>WHAT IT GIVES THE ATTACKER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3952240"/>
            <a:ext cx="1709928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310896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FC6D26"/>
                </a:solidFill>
                <a:latin typeface="Consolas"/>
              </a:rPr>
              <a:t>lambda:UpdateFunctionCode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3108960"/>
            <a:ext cx="91440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ssistant"/>
              </a:rPr>
              <a:t>Replace the deployment package wholesale.  (This lab.)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4820920"/>
            <a:ext cx="1709928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397764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FC6D26"/>
                </a:solidFill>
                <a:latin typeface="Consolas"/>
              </a:rPr>
              <a:t>lambda:UpdateFunctionConfiguration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977640"/>
            <a:ext cx="91440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ssistant"/>
              </a:rPr>
              <a:t>Swap the layer ARN, runtime, or handler — code injection without touching the package.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5689600"/>
            <a:ext cx="1709928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484632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FC6D26"/>
                </a:solidFill>
                <a:latin typeface="Consolas"/>
              </a:rPr>
              <a:t>lambda:CreateFunction  +  iam:PassRole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4846320"/>
            <a:ext cx="91440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ssistant"/>
              </a:rPr>
              <a:t>Stand up a new function with the privileged role.  ('New PassRole' — Scenario 3 territory.)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6558280"/>
            <a:ext cx="1709928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571500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FC6D26"/>
                </a:solidFill>
                <a:latin typeface="Consolas"/>
              </a:rPr>
              <a:t>lambda:AddPermission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5715000"/>
            <a:ext cx="91440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ssistant"/>
              </a:rPr>
              <a:t>Grant yourself lambda:InvokeFunction on a function you couldn't otherwise call.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8368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FC6D26"/>
                </a:solidFill>
                <a:latin typeface="Consolas"/>
              </a:rPr>
              <a:t>lambda:GetFunctionConfiguration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583680"/>
            <a:ext cx="91440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ssistant"/>
              </a:rPr>
              <a:t>Read env vars in plaintext — covered in Scenario 5.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8778240"/>
            <a:ext cx="17190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Assistant"/>
              </a:rPr>
              <a:t>All blocked by the same control: a </a:t>
            </a:r>
            <a:r>
              <a:rPr sz="2200" b="1">
                <a:solidFill>
                  <a:srgbClr val="FC6D26"/>
                </a:solidFill>
                <a:latin typeface="Assistant"/>
              </a:rPr>
              <a:t>Resource</a:t>
            </a:r>
            <a:r>
              <a:rPr sz="2200" b="1">
                <a:solidFill>
                  <a:srgbClr val="FFFFFF"/>
                </a:solidFill>
                <a:latin typeface="Assistant"/>
              </a:rPr>
              <a:t> constraint that scopes Lambda mutations to functions the developer is supposed to own.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