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10287000" cx="18288000"/>
  <p:notesSz cx="6858000" cy="9144000"/>
  <p:embeddedFontLst>
    <p:embeddedFont>
      <p:font typeface="Arimo"/>
      <p:regular r:id="rId27"/>
      <p:bold r:id="rId28"/>
      <p:italic r:id="rId29"/>
      <p:boldItalic r:id="rId30"/>
    </p:embeddedFont>
    <p:embeddedFont>
      <p:font typeface="Montserrat"/>
      <p:bold r:id="rId31"/>
      <p:boldItalic r:id="rId32"/>
    </p:embeddedFont>
    <p:embeddedFont>
      <p:font typeface="Assistant"/>
      <p:bold r:id="rId33"/>
    </p:embeddedFont>
    <p:embeddedFont>
      <p:font typeface="Quattrocento Sans"/>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8" roundtripDataSignature="AMtx7mijsCetrYy51v0Wmnst+L0IV8Yt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EBCCE26-067B-4FF9-9926-E5A3308F73E1}">
  <a:tblStyle styleId="{8EBCCE26-067B-4FF9-9926-E5A3308F73E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Arimo-bold.fntdata"/><Relationship Id="rId27" Type="http://schemas.openxmlformats.org/officeDocument/2006/relationships/font" Target="fonts/Arimo-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Arimo-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bold.fntdata"/><Relationship Id="rId30" Type="http://schemas.openxmlformats.org/officeDocument/2006/relationships/font" Target="fonts/Arimo-boldItalic.fntdata"/><Relationship Id="rId11" Type="http://schemas.openxmlformats.org/officeDocument/2006/relationships/slide" Target="slides/slide5.xml"/><Relationship Id="rId33" Type="http://schemas.openxmlformats.org/officeDocument/2006/relationships/font" Target="fonts/Assistant-bold.fntdata"/><Relationship Id="rId10" Type="http://schemas.openxmlformats.org/officeDocument/2006/relationships/slide" Target="slides/slide4.xml"/><Relationship Id="rId32" Type="http://schemas.openxmlformats.org/officeDocument/2006/relationships/font" Target="fonts/Montserrat-boldItalic.fntdata"/><Relationship Id="rId13" Type="http://schemas.openxmlformats.org/officeDocument/2006/relationships/slide" Target="slides/slide7.xml"/><Relationship Id="rId35" Type="http://schemas.openxmlformats.org/officeDocument/2006/relationships/font" Target="fonts/QuattrocentoSans-bold.fntdata"/><Relationship Id="rId12" Type="http://schemas.openxmlformats.org/officeDocument/2006/relationships/slide" Target="slides/slide6.xml"/><Relationship Id="rId34" Type="http://schemas.openxmlformats.org/officeDocument/2006/relationships/font" Target="fonts/QuattrocentoSans-regular.fntdata"/><Relationship Id="rId15" Type="http://schemas.openxmlformats.org/officeDocument/2006/relationships/slide" Target="slides/slide9.xml"/><Relationship Id="rId37" Type="http://schemas.openxmlformats.org/officeDocument/2006/relationships/font" Target="fonts/QuattrocentoSans-boldItalic.fntdata"/><Relationship Id="rId14" Type="http://schemas.openxmlformats.org/officeDocument/2006/relationships/slide" Target="slides/slide8.xml"/><Relationship Id="rId36" Type="http://schemas.openxmlformats.org/officeDocument/2006/relationships/font" Target="fonts/QuattrocentoSans-italic.fntdata"/><Relationship Id="rId17" Type="http://schemas.openxmlformats.org/officeDocument/2006/relationships/slide" Target="slides/slide11.xml"/><Relationship Id="rId16" Type="http://schemas.openxmlformats.org/officeDocument/2006/relationships/slide" Target="slides/slide10.xml"/><Relationship Id="rId38" Type="http://customschemas.google.com/relationships/presentationmetadata" Target="meta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86" name="Google Shape;86;p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87" name="Google Shape;87;p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89" name="Google Shape;89;p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90" name="Google Shape;90;p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01" name="Google Shape;101;p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02" name="Google Shape;102;p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104" name="Google Shape;104;p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05" name="Google Shape;105;p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18" name="Google Shape;118;p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19" name="Google Shape;119;p3: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3: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121" name="Google Shape;121;p3: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22" name="Google Shape;122;p3: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dc76046dd_0_3: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53" name="Google Shape;153;g3bdc76046dd_0_3: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54" name="Google Shape;154;g3bdc76046dd_0_3: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5" name="Google Shape;155;g3bdc76046dd_0_3: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156" name="Google Shape;156;g3bdc76046dd_0_3: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57" name="Google Shape;157;g3bdc76046dd_0_3: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176" name="Google Shape;176;p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177" name="Google Shape;177;p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179" name="Google Shape;179;p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180" name="Google Shape;180;p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23" name="Google Shape;223;p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24" name="Google Shape;224;p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226" name="Google Shape;226;p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27" name="Google Shape;227;p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61" name="Google Shape;261;p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62" name="Google Shape;262;p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264" name="Google Shape;264;p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265" name="Google Shape;265;p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298" name="Google Shape;298;p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299" name="Google Shape;299;p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301" name="Google Shape;301;p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02" name="Google Shape;302;p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49" name="Google Shape;349;p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50" name="Google Shape;350;p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1" name="Google Shape;351;p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352" name="Google Shape;352;p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53" name="Google Shape;353;p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68" name="Google Shape;368;p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69" name="Google Shape;369;p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0" name="Google Shape;370;p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371" name="Google Shape;371;p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72" name="Google Shape;372;p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1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381" name="Google Shape;381;p1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382" name="Google Shape;382;p10: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p10: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384" name="Google Shape;384;p10: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385" name="Google Shape;385;p10: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1: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03" name="Google Shape;403;p11: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04" name="Google Shape;404;p11: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5" name="Google Shape;405;p11: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406" name="Google Shape;406;p11: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07" name="Google Shape;407;p11: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p12: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425" name="Google Shape;425;p12: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426" name="Google Shape;426;p12: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12: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428" name="Google Shape;428;p12: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429" name="Google Shape;429;p12: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be80cdaba9_0_0: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47" name="Google Shape;447;g3be80cdaba9_0_0: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1.7.2013</a:t>
            </a:r>
            <a:endParaRPr/>
          </a:p>
        </p:txBody>
      </p:sp>
      <p:sp>
        <p:nvSpPr>
          <p:cNvPr id="448" name="Google Shape;448;g3be80cdaba9_0_0:notes"/>
          <p:cNvSpPr/>
          <p:nvPr>
            <p:ph idx="3" type="sldImg"/>
          </p:nvPr>
        </p:nvSpPr>
        <p:spPr>
          <a:xfrm>
            <a:off x="2857500" y="512763"/>
            <a:ext cx="3429000" cy="2567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g3be80cdaba9_0_0:notes"/>
          <p:cNvSpPr txBox="1"/>
          <p:nvPr>
            <p:ph idx="1" type="body"/>
          </p:nvPr>
        </p:nvSpPr>
        <p:spPr>
          <a:xfrm>
            <a:off x="914400" y="3251200"/>
            <a:ext cx="7315200" cy="30813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https://www.sysdig.com/blog/ai-assisted-cloud-intrusion-achieves-admin-access-in-8-minutes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The threat actor infiltrated the victim’s environments using valid test credentials stolen from public S3 buckets. These buckets contained Retrieval-Augmented Generation (RAG) data for AI models, and the compromised credentials belonged to an Identity and Access Management (IAM) user that had multiple read and write permissions on AWS Lambda and restricted permissions on AWS Bedrock. This user was likely intentionally created by the victim organization to automate Bedrock tasks with Lambda functions across the environment.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 is also important to note that the affected S3 buckets were named using common AI tool naming conventions, which the attackers actively searched for during reconnaissance.Amazon Bedrock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After enumerating IAM roles, the threat actor unsuccessfully attempted to assume roles with names typically associated with administrative privileges (e.g., sysadmin,netadmin). Since the compromised user had UpdateFunctionCode and UpdateFunctionConfiguration permissions on Lambda, the threat actor pivoted to privilege escalation through Lambda function code injection.Role</a:t>
            </a:r>
            <a:endParaRPr/>
          </a:p>
        </p:txBody>
      </p:sp>
      <p:sp>
        <p:nvSpPr>
          <p:cNvPr id="450" name="Google Shape;450;g3be80cdaba9_0_0:notes"/>
          <p:cNvSpPr txBox="1"/>
          <p:nvPr>
            <p:ph idx="11" type="ftr"/>
          </p:nvPr>
        </p:nvSpPr>
        <p:spPr>
          <a:xfrm>
            <a:off x="0" y="6502400"/>
            <a:ext cx="3962400" cy="341400"/>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solidFill>
                <a:schemeClr val="dk1"/>
              </a:solidFill>
              <a:latin typeface="Calibri"/>
              <a:ea typeface="Calibri"/>
              <a:cs typeface="Calibri"/>
              <a:sym typeface="Calibri"/>
            </a:endParaRPr>
          </a:p>
        </p:txBody>
      </p:sp>
      <p:sp>
        <p:nvSpPr>
          <p:cNvPr id="451" name="Google Shape;451;g3be80cdaba9_0_0:notes"/>
          <p:cNvSpPr txBox="1"/>
          <p:nvPr>
            <p:ph idx="12" type="sldNum"/>
          </p:nvPr>
        </p:nvSpPr>
        <p:spPr>
          <a:xfrm>
            <a:off x="5180013" y="6502400"/>
            <a:ext cx="3962400" cy="3414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lang="en-US" sz="1200">
                <a:solidFill>
                  <a:schemeClr val="dk1"/>
                </a:solidFill>
                <a:latin typeface="Calibri"/>
                <a:ea typeface="Calibri"/>
                <a:cs typeface="Calibri"/>
                <a:sym typeface="Calibri"/>
              </a:rPr>
              <a:t>‹#›</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p14: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24" name="Google Shape;524;p14: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25" name="Google Shape;525;p14: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p14: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527" name="Google Shape;527;p14: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28" name="Google Shape;528;p14: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15: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41" name="Google Shape;541;p15: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42" name="Google Shape;542;p15: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3" name="Google Shape;543;p15: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544" name="Google Shape;544;p15: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45" name="Google Shape;545;p15: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p16: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578" name="Google Shape;578;p16: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579" name="Google Shape;579;p16: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p16: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581" name="Google Shape;581;p16: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582" name="Google Shape;582;p16: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17: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20" name="Google Shape;620;p17: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21" name="Google Shape;621;p17: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p17: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623" name="Google Shape;623;p17: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24" name="Google Shape;624;p17: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18: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42" name="Google Shape;642;p18: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43" name="Google Shape;643;p18: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4" name="Google Shape;644;p18: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645" name="Google Shape;645;p18: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46" name="Google Shape;646;p18: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19:notes"/>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sz="1200"/>
          </a:p>
        </p:txBody>
      </p:sp>
      <p:sp>
        <p:nvSpPr>
          <p:cNvPr id="658" name="Google Shape;658;p19:notes"/>
          <p:cNvSpPr txBox="1"/>
          <p:nvPr>
            <p:ph idx="10" type="dt"/>
          </p:nvPr>
        </p:nvSpPr>
        <p:spPr>
          <a:xfrm>
            <a:off x="5180013" y="0"/>
            <a:ext cx="3962400" cy="342900"/>
          </a:xfrm>
          <a:prstGeom prst="rect">
            <a:avLst/>
          </a:prstGeom>
          <a:noFill/>
          <a:ln>
            <a:noFill/>
          </a:ln>
        </p:spPr>
        <p:txBody>
          <a:bodyPr anchorCtr="0" anchor="t"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1.7.2013</a:t>
            </a:r>
            <a:endParaRPr/>
          </a:p>
        </p:txBody>
      </p:sp>
      <p:sp>
        <p:nvSpPr>
          <p:cNvPr id="659" name="Google Shape;659;p19:notes"/>
          <p:cNvSpPr/>
          <p:nvPr>
            <p:ph idx="3" type="sldImg"/>
          </p:nvPr>
        </p:nvSpPr>
        <p:spPr>
          <a:xfrm>
            <a:off x="2857500" y="512763"/>
            <a:ext cx="3429000" cy="2566987"/>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19:notes"/>
          <p:cNvSpPr txBox="1"/>
          <p:nvPr>
            <p:ph idx="1" type="body"/>
          </p:nvPr>
        </p:nvSpPr>
        <p:spPr>
          <a:xfrm>
            <a:off x="914400" y="3251200"/>
            <a:ext cx="7315200" cy="3081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1</a:t>
            </a:r>
            <a:endParaRPr/>
          </a:p>
        </p:txBody>
      </p:sp>
      <p:sp>
        <p:nvSpPr>
          <p:cNvPr id="661" name="Google Shape;661;p19:notes"/>
          <p:cNvSpPr txBox="1"/>
          <p:nvPr>
            <p:ph idx="11" type="ftr"/>
          </p:nvPr>
        </p:nvSpPr>
        <p:spPr>
          <a:xfrm>
            <a:off x="0" y="6502400"/>
            <a:ext cx="3962400" cy="341313"/>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t/>
            </a:r>
            <a:endParaRPr sz="1200"/>
          </a:p>
        </p:txBody>
      </p:sp>
      <p:sp>
        <p:nvSpPr>
          <p:cNvPr id="662" name="Google Shape;662;p19:notes"/>
          <p:cNvSpPr txBox="1"/>
          <p:nvPr>
            <p:ph idx="12" type="sldNum"/>
          </p:nvPr>
        </p:nvSpPr>
        <p:spPr>
          <a:xfrm>
            <a:off x="5180013" y="6502400"/>
            <a:ext cx="3962400" cy="341313"/>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rPr b="0" i="0" lang="en-US" sz="1200" u="none" cap="none" strike="noStrike">
                <a:solidFill>
                  <a:schemeClr val="dk1"/>
                </a:solidFill>
                <a:latin typeface="Calibri"/>
                <a:ea typeface="Calibri"/>
                <a:cs typeface="Calibri"/>
                <a:sym typeface="Calibri"/>
              </a:rPr>
              <a: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2"/>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2"/>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2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2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2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2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2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8"/>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8"/>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28"/>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9"/>
          <p:cNvSpPr/>
          <p:nvPr>
            <p:ph idx="2" type="pic"/>
          </p:nvPr>
        </p:nvSpPr>
        <p:spPr>
          <a:xfrm>
            <a:off x="1792288" y="612775"/>
            <a:ext cx="5486400" cy="4114800"/>
          </a:xfrm>
          <a:prstGeom prst="rect">
            <a:avLst/>
          </a:prstGeom>
          <a:noFill/>
          <a:ln>
            <a:noFill/>
          </a:ln>
        </p:spPr>
      </p:sp>
      <p:sp>
        <p:nvSpPr>
          <p:cNvPr id="68" name="Google Shape;68;p2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0"/>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1"/>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1"/>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3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34.png"/><Relationship Id="rId5"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3.jpg"/><Relationship Id="rId4"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3.jpg"/><Relationship Id="rId4" Type="http://schemas.openxmlformats.org/officeDocument/2006/relationships/image" Target="../media/image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3.jpg"/><Relationship Id="rId4" Type="http://schemas.openxmlformats.org/officeDocument/2006/relationships/image" Target="../media/image1.jp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3.jpg"/><Relationship Id="rId4"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3.jpg"/><Relationship Id="rId4"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3.jpg"/><Relationship Id="rId4"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3.jpg"/><Relationship Id="rId4" Type="http://schemas.openxmlformats.org/officeDocument/2006/relationships/image" Target="../media/image1.jpg"/></Relationships>
</file>

<file path=ppt/slides/_rels/slide14.xml.rels><?xml version="1.0" encoding="UTF-8" standalone="yes"?><Relationships xmlns="http://schemas.openxmlformats.org/package/2006/relationships"><Relationship Id="rId11" Type="http://schemas.openxmlformats.org/officeDocument/2006/relationships/image" Target="../media/image11.png"/><Relationship Id="rId10" Type="http://schemas.openxmlformats.org/officeDocument/2006/relationships/image" Target="../media/image4.png"/><Relationship Id="rId13" Type="http://schemas.openxmlformats.org/officeDocument/2006/relationships/image" Target="../media/image12.png"/><Relationship Id="rId12"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3.png"/><Relationship Id="rId9" Type="http://schemas.openxmlformats.org/officeDocument/2006/relationships/image" Target="../media/image10.png"/><Relationship Id="rId15" Type="http://schemas.openxmlformats.org/officeDocument/2006/relationships/image" Target="../media/image22.png"/><Relationship Id="rId14" Type="http://schemas.openxmlformats.org/officeDocument/2006/relationships/image" Target="../media/image19.png"/><Relationship Id="rId17" Type="http://schemas.openxmlformats.org/officeDocument/2006/relationships/image" Target="../media/image18.png"/><Relationship Id="rId16" Type="http://schemas.openxmlformats.org/officeDocument/2006/relationships/image" Target="../media/image21.png"/><Relationship Id="rId5" Type="http://schemas.openxmlformats.org/officeDocument/2006/relationships/image" Target="../media/image5.png"/><Relationship Id="rId6" Type="http://schemas.openxmlformats.org/officeDocument/2006/relationships/image" Target="../media/image6.png"/><Relationship Id="rId18" Type="http://schemas.openxmlformats.org/officeDocument/2006/relationships/image" Target="../media/image20.png"/><Relationship Id="rId7" Type="http://schemas.openxmlformats.org/officeDocument/2006/relationships/image" Target="../media/image8.png"/><Relationship Id="rId8"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3.jpg"/><Relationship Id="rId4" Type="http://schemas.openxmlformats.org/officeDocument/2006/relationships/image" Target="../media/image1.jpg"/><Relationship Id="rId5"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3.jpg"/><Relationship Id="rId4" Type="http://schemas.openxmlformats.org/officeDocument/2006/relationships/image" Target="../media/image1.jpg"/><Relationship Id="rId5"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3.jpg"/><Relationship Id="rId4" Type="http://schemas.openxmlformats.org/officeDocument/2006/relationships/image" Target="../media/image1.jpg"/></Relationships>
</file>

<file path=ppt/slides/_rels/slide18.xml.rels><?xml version="1.0" encoding="UTF-8" standalone="yes"?><Relationships xmlns="http://schemas.openxmlformats.org/package/2006/relationships"><Relationship Id="rId11" Type="http://schemas.openxmlformats.org/officeDocument/2006/relationships/image" Target="../media/image1.jpg"/><Relationship Id="rId10" Type="http://schemas.openxmlformats.org/officeDocument/2006/relationships/image" Target="../media/image33.png"/><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jpg"/><Relationship Id="rId4" Type="http://schemas.openxmlformats.org/officeDocument/2006/relationships/image" Target="../media/image31.png"/><Relationship Id="rId9"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25.png"/><Relationship Id="rId8" Type="http://schemas.openxmlformats.org/officeDocument/2006/relationships/image" Target="../media/image3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3.jpg"/><Relationship Id="rId4"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3.jpg"/><Relationship Id="rId4" Type="http://schemas.openxmlformats.org/officeDocument/2006/relationships/image" Target="../media/image1.jpg"/><Relationship Id="rId5"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grpSp>
        <p:nvGrpSpPr>
          <p:cNvPr id="92" name="Google Shape;92;p1"/>
          <p:cNvGrpSpPr/>
          <p:nvPr/>
        </p:nvGrpSpPr>
        <p:grpSpPr>
          <a:xfrm>
            <a:off x="0" y="1451305"/>
            <a:ext cx="10687217" cy="6795154"/>
            <a:chOff x="0" y="-104775"/>
            <a:chExt cx="14249623" cy="9060205"/>
          </a:xfrm>
        </p:grpSpPr>
        <p:sp>
          <p:nvSpPr>
            <p:cNvPr id="93" name="Google Shape;93;p1"/>
            <p:cNvSpPr/>
            <p:nvPr/>
          </p:nvSpPr>
          <p:spPr>
            <a:xfrm>
              <a:off x="0" y="0"/>
              <a:ext cx="14249623" cy="8955430"/>
            </a:xfrm>
            <a:custGeom>
              <a:rect b="b" l="l" r="r" t="t"/>
              <a:pathLst>
                <a:path extrusionOk="0" h="8955430" w="14249623">
                  <a:moveTo>
                    <a:pt x="0" y="0"/>
                  </a:moveTo>
                  <a:lnTo>
                    <a:pt x="14249623" y="0"/>
                  </a:lnTo>
                  <a:lnTo>
                    <a:pt x="14249623" y="8955430"/>
                  </a:lnTo>
                  <a:lnTo>
                    <a:pt x="0" y="8955430"/>
                  </a:lnTo>
                  <a:close/>
                </a:path>
              </a:pathLst>
            </a:custGeom>
            <a:blipFill rotWithShape="1">
              <a:blip r:embed="rId3">
                <a:alphaModFix amt="0"/>
              </a:blip>
              <a:stretch>
                <a:fillRect b="27674" l="0" r="-45448" t="-17866"/>
              </a:stretch>
            </a:blipFill>
            <a:ln>
              <a:noFill/>
            </a:ln>
          </p:spPr>
        </p:sp>
        <p:sp>
          <p:nvSpPr>
            <p:cNvPr id="94" name="Google Shape;94;p1"/>
            <p:cNvSpPr txBox="1"/>
            <p:nvPr/>
          </p:nvSpPr>
          <p:spPr>
            <a:xfrm>
              <a:off x="0" y="-104775"/>
              <a:ext cx="14249623" cy="9060205"/>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b="1" i="0" lang="en-US" sz="8800" u="none" cap="none" strike="noStrike">
                  <a:solidFill>
                    <a:srgbClr val="FFFFFF"/>
                  </a:solidFill>
                  <a:latin typeface="Montserrat"/>
                  <a:ea typeface="Montserrat"/>
                  <a:cs typeface="Montserrat"/>
                  <a:sym typeface="Montserrat"/>
                </a:rPr>
                <a:t>Wrangling Identity</a:t>
              </a:r>
              <a:endParaRPr sz="600"/>
            </a:p>
            <a:p>
              <a:pPr indent="0" lvl="0" marL="0" marR="0" rtl="0" algn="ctr">
                <a:lnSpc>
                  <a:spcPct val="115000"/>
                </a:lnSpc>
                <a:spcBef>
                  <a:spcPts val="0"/>
                </a:spcBef>
                <a:spcAft>
                  <a:spcPts val="0"/>
                </a:spcAft>
                <a:buNone/>
              </a:pPr>
              <a:r>
                <a:rPr b="1" i="0" lang="en-US" sz="8800" u="none" cap="none" strike="noStrike">
                  <a:solidFill>
                    <a:srgbClr val="FFFFFF"/>
                  </a:solidFill>
                  <a:latin typeface="Montserrat"/>
                  <a:ea typeface="Montserrat"/>
                  <a:cs typeface="Montserrat"/>
                  <a:sym typeface="Montserrat"/>
                </a:rPr>
                <a:t>&amp; Access in AWS</a:t>
              </a:r>
              <a:endParaRPr sz="600"/>
            </a:p>
          </p:txBody>
        </p:sp>
      </p:grpSp>
      <p:grpSp>
        <p:nvGrpSpPr>
          <p:cNvPr id="95" name="Google Shape;95;p1"/>
          <p:cNvGrpSpPr/>
          <p:nvPr/>
        </p:nvGrpSpPr>
        <p:grpSpPr>
          <a:xfrm>
            <a:off x="1417164" y="8193029"/>
            <a:ext cx="13716000" cy="987922"/>
            <a:chOff x="0" y="-19050"/>
            <a:chExt cx="18288000" cy="1317228"/>
          </a:xfrm>
        </p:grpSpPr>
        <p:sp>
          <p:nvSpPr>
            <p:cNvPr id="96" name="Google Shape;96;p1"/>
            <p:cNvSpPr/>
            <p:nvPr/>
          </p:nvSpPr>
          <p:spPr>
            <a:xfrm>
              <a:off x="0" y="0"/>
              <a:ext cx="18288000" cy="1298178"/>
            </a:xfrm>
            <a:custGeom>
              <a:rect b="b" l="l" r="r" t="t"/>
              <a:pathLst>
                <a:path extrusionOk="0" h="1298178" w="18288000">
                  <a:moveTo>
                    <a:pt x="0" y="0"/>
                  </a:moveTo>
                  <a:lnTo>
                    <a:pt x="18288000" y="0"/>
                  </a:lnTo>
                  <a:lnTo>
                    <a:pt x="18288000" y="1298178"/>
                  </a:lnTo>
                  <a:lnTo>
                    <a:pt x="0" y="1298178"/>
                  </a:lnTo>
                  <a:close/>
                </a:path>
              </a:pathLst>
            </a:custGeom>
            <a:blipFill rotWithShape="1">
              <a:blip r:embed="rId4">
                <a:alphaModFix amt="0"/>
              </a:blip>
              <a:stretch>
                <a:fillRect b="-976272" l="0" r="0" t="-976272"/>
              </a:stretch>
            </a:blipFill>
            <a:ln>
              <a:noFill/>
            </a:ln>
          </p:spPr>
        </p:sp>
        <p:sp>
          <p:nvSpPr>
            <p:cNvPr id="97" name="Google Shape;97;p1"/>
            <p:cNvSpPr txBox="1"/>
            <p:nvPr/>
          </p:nvSpPr>
          <p:spPr>
            <a:xfrm>
              <a:off x="0" y="-19050"/>
              <a:ext cx="18288000" cy="1317228"/>
            </a:xfrm>
            <a:prstGeom prst="rect">
              <a:avLst/>
            </a:prstGeom>
            <a:noFill/>
            <a:ln>
              <a:noFill/>
            </a:ln>
          </p:spPr>
          <p:txBody>
            <a:bodyPr anchorCtr="0" anchor="ctr" bIns="0" lIns="0" spcFirstLastPara="1" rIns="0" wrap="square" tIns="0">
              <a:noAutofit/>
            </a:bodyPr>
            <a:lstStyle/>
            <a:p>
              <a:pPr indent="0" lvl="0" marL="0" marR="0" rtl="0" algn="l">
                <a:lnSpc>
                  <a:spcPct val="119979"/>
                </a:lnSpc>
                <a:spcBef>
                  <a:spcPts val="0"/>
                </a:spcBef>
                <a:spcAft>
                  <a:spcPts val="0"/>
                </a:spcAft>
                <a:buNone/>
              </a:pPr>
              <a:r>
                <a:rPr b="0" i="0" lang="en-US" sz="4800" u="none" cap="none" strike="noStrike">
                  <a:solidFill>
                    <a:srgbClr val="22D3EE"/>
                  </a:solidFill>
                  <a:latin typeface="Arimo"/>
                  <a:ea typeface="Arimo"/>
                  <a:cs typeface="Arimo"/>
                  <a:sym typeface="Arimo"/>
                </a:rPr>
                <a:t>Lecture 2: Fencin' the Frontier</a:t>
              </a:r>
              <a:endParaRPr/>
            </a:p>
          </p:txBody>
        </p:sp>
      </p:grpSp>
      <p:sp>
        <p:nvSpPr>
          <p:cNvPr id="98" name="Google Shape;98;p1"/>
          <p:cNvSpPr/>
          <p:nvPr/>
        </p:nvSpPr>
        <p:spPr>
          <a:xfrm>
            <a:off x="10561254" y="1385404"/>
            <a:ext cx="7347872" cy="7347872"/>
          </a:xfrm>
          <a:custGeom>
            <a:rect b="b" l="l" r="r" t="t"/>
            <a:pathLst>
              <a:path extrusionOk="0" h="7347872" w="7347872">
                <a:moveTo>
                  <a:pt x="0" y="0"/>
                </a:moveTo>
                <a:lnTo>
                  <a:pt x="7347871" y="0"/>
                </a:lnTo>
                <a:lnTo>
                  <a:pt x="7347871" y="7347872"/>
                </a:lnTo>
                <a:lnTo>
                  <a:pt x="0" y="7347872"/>
                </a:lnTo>
                <a:lnTo>
                  <a:pt x="0" y="0"/>
                </a:lnTo>
                <a:close/>
              </a:path>
            </a:pathLst>
          </a:custGeom>
          <a:blipFill rotWithShape="1">
            <a:blip r:embed="rId5">
              <a:alphaModFix/>
            </a:blip>
            <a:stretch>
              <a:fillRect b="-5235" l="-5783" r="-4322" t="-4871"/>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grpSp>
        <p:nvGrpSpPr>
          <p:cNvPr id="107" name="Google Shape;107;p2"/>
          <p:cNvGrpSpPr/>
          <p:nvPr/>
        </p:nvGrpSpPr>
        <p:grpSpPr>
          <a:xfrm>
            <a:off x="3221859" y="528663"/>
            <a:ext cx="16459200" cy="1518336"/>
            <a:chOff x="0" y="0"/>
            <a:chExt cx="21945600" cy="2024448"/>
          </a:xfrm>
        </p:grpSpPr>
        <p:sp>
          <p:nvSpPr>
            <p:cNvPr id="108" name="Google Shape;108;p2"/>
            <p:cNvSpPr/>
            <p:nvPr/>
          </p:nvSpPr>
          <p:spPr>
            <a:xfrm>
              <a:off x="0" y="0"/>
              <a:ext cx="21945600" cy="2024448"/>
            </a:xfrm>
            <a:custGeom>
              <a:rect b="b" l="l" r="r" t="t"/>
              <a:pathLst>
                <a:path extrusionOk="0" h="2024448" w="21945600">
                  <a:moveTo>
                    <a:pt x="0" y="0"/>
                  </a:moveTo>
                  <a:lnTo>
                    <a:pt x="21945600" y="0"/>
                  </a:lnTo>
                  <a:lnTo>
                    <a:pt x="21945600" y="2024448"/>
                  </a:lnTo>
                  <a:lnTo>
                    <a:pt x="0" y="2024448"/>
                  </a:lnTo>
                  <a:close/>
                </a:path>
              </a:pathLst>
            </a:custGeom>
            <a:blipFill rotWithShape="1">
              <a:blip r:embed="rId3">
                <a:alphaModFix amt="0"/>
              </a:blip>
              <a:stretch>
                <a:fillRect b="-153368" l="0" r="0" t="-169053"/>
              </a:stretch>
            </a:blipFill>
            <a:ln>
              <a:noFill/>
            </a:ln>
          </p:spPr>
        </p:sp>
        <p:sp>
          <p:nvSpPr>
            <p:cNvPr id="109" name="Google Shape;109;p2"/>
            <p:cNvSpPr txBox="1"/>
            <p:nvPr/>
          </p:nvSpPr>
          <p:spPr>
            <a:xfrm>
              <a:off x="0" y="0"/>
              <a:ext cx="21945600" cy="20244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7600" u="none" cap="none" strike="noStrike">
                  <a:solidFill>
                    <a:srgbClr val="FFFFFF"/>
                  </a:solidFill>
                  <a:latin typeface="Montserrat"/>
                  <a:ea typeface="Montserrat"/>
                  <a:cs typeface="Montserrat"/>
                  <a:sym typeface="Montserrat"/>
                </a:rPr>
                <a:t>What You Just Broke</a:t>
              </a:r>
              <a:endParaRPr/>
            </a:p>
          </p:txBody>
        </p:sp>
      </p:grpSp>
      <p:graphicFrame>
        <p:nvGraphicFramePr>
          <p:cNvPr id="110" name="Google Shape;110;p2"/>
          <p:cNvGraphicFramePr/>
          <p:nvPr/>
        </p:nvGraphicFramePr>
        <p:xfrm>
          <a:off x="597432" y="2392680"/>
          <a:ext cx="3000000" cy="3000000"/>
        </p:xfrm>
        <a:graphic>
          <a:graphicData uri="http://schemas.openxmlformats.org/drawingml/2006/table">
            <a:tbl>
              <a:tblPr>
                <a:noFill/>
                <a:tableStyleId>{8EBCCE26-067B-4FF9-9926-E5A3308F73E1}</a:tableStyleId>
              </a:tblPr>
              <a:tblGrid>
                <a:gridCol w="4747550"/>
                <a:gridCol w="5843125"/>
                <a:gridCol w="5843125"/>
              </a:tblGrid>
              <a:tr h="653325">
                <a:tc>
                  <a:txBody>
                    <a:bodyPr/>
                    <a:lstStyle/>
                    <a:p>
                      <a:pPr indent="0" lvl="0" marL="0" marR="0" rtl="0" algn="l">
                        <a:lnSpc>
                          <a:spcPct val="120007"/>
                        </a:lnSpc>
                        <a:spcBef>
                          <a:spcPts val="0"/>
                        </a:spcBef>
                        <a:spcAft>
                          <a:spcPts val="0"/>
                        </a:spcAft>
                        <a:buNone/>
                      </a:pPr>
                      <a:r>
                        <a:rPr b="1" lang="en-US" sz="2799" u="none" cap="none" strike="noStrike">
                          <a:solidFill>
                            <a:srgbClr val="64748B"/>
                          </a:solidFill>
                          <a:latin typeface="Montserrat"/>
                          <a:ea typeface="Montserrat"/>
                          <a:cs typeface="Montserrat"/>
                          <a:sym typeface="Montserrat"/>
                        </a:rPr>
                        <a:t>Attack</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1120"/>
                    </a:solidFill>
                  </a:tcPr>
                </a:tc>
                <a:tc>
                  <a:txBody>
                    <a:bodyPr/>
                    <a:lstStyle/>
                    <a:p>
                      <a:pPr indent="0" lvl="0" marL="0" marR="0" rtl="0" algn="l">
                        <a:lnSpc>
                          <a:spcPct val="120007"/>
                        </a:lnSpc>
                        <a:spcBef>
                          <a:spcPts val="0"/>
                        </a:spcBef>
                        <a:spcAft>
                          <a:spcPts val="0"/>
                        </a:spcAft>
                        <a:buNone/>
                      </a:pPr>
                      <a:r>
                        <a:rPr b="1" lang="en-US" sz="2799" u="none" cap="none" strike="noStrike">
                          <a:solidFill>
                            <a:srgbClr val="64748B"/>
                          </a:solidFill>
                          <a:latin typeface="Montserrat"/>
                          <a:ea typeface="Montserrat"/>
                          <a:cs typeface="Montserrat"/>
                          <a:sym typeface="Montserrat"/>
                        </a:rPr>
                        <a:t>What You Did</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1120"/>
                    </a:solidFill>
                  </a:tcPr>
                </a:tc>
                <a:tc>
                  <a:txBody>
                    <a:bodyPr/>
                    <a:lstStyle/>
                    <a:p>
                      <a:pPr indent="0" lvl="0" marL="0" marR="0" rtl="0" algn="l">
                        <a:lnSpc>
                          <a:spcPct val="120007"/>
                        </a:lnSpc>
                        <a:spcBef>
                          <a:spcPts val="0"/>
                        </a:spcBef>
                        <a:spcAft>
                          <a:spcPts val="0"/>
                        </a:spcAft>
                        <a:buNone/>
                      </a:pPr>
                      <a:r>
                        <a:rPr b="1" lang="en-US" sz="2799" u="none" cap="none" strike="noStrike">
                          <a:solidFill>
                            <a:srgbClr val="64748B"/>
                          </a:solidFill>
                          <a:latin typeface="Montserrat"/>
                          <a:ea typeface="Montserrat"/>
                          <a:cs typeface="Montserrat"/>
                          <a:sym typeface="Montserrat"/>
                        </a:rPr>
                        <a:t>Root Cause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1120"/>
                    </a:solidFill>
                  </a:tcPr>
                </a:tc>
              </a:tr>
              <a:tr h="1169625">
                <a:tc>
                  <a:txBody>
                    <a:bodyPr/>
                    <a:lstStyle/>
                    <a:p>
                      <a:pPr indent="0" lvl="0" marL="0" marR="0" rtl="0" algn="l">
                        <a:lnSpc>
                          <a:spcPct val="120007"/>
                        </a:lnSpc>
                        <a:spcBef>
                          <a:spcPts val="0"/>
                        </a:spcBef>
                        <a:spcAft>
                          <a:spcPts val="0"/>
                        </a:spcAft>
                        <a:buNone/>
                      </a:pPr>
                      <a:r>
                        <a:rPr lang="en-US" sz="2799" u="none" cap="none" strike="noStrike">
                          <a:solidFill>
                            <a:srgbClr val="F87171"/>
                          </a:solidFill>
                          <a:latin typeface="Consolas"/>
                          <a:ea typeface="Consolas"/>
                          <a:cs typeface="Consolas"/>
                          <a:sym typeface="Consolas"/>
                        </a:rPr>
                        <a:t>CreatePolicyVersion</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None/>
                      </a:pPr>
                      <a:r>
                        <a:rPr lang="en-US" sz="3000" u="none" cap="none" strike="noStrike">
                          <a:solidFill>
                            <a:srgbClr val="CBD5E1"/>
                          </a:solidFill>
                          <a:latin typeface="Arimo"/>
                          <a:ea typeface="Arimo"/>
                          <a:cs typeface="Arimo"/>
                          <a:sym typeface="Arimo"/>
                        </a:rPr>
                        <a:t>Modified a policy attached to yourself</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None/>
                      </a:pPr>
                      <a:r>
                        <a:rPr lang="en-US" sz="3000" u="none" cap="none" strike="noStrike">
                          <a:solidFill>
                            <a:srgbClr val="CBD5E1"/>
                          </a:solidFill>
                          <a:latin typeface="Arimo"/>
                          <a:ea typeface="Arimo"/>
                          <a:cs typeface="Arimo"/>
                          <a:sym typeface="Arimo"/>
                        </a:rPr>
                        <a:t>No ceiling on max permissions</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r>
              <a:tr h="1169625">
                <a:tc>
                  <a:txBody>
                    <a:bodyPr/>
                    <a:lstStyle/>
                    <a:p>
                      <a:pPr indent="0" lvl="0" marL="0" marR="0" rtl="0" algn="l">
                        <a:lnSpc>
                          <a:spcPct val="120007"/>
                        </a:lnSpc>
                        <a:spcBef>
                          <a:spcPts val="0"/>
                        </a:spcBef>
                        <a:spcAft>
                          <a:spcPts val="0"/>
                        </a:spcAft>
                        <a:buNone/>
                      </a:pPr>
                      <a:r>
                        <a:rPr lang="en-US" sz="2799" u="none" cap="none" strike="noStrike">
                          <a:solidFill>
                            <a:srgbClr val="F87171"/>
                          </a:solidFill>
                          <a:latin typeface="Consolas"/>
                          <a:ea typeface="Consolas"/>
                          <a:cs typeface="Consolas"/>
                          <a:sym typeface="Consolas"/>
                        </a:rPr>
                        <a:t>AssumeRole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None/>
                      </a:pPr>
                      <a:r>
                        <a:rPr lang="en-US" sz="3000" u="none" cap="none" strike="noStrike">
                          <a:solidFill>
                            <a:srgbClr val="CBD5E1"/>
                          </a:solidFill>
                          <a:latin typeface="Arimo"/>
                          <a:ea typeface="Arimo"/>
                          <a:cs typeface="Arimo"/>
                          <a:sym typeface="Arimo"/>
                        </a:rPr>
                        <a:t>Assumed an overly-trusted admin role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None/>
                      </a:pPr>
                      <a:r>
                        <a:rPr lang="en-US" sz="3000" u="none" cap="none" strike="noStrike">
                          <a:solidFill>
                            <a:srgbClr val="CBD5E1"/>
                          </a:solidFill>
                          <a:latin typeface="Arimo"/>
                          <a:ea typeface="Arimo"/>
                          <a:cs typeface="Arimo"/>
                          <a:sym typeface="Arimo"/>
                        </a:rPr>
                        <a:t>:root trust = trust everyone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r>
              <a:tr h="1169625">
                <a:tc>
                  <a:txBody>
                    <a:bodyPr/>
                    <a:lstStyle/>
                    <a:p>
                      <a:pPr indent="0" lvl="0" marL="0" marR="0" rtl="0" algn="l">
                        <a:lnSpc>
                          <a:spcPct val="120007"/>
                        </a:lnSpc>
                        <a:spcBef>
                          <a:spcPts val="0"/>
                        </a:spcBef>
                        <a:spcAft>
                          <a:spcPts val="0"/>
                        </a:spcAft>
                        <a:buNone/>
                      </a:pPr>
                      <a:r>
                        <a:rPr lang="en-US" sz="2799" u="none" cap="none" strike="noStrike">
                          <a:solidFill>
                            <a:srgbClr val="F87171"/>
                          </a:solidFill>
                          <a:latin typeface="Consolas"/>
                          <a:ea typeface="Consolas"/>
                          <a:cs typeface="Consolas"/>
                          <a:sym typeface="Consolas"/>
                        </a:rPr>
                        <a:t>PassRole + EC2</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None/>
                      </a:pPr>
                      <a:r>
                        <a:rPr lang="en-US" sz="3000" u="none" cap="none" strike="noStrike">
                          <a:solidFill>
                            <a:srgbClr val="CBD5E1"/>
                          </a:solidFill>
                          <a:latin typeface="Arimo"/>
                          <a:ea typeface="Arimo"/>
                          <a:cs typeface="Arimo"/>
                          <a:sym typeface="Arimo"/>
                        </a:rPr>
                        <a:t>Passed a privileged role to EC2</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None/>
                      </a:pPr>
                      <a:r>
                        <a:rPr lang="en-US" sz="3000" u="none" cap="none" strike="noStrike">
                          <a:solidFill>
                            <a:srgbClr val="CBD5E1"/>
                          </a:solidFill>
                          <a:latin typeface="Arimo"/>
                          <a:ea typeface="Arimo"/>
                          <a:cs typeface="Arimo"/>
                          <a:sym typeface="Arimo"/>
                        </a:rPr>
                        <a:t>Missing iam:PassedToService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r>
              <a:tr h="1169625">
                <a:tc>
                  <a:txBody>
                    <a:bodyPr/>
                    <a:lstStyle/>
                    <a:p>
                      <a:pPr indent="0" lvl="0" marL="0" marR="0" rtl="0" algn="l">
                        <a:lnSpc>
                          <a:spcPct val="120007"/>
                        </a:lnSpc>
                        <a:spcBef>
                          <a:spcPts val="0"/>
                        </a:spcBef>
                        <a:spcAft>
                          <a:spcPts val="0"/>
                        </a:spcAft>
                        <a:buNone/>
                      </a:pPr>
                      <a:r>
                        <a:rPr lang="en-US" sz="2799" u="none" cap="none" strike="noStrike">
                          <a:solidFill>
                            <a:srgbClr val="F87171"/>
                          </a:solidFill>
                          <a:latin typeface="Consolas"/>
                          <a:ea typeface="Consolas"/>
                          <a:cs typeface="Consolas"/>
                          <a:sym typeface="Consolas"/>
                        </a:rPr>
                        <a:t>UpdateFunctionCode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None/>
                      </a:pPr>
                      <a:r>
                        <a:rPr lang="en-US" sz="3000" u="none" cap="none" strike="noStrike">
                          <a:solidFill>
                            <a:srgbClr val="CBD5E1"/>
                          </a:solidFill>
                          <a:latin typeface="Arimo"/>
                          <a:ea typeface="Arimo"/>
                          <a:cs typeface="Arimo"/>
                          <a:sym typeface="Arimo"/>
                        </a:rPr>
                        <a:t>Hijacked a Lambda with admin role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None/>
                      </a:pPr>
                      <a:r>
                        <a:rPr lang="en-US" sz="3000" u="none" cap="none" strike="noStrike">
                          <a:solidFill>
                            <a:srgbClr val="CBD5E1"/>
                          </a:solidFill>
                          <a:latin typeface="Arimo"/>
                          <a:ea typeface="Arimo"/>
                          <a:cs typeface="Arimo"/>
                          <a:sym typeface="Arimo"/>
                        </a:rPr>
                        <a:t>Resource: * on write actions</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r>
              <a:tr h="1145150">
                <a:tc>
                  <a:txBody>
                    <a:bodyPr/>
                    <a:lstStyle/>
                    <a:p>
                      <a:pPr indent="0" lvl="0" marL="0" marR="0" rtl="0" algn="l">
                        <a:lnSpc>
                          <a:spcPct val="120007"/>
                        </a:lnSpc>
                        <a:spcBef>
                          <a:spcPts val="0"/>
                        </a:spcBef>
                        <a:spcAft>
                          <a:spcPts val="0"/>
                        </a:spcAft>
                        <a:buNone/>
                      </a:pPr>
                      <a:r>
                        <a:rPr lang="en-US" sz="2799" u="none" cap="none" strike="noStrike">
                          <a:solidFill>
                            <a:srgbClr val="F87171"/>
                          </a:solidFill>
                          <a:latin typeface="Consolas"/>
                          <a:ea typeface="Consolas"/>
                          <a:cs typeface="Consolas"/>
                          <a:sym typeface="Consolas"/>
                        </a:rPr>
                        <a:t>PutGroupPolicy</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None/>
                      </a:pPr>
                      <a:r>
                        <a:rPr lang="en-US" sz="3000" u="none" cap="none" strike="noStrike">
                          <a:solidFill>
                            <a:srgbClr val="CBD5E1"/>
                          </a:solidFill>
                          <a:latin typeface="Arimo"/>
                          <a:ea typeface="Arimo"/>
                          <a:cs typeface="Arimo"/>
                          <a:sym typeface="Arimo"/>
                        </a:rPr>
                        <a:t>Wrote admin policy on your group</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None/>
                      </a:pPr>
                      <a:r>
                        <a:rPr lang="en-US" sz="3000" u="none" cap="none" strike="noStrike">
                          <a:solidFill>
                            <a:srgbClr val="CBD5E1"/>
                          </a:solidFill>
                          <a:latin typeface="Arimo"/>
                          <a:ea typeface="Arimo"/>
                          <a:cs typeface="Arimo"/>
                          <a:sym typeface="Arimo"/>
                        </a:rPr>
                        <a:t>Resource: * on group actions</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r>
            </a:tbl>
          </a:graphicData>
        </a:graphic>
      </p:graphicFrame>
      <p:grpSp>
        <p:nvGrpSpPr>
          <p:cNvPr id="111" name="Google Shape;111;p2"/>
          <p:cNvGrpSpPr/>
          <p:nvPr/>
        </p:nvGrpSpPr>
        <p:grpSpPr>
          <a:xfrm>
            <a:off x="800100" y="9202742"/>
            <a:ext cx="16459200" cy="935831"/>
            <a:chOff x="0" y="-28575"/>
            <a:chExt cx="21945600" cy="1247775"/>
          </a:xfrm>
        </p:grpSpPr>
        <p:sp>
          <p:nvSpPr>
            <p:cNvPr id="112" name="Google Shape;112;p2"/>
            <p:cNvSpPr/>
            <p:nvPr/>
          </p:nvSpPr>
          <p:spPr>
            <a:xfrm>
              <a:off x="0" y="0"/>
              <a:ext cx="21945600" cy="1219200"/>
            </a:xfrm>
            <a:custGeom>
              <a:rect b="b" l="l" r="r" t="t"/>
              <a:pathLst>
                <a:path extrusionOk="0" h="1219200" w="21945600">
                  <a:moveTo>
                    <a:pt x="0" y="0"/>
                  </a:moveTo>
                  <a:lnTo>
                    <a:pt x="21945600" y="0"/>
                  </a:lnTo>
                  <a:lnTo>
                    <a:pt x="21945600" y="1219200"/>
                  </a:lnTo>
                  <a:lnTo>
                    <a:pt x="0" y="1219200"/>
                  </a:lnTo>
                  <a:close/>
                </a:path>
              </a:pathLst>
            </a:custGeom>
            <a:blipFill rotWithShape="1">
              <a:blip r:embed="rId3">
                <a:alphaModFix amt="0"/>
              </a:blip>
              <a:stretch>
                <a:fillRect b="-300701" l="0" r="0" t="-300708"/>
              </a:stretch>
            </a:blipFill>
            <a:ln>
              <a:noFill/>
            </a:ln>
          </p:spPr>
        </p:sp>
        <p:sp>
          <p:nvSpPr>
            <p:cNvPr id="113" name="Google Shape;113;p2"/>
            <p:cNvSpPr txBox="1"/>
            <p:nvPr/>
          </p:nvSpPr>
          <p:spPr>
            <a:xfrm>
              <a:off x="0" y="-28575"/>
              <a:ext cx="21945600" cy="124777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200" u="none" cap="none" strike="noStrike">
                  <a:solidFill>
                    <a:srgbClr val="CBD5E1"/>
                  </a:solidFill>
                  <a:latin typeface="Arimo"/>
                  <a:ea typeface="Arimo"/>
                  <a:cs typeface="Arimo"/>
                  <a:sym typeface="Arimo"/>
                </a:rPr>
                <a:t>Now we will learn some guardrails that could have prevented these privesc paths</a:t>
              </a:r>
              <a:endParaRPr/>
            </a:p>
          </p:txBody>
        </p:sp>
      </p:grpSp>
      <p:sp>
        <p:nvSpPr>
          <p:cNvPr id="114" name="Google Shape;114;p2"/>
          <p:cNvSpPr/>
          <p:nvPr/>
        </p:nvSpPr>
        <p:spPr>
          <a:xfrm>
            <a:off x="581348" y="513858"/>
            <a:ext cx="2504790" cy="1533140"/>
          </a:xfrm>
          <a:custGeom>
            <a:rect b="b" l="l" r="r" t="t"/>
            <a:pathLst>
              <a:path extrusionOk="0" h="1533140" w="2504790">
                <a:moveTo>
                  <a:pt x="0" y="0"/>
                </a:moveTo>
                <a:lnTo>
                  <a:pt x="2504790" y="0"/>
                </a:lnTo>
                <a:lnTo>
                  <a:pt x="2504790" y="1533141"/>
                </a:lnTo>
                <a:lnTo>
                  <a:pt x="0" y="1533141"/>
                </a:lnTo>
                <a:lnTo>
                  <a:pt x="0" y="0"/>
                </a:lnTo>
                <a:close/>
              </a:path>
            </a:pathLst>
          </a:custGeom>
          <a:blipFill rotWithShape="1">
            <a:blip r:embed="rId4">
              <a:alphaModFix/>
            </a:blip>
            <a:stretch>
              <a:fillRect b="0" l="0" r="0" t="0"/>
            </a:stretch>
          </a:blipFill>
          <a:ln>
            <a:noFill/>
          </a:ln>
        </p:spPr>
      </p:sp>
      <p:sp>
        <p:nvSpPr>
          <p:cNvPr id="115" name="Google Shape;115;p2"/>
          <p:cNvSpPr/>
          <p:nvPr/>
        </p:nvSpPr>
        <p:spPr>
          <a:xfrm>
            <a:off x="14122506" y="414530"/>
            <a:ext cx="2504790" cy="1533140"/>
          </a:xfrm>
          <a:custGeom>
            <a:rect b="b" l="l" r="r" t="t"/>
            <a:pathLst>
              <a:path extrusionOk="0" h="1533140" w="2504790">
                <a:moveTo>
                  <a:pt x="0" y="0"/>
                </a:moveTo>
                <a:lnTo>
                  <a:pt x="2504791" y="0"/>
                </a:lnTo>
                <a:lnTo>
                  <a:pt x="2504791" y="1533140"/>
                </a:lnTo>
                <a:lnTo>
                  <a:pt x="0" y="1533140"/>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grpSp>
        <p:nvGrpSpPr>
          <p:cNvPr id="124" name="Google Shape;124;p3"/>
          <p:cNvGrpSpPr/>
          <p:nvPr/>
        </p:nvGrpSpPr>
        <p:grpSpPr>
          <a:xfrm>
            <a:off x="914400" y="182880"/>
            <a:ext cx="16459200" cy="1188720"/>
            <a:chOff x="0" y="0"/>
            <a:chExt cx="21945600" cy="1584960"/>
          </a:xfrm>
        </p:grpSpPr>
        <p:sp>
          <p:nvSpPr>
            <p:cNvPr id="125" name="Google Shape;125;p3"/>
            <p:cNvSpPr/>
            <p:nvPr/>
          </p:nvSpPr>
          <p:spPr>
            <a:xfrm>
              <a:off x="0" y="0"/>
              <a:ext cx="21945600" cy="1584960"/>
            </a:xfrm>
            <a:custGeom>
              <a:rect b="b" l="l" r="r" t="t"/>
              <a:pathLst>
                <a:path extrusionOk="0" h="1584960" w="21945600">
                  <a:moveTo>
                    <a:pt x="0" y="0"/>
                  </a:moveTo>
                  <a:lnTo>
                    <a:pt x="21945600" y="0"/>
                  </a:lnTo>
                  <a:lnTo>
                    <a:pt x="21945600" y="1584960"/>
                  </a:lnTo>
                  <a:lnTo>
                    <a:pt x="0" y="1584960"/>
                  </a:lnTo>
                  <a:close/>
                </a:path>
              </a:pathLst>
            </a:custGeom>
            <a:blipFill rotWithShape="1">
              <a:blip r:embed="rId3">
                <a:alphaModFix amt="0"/>
              </a:blip>
              <a:stretch>
                <a:fillRect b="-219774" l="0" r="0" t="-219774"/>
              </a:stretch>
            </a:blipFill>
            <a:ln>
              <a:noFill/>
            </a:ln>
          </p:spPr>
        </p:sp>
        <p:sp>
          <p:nvSpPr>
            <p:cNvPr id="126" name="Google Shape;126;p3"/>
            <p:cNvSpPr txBox="1"/>
            <p:nvPr/>
          </p:nvSpPr>
          <p:spPr>
            <a:xfrm>
              <a:off x="0" y="0"/>
              <a:ext cx="21945600" cy="1584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7200" u="none" cap="none" strike="noStrike">
                  <a:solidFill>
                    <a:srgbClr val="FFFFFF"/>
                  </a:solidFill>
                  <a:latin typeface="Montserrat"/>
                  <a:ea typeface="Montserrat"/>
                  <a:cs typeface="Montserrat"/>
                  <a:sym typeface="Montserrat"/>
                </a:rPr>
                <a:t>Condition Keys: Be Specific</a:t>
              </a:r>
              <a:endParaRPr/>
            </a:p>
          </p:txBody>
        </p:sp>
      </p:grpSp>
      <p:grpSp>
        <p:nvGrpSpPr>
          <p:cNvPr id="127" name="Google Shape;127;p3"/>
          <p:cNvGrpSpPr/>
          <p:nvPr/>
        </p:nvGrpSpPr>
        <p:grpSpPr>
          <a:xfrm>
            <a:off x="731520" y="1554480"/>
            <a:ext cx="2743200" cy="548640"/>
            <a:chOff x="0" y="0"/>
            <a:chExt cx="3657600" cy="731520"/>
          </a:xfrm>
        </p:grpSpPr>
        <p:sp>
          <p:nvSpPr>
            <p:cNvPr id="128" name="Google Shape;128;p3"/>
            <p:cNvSpPr/>
            <p:nvPr/>
          </p:nvSpPr>
          <p:spPr>
            <a:xfrm>
              <a:off x="0" y="0"/>
              <a:ext cx="3657600" cy="731520"/>
            </a:xfrm>
            <a:custGeom>
              <a:rect b="b" l="l" r="r" t="t"/>
              <a:pathLst>
                <a:path extrusionOk="0" h="731520" w="3657600">
                  <a:moveTo>
                    <a:pt x="0" y="0"/>
                  </a:moveTo>
                  <a:lnTo>
                    <a:pt x="3657600" y="0"/>
                  </a:lnTo>
                  <a:lnTo>
                    <a:pt x="3657600" y="731520"/>
                  </a:lnTo>
                  <a:lnTo>
                    <a:pt x="0" y="731520"/>
                  </a:lnTo>
                  <a:close/>
                </a:path>
              </a:pathLst>
            </a:custGeom>
            <a:blipFill rotWithShape="1">
              <a:blip r:embed="rId3">
                <a:alphaModFix amt="0"/>
              </a:blip>
              <a:stretch>
                <a:fillRect b="-47424" l="0" r="0" t="-47424"/>
              </a:stretch>
            </a:blipFill>
            <a:ln>
              <a:noFill/>
            </a:ln>
          </p:spPr>
        </p:sp>
        <p:sp>
          <p:nvSpPr>
            <p:cNvPr id="129" name="Google Shape;129;p3"/>
            <p:cNvSpPr txBox="1"/>
            <p:nvPr/>
          </p:nvSpPr>
          <p:spPr>
            <a:xfrm>
              <a:off x="0" y="9525"/>
              <a:ext cx="3657600" cy="72199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1" i="0" lang="en-US" sz="2799" u="none" cap="none" strike="noStrike">
                  <a:solidFill>
                    <a:srgbClr val="F87171"/>
                  </a:solidFill>
                  <a:latin typeface="Montserrat"/>
                  <a:ea typeface="Montserrat"/>
                  <a:cs typeface="Montserrat"/>
                  <a:sym typeface="Montserrat"/>
                </a:rPr>
                <a:t>BEFORE</a:t>
              </a:r>
              <a:endParaRPr/>
            </a:p>
          </p:txBody>
        </p:sp>
      </p:grpSp>
      <p:grpSp>
        <p:nvGrpSpPr>
          <p:cNvPr id="130" name="Google Shape;130;p3"/>
          <p:cNvGrpSpPr/>
          <p:nvPr/>
        </p:nvGrpSpPr>
        <p:grpSpPr>
          <a:xfrm>
            <a:off x="721995" y="2093595"/>
            <a:ext cx="7882890" cy="3310890"/>
            <a:chOff x="0" y="0"/>
            <a:chExt cx="10510520" cy="4414520"/>
          </a:xfrm>
        </p:grpSpPr>
        <p:sp>
          <p:nvSpPr>
            <p:cNvPr id="131" name="Google Shape;131;p3"/>
            <p:cNvSpPr/>
            <p:nvPr/>
          </p:nvSpPr>
          <p:spPr>
            <a:xfrm>
              <a:off x="12700" y="12700"/>
              <a:ext cx="10485120" cy="4389120"/>
            </a:xfrm>
            <a:custGeom>
              <a:rect b="b" l="l" r="r" t="t"/>
              <a:pathLst>
                <a:path extrusionOk="0" h="4389120" w="10485120">
                  <a:moveTo>
                    <a:pt x="0" y="0"/>
                  </a:moveTo>
                  <a:lnTo>
                    <a:pt x="10485120" y="0"/>
                  </a:lnTo>
                  <a:lnTo>
                    <a:pt x="10485120" y="4389120"/>
                  </a:lnTo>
                  <a:lnTo>
                    <a:pt x="0" y="4389120"/>
                  </a:lnTo>
                  <a:close/>
                </a:path>
              </a:pathLst>
            </a:custGeom>
            <a:solidFill>
              <a:srgbClr val="0D1117"/>
            </a:solidFill>
            <a:ln>
              <a:noFill/>
            </a:ln>
          </p:spPr>
        </p:sp>
        <p:sp>
          <p:nvSpPr>
            <p:cNvPr id="132" name="Google Shape;132;p3"/>
            <p:cNvSpPr/>
            <p:nvPr/>
          </p:nvSpPr>
          <p:spPr>
            <a:xfrm>
              <a:off x="0" y="0"/>
              <a:ext cx="10510520" cy="4414520"/>
            </a:xfrm>
            <a:custGeom>
              <a:rect b="b" l="l" r="r" t="t"/>
              <a:pathLst>
                <a:path extrusionOk="0" h="4414520" w="10510520">
                  <a:moveTo>
                    <a:pt x="12700" y="0"/>
                  </a:moveTo>
                  <a:lnTo>
                    <a:pt x="10497820" y="0"/>
                  </a:lnTo>
                  <a:cubicBezTo>
                    <a:pt x="10504805" y="0"/>
                    <a:pt x="10510520" y="5715"/>
                    <a:pt x="10510520" y="12700"/>
                  </a:cubicBezTo>
                  <a:lnTo>
                    <a:pt x="10510520" y="4401820"/>
                  </a:lnTo>
                  <a:cubicBezTo>
                    <a:pt x="10510520" y="4408805"/>
                    <a:pt x="10504805" y="4414520"/>
                    <a:pt x="10497820" y="4414520"/>
                  </a:cubicBezTo>
                  <a:lnTo>
                    <a:pt x="12700" y="4414520"/>
                  </a:lnTo>
                  <a:cubicBezTo>
                    <a:pt x="5715" y="4414520"/>
                    <a:pt x="0" y="4408805"/>
                    <a:pt x="0" y="4401820"/>
                  </a:cubicBezTo>
                  <a:lnTo>
                    <a:pt x="0" y="12700"/>
                  </a:lnTo>
                  <a:cubicBezTo>
                    <a:pt x="0" y="5715"/>
                    <a:pt x="5715" y="0"/>
                    <a:pt x="12700" y="0"/>
                  </a:cubicBezTo>
                  <a:moveTo>
                    <a:pt x="12700" y="25400"/>
                  </a:moveTo>
                  <a:lnTo>
                    <a:pt x="12700" y="12700"/>
                  </a:lnTo>
                  <a:lnTo>
                    <a:pt x="25400" y="12700"/>
                  </a:lnTo>
                  <a:lnTo>
                    <a:pt x="25400" y="4401820"/>
                  </a:lnTo>
                  <a:lnTo>
                    <a:pt x="12700" y="4401820"/>
                  </a:lnTo>
                  <a:lnTo>
                    <a:pt x="12700" y="4389120"/>
                  </a:lnTo>
                  <a:lnTo>
                    <a:pt x="10497820" y="4389120"/>
                  </a:lnTo>
                  <a:lnTo>
                    <a:pt x="10497820" y="4401820"/>
                  </a:lnTo>
                  <a:lnTo>
                    <a:pt x="10485120" y="4401820"/>
                  </a:lnTo>
                  <a:lnTo>
                    <a:pt x="10485120" y="12700"/>
                  </a:lnTo>
                  <a:lnTo>
                    <a:pt x="10497820" y="12700"/>
                  </a:lnTo>
                  <a:lnTo>
                    <a:pt x="10497820" y="25400"/>
                  </a:lnTo>
                  <a:lnTo>
                    <a:pt x="12700" y="25400"/>
                  </a:lnTo>
                  <a:close/>
                </a:path>
              </a:pathLst>
            </a:cu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3" name="Google Shape;133;p3"/>
          <p:cNvSpPr txBox="1"/>
          <p:nvPr/>
        </p:nvSpPr>
        <p:spPr>
          <a:xfrm>
            <a:off x="1097280" y="2238375"/>
            <a:ext cx="7223760" cy="297370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"Effect": "Allow",</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"Action": "iam:PassRole",</a:t>
            </a:r>
            <a:endParaRPr/>
          </a:p>
          <a:p>
            <a:pPr indent="0" lvl="0" marL="0" marR="0" rtl="0" algn="l">
              <a:lnSpc>
                <a:spcPct val="119958"/>
              </a:lnSpc>
              <a:spcBef>
                <a:spcPts val="0"/>
              </a:spcBef>
              <a:spcAft>
                <a:spcPts val="0"/>
              </a:spcAft>
              <a:buNone/>
            </a:pPr>
            <a:r>
              <a:rPr b="0" i="0" lang="en-US" sz="2400" u="none" cap="none" strike="noStrike">
                <a:solidFill>
                  <a:srgbClr val="F87171"/>
                </a:solidFill>
                <a:latin typeface="Consolas"/>
                <a:ea typeface="Consolas"/>
                <a:cs typeface="Consolas"/>
                <a:sym typeface="Consolas"/>
              </a:rPr>
              <a:t>  "Resource": "*"</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a:t>
            </a:r>
            <a:endParaRPr/>
          </a:p>
        </p:txBody>
      </p:sp>
      <p:grpSp>
        <p:nvGrpSpPr>
          <p:cNvPr id="134" name="Google Shape;134;p3"/>
          <p:cNvGrpSpPr/>
          <p:nvPr/>
        </p:nvGrpSpPr>
        <p:grpSpPr>
          <a:xfrm>
            <a:off x="731520" y="5472113"/>
            <a:ext cx="7863840" cy="562928"/>
            <a:chOff x="0" y="-19050"/>
            <a:chExt cx="10485120" cy="750570"/>
          </a:xfrm>
        </p:grpSpPr>
        <p:sp>
          <p:nvSpPr>
            <p:cNvPr id="135" name="Google Shape;135;p3"/>
            <p:cNvSpPr/>
            <p:nvPr/>
          </p:nvSpPr>
          <p:spPr>
            <a:xfrm>
              <a:off x="0" y="0"/>
              <a:ext cx="10485120" cy="731520"/>
            </a:xfrm>
            <a:custGeom>
              <a:rect b="b" l="l" r="r" t="t"/>
              <a:pathLst>
                <a:path extrusionOk="0" h="731520" w="10485120">
                  <a:moveTo>
                    <a:pt x="0" y="0"/>
                  </a:moveTo>
                  <a:lnTo>
                    <a:pt x="10485120" y="0"/>
                  </a:lnTo>
                  <a:lnTo>
                    <a:pt x="10485120" y="731520"/>
                  </a:lnTo>
                  <a:lnTo>
                    <a:pt x="0" y="731520"/>
                  </a:lnTo>
                  <a:close/>
                </a:path>
              </a:pathLst>
            </a:custGeom>
            <a:blipFill rotWithShape="1">
              <a:blip r:embed="rId3">
                <a:alphaModFix amt="0"/>
              </a:blip>
              <a:stretch>
                <a:fillRect b="-229267" l="0" r="0" t="-229267"/>
              </a:stretch>
            </a:blipFill>
            <a:ln>
              <a:noFill/>
            </a:ln>
          </p:spPr>
        </p:sp>
        <p:sp>
          <p:nvSpPr>
            <p:cNvPr id="136" name="Google Shape;136;p3"/>
            <p:cNvSpPr txBox="1"/>
            <p:nvPr/>
          </p:nvSpPr>
          <p:spPr>
            <a:xfrm>
              <a:off x="0" y="-19050"/>
              <a:ext cx="10485120" cy="750570"/>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0" i="1" lang="en-US" sz="2799" u="none" cap="none" strike="noStrike">
                  <a:solidFill>
                    <a:srgbClr val="F87171"/>
                  </a:solidFill>
                  <a:latin typeface="Arimo"/>
                  <a:ea typeface="Arimo"/>
                  <a:cs typeface="Arimo"/>
                  <a:sym typeface="Arimo"/>
                </a:rPr>
                <a:t>Pass ANY role to ANY service</a:t>
              </a:r>
              <a:endParaRPr/>
            </a:p>
          </p:txBody>
        </p:sp>
      </p:grpSp>
      <p:grpSp>
        <p:nvGrpSpPr>
          <p:cNvPr id="137" name="Google Shape;137;p3"/>
          <p:cNvGrpSpPr/>
          <p:nvPr/>
        </p:nvGrpSpPr>
        <p:grpSpPr>
          <a:xfrm>
            <a:off x="9692640" y="1554480"/>
            <a:ext cx="2743200" cy="548640"/>
            <a:chOff x="0" y="0"/>
            <a:chExt cx="3657600" cy="731520"/>
          </a:xfrm>
        </p:grpSpPr>
        <p:sp>
          <p:nvSpPr>
            <p:cNvPr id="138" name="Google Shape;138;p3"/>
            <p:cNvSpPr/>
            <p:nvPr/>
          </p:nvSpPr>
          <p:spPr>
            <a:xfrm>
              <a:off x="0" y="0"/>
              <a:ext cx="3657600" cy="731520"/>
            </a:xfrm>
            <a:custGeom>
              <a:rect b="b" l="l" r="r" t="t"/>
              <a:pathLst>
                <a:path extrusionOk="0" h="731520" w="3657600">
                  <a:moveTo>
                    <a:pt x="0" y="0"/>
                  </a:moveTo>
                  <a:lnTo>
                    <a:pt x="3657600" y="0"/>
                  </a:lnTo>
                  <a:lnTo>
                    <a:pt x="3657600" y="731520"/>
                  </a:lnTo>
                  <a:lnTo>
                    <a:pt x="0" y="731520"/>
                  </a:lnTo>
                  <a:close/>
                </a:path>
              </a:pathLst>
            </a:custGeom>
            <a:blipFill rotWithShape="1">
              <a:blip r:embed="rId3">
                <a:alphaModFix amt="0"/>
              </a:blip>
              <a:stretch>
                <a:fillRect b="-47424" l="0" r="0" t="-47424"/>
              </a:stretch>
            </a:blipFill>
            <a:ln>
              <a:noFill/>
            </a:ln>
          </p:spPr>
        </p:sp>
        <p:sp>
          <p:nvSpPr>
            <p:cNvPr id="139" name="Google Shape;139;p3"/>
            <p:cNvSpPr txBox="1"/>
            <p:nvPr/>
          </p:nvSpPr>
          <p:spPr>
            <a:xfrm>
              <a:off x="0" y="9525"/>
              <a:ext cx="3657600" cy="72199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1" i="0" lang="en-US" sz="2799" u="none" cap="none" strike="noStrike">
                  <a:solidFill>
                    <a:srgbClr val="22D3EE"/>
                  </a:solidFill>
                  <a:latin typeface="Montserrat"/>
                  <a:ea typeface="Montserrat"/>
                  <a:cs typeface="Montserrat"/>
                  <a:sym typeface="Montserrat"/>
                </a:rPr>
                <a:t>AFTER</a:t>
              </a:r>
              <a:endParaRPr/>
            </a:p>
          </p:txBody>
        </p:sp>
      </p:grpSp>
      <p:grpSp>
        <p:nvGrpSpPr>
          <p:cNvPr id="140" name="Google Shape;140;p3"/>
          <p:cNvGrpSpPr/>
          <p:nvPr/>
        </p:nvGrpSpPr>
        <p:grpSpPr>
          <a:xfrm>
            <a:off x="9683115" y="2093595"/>
            <a:ext cx="7882890" cy="5139690"/>
            <a:chOff x="0" y="0"/>
            <a:chExt cx="10510520" cy="6852920"/>
          </a:xfrm>
        </p:grpSpPr>
        <p:sp>
          <p:nvSpPr>
            <p:cNvPr id="141" name="Google Shape;141;p3"/>
            <p:cNvSpPr/>
            <p:nvPr/>
          </p:nvSpPr>
          <p:spPr>
            <a:xfrm>
              <a:off x="12700" y="12700"/>
              <a:ext cx="10485120" cy="6827520"/>
            </a:xfrm>
            <a:custGeom>
              <a:rect b="b" l="l" r="r" t="t"/>
              <a:pathLst>
                <a:path extrusionOk="0" h="6827520" w="10485120">
                  <a:moveTo>
                    <a:pt x="0" y="0"/>
                  </a:moveTo>
                  <a:lnTo>
                    <a:pt x="10485120" y="0"/>
                  </a:lnTo>
                  <a:lnTo>
                    <a:pt x="10485120" y="6827520"/>
                  </a:lnTo>
                  <a:lnTo>
                    <a:pt x="0" y="6827520"/>
                  </a:lnTo>
                  <a:close/>
                </a:path>
              </a:pathLst>
            </a:custGeom>
            <a:solidFill>
              <a:srgbClr val="0D1117"/>
            </a:solidFill>
            <a:ln>
              <a:noFill/>
            </a:ln>
          </p:spPr>
        </p:sp>
        <p:sp>
          <p:nvSpPr>
            <p:cNvPr id="142" name="Google Shape;142;p3"/>
            <p:cNvSpPr/>
            <p:nvPr/>
          </p:nvSpPr>
          <p:spPr>
            <a:xfrm>
              <a:off x="0" y="0"/>
              <a:ext cx="10510520" cy="6852920"/>
            </a:xfrm>
            <a:custGeom>
              <a:rect b="b" l="l" r="r" t="t"/>
              <a:pathLst>
                <a:path extrusionOk="0" h="6852920" w="10510520">
                  <a:moveTo>
                    <a:pt x="12700" y="0"/>
                  </a:moveTo>
                  <a:lnTo>
                    <a:pt x="10497820" y="0"/>
                  </a:lnTo>
                  <a:cubicBezTo>
                    <a:pt x="10504805" y="0"/>
                    <a:pt x="10510520" y="5715"/>
                    <a:pt x="10510520" y="12700"/>
                  </a:cubicBezTo>
                  <a:lnTo>
                    <a:pt x="10510520" y="6840220"/>
                  </a:lnTo>
                  <a:cubicBezTo>
                    <a:pt x="10510520" y="6847205"/>
                    <a:pt x="10504805" y="6852920"/>
                    <a:pt x="10497820" y="6852920"/>
                  </a:cubicBezTo>
                  <a:lnTo>
                    <a:pt x="12700" y="6852920"/>
                  </a:lnTo>
                  <a:cubicBezTo>
                    <a:pt x="5715" y="6852920"/>
                    <a:pt x="0" y="6847205"/>
                    <a:pt x="0" y="6840220"/>
                  </a:cubicBezTo>
                  <a:lnTo>
                    <a:pt x="0" y="12700"/>
                  </a:lnTo>
                  <a:cubicBezTo>
                    <a:pt x="0" y="5715"/>
                    <a:pt x="5715" y="0"/>
                    <a:pt x="12700" y="0"/>
                  </a:cubicBezTo>
                  <a:moveTo>
                    <a:pt x="12700" y="25400"/>
                  </a:moveTo>
                  <a:lnTo>
                    <a:pt x="12700" y="12700"/>
                  </a:lnTo>
                  <a:lnTo>
                    <a:pt x="25400" y="12700"/>
                  </a:lnTo>
                  <a:lnTo>
                    <a:pt x="25400" y="6840220"/>
                  </a:lnTo>
                  <a:lnTo>
                    <a:pt x="12700" y="6840220"/>
                  </a:lnTo>
                  <a:lnTo>
                    <a:pt x="12700" y="6827520"/>
                  </a:lnTo>
                  <a:lnTo>
                    <a:pt x="10497820" y="6827520"/>
                  </a:lnTo>
                  <a:lnTo>
                    <a:pt x="10497820" y="6840220"/>
                  </a:lnTo>
                  <a:lnTo>
                    <a:pt x="10485120" y="6840220"/>
                  </a:lnTo>
                  <a:lnTo>
                    <a:pt x="10485120" y="12700"/>
                  </a:lnTo>
                  <a:lnTo>
                    <a:pt x="10497820" y="12700"/>
                  </a:lnTo>
                  <a:lnTo>
                    <a:pt x="10497820" y="25400"/>
                  </a:lnTo>
                  <a:lnTo>
                    <a:pt x="12700" y="25400"/>
                  </a:lnTo>
                  <a:close/>
                </a:path>
              </a:pathLst>
            </a:cu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3" name="Google Shape;143;p3"/>
          <p:cNvSpPr/>
          <p:nvPr/>
        </p:nvSpPr>
        <p:spPr>
          <a:xfrm>
            <a:off x="9692640" y="2103120"/>
            <a:ext cx="109728" cy="5120640"/>
          </a:xfrm>
          <a:custGeom>
            <a:rect b="b" l="l" r="r" t="t"/>
            <a:pathLst>
              <a:path extrusionOk="0" h="6827520" w="146304">
                <a:moveTo>
                  <a:pt x="0" y="0"/>
                </a:moveTo>
                <a:lnTo>
                  <a:pt x="146304" y="0"/>
                </a:lnTo>
                <a:lnTo>
                  <a:pt x="146304" y="6827520"/>
                </a:lnTo>
                <a:lnTo>
                  <a:pt x="0" y="6827520"/>
                </a:lnTo>
                <a:close/>
              </a:path>
            </a:pathLst>
          </a:custGeom>
          <a:solidFill>
            <a:srgbClr val="22D3EE"/>
          </a:solidFill>
          <a:ln>
            <a:noFill/>
          </a:ln>
        </p:spPr>
      </p:sp>
      <p:sp>
        <p:nvSpPr>
          <p:cNvPr id="144" name="Google Shape;144;p3"/>
          <p:cNvSpPr txBox="1"/>
          <p:nvPr/>
        </p:nvSpPr>
        <p:spPr>
          <a:xfrm>
            <a:off x="10058400" y="2238375"/>
            <a:ext cx="7223760" cy="480250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"Effect": "Allow",</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"Action": "iam:PassRole",</a:t>
            </a:r>
            <a:endParaRPr/>
          </a:p>
          <a:p>
            <a:pPr indent="0" lvl="0" marL="0" marR="0" rtl="0" algn="l">
              <a:lnSpc>
                <a:spcPct val="119958"/>
              </a:lnSpc>
              <a:spcBef>
                <a:spcPts val="0"/>
              </a:spcBef>
              <a:spcAft>
                <a:spcPts val="0"/>
              </a:spcAft>
              <a:buNone/>
            </a:pPr>
            <a:r>
              <a:rPr b="0" i="0" lang="en-US" sz="2400" u="none" cap="none" strike="noStrike">
                <a:solidFill>
                  <a:srgbClr val="A78BFA"/>
                </a:solidFill>
                <a:latin typeface="Consolas"/>
                <a:ea typeface="Consolas"/>
                <a:cs typeface="Consolas"/>
                <a:sym typeface="Consolas"/>
              </a:rPr>
              <a:t>  "Resource": "arn:...iamws-ci-runner-role"</a:t>
            </a:r>
            <a:endParaRPr/>
          </a:p>
          <a:p>
            <a:pPr indent="0" lvl="0" marL="0" marR="0" rtl="0" algn="l">
              <a:lnSpc>
                <a:spcPct val="119958"/>
              </a:lnSpc>
              <a:spcBef>
                <a:spcPts val="0"/>
              </a:spcBef>
              <a:spcAft>
                <a:spcPts val="0"/>
              </a:spcAft>
              <a:buNone/>
            </a:pPr>
            <a:r>
              <a:rPr b="0" i="0" lang="en-US" sz="2400" u="none" cap="none" strike="noStrike">
                <a:solidFill>
                  <a:srgbClr val="F87171"/>
                </a:solidFill>
                <a:latin typeface="Consolas"/>
                <a:ea typeface="Consolas"/>
                <a:cs typeface="Consolas"/>
                <a:sym typeface="Consolas"/>
              </a:rPr>
              <a:t>  "Condition": {</a:t>
            </a:r>
            <a:endParaRPr/>
          </a:p>
          <a:p>
            <a:pPr indent="0" lvl="0" marL="0" marR="0" rtl="0" algn="l">
              <a:lnSpc>
                <a:spcPct val="119958"/>
              </a:lnSpc>
              <a:spcBef>
                <a:spcPts val="0"/>
              </a:spcBef>
              <a:spcAft>
                <a:spcPts val="0"/>
              </a:spcAft>
              <a:buNone/>
            </a:pPr>
            <a:r>
              <a:rPr b="0" i="0" lang="en-US" sz="2400" u="none" cap="none" strike="noStrike">
                <a:solidFill>
                  <a:srgbClr val="F87171"/>
                </a:solidFill>
                <a:latin typeface="Consolas"/>
                <a:ea typeface="Consolas"/>
                <a:cs typeface="Consolas"/>
                <a:sym typeface="Consolas"/>
              </a:rPr>
              <a:t>    "StringEquals": {</a:t>
            </a:r>
            <a:endParaRPr/>
          </a:p>
          <a:p>
            <a:pPr indent="0" lvl="0" marL="0" marR="0" rtl="0" algn="l">
              <a:lnSpc>
                <a:spcPct val="119958"/>
              </a:lnSpc>
              <a:spcBef>
                <a:spcPts val="0"/>
              </a:spcBef>
              <a:spcAft>
                <a:spcPts val="0"/>
              </a:spcAft>
              <a:buNone/>
            </a:pPr>
            <a:r>
              <a:rPr b="0" i="0" lang="en-US" sz="2400" u="none" cap="none" strike="noStrike">
                <a:solidFill>
                  <a:srgbClr val="F87171"/>
                </a:solidFill>
                <a:latin typeface="Consolas"/>
                <a:ea typeface="Consolas"/>
                <a:cs typeface="Consolas"/>
                <a:sym typeface="Consolas"/>
              </a:rPr>
              <a:t>      "iam:PassedToService":</a:t>
            </a:r>
            <a:endParaRPr/>
          </a:p>
          <a:p>
            <a:pPr indent="0" lvl="0" marL="0" marR="0" rtl="0" algn="l">
              <a:lnSpc>
                <a:spcPct val="119958"/>
              </a:lnSpc>
              <a:spcBef>
                <a:spcPts val="0"/>
              </a:spcBef>
              <a:spcAft>
                <a:spcPts val="0"/>
              </a:spcAft>
              <a:buNone/>
            </a:pPr>
            <a:r>
              <a:rPr b="0" i="0" lang="en-US" sz="2400" u="none" cap="none" strike="noStrike">
                <a:solidFill>
                  <a:srgbClr val="F87171"/>
                </a:solidFill>
                <a:latin typeface="Consolas"/>
                <a:ea typeface="Consolas"/>
                <a:cs typeface="Consolas"/>
                <a:sym typeface="Consolas"/>
              </a:rPr>
              <a:t>        "ec2.amazonaws.com"</a:t>
            </a:r>
            <a:endParaRPr/>
          </a:p>
          <a:p>
            <a:pPr indent="0" lvl="0" marL="0" marR="0" rtl="0" algn="l">
              <a:lnSpc>
                <a:spcPct val="119958"/>
              </a:lnSpc>
              <a:spcBef>
                <a:spcPts val="0"/>
              </a:spcBef>
              <a:spcAft>
                <a:spcPts val="0"/>
              </a:spcAft>
              <a:buNone/>
            </a:pPr>
            <a:r>
              <a:rPr b="0" i="0" lang="en-US" sz="2400" u="none" cap="none" strike="noStrike">
                <a:solidFill>
                  <a:srgbClr val="F87171"/>
                </a:solidFill>
                <a:latin typeface="Consolas"/>
                <a:ea typeface="Consolas"/>
                <a:cs typeface="Consolas"/>
                <a:sym typeface="Consolas"/>
              </a:rPr>
              <a:t>    }</a:t>
            </a:r>
            <a:endParaRPr/>
          </a:p>
          <a:p>
            <a:pPr indent="0" lvl="0" marL="0" marR="0" rtl="0" algn="l">
              <a:lnSpc>
                <a:spcPct val="119958"/>
              </a:lnSpc>
              <a:spcBef>
                <a:spcPts val="0"/>
              </a:spcBef>
              <a:spcAft>
                <a:spcPts val="0"/>
              </a:spcAft>
              <a:buNone/>
            </a:pPr>
            <a:r>
              <a:rPr b="0" i="0" lang="en-US" sz="2400" u="none" cap="none" strike="noStrike">
                <a:solidFill>
                  <a:srgbClr val="F87171"/>
                </a:solidFill>
                <a:latin typeface="Consolas"/>
                <a:ea typeface="Consolas"/>
                <a:cs typeface="Consolas"/>
                <a:sym typeface="Consolas"/>
              </a:rPr>
              <a:t>  }</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a:t>
            </a:r>
            <a:endParaRPr/>
          </a:p>
        </p:txBody>
      </p:sp>
      <p:grpSp>
        <p:nvGrpSpPr>
          <p:cNvPr id="145" name="Google Shape;145;p3"/>
          <p:cNvGrpSpPr/>
          <p:nvPr/>
        </p:nvGrpSpPr>
        <p:grpSpPr>
          <a:xfrm>
            <a:off x="9692640" y="7300913"/>
            <a:ext cx="7863840" cy="562927"/>
            <a:chOff x="0" y="-19050"/>
            <a:chExt cx="10485120" cy="750570"/>
          </a:xfrm>
        </p:grpSpPr>
        <p:sp>
          <p:nvSpPr>
            <p:cNvPr id="146" name="Google Shape;146;p3"/>
            <p:cNvSpPr/>
            <p:nvPr/>
          </p:nvSpPr>
          <p:spPr>
            <a:xfrm>
              <a:off x="0" y="0"/>
              <a:ext cx="10485120" cy="731520"/>
            </a:xfrm>
            <a:custGeom>
              <a:rect b="b" l="l" r="r" t="t"/>
              <a:pathLst>
                <a:path extrusionOk="0" h="731520" w="10485120">
                  <a:moveTo>
                    <a:pt x="0" y="0"/>
                  </a:moveTo>
                  <a:lnTo>
                    <a:pt x="10485120" y="0"/>
                  </a:lnTo>
                  <a:lnTo>
                    <a:pt x="10485120" y="731520"/>
                  </a:lnTo>
                  <a:lnTo>
                    <a:pt x="0" y="731520"/>
                  </a:lnTo>
                  <a:close/>
                </a:path>
              </a:pathLst>
            </a:custGeom>
            <a:blipFill rotWithShape="1">
              <a:blip r:embed="rId3">
                <a:alphaModFix amt="0"/>
              </a:blip>
              <a:stretch>
                <a:fillRect b="-229267" l="0" r="0" t="-229267"/>
              </a:stretch>
            </a:blipFill>
            <a:ln>
              <a:noFill/>
            </a:ln>
          </p:spPr>
        </p:sp>
        <p:sp>
          <p:nvSpPr>
            <p:cNvPr id="147" name="Google Shape;147;p3"/>
            <p:cNvSpPr txBox="1"/>
            <p:nvPr/>
          </p:nvSpPr>
          <p:spPr>
            <a:xfrm>
              <a:off x="0" y="-19050"/>
              <a:ext cx="10485120" cy="750570"/>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0" i="1" lang="en-US" sz="2799" u="none" cap="none" strike="noStrike">
                  <a:solidFill>
                    <a:srgbClr val="22D3EE"/>
                  </a:solidFill>
                  <a:latin typeface="Arimo"/>
                  <a:ea typeface="Arimo"/>
                  <a:cs typeface="Arimo"/>
                  <a:sym typeface="Arimo"/>
                </a:rPr>
                <a:t>Pass ONE role to ONE service</a:t>
              </a:r>
              <a:endParaRPr/>
            </a:p>
          </p:txBody>
        </p:sp>
      </p:grpSp>
      <p:grpSp>
        <p:nvGrpSpPr>
          <p:cNvPr id="148" name="Google Shape;148;p3"/>
          <p:cNvGrpSpPr/>
          <p:nvPr/>
        </p:nvGrpSpPr>
        <p:grpSpPr>
          <a:xfrm>
            <a:off x="914400" y="8391049"/>
            <a:ext cx="16459200" cy="935831"/>
            <a:chOff x="0" y="-28575"/>
            <a:chExt cx="21945600" cy="1247775"/>
          </a:xfrm>
        </p:grpSpPr>
        <p:sp>
          <p:nvSpPr>
            <p:cNvPr id="149" name="Google Shape;149;p3"/>
            <p:cNvSpPr/>
            <p:nvPr/>
          </p:nvSpPr>
          <p:spPr>
            <a:xfrm>
              <a:off x="0" y="0"/>
              <a:ext cx="21945600" cy="1219200"/>
            </a:xfrm>
            <a:custGeom>
              <a:rect b="b" l="l" r="r" t="t"/>
              <a:pathLst>
                <a:path extrusionOk="0" h="1219200" w="21945600">
                  <a:moveTo>
                    <a:pt x="0" y="0"/>
                  </a:moveTo>
                  <a:lnTo>
                    <a:pt x="21945600" y="0"/>
                  </a:lnTo>
                  <a:lnTo>
                    <a:pt x="21945600" y="1219200"/>
                  </a:lnTo>
                  <a:lnTo>
                    <a:pt x="0" y="1219200"/>
                  </a:lnTo>
                  <a:close/>
                </a:path>
              </a:pathLst>
            </a:custGeom>
            <a:blipFill rotWithShape="1">
              <a:blip r:embed="rId3">
                <a:alphaModFix amt="0"/>
              </a:blip>
              <a:stretch>
                <a:fillRect b="-300701" l="0" r="0" t="-300708"/>
              </a:stretch>
            </a:blipFill>
            <a:ln>
              <a:noFill/>
            </a:ln>
          </p:spPr>
        </p:sp>
        <p:sp>
          <p:nvSpPr>
            <p:cNvPr id="150" name="Google Shape;150;p3"/>
            <p:cNvSpPr txBox="1"/>
            <p:nvPr/>
          </p:nvSpPr>
          <p:spPr>
            <a:xfrm>
              <a:off x="0" y="-28575"/>
              <a:ext cx="21945600" cy="124777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200" u="none" cap="none" strike="noStrike">
                  <a:solidFill>
                    <a:srgbClr val="CBD5E1"/>
                  </a:solidFill>
                  <a:latin typeface="Arimo"/>
                  <a:ea typeface="Arimo"/>
                  <a:cs typeface="Arimo"/>
                  <a:sym typeface="Arimo"/>
                </a:rPr>
                <a:t>Two fixes: </a:t>
              </a:r>
              <a:r>
                <a:rPr b="1" i="0" lang="en-US" sz="3200" u="none" cap="none" strike="noStrike">
                  <a:solidFill>
                    <a:srgbClr val="A78BFA"/>
                  </a:solidFill>
                  <a:latin typeface="Arimo"/>
                  <a:ea typeface="Arimo"/>
                  <a:cs typeface="Arimo"/>
                  <a:sym typeface="Arimo"/>
                </a:rPr>
                <a:t>Resource constraint</a:t>
              </a:r>
              <a:r>
                <a:rPr b="0" i="0" lang="en-US" sz="3200" u="none" cap="none" strike="noStrike">
                  <a:solidFill>
                    <a:srgbClr val="CBD5E1"/>
                  </a:solidFill>
                  <a:latin typeface="Arimo"/>
                  <a:ea typeface="Arimo"/>
                  <a:cs typeface="Arimo"/>
                  <a:sym typeface="Arimo"/>
                </a:rPr>
                <a:t> (WHICH role) + </a:t>
              </a:r>
              <a:r>
                <a:rPr b="1" i="0" lang="en-US" sz="3200" u="none" cap="none" strike="noStrike">
                  <a:solidFill>
                    <a:srgbClr val="F87171"/>
                  </a:solidFill>
                  <a:latin typeface="Arimo"/>
                  <a:ea typeface="Arimo"/>
                  <a:cs typeface="Arimo"/>
                  <a:sym typeface="Arimo"/>
                </a:rPr>
                <a:t>Condition key</a:t>
              </a:r>
              <a:r>
                <a:rPr b="0" i="0" lang="en-US" sz="3200" u="none" cap="none" strike="noStrike">
                  <a:solidFill>
                    <a:srgbClr val="CBD5E1"/>
                  </a:solidFill>
                  <a:latin typeface="Arimo"/>
                  <a:ea typeface="Arimo"/>
                  <a:cs typeface="Arimo"/>
                  <a:sym typeface="Arimo"/>
                </a:rPr>
                <a:t> (WHICH service)</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bdc76046dd_0_3"/>
          <p:cNvSpPr/>
          <p:nvPr/>
        </p:nvSpPr>
        <p:spPr>
          <a:xfrm>
            <a:off x="499811" y="182880"/>
            <a:ext cx="16459200" cy="1188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800"/>
              <a:buFont typeface="Montserrat"/>
              <a:buNone/>
            </a:pPr>
            <a:r>
              <a:rPr b="1" i="0" lang="en-US" sz="6800" u="none" cap="none" strike="noStrike">
                <a:solidFill>
                  <a:srgbClr val="FFFFFF"/>
                </a:solidFill>
                <a:latin typeface="Montserrat"/>
                <a:ea typeface="Montserrat"/>
                <a:cs typeface="Montserrat"/>
                <a:sym typeface="Montserrat"/>
              </a:rPr>
              <a:t>Permissions Boundaries: The Ceiling</a:t>
            </a:r>
            <a:endParaRPr b="0" i="0" sz="6800" u="none" cap="none" strike="noStrike">
              <a:solidFill>
                <a:schemeClr val="dk1"/>
              </a:solidFill>
              <a:latin typeface="Calibri"/>
              <a:ea typeface="Calibri"/>
              <a:cs typeface="Calibri"/>
              <a:sym typeface="Calibri"/>
            </a:endParaRPr>
          </a:p>
        </p:txBody>
      </p:sp>
      <p:sp>
        <p:nvSpPr>
          <p:cNvPr id="160" name="Google Shape;160;g3bdc76046dd_0_3"/>
          <p:cNvSpPr/>
          <p:nvPr/>
        </p:nvSpPr>
        <p:spPr>
          <a:xfrm>
            <a:off x="472402" y="2022390"/>
            <a:ext cx="8412600" cy="1280100"/>
          </a:xfrm>
          <a:prstGeom prst="rect">
            <a:avLst/>
          </a:prstGeom>
          <a:solidFill>
            <a:srgbClr val="1A2540"/>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1" name="Google Shape;161;g3bdc76046dd_0_3"/>
          <p:cNvSpPr/>
          <p:nvPr/>
        </p:nvSpPr>
        <p:spPr>
          <a:xfrm>
            <a:off x="472402" y="2022390"/>
            <a:ext cx="109800" cy="1280100"/>
          </a:xfrm>
          <a:prstGeom prst="rect">
            <a:avLst/>
          </a:prstGeom>
          <a:solidFill>
            <a:srgbClr val="F87171"/>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2" name="Google Shape;162;g3bdc76046dd_0_3"/>
          <p:cNvSpPr/>
          <p:nvPr/>
        </p:nvSpPr>
        <p:spPr>
          <a:xfrm>
            <a:off x="838162" y="2022390"/>
            <a:ext cx="78639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87171"/>
              </a:buClr>
              <a:buSzPts val="3200"/>
              <a:buFont typeface="Montserrat"/>
              <a:buNone/>
            </a:pPr>
            <a:r>
              <a:rPr b="1" i="0" lang="en-US" sz="3200" u="none" cap="none" strike="noStrike">
                <a:solidFill>
                  <a:srgbClr val="F87171"/>
                </a:solidFill>
                <a:latin typeface="Montserrat"/>
                <a:ea typeface="Montserrat"/>
                <a:cs typeface="Montserrat"/>
                <a:sym typeface="Montserrat"/>
              </a:rPr>
              <a:t>Identity Policy</a:t>
            </a:r>
            <a:endParaRPr b="0" i="0" sz="3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BD5E1"/>
              </a:buClr>
              <a:buSzPts val="2600"/>
              <a:buFont typeface="Consolas"/>
              <a:buNone/>
            </a:pPr>
            <a:r>
              <a:rPr b="0" i="0" lang="en-US" sz="2600" u="none" cap="none" strike="noStrike">
                <a:solidFill>
                  <a:srgbClr val="CBD5E1"/>
                </a:solidFill>
                <a:latin typeface="Consolas"/>
                <a:ea typeface="Consolas"/>
                <a:cs typeface="Consolas"/>
                <a:sym typeface="Consolas"/>
              </a:rPr>
              <a:t>Allow *:* (attacker-modified)</a:t>
            </a:r>
            <a:endParaRPr b="0" i="0" sz="3200" u="none" cap="none" strike="noStrike">
              <a:solidFill>
                <a:schemeClr val="dk1"/>
              </a:solidFill>
              <a:latin typeface="Calibri"/>
              <a:ea typeface="Calibri"/>
              <a:cs typeface="Calibri"/>
              <a:sym typeface="Calibri"/>
            </a:endParaRPr>
          </a:p>
        </p:txBody>
      </p:sp>
      <p:sp>
        <p:nvSpPr>
          <p:cNvPr id="163" name="Google Shape;163;g3bdc76046dd_0_3"/>
          <p:cNvSpPr/>
          <p:nvPr/>
        </p:nvSpPr>
        <p:spPr>
          <a:xfrm>
            <a:off x="472402" y="3668310"/>
            <a:ext cx="4626900" cy="1280100"/>
          </a:xfrm>
          <a:prstGeom prst="rect">
            <a:avLst/>
          </a:prstGeom>
          <a:solidFill>
            <a:srgbClr val="1A2540"/>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4" name="Google Shape;164;g3bdc76046dd_0_3"/>
          <p:cNvSpPr/>
          <p:nvPr/>
        </p:nvSpPr>
        <p:spPr>
          <a:xfrm>
            <a:off x="472402" y="3668310"/>
            <a:ext cx="109800" cy="1280100"/>
          </a:xfrm>
          <a:prstGeom prst="rect">
            <a:avLst/>
          </a:prstGeom>
          <a:solidFill>
            <a:srgbClr val="22D3E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5" name="Google Shape;165;g3bdc76046dd_0_3"/>
          <p:cNvSpPr/>
          <p:nvPr/>
        </p:nvSpPr>
        <p:spPr>
          <a:xfrm>
            <a:off x="838162" y="3668310"/>
            <a:ext cx="40782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2D3EE"/>
              </a:buClr>
              <a:buSzPts val="3200"/>
              <a:buFont typeface="Montserrat"/>
              <a:buNone/>
            </a:pPr>
            <a:r>
              <a:rPr b="1" i="0" lang="en-US" sz="3200" u="none" cap="none" strike="noStrike">
                <a:solidFill>
                  <a:srgbClr val="22D3EE"/>
                </a:solidFill>
                <a:latin typeface="Montserrat"/>
                <a:ea typeface="Montserrat"/>
                <a:cs typeface="Montserrat"/>
                <a:sym typeface="Montserrat"/>
              </a:rPr>
              <a:t>× Boundary</a:t>
            </a:r>
            <a:endParaRPr b="0" i="0" sz="3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BD5E1"/>
              </a:buClr>
              <a:buSzPts val="2600"/>
              <a:buFont typeface="Consolas"/>
              <a:buNone/>
            </a:pPr>
            <a:r>
              <a:rPr b="0" i="0" lang="en-US" sz="2600" u="none" cap="none" strike="noStrike">
                <a:solidFill>
                  <a:srgbClr val="CBD5E1"/>
                </a:solidFill>
                <a:latin typeface="Consolas"/>
                <a:ea typeface="Consolas"/>
                <a:cs typeface="Consolas"/>
                <a:sym typeface="Consolas"/>
              </a:rPr>
              <a:t>Allow s3:*, ec2:Describe*</a:t>
            </a:r>
            <a:endParaRPr b="0" i="0" sz="3200" u="none" cap="none" strike="noStrike">
              <a:solidFill>
                <a:schemeClr val="dk1"/>
              </a:solidFill>
              <a:latin typeface="Calibri"/>
              <a:ea typeface="Calibri"/>
              <a:cs typeface="Calibri"/>
              <a:sym typeface="Calibri"/>
            </a:endParaRPr>
          </a:p>
        </p:txBody>
      </p:sp>
      <p:sp>
        <p:nvSpPr>
          <p:cNvPr id="166" name="Google Shape;166;g3bdc76046dd_0_3"/>
          <p:cNvSpPr/>
          <p:nvPr/>
        </p:nvSpPr>
        <p:spPr>
          <a:xfrm>
            <a:off x="472402" y="5314230"/>
            <a:ext cx="4626900" cy="1280100"/>
          </a:xfrm>
          <a:prstGeom prst="rect">
            <a:avLst/>
          </a:prstGeom>
          <a:solidFill>
            <a:srgbClr val="1A2540"/>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7" name="Google Shape;167;g3bdc76046dd_0_3"/>
          <p:cNvSpPr/>
          <p:nvPr/>
        </p:nvSpPr>
        <p:spPr>
          <a:xfrm>
            <a:off x="472402" y="5314230"/>
            <a:ext cx="109800" cy="1280100"/>
          </a:xfrm>
          <a:prstGeom prst="rect">
            <a:avLst/>
          </a:prstGeom>
          <a:solidFill>
            <a:srgbClr val="F59E0B"/>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68" name="Google Shape;168;g3bdc76046dd_0_3"/>
          <p:cNvSpPr/>
          <p:nvPr/>
        </p:nvSpPr>
        <p:spPr>
          <a:xfrm>
            <a:off x="838162" y="5314230"/>
            <a:ext cx="4078200" cy="1280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59E0B"/>
              </a:buClr>
              <a:buSzPts val="3200"/>
              <a:buFont typeface="Montserrat"/>
              <a:buNone/>
            </a:pPr>
            <a:r>
              <a:rPr b="1" i="0" lang="en-US" sz="3200" u="none" cap="none" strike="noStrike">
                <a:solidFill>
                  <a:srgbClr val="F59E0B"/>
                </a:solidFill>
                <a:latin typeface="Montserrat"/>
                <a:ea typeface="Montserrat"/>
                <a:cs typeface="Montserrat"/>
                <a:sym typeface="Montserrat"/>
              </a:rPr>
              <a:t>= Effective</a:t>
            </a:r>
            <a:endParaRPr b="0" i="0" sz="3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BD5E1"/>
              </a:buClr>
              <a:buSzPts val="2600"/>
              <a:buFont typeface="Consolas"/>
              <a:buNone/>
            </a:pPr>
            <a:r>
              <a:rPr b="0" i="0" lang="en-US" sz="2600" u="none" cap="none" strike="noStrike">
                <a:solidFill>
                  <a:srgbClr val="CBD5E1"/>
                </a:solidFill>
                <a:latin typeface="Consolas"/>
                <a:ea typeface="Consolas"/>
                <a:cs typeface="Consolas"/>
                <a:sym typeface="Consolas"/>
              </a:rPr>
              <a:t>s3:*, ec2:Describe* (capped)</a:t>
            </a:r>
            <a:endParaRPr b="0" i="0" sz="3200" u="none" cap="none" strike="noStrike">
              <a:solidFill>
                <a:schemeClr val="dk1"/>
              </a:solidFill>
              <a:latin typeface="Calibri"/>
              <a:ea typeface="Calibri"/>
              <a:cs typeface="Calibri"/>
              <a:sym typeface="Calibri"/>
            </a:endParaRPr>
          </a:p>
        </p:txBody>
      </p:sp>
      <p:sp>
        <p:nvSpPr>
          <p:cNvPr id="169" name="Google Shape;169;g3bdc76046dd_0_3"/>
          <p:cNvSpPr/>
          <p:nvPr/>
        </p:nvSpPr>
        <p:spPr>
          <a:xfrm>
            <a:off x="9433522" y="2022390"/>
            <a:ext cx="7863900" cy="4572000"/>
          </a:xfrm>
          <a:prstGeom prst="rect">
            <a:avLst/>
          </a:prstGeom>
          <a:solidFill>
            <a:srgbClr val="0D1117"/>
          </a:solidFill>
          <a:ln cap="flat" cmpd="sng" w="9525">
            <a:solidFill>
              <a:srgbClr val="475569"/>
            </a:solidFill>
            <a:prstDash val="solid"/>
            <a:round/>
            <a:headEnd len="sm" w="sm" type="none"/>
            <a:tailEnd len="sm" w="sm" type="none"/>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70" name="Google Shape;170;g3bdc76046dd_0_3"/>
          <p:cNvSpPr/>
          <p:nvPr/>
        </p:nvSpPr>
        <p:spPr>
          <a:xfrm>
            <a:off x="9433522" y="2022390"/>
            <a:ext cx="109800" cy="4572000"/>
          </a:xfrm>
          <a:prstGeom prst="rect">
            <a:avLst/>
          </a:prstGeom>
          <a:solidFill>
            <a:srgbClr val="22D3EE"/>
          </a:solidFill>
          <a:ln>
            <a:noFill/>
          </a:ln>
        </p:spPr>
        <p:txBody>
          <a:bodyPr anchorCtr="0" anchor="ctr" bIns="182850" lIns="182850" spcFirstLastPara="1" rIns="182850" wrap="square" tIns="182850">
            <a:noAutofit/>
          </a:bodyPr>
          <a:lstStyle/>
          <a:p>
            <a:pPr indent="0" lvl="0" marL="0" rtl="0" algn="l">
              <a:spcBef>
                <a:spcPts val="0"/>
              </a:spcBef>
              <a:spcAft>
                <a:spcPts val="0"/>
              </a:spcAft>
              <a:buNone/>
            </a:pPr>
            <a:r>
              <a:t/>
            </a:r>
            <a:endParaRPr/>
          </a:p>
        </p:txBody>
      </p:sp>
      <p:sp>
        <p:nvSpPr>
          <p:cNvPr id="171" name="Google Shape;171;g3bdc76046dd_0_3"/>
          <p:cNvSpPr/>
          <p:nvPr/>
        </p:nvSpPr>
        <p:spPr>
          <a:xfrm>
            <a:off x="9799282" y="2296710"/>
            <a:ext cx="7223700" cy="4023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BD5E1"/>
              </a:buClr>
              <a:buSzPts val="2400"/>
              <a:buFont typeface="Consolas"/>
              <a:buNone/>
            </a:pPr>
            <a:r>
              <a:rPr b="0" i="0" lang="en-US" sz="2400" u="none" cap="none" strike="noStrike">
                <a:solidFill>
                  <a:srgbClr val="CBD5E1"/>
                </a:solidFill>
                <a:latin typeface="Consolas"/>
                <a:ea typeface="Consolas"/>
                <a:cs typeface="Consolas"/>
                <a:sym typeface="Consolas"/>
              </a:rPr>
              <a:t>{</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BD5E1"/>
              </a:buClr>
              <a:buSzPts val="2400"/>
              <a:buFont typeface="Consolas"/>
              <a:buNone/>
            </a:pPr>
            <a:r>
              <a:rPr b="0" i="0" lang="en-US" sz="2400" u="none" cap="none" strike="noStrike">
                <a:solidFill>
                  <a:srgbClr val="CBD5E1"/>
                </a:solidFill>
                <a:latin typeface="Consolas"/>
                <a:ea typeface="Consolas"/>
                <a:cs typeface="Consolas"/>
                <a:sym typeface="Consolas"/>
              </a:rPr>
              <a:t>  "Sid": "DenyPrivilegeEscalation",</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87171"/>
              </a:buClr>
              <a:buSzPts val="2400"/>
              <a:buFont typeface="Consolas"/>
              <a:buNone/>
            </a:pPr>
            <a:r>
              <a:rPr b="0" i="0" lang="en-US" sz="2400" u="none" cap="none" strike="noStrike">
                <a:solidFill>
                  <a:srgbClr val="F87171"/>
                </a:solidFill>
                <a:latin typeface="Consolas"/>
                <a:ea typeface="Consolas"/>
                <a:cs typeface="Consolas"/>
                <a:sym typeface="Consolas"/>
              </a:rPr>
              <a:t>  "Effect": "Deny",</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BD5E1"/>
              </a:buClr>
              <a:buSzPts val="2400"/>
              <a:buFont typeface="Consolas"/>
              <a:buNone/>
            </a:pPr>
            <a:r>
              <a:rPr b="0" i="0" lang="en-US" sz="2400" u="none" cap="none" strike="noStrike">
                <a:solidFill>
                  <a:srgbClr val="CBD5E1"/>
                </a:solidFill>
                <a:latin typeface="Consolas"/>
                <a:ea typeface="Consolas"/>
                <a:cs typeface="Consolas"/>
                <a:sym typeface="Consolas"/>
              </a:rPr>
              <a:t>  "Action": [</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BD5E1"/>
              </a:buClr>
              <a:buSzPts val="2400"/>
              <a:buFont typeface="Consolas"/>
              <a:buNone/>
            </a:pPr>
            <a:r>
              <a:rPr b="0" i="0" lang="en-US" sz="2400" u="none" cap="none" strike="noStrike">
                <a:solidFill>
                  <a:srgbClr val="CBD5E1"/>
                </a:solidFill>
                <a:latin typeface="Consolas"/>
                <a:ea typeface="Consolas"/>
                <a:cs typeface="Consolas"/>
                <a:sym typeface="Consolas"/>
              </a:rPr>
              <a:t>    "iam:CreatePolicyVersion",</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BD5E1"/>
              </a:buClr>
              <a:buSzPts val="2400"/>
              <a:buFont typeface="Consolas"/>
              <a:buNone/>
            </a:pPr>
            <a:r>
              <a:rPr b="0" i="0" lang="en-US" sz="2400" u="none" cap="none" strike="noStrike">
                <a:solidFill>
                  <a:srgbClr val="CBD5E1"/>
                </a:solidFill>
                <a:latin typeface="Consolas"/>
                <a:ea typeface="Consolas"/>
                <a:cs typeface="Consolas"/>
                <a:sym typeface="Consolas"/>
              </a:rPr>
              <a:t>    "iam:SetDefaultPolicyVersion",</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87171"/>
              </a:buClr>
              <a:buSzPts val="2400"/>
              <a:buFont typeface="Consolas"/>
              <a:buNone/>
            </a:pPr>
            <a:r>
              <a:rPr b="0" i="0" lang="en-US" sz="2400" u="none" cap="none" strike="noStrike">
                <a:solidFill>
                  <a:srgbClr val="F87171"/>
                </a:solidFill>
                <a:latin typeface="Consolas"/>
                <a:ea typeface="Consolas"/>
                <a:cs typeface="Consolas"/>
                <a:sym typeface="Consolas"/>
              </a:rPr>
              <a:t>    "iam:DeleteUserPermissionsBoundary",</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87171"/>
              </a:buClr>
              <a:buSzPts val="2400"/>
              <a:buFont typeface="Consolas"/>
              <a:buNone/>
            </a:pPr>
            <a:r>
              <a:rPr b="0" i="0" lang="en-US" sz="2400" u="none" cap="none" strike="noStrike">
                <a:solidFill>
                  <a:srgbClr val="F87171"/>
                </a:solidFill>
                <a:latin typeface="Consolas"/>
                <a:ea typeface="Consolas"/>
                <a:cs typeface="Consolas"/>
                <a:sym typeface="Consolas"/>
              </a:rPr>
              <a:t>    "iam:DeleteRolePermissionsBoundary"</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BD5E1"/>
              </a:buClr>
              <a:buSzPts val="2400"/>
              <a:buFont typeface="Consolas"/>
              <a:buNone/>
            </a:pPr>
            <a:r>
              <a:rPr b="0" i="0" lang="en-US" sz="2400" u="none" cap="none" strike="noStrike">
                <a:solidFill>
                  <a:srgbClr val="CBD5E1"/>
                </a:solidFill>
                <a:latin typeface="Consolas"/>
                <a:ea typeface="Consolas"/>
                <a:cs typeface="Consolas"/>
                <a:sym typeface="Consolas"/>
              </a:rPr>
              <a:t>  ],</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BD5E1"/>
              </a:buClr>
              <a:buSzPts val="2400"/>
              <a:buFont typeface="Consolas"/>
              <a:buNone/>
            </a:pPr>
            <a:r>
              <a:rPr b="0" i="0" lang="en-US" sz="2400" u="none" cap="none" strike="noStrike">
                <a:solidFill>
                  <a:srgbClr val="CBD5E1"/>
                </a:solidFill>
                <a:latin typeface="Consolas"/>
                <a:ea typeface="Consolas"/>
                <a:cs typeface="Consolas"/>
                <a:sym typeface="Consolas"/>
              </a:rPr>
              <a:t>  "Resource": "*"</a:t>
            </a:r>
            <a:endParaRPr b="0" i="0" sz="2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BD5E1"/>
              </a:buClr>
              <a:buSzPts val="2400"/>
              <a:buFont typeface="Consolas"/>
              <a:buNone/>
            </a:pPr>
            <a:r>
              <a:rPr b="0" i="0" lang="en-US" sz="2400" u="none" cap="none" strike="noStrike">
                <a:solidFill>
                  <a:srgbClr val="CBD5E1"/>
                </a:solidFill>
                <a:latin typeface="Consolas"/>
                <a:ea typeface="Consolas"/>
                <a:cs typeface="Consolas"/>
                <a:sym typeface="Consolas"/>
              </a:rPr>
              <a:t>}</a:t>
            </a:r>
            <a:endParaRPr b="0" i="0" sz="2400" u="none" cap="none" strike="noStrike">
              <a:solidFill>
                <a:schemeClr val="dk1"/>
              </a:solidFill>
              <a:latin typeface="Calibri"/>
              <a:ea typeface="Calibri"/>
              <a:cs typeface="Calibri"/>
              <a:sym typeface="Calibri"/>
            </a:endParaRPr>
          </a:p>
        </p:txBody>
      </p:sp>
      <p:sp>
        <p:nvSpPr>
          <p:cNvPr id="172" name="Google Shape;172;g3bdc76046dd_0_3"/>
          <p:cNvSpPr/>
          <p:nvPr/>
        </p:nvSpPr>
        <p:spPr>
          <a:xfrm>
            <a:off x="655282" y="7051590"/>
            <a:ext cx="16459200" cy="731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3000"/>
              <a:buFont typeface="Quattrocento Sans"/>
              <a:buNone/>
            </a:pPr>
            <a:r>
              <a:rPr b="0" i="0" lang="en-US" sz="3000" u="none" cap="none" strike="noStrike">
                <a:solidFill>
                  <a:srgbClr val="CBD5E1"/>
                </a:solidFill>
                <a:latin typeface="Quattrocento Sans"/>
                <a:ea typeface="Quattrocento Sans"/>
                <a:cs typeface="Quattrocento Sans"/>
                <a:sym typeface="Quattrocento Sans"/>
              </a:rPr>
              <a:t>Boundaries are attached to a principal (user or role). They limit what identity policies can grant.</a:t>
            </a:r>
            <a:endParaRPr b="0" i="0" sz="3000" u="none" cap="none" strike="noStrike">
              <a:solidFill>
                <a:schemeClr val="dk1"/>
              </a:solidFill>
              <a:latin typeface="Calibri"/>
              <a:ea typeface="Calibri"/>
              <a:cs typeface="Calibri"/>
              <a:sym typeface="Calibri"/>
            </a:endParaRPr>
          </a:p>
        </p:txBody>
      </p:sp>
      <p:sp>
        <p:nvSpPr>
          <p:cNvPr id="173" name="Google Shape;173;g3bdc76046dd_0_3"/>
          <p:cNvSpPr/>
          <p:nvPr/>
        </p:nvSpPr>
        <p:spPr>
          <a:xfrm>
            <a:off x="655282" y="8148870"/>
            <a:ext cx="16459200" cy="914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BD5E1"/>
              </a:buClr>
              <a:buSzPts val="3200"/>
              <a:buFont typeface="Quattrocento Sans"/>
              <a:buNone/>
            </a:pPr>
            <a:r>
              <a:rPr b="0" i="0" lang="en-US" sz="3200" u="none" cap="none" strike="noStrike">
                <a:solidFill>
                  <a:srgbClr val="CBD5E1"/>
                </a:solidFill>
                <a:latin typeface="Quattrocento Sans"/>
                <a:ea typeface="Quattrocento Sans"/>
                <a:cs typeface="Quattrocento Sans"/>
                <a:sym typeface="Quattrocento Sans"/>
              </a:rPr>
              <a:t>Always deny </a:t>
            </a:r>
            <a:r>
              <a:rPr b="1" i="0" lang="en-US" sz="3200" u="none" cap="none" strike="noStrike">
                <a:solidFill>
                  <a:srgbClr val="F87171"/>
                </a:solidFill>
                <a:latin typeface="Consolas"/>
                <a:ea typeface="Consolas"/>
                <a:cs typeface="Consolas"/>
                <a:sym typeface="Consolas"/>
              </a:rPr>
              <a:t>DeletePermissionsBoundary</a:t>
            </a:r>
            <a:r>
              <a:rPr b="0" i="0" lang="en-US" sz="3200" u="none" cap="none" strike="noStrike">
                <a:solidFill>
                  <a:srgbClr val="CBD5E1"/>
                </a:solidFill>
                <a:latin typeface="Quattrocento Sans"/>
                <a:ea typeface="Quattrocento Sans"/>
                <a:cs typeface="Quattrocento Sans"/>
                <a:sym typeface="Quattrocento Sans"/>
              </a:rPr>
              <a:t> in the boundary itself — otherwise the attacker removes it first.</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grpSp>
        <p:nvGrpSpPr>
          <p:cNvPr id="182" name="Google Shape;182;p4"/>
          <p:cNvGrpSpPr/>
          <p:nvPr/>
        </p:nvGrpSpPr>
        <p:grpSpPr>
          <a:xfrm>
            <a:off x="914400" y="417195"/>
            <a:ext cx="16459200" cy="1188720"/>
            <a:chOff x="0" y="0"/>
            <a:chExt cx="21945600" cy="1584960"/>
          </a:xfrm>
        </p:grpSpPr>
        <p:sp>
          <p:nvSpPr>
            <p:cNvPr id="183" name="Google Shape;183;p4"/>
            <p:cNvSpPr/>
            <p:nvPr/>
          </p:nvSpPr>
          <p:spPr>
            <a:xfrm>
              <a:off x="0" y="0"/>
              <a:ext cx="21945600" cy="1584960"/>
            </a:xfrm>
            <a:custGeom>
              <a:rect b="b" l="l" r="r" t="t"/>
              <a:pathLst>
                <a:path extrusionOk="0" h="1584960" w="21945600">
                  <a:moveTo>
                    <a:pt x="0" y="0"/>
                  </a:moveTo>
                  <a:lnTo>
                    <a:pt x="21945600" y="0"/>
                  </a:lnTo>
                  <a:lnTo>
                    <a:pt x="21945600" y="1584960"/>
                  </a:lnTo>
                  <a:lnTo>
                    <a:pt x="0" y="1584960"/>
                  </a:lnTo>
                  <a:close/>
                </a:path>
              </a:pathLst>
            </a:custGeom>
            <a:blipFill rotWithShape="1">
              <a:blip r:embed="rId3">
                <a:alphaModFix amt="0"/>
              </a:blip>
              <a:stretch>
                <a:fillRect b="-219774" l="0" r="0" t="-219774"/>
              </a:stretch>
            </a:blipFill>
            <a:ln>
              <a:noFill/>
            </a:ln>
          </p:spPr>
        </p:sp>
        <p:sp>
          <p:nvSpPr>
            <p:cNvPr id="184" name="Google Shape;184;p4"/>
            <p:cNvSpPr txBox="1"/>
            <p:nvPr/>
          </p:nvSpPr>
          <p:spPr>
            <a:xfrm>
              <a:off x="0" y="0"/>
              <a:ext cx="21945600" cy="1584960"/>
            </a:xfrm>
            <a:prstGeom prst="rect">
              <a:avLst/>
            </a:prstGeom>
            <a:noFill/>
            <a:ln>
              <a:noFill/>
            </a:ln>
          </p:spPr>
          <p:txBody>
            <a:bodyPr anchorCtr="0" anchor="ctr" bIns="0" lIns="0" spcFirstLastPara="1" rIns="0" wrap="square" tIns="0">
              <a:noAutofit/>
            </a:bodyPr>
            <a:lstStyle/>
            <a:p>
              <a:pPr indent="0" lvl="0" marL="0" marR="0" rtl="0" algn="l">
                <a:lnSpc>
                  <a:spcPct val="119985"/>
                </a:lnSpc>
                <a:spcBef>
                  <a:spcPts val="0"/>
                </a:spcBef>
                <a:spcAft>
                  <a:spcPts val="0"/>
                </a:spcAft>
                <a:buNone/>
              </a:pPr>
              <a:r>
                <a:rPr b="1" i="0" lang="en-US" sz="6800" u="none" cap="none" strike="noStrike">
                  <a:solidFill>
                    <a:srgbClr val="FFFFFF"/>
                  </a:solidFill>
                  <a:latin typeface="Montserrat"/>
                  <a:ea typeface="Montserrat"/>
                  <a:cs typeface="Montserrat"/>
                  <a:sym typeface="Montserrat"/>
                </a:rPr>
                <a:t>Condition Keys You Should Know</a:t>
              </a:r>
              <a:endParaRPr/>
            </a:p>
          </p:txBody>
        </p:sp>
      </p:grpSp>
      <p:sp>
        <p:nvSpPr>
          <p:cNvPr id="185" name="Google Shape;185;p4"/>
          <p:cNvSpPr/>
          <p:nvPr/>
        </p:nvSpPr>
        <p:spPr>
          <a:xfrm>
            <a:off x="914400" y="1880235"/>
            <a:ext cx="7863840" cy="2286000"/>
          </a:xfrm>
          <a:custGeom>
            <a:rect b="b" l="l" r="r" t="t"/>
            <a:pathLst>
              <a:path extrusionOk="0" h="3048000" w="10485120">
                <a:moveTo>
                  <a:pt x="0" y="0"/>
                </a:moveTo>
                <a:lnTo>
                  <a:pt x="10485120" y="0"/>
                </a:lnTo>
                <a:lnTo>
                  <a:pt x="10485120" y="3048000"/>
                </a:lnTo>
                <a:lnTo>
                  <a:pt x="0" y="3048000"/>
                </a:lnTo>
                <a:close/>
              </a:path>
            </a:pathLst>
          </a:custGeom>
          <a:solidFill>
            <a:srgbClr val="1A2540"/>
          </a:solidFill>
          <a:ln>
            <a:noFill/>
          </a:ln>
        </p:spPr>
      </p:sp>
      <p:sp>
        <p:nvSpPr>
          <p:cNvPr id="186" name="Google Shape;186;p4"/>
          <p:cNvSpPr/>
          <p:nvPr/>
        </p:nvSpPr>
        <p:spPr>
          <a:xfrm>
            <a:off x="914400" y="1880235"/>
            <a:ext cx="109728" cy="2286000"/>
          </a:xfrm>
          <a:custGeom>
            <a:rect b="b" l="l" r="r" t="t"/>
            <a:pathLst>
              <a:path extrusionOk="0" h="3048000" w="146304">
                <a:moveTo>
                  <a:pt x="0" y="0"/>
                </a:moveTo>
                <a:lnTo>
                  <a:pt x="146304" y="0"/>
                </a:lnTo>
                <a:lnTo>
                  <a:pt x="146304" y="3048000"/>
                </a:lnTo>
                <a:lnTo>
                  <a:pt x="0" y="3048000"/>
                </a:lnTo>
                <a:close/>
              </a:path>
            </a:pathLst>
          </a:custGeom>
          <a:solidFill>
            <a:srgbClr val="F59E0B"/>
          </a:solidFill>
          <a:ln>
            <a:noFill/>
          </a:ln>
        </p:spPr>
      </p:sp>
      <p:grpSp>
        <p:nvGrpSpPr>
          <p:cNvPr id="187" name="Google Shape;187;p4"/>
          <p:cNvGrpSpPr/>
          <p:nvPr/>
        </p:nvGrpSpPr>
        <p:grpSpPr>
          <a:xfrm>
            <a:off x="1280160" y="2013109"/>
            <a:ext cx="7223760" cy="690086"/>
            <a:chOff x="0" y="-66675"/>
            <a:chExt cx="9631680" cy="920115"/>
          </a:xfrm>
        </p:grpSpPr>
        <p:sp>
          <p:nvSpPr>
            <p:cNvPr id="188" name="Google Shape;188;p4"/>
            <p:cNvSpPr/>
            <p:nvPr/>
          </p:nvSpPr>
          <p:spPr>
            <a:xfrm>
              <a:off x="0" y="0"/>
              <a:ext cx="9631680" cy="853440"/>
            </a:xfrm>
            <a:custGeom>
              <a:rect b="b" l="l" r="r" t="t"/>
              <a:pathLst>
                <a:path extrusionOk="0" h="853440" w="9631680">
                  <a:moveTo>
                    <a:pt x="0" y="0"/>
                  </a:moveTo>
                  <a:lnTo>
                    <a:pt x="9631680" y="0"/>
                  </a:lnTo>
                  <a:lnTo>
                    <a:pt x="9631680" y="853440"/>
                  </a:lnTo>
                  <a:lnTo>
                    <a:pt x="0" y="853440"/>
                  </a:lnTo>
                  <a:close/>
                </a:path>
              </a:pathLst>
            </a:custGeom>
            <a:blipFill rotWithShape="1">
              <a:blip r:embed="rId3">
                <a:alphaModFix amt="0"/>
              </a:blip>
              <a:stretch>
                <a:fillRect b="-169884" l="0" r="0" t="-169888"/>
              </a:stretch>
            </a:blipFill>
            <a:ln>
              <a:noFill/>
            </a:ln>
          </p:spPr>
        </p:sp>
        <p:sp>
          <p:nvSpPr>
            <p:cNvPr id="189" name="Google Shape;189;p4"/>
            <p:cNvSpPr txBox="1"/>
            <p:nvPr/>
          </p:nvSpPr>
          <p:spPr>
            <a:xfrm>
              <a:off x="0" y="-66675"/>
              <a:ext cx="9631680" cy="92011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3000" u="none" cap="none" strike="noStrike">
                  <a:solidFill>
                    <a:srgbClr val="F59E0B"/>
                  </a:solidFill>
                  <a:latin typeface="Consolas"/>
                  <a:ea typeface="Consolas"/>
                  <a:cs typeface="Consolas"/>
                  <a:sym typeface="Consolas"/>
                </a:rPr>
                <a:t>aws:SourceIp</a:t>
              </a:r>
              <a:endParaRPr/>
            </a:p>
          </p:txBody>
        </p:sp>
      </p:grpSp>
      <p:sp>
        <p:nvSpPr>
          <p:cNvPr id="190" name="Google Shape;190;p4"/>
          <p:cNvSpPr txBox="1"/>
          <p:nvPr/>
        </p:nvSpPr>
        <p:spPr>
          <a:xfrm>
            <a:off x="1280160" y="2775585"/>
            <a:ext cx="7223760" cy="120777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US" sz="2799" u="none" cap="none" strike="noStrike">
                <a:solidFill>
                  <a:srgbClr val="CBD5E1"/>
                </a:solidFill>
                <a:latin typeface="Arimo"/>
                <a:ea typeface="Arimo"/>
                <a:cs typeface="Arimo"/>
                <a:sym typeface="Arimo"/>
              </a:rPr>
              <a:t>Restrict to specific IP ranges or VPN CIDR blocks</a:t>
            </a:r>
            <a:endParaRPr/>
          </a:p>
        </p:txBody>
      </p:sp>
      <p:sp>
        <p:nvSpPr>
          <p:cNvPr id="191" name="Google Shape;191;p4"/>
          <p:cNvSpPr/>
          <p:nvPr/>
        </p:nvSpPr>
        <p:spPr>
          <a:xfrm>
            <a:off x="9509760" y="1880235"/>
            <a:ext cx="7863840" cy="2286000"/>
          </a:xfrm>
          <a:custGeom>
            <a:rect b="b" l="l" r="r" t="t"/>
            <a:pathLst>
              <a:path extrusionOk="0" h="3048000" w="10485120">
                <a:moveTo>
                  <a:pt x="0" y="0"/>
                </a:moveTo>
                <a:lnTo>
                  <a:pt x="10485120" y="0"/>
                </a:lnTo>
                <a:lnTo>
                  <a:pt x="10485120" y="3048000"/>
                </a:lnTo>
                <a:lnTo>
                  <a:pt x="0" y="3048000"/>
                </a:lnTo>
                <a:close/>
              </a:path>
            </a:pathLst>
          </a:custGeom>
          <a:solidFill>
            <a:srgbClr val="1A2540"/>
          </a:solidFill>
          <a:ln>
            <a:noFill/>
          </a:ln>
        </p:spPr>
      </p:sp>
      <p:sp>
        <p:nvSpPr>
          <p:cNvPr id="192" name="Google Shape;192;p4"/>
          <p:cNvSpPr/>
          <p:nvPr/>
        </p:nvSpPr>
        <p:spPr>
          <a:xfrm>
            <a:off x="9509760" y="1880235"/>
            <a:ext cx="109728" cy="2286000"/>
          </a:xfrm>
          <a:custGeom>
            <a:rect b="b" l="l" r="r" t="t"/>
            <a:pathLst>
              <a:path extrusionOk="0" h="3048000" w="146304">
                <a:moveTo>
                  <a:pt x="0" y="0"/>
                </a:moveTo>
                <a:lnTo>
                  <a:pt x="146304" y="0"/>
                </a:lnTo>
                <a:lnTo>
                  <a:pt x="146304" y="3048000"/>
                </a:lnTo>
                <a:lnTo>
                  <a:pt x="0" y="3048000"/>
                </a:lnTo>
                <a:close/>
              </a:path>
            </a:pathLst>
          </a:custGeom>
          <a:solidFill>
            <a:srgbClr val="F59E0B"/>
          </a:solidFill>
          <a:ln>
            <a:noFill/>
          </a:ln>
        </p:spPr>
      </p:sp>
      <p:grpSp>
        <p:nvGrpSpPr>
          <p:cNvPr id="193" name="Google Shape;193;p4"/>
          <p:cNvGrpSpPr/>
          <p:nvPr/>
        </p:nvGrpSpPr>
        <p:grpSpPr>
          <a:xfrm>
            <a:off x="9875520" y="2013109"/>
            <a:ext cx="7223760" cy="690086"/>
            <a:chOff x="0" y="-66675"/>
            <a:chExt cx="9631680" cy="920115"/>
          </a:xfrm>
        </p:grpSpPr>
        <p:sp>
          <p:nvSpPr>
            <p:cNvPr id="194" name="Google Shape;194;p4"/>
            <p:cNvSpPr/>
            <p:nvPr/>
          </p:nvSpPr>
          <p:spPr>
            <a:xfrm>
              <a:off x="0" y="0"/>
              <a:ext cx="9631680" cy="853440"/>
            </a:xfrm>
            <a:custGeom>
              <a:rect b="b" l="l" r="r" t="t"/>
              <a:pathLst>
                <a:path extrusionOk="0" h="853440" w="9631680">
                  <a:moveTo>
                    <a:pt x="0" y="0"/>
                  </a:moveTo>
                  <a:lnTo>
                    <a:pt x="9631680" y="0"/>
                  </a:lnTo>
                  <a:lnTo>
                    <a:pt x="9631680" y="853440"/>
                  </a:lnTo>
                  <a:lnTo>
                    <a:pt x="0" y="853440"/>
                  </a:lnTo>
                  <a:close/>
                </a:path>
              </a:pathLst>
            </a:custGeom>
            <a:blipFill rotWithShape="1">
              <a:blip r:embed="rId3">
                <a:alphaModFix amt="0"/>
              </a:blip>
              <a:stretch>
                <a:fillRect b="-169884" l="0" r="0" t="-169888"/>
              </a:stretch>
            </a:blipFill>
            <a:ln>
              <a:noFill/>
            </a:ln>
          </p:spPr>
        </p:sp>
        <p:sp>
          <p:nvSpPr>
            <p:cNvPr id="195" name="Google Shape;195;p4"/>
            <p:cNvSpPr txBox="1"/>
            <p:nvPr/>
          </p:nvSpPr>
          <p:spPr>
            <a:xfrm>
              <a:off x="0" y="-66675"/>
              <a:ext cx="9631680" cy="92011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3000" u="none" cap="none" strike="noStrike">
                  <a:solidFill>
                    <a:srgbClr val="F59E0B"/>
                  </a:solidFill>
                  <a:latin typeface="Consolas"/>
                  <a:ea typeface="Consolas"/>
                  <a:cs typeface="Consolas"/>
                  <a:sym typeface="Consolas"/>
                </a:rPr>
                <a:t>aws:CurrentTime</a:t>
              </a:r>
              <a:endParaRPr/>
            </a:p>
          </p:txBody>
        </p:sp>
      </p:grpSp>
      <p:sp>
        <p:nvSpPr>
          <p:cNvPr id="196" name="Google Shape;196;p4"/>
          <p:cNvSpPr txBox="1"/>
          <p:nvPr/>
        </p:nvSpPr>
        <p:spPr>
          <a:xfrm>
            <a:off x="9875520" y="2775585"/>
            <a:ext cx="7223760" cy="120777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US" sz="2799" u="none" cap="none" strike="noStrike">
                <a:solidFill>
                  <a:srgbClr val="CBD5E1"/>
                </a:solidFill>
                <a:latin typeface="Arimo"/>
                <a:ea typeface="Arimo"/>
                <a:cs typeface="Arimo"/>
                <a:sym typeface="Arimo"/>
              </a:rPr>
              <a:t>Enforce business-hours-only access windows</a:t>
            </a:r>
            <a:endParaRPr/>
          </a:p>
        </p:txBody>
      </p:sp>
      <p:sp>
        <p:nvSpPr>
          <p:cNvPr id="197" name="Google Shape;197;p4"/>
          <p:cNvSpPr/>
          <p:nvPr/>
        </p:nvSpPr>
        <p:spPr>
          <a:xfrm>
            <a:off x="914400" y="4440555"/>
            <a:ext cx="7863840" cy="2286000"/>
          </a:xfrm>
          <a:custGeom>
            <a:rect b="b" l="l" r="r" t="t"/>
            <a:pathLst>
              <a:path extrusionOk="0" h="3048000" w="10485120">
                <a:moveTo>
                  <a:pt x="0" y="0"/>
                </a:moveTo>
                <a:lnTo>
                  <a:pt x="10485120" y="0"/>
                </a:lnTo>
                <a:lnTo>
                  <a:pt x="10485120" y="3048000"/>
                </a:lnTo>
                <a:lnTo>
                  <a:pt x="0" y="3048000"/>
                </a:lnTo>
                <a:close/>
              </a:path>
            </a:pathLst>
          </a:custGeom>
          <a:solidFill>
            <a:srgbClr val="1A2540"/>
          </a:solidFill>
          <a:ln>
            <a:noFill/>
          </a:ln>
        </p:spPr>
      </p:sp>
      <p:sp>
        <p:nvSpPr>
          <p:cNvPr id="198" name="Google Shape;198;p4"/>
          <p:cNvSpPr/>
          <p:nvPr/>
        </p:nvSpPr>
        <p:spPr>
          <a:xfrm>
            <a:off x="914400" y="4440555"/>
            <a:ext cx="109728" cy="2286000"/>
          </a:xfrm>
          <a:custGeom>
            <a:rect b="b" l="l" r="r" t="t"/>
            <a:pathLst>
              <a:path extrusionOk="0" h="3048000" w="146304">
                <a:moveTo>
                  <a:pt x="0" y="0"/>
                </a:moveTo>
                <a:lnTo>
                  <a:pt x="146304" y="0"/>
                </a:lnTo>
                <a:lnTo>
                  <a:pt x="146304" y="3048000"/>
                </a:lnTo>
                <a:lnTo>
                  <a:pt x="0" y="3048000"/>
                </a:lnTo>
                <a:close/>
              </a:path>
            </a:pathLst>
          </a:custGeom>
          <a:solidFill>
            <a:srgbClr val="F59E0B"/>
          </a:solidFill>
          <a:ln>
            <a:noFill/>
          </a:ln>
        </p:spPr>
      </p:sp>
      <p:grpSp>
        <p:nvGrpSpPr>
          <p:cNvPr id="199" name="Google Shape;199;p4"/>
          <p:cNvGrpSpPr/>
          <p:nvPr/>
        </p:nvGrpSpPr>
        <p:grpSpPr>
          <a:xfrm>
            <a:off x="1280160" y="4573429"/>
            <a:ext cx="7223760" cy="690086"/>
            <a:chOff x="0" y="-66675"/>
            <a:chExt cx="9631680" cy="920115"/>
          </a:xfrm>
        </p:grpSpPr>
        <p:sp>
          <p:nvSpPr>
            <p:cNvPr id="200" name="Google Shape;200;p4"/>
            <p:cNvSpPr/>
            <p:nvPr/>
          </p:nvSpPr>
          <p:spPr>
            <a:xfrm>
              <a:off x="0" y="0"/>
              <a:ext cx="9631680" cy="853440"/>
            </a:xfrm>
            <a:custGeom>
              <a:rect b="b" l="l" r="r" t="t"/>
              <a:pathLst>
                <a:path extrusionOk="0" h="853440" w="9631680">
                  <a:moveTo>
                    <a:pt x="0" y="0"/>
                  </a:moveTo>
                  <a:lnTo>
                    <a:pt x="9631680" y="0"/>
                  </a:lnTo>
                  <a:lnTo>
                    <a:pt x="9631680" y="853440"/>
                  </a:lnTo>
                  <a:lnTo>
                    <a:pt x="0" y="853440"/>
                  </a:lnTo>
                  <a:close/>
                </a:path>
              </a:pathLst>
            </a:custGeom>
            <a:blipFill rotWithShape="1">
              <a:blip r:embed="rId3">
                <a:alphaModFix amt="0"/>
              </a:blip>
              <a:stretch>
                <a:fillRect b="-169884" l="0" r="0" t="-169888"/>
              </a:stretch>
            </a:blipFill>
            <a:ln>
              <a:noFill/>
            </a:ln>
          </p:spPr>
        </p:sp>
        <p:sp>
          <p:nvSpPr>
            <p:cNvPr id="201" name="Google Shape;201;p4"/>
            <p:cNvSpPr txBox="1"/>
            <p:nvPr/>
          </p:nvSpPr>
          <p:spPr>
            <a:xfrm>
              <a:off x="0" y="-66675"/>
              <a:ext cx="9631680" cy="92011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3000" u="none" cap="none" strike="noStrike">
                  <a:solidFill>
                    <a:srgbClr val="F59E0B"/>
                  </a:solidFill>
                  <a:latin typeface="Consolas"/>
                  <a:ea typeface="Consolas"/>
                  <a:cs typeface="Consolas"/>
                  <a:sym typeface="Consolas"/>
                </a:rPr>
                <a:t>aws:PrincipalOrgID</a:t>
              </a:r>
              <a:endParaRPr/>
            </a:p>
          </p:txBody>
        </p:sp>
      </p:grpSp>
      <p:sp>
        <p:nvSpPr>
          <p:cNvPr id="202" name="Google Shape;202;p4"/>
          <p:cNvSpPr txBox="1"/>
          <p:nvPr/>
        </p:nvSpPr>
        <p:spPr>
          <a:xfrm>
            <a:off x="1280160" y="5335905"/>
            <a:ext cx="7223760" cy="120777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US" sz="2799" u="none" cap="none" strike="noStrike">
                <a:solidFill>
                  <a:srgbClr val="CBD5E1"/>
                </a:solidFill>
                <a:latin typeface="Arimo"/>
                <a:ea typeface="Arimo"/>
                <a:cs typeface="Arimo"/>
                <a:sym typeface="Arimo"/>
              </a:rPr>
              <a:t>Limit access to principals within your AWS Organization</a:t>
            </a:r>
            <a:endParaRPr/>
          </a:p>
        </p:txBody>
      </p:sp>
      <p:sp>
        <p:nvSpPr>
          <p:cNvPr id="203" name="Google Shape;203;p4"/>
          <p:cNvSpPr/>
          <p:nvPr/>
        </p:nvSpPr>
        <p:spPr>
          <a:xfrm>
            <a:off x="9509760" y="4440555"/>
            <a:ext cx="7863840" cy="2286000"/>
          </a:xfrm>
          <a:custGeom>
            <a:rect b="b" l="l" r="r" t="t"/>
            <a:pathLst>
              <a:path extrusionOk="0" h="3048000" w="10485120">
                <a:moveTo>
                  <a:pt x="0" y="0"/>
                </a:moveTo>
                <a:lnTo>
                  <a:pt x="10485120" y="0"/>
                </a:lnTo>
                <a:lnTo>
                  <a:pt x="10485120" y="3048000"/>
                </a:lnTo>
                <a:lnTo>
                  <a:pt x="0" y="3048000"/>
                </a:lnTo>
                <a:close/>
              </a:path>
            </a:pathLst>
          </a:custGeom>
          <a:solidFill>
            <a:srgbClr val="1A2540"/>
          </a:solidFill>
          <a:ln>
            <a:noFill/>
          </a:ln>
        </p:spPr>
      </p:sp>
      <p:sp>
        <p:nvSpPr>
          <p:cNvPr id="204" name="Google Shape;204;p4"/>
          <p:cNvSpPr/>
          <p:nvPr/>
        </p:nvSpPr>
        <p:spPr>
          <a:xfrm>
            <a:off x="9509760" y="4440555"/>
            <a:ext cx="109728" cy="2286000"/>
          </a:xfrm>
          <a:custGeom>
            <a:rect b="b" l="l" r="r" t="t"/>
            <a:pathLst>
              <a:path extrusionOk="0" h="3048000" w="146304">
                <a:moveTo>
                  <a:pt x="0" y="0"/>
                </a:moveTo>
                <a:lnTo>
                  <a:pt x="146304" y="0"/>
                </a:lnTo>
                <a:lnTo>
                  <a:pt x="146304" y="3048000"/>
                </a:lnTo>
                <a:lnTo>
                  <a:pt x="0" y="3048000"/>
                </a:lnTo>
                <a:close/>
              </a:path>
            </a:pathLst>
          </a:custGeom>
          <a:solidFill>
            <a:srgbClr val="F59E0B"/>
          </a:solidFill>
          <a:ln>
            <a:noFill/>
          </a:ln>
        </p:spPr>
      </p:sp>
      <p:grpSp>
        <p:nvGrpSpPr>
          <p:cNvPr id="205" name="Google Shape;205;p4"/>
          <p:cNvGrpSpPr/>
          <p:nvPr/>
        </p:nvGrpSpPr>
        <p:grpSpPr>
          <a:xfrm>
            <a:off x="9875520" y="4573429"/>
            <a:ext cx="7223760" cy="690086"/>
            <a:chOff x="0" y="-66675"/>
            <a:chExt cx="9631680" cy="920115"/>
          </a:xfrm>
        </p:grpSpPr>
        <p:sp>
          <p:nvSpPr>
            <p:cNvPr id="206" name="Google Shape;206;p4"/>
            <p:cNvSpPr/>
            <p:nvPr/>
          </p:nvSpPr>
          <p:spPr>
            <a:xfrm>
              <a:off x="0" y="0"/>
              <a:ext cx="9631680" cy="853440"/>
            </a:xfrm>
            <a:custGeom>
              <a:rect b="b" l="l" r="r" t="t"/>
              <a:pathLst>
                <a:path extrusionOk="0" h="853440" w="9631680">
                  <a:moveTo>
                    <a:pt x="0" y="0"/>
                  </a:moveTo>
                  <a:lnTo>
                    <a:pt x="9631680" y="0"/>
                  </a:lnTo>
                  <a:lnTo>
                    <a:pt x="9631680" y="853440"/>
                  </a:lnTo>
                  <a:lnTo>
                    <a:pt x="0" y="853440"/>
                  </a:lnTo>
                  <a:close/>
                </a:path>
              </a:pathLst>
            </a:custGeom>
            <a:blipFill rotWithShape="1">
              <a:blip r:embed="rId3">
                <a:alphaModFix amt="0"/>
              </a:blip>
              <a:stretch>
                <a:fillRect b="-169884" l="0" r="0" t="-169888"/>
              </a:stretch>
            </a:blipFill>
            <a:ln>
              <a:noFill/>
            </a:ln>
          </p:spPr>
        </p:sp>
        <p:sp>
          <p:nvSpPr>
            <p:cNvPr id="207" name="Google Shape;207;p4"/>
            <p:cNvSpPr txBox="1"/>
            <p:nvPr/>
          </p:nvSpPr>
          <p:spPr>
            <a:xfrm>
              <a:off x="0" y="-66675"/>
              <a:ext cx="9631680" cy="92011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3000" u="none" cap="none" strike="noStrike">
                  <a:solidFill>
                    <a:srgbClr val="F59E0B"/>
                  </a:solidFill>
                  <a:latin typeface="Consolas"/>
                  <a:ea typeface="Consolas"/>
                  <a:cs typeface="Consolas"/>
                  <a:sym typeface="Consolas"/>
                </a:rPr>
                <a:t>aws:RequestedRegion</a:t>
              </a:r>
              <a:endParaRPr/>
            </a:p>
          </p:txBody>
        </p:sp>
      </p:grpSp>
      <p:sp>
        <p:nvSpPr>
          <p:cNvPr id="208" name="Google Shape;208;p4"/>
          <p:cNvSpPr txBox="1"/>
          <p:nvPr/>
        </p:nvSpPr>
        <p:spPr>
          <a:xfrm>
            <a:off x="9875520" y="5335905"/>
            <a:ext cx="7223760" cy="120777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US" sz="2799" u="none" cap="none" strike="noStrike">
                <a:solidFill>
                  <a:srgbClr val="CBD5E1"/>
                </a:solidFill>
                <a:latin typeface="Arimo"/>
                <a:ea typeface="Arimo"/>
                <a:cs typeface="Arimo"/>
                <a:sym typeface="Arimo"/>
              </a:rPr>
              <a:t>Restrict which AWS regions can be used</a:t>
            </a:r>
            <a:endParaRPr/>
          </a:p>
        </p:txBody>
      </p:sp>
      <p:sp>
        <p:nvSpPr>
          <p:cNvPr id="209" name="Google Shape;209;p4"/>
          <p:cNvSpPr/>
          <p:nvPr/>
        </p:nvSpPr>
        <p:spPr>
          <a:xfrm>
            <a:off x="914400" y="7000875"/>
            <a:ext cx="7863840" cy="2286000"/>
          </a:xfrm>
          <a:custGeom>
            <a:rect b="b" l="l" r="r" t="t"/>
            <a:pathLst>
              <a:path extrusionOk="0" h="3048000" w="10485120">
                <a:moveTo>
                  <a:pt x="0" y="0"/>
                </a:moveTo>
                <a:lnTo>
                  <a:pt x="10485120" y="0"/>
                </a:lnTo>
                <a:lnTo>
                  <a:pt x="10485120" y="3048000"/>
                </a:lnTo>
                <a:lnTo>
                  <a:pt x="0" y="3048000"/>
                </a:lnTo>
                <a:close/>
              </a:path>
            </a:pathLst>
          </a:custGeom>
          <a:solidFill>
            <a:srgbClr val="1A2540"/>
          </a:solidFill>
          <a:ln>
            <a:noFill/>
          </a:ln>
        </p:spPr>
      </p:sp>
      <p:sp>
        <p:nvSpPr>
          <p:cNvPr id="210" name="Google Shape;210;p4"/>
          <p:cNvSpPr/>
          <p:nvPr/>
        </p:nvSpPr>
        <p:spPr>
          <a:xfrm>
            <a:off x="914400" y="7000875"/>
            <a:ext cx="109728" cy="2286000"/>
          </a:xfrm>
          <a:custGeom>
            <a:rect b="b" l="l" r="r" t="t"/>
            <a:pathLst>
              <a:path extrusionOk="0" h="3048000" w="146304">
                <a:moveTo>
                  <a:pt x="0" y="0"/>
                </a:moveTo>
                <a:lnTo>
                  <a:pt x="146304" y="0"/>
                </a:lnTo>
                <a:lnTo>
                  <a:pt x="146304" y="3048000"/>
                </a:lnTo>
                <a:lnTo>
                  <a:pt x="0" y="3048000"/>
                </a:lnTo>
                <a:close/>
              </a:path>
            </a:pathLst>
          </a:custGeom>
          <a:solidFill>
            <a:srgbClr val="F59E0B"/>
          </a:solidFill>
          <a:ln>
            <a:noFill/>
          </a:ln>
        </p:spPr>
      </p:sp>
      <p:grpSp>
        <p:nvGrpSpPr>
          <p:cNvPr id="211" name="Google Shape;211;p4"/>
          <p:cNvGrpSpPr/>
          <p:nvPr/>
        </p:nvGrpSpPr>
        <p:grpSpPr>
          <a:xfrm>
            <a:off x="1280160" y="7133749"/>
            <a:ext cx="7223760" cy="690086"/>
            <a:chOff x="0" y="-66675"/>
            <a:chExt cx="9631680" cy="920115"/>
          </a:xfrm>
        </p:grpSpPr>
        <p:sp>
          <p:nvSpPr>
            <p:cNvPr id="212" name="Google Shape;212;p4"/>
            <p:cNvSpPr/>
            <p:nvPr/>
          </p:nvSpPr>
          <p:spPr>
            <a:xfrm>
              <a:off x="0" y="0"/>
              <a:ext cx="9631680" cy="853440"/>
            </a:xfrm>
            <a:custGeom>
              <a:rect b="b" l="l" r="r" t="t"/>
              <a:pathLst>
                <a:path extrusionOk="0" h="853440" w="9631680">
                  <a:moveTo>
                    <a:pt x="0" y="0"/>
                  </a:moveTo>
                  <a:lnTo>
                    <a:pt x="9631680" y="0"/>
                  </a:lnTo>
                  <a:lnTo>
                    <a:pt x="9631680" y="853440"/>
                  </a:lnTo>
                  <a:lnTo>
                    <a:pt x="0" y="853440"/>
                  </a:lnTo>
                  <a:close/>
                </a:path>
              </a:pathLst>
            </a:custGeom>
            <a:blipFill rotWithShape="1">
              <a:blip r:embed="rId3">
                <a:alphaModFix amt="0"/>
              </a:blip>
              <a:stretch>
                <a:fillRect b="-169884" l="0" r="0" t="-169888"/>
              </a:stretch>
            </a:blipFill>
            <a:ln>
              <a:noFill/>
            </a:ln>
          </p:spPr>
        </p:sp>
        <p:sp>
          <p:nvSpPr>
            <p:cNvPr id="213" name="Google Shape;213;p4"/>
            <p:cNvSpPr txBox="1"/>
            <p:nvPr/>
          </p:nvSpPr>
          <p:spPr>
            <a:xfrm>
              <a:off x="0" y="-66675"/>
              <a:ext cx="9631680" cy="92011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3000" u="none" cap="none" strike="noStrike">
                  <a:solidFill>
                    <a:srgbClr val="F59E0B"/>
                  </a:solidFill>
                  <a:latin typeface="Consolas"/>
                  <a:ea typeface="Consolas"/>
                  <a:cs typeface="Consolas"/>
                  <a:sym typeface="Consolas"/>
                </a:rPr>
                <a:t>aws:PrincipalTag</a:t>
              </a:r>
              <a:endParaRPr/>
            </a:p>
          </p:txBody>
        </p:sp>
      </p:grpSp>
      <p:sp>
        <p:nvSpPr>
          <p:cNvPr id="214" name="Google Shape;214;p4"/>
          <p:cNvSpPr txBox="1"/>
          <p:nvPr/>
        </p:nvSpPr>
        <p:spPr>
          <a:xfrm>
            <a:off x="1280160" y="7896225"/>
            <a:ext cx="7223760" cy="120777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US" sz="2799" u="none" cap="none" strike="noStrike">
                <a:solidFill>
                  <a:srgbClr val="CBD5E1"/>
                </a:solidFill>
                <a:latin typeface="Arimo"/>
                <a:ea typeface="Arimo"/>
                <a:cs typeface="Arimo"/>
                <a:sym typeface="Arimo"/>
              </a:rPr>
              <a:t>Attribute-based access control (ABAC) using tags</a:t>
            </a:r>
            <a:endParaRPr/>
          </a:p>
        </p:txBody>
      </p:sp>
      <p:sp>
        <p:nvSpPr>
          <p:cNvPr id="215" name="Google Shape;215;p4"/>
          <p:cNvSpPr/>
          <p:nvPr/>
        </p:nvSpPr>
        <p:spPr>
          <a:xfrm>
            <a:off x="9509760" y="7000875"/>
            <a:ext cx="7863840" cy="2286000"/>
          </a:xfrm>
          <a:custGeom>
            <a:rect b="b" l="l" r="r" t="t"/>
            <a:pathLst>
              <a:path extrusionOk="0" h="3048000" w="10485120">
                <a:moveTo>
                  <a:pt x="0" y="0"/>
                </a:moveTo>
                <a:lnTo>
                  <a:pt x="10485120" y="0"/>
                </a:lnTo>
                <a:lnTo>
                  <a:pt x="10485120" y="3048000"/>
                </a:lnTo>
                <a:lnTo>
                  <a:pt x="0" y="3048000"/>
                </a:lnTo>
                <a:close/>
              </a:path>
            </a:pathLst>
          </a:custGeom>
          <a:solidFill>
            <a:srgbClr val="1A2540"/>
          </a:solidFill>
          <a:ln>
            <a:noFill/>
          </a:ln>
        </p:spPr>
      </p:sp>
      <p:sp>
        <p:nvSpPr>
          <p:cNvPr id="216" name="Google Shape;216;p4"/>
          <p:cNvSpPr/>
          <p:nvPr/>
        </p:nvSpPr>
        <p:spPr>
          <a:xfrm>
            <a:off x="9509760" y="7000875"/>
            <a:ext cx="109728" cy="2286000"/>
          </a:xfrm>
          <a:custGeom>
            <a:rect b="b" l="l" r="r" t="t"/>
            <a:pathLst>
              <a:path extrusionOk="0" h="3048000" w="146304">
                <a:moveTo>
                  <a:pt x="0" y="0"/>
                </a:moveTo>
                <a:lnTo>
                  <a:pt x="146304" y="0"/>
                </a:lnTo>
                <a:lnTo>
                  <a:pt x="146304" y="3048000"/>
                </a:lnTo>
                <a:lnTo>
                  <a:pt x="0" y="3048000"/>
                </a:lnTo>
                <a:close/>
              </a:path>
            </a:pathLst>
          </a:custGeom>
          <a:solidFill>
            <a:srgbClr val="F59E0B"/>
          </a:solidFill>
          <a:ln>
            <a:noFill/>
          </a:ln>
        </p:spPr>
      </p:sp>
      <p:grpSp>
        <p:nvGrpSpPr>
          <p:cNvPr id="217" name="Google Shape;217;p4"/>
          <p:cNvGrpSpPr/>
          <p:nvPr/>
        </p:nvGrpSpPr>
        <p:grpSpPr>
          <a:xfrm>
            <a:off x="9875520" y="7133749"/>
            <a:ext cx="7223760" cy="690086"/>
            <a:chOff x="0" y="-66675"/>
            <a:chExt cx="9631680" cy="920115"/>
          </a:xfrm>
        </p:grpSpPr>
        <p:sp>
          <p:nvSpPr>
            <p:cNvPr id="218" name="Google Shape;218;p4"/>
            <p:cNvSpPr/>
            <p:nvPr/>
          </p:nvSpPr>
          <p:spPr>
            <a:xfrm>
              <a:off x="0" y="0"/>
              <a:ext cx="9631680" cy="853440"/>
            </a:xfrm>
            <a:custGeom>
              <a:rect b="b" l="l" r="r" t="t"/>
              <a:pathLst>
                <a:path extrusionOk="0" h="853440" w="9631680">
                  <a:moveTo>
                    <a:pt x="0" y="0"/>
                  </a:moveTo>
                  <a:lnTo>
                    <a:pt x="9631680" y="0"/>
                  </a:lnTo>
                  <a:lnTo>
                    <a:pt x="9631680" y="853440"/>
                  </a:lnTo>
                  <a:lnTo>
                    <a:pt x="0" y="853440"/>
                  </a:lnTo>
                  <a:close/>
                </a:path>
              </a:pathLst>
            </a:custGeom>
            <a:blipFill rotWithShape="1">
              <a:blip r:embed="rId3">
                <a:alphaModFix amt="0"/>
              </a:blip>
              <a:stretch>
                <a:fillRect b="-169884" l="0" r="0" t="-169888"/>
              </a:stretch>
            </a:blipFill>
            <a:ln>
              <a:noFill/>
            </a:ln>
          </p:spPr>
        </p:sp>
        <p:sp>
          <p:nvSpPr>
            <p:cNvPr id="219" name="Google Shape;219;p4"/>
            <p:cNvSpPr txBox="1"/>
            <p:nvPr/>
          </p:nvSpPr>
          <p:spPr>
            <a:xfrm>
              <a:off x="0" y="-66675"/>
              <a:ext cx="9631680" cy="92011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3000" u="none" cap="none" strike="noStrike">
                  <a:solidFill>
                    <a:srgbClr val="F59E0B"/>
                  </a:solidFill>
                  <a:latin typeface="Consolas"/>
                  <a:ea typeface="Consolas"/>
                  <a:cs typeface="Consolas"/>
                  <a:sym typeface="Consolas"/>
                </a:rPr>
                <a:t>aws:MultiFactorAuthPresent</a:t>
              </a:r>
              <a:endParaRPr/>
            </a:p>
          </p:txBody>
        </p:sp>
      </p:grpSp>
      <p:sp>
        <p:nvSpPr>
          <p:cNvPr id="220" name="Google Shape;220;p4"/>
          <p:cNvSpPr txBox="1"/>
          <p:nvPr/>
        </p:nvSpPr>
        <p:spPr>
          <a:xfrm>
            <a:off x="9875520" y="7896225"/>
            <a:ext cx="7223760" cy="120777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US" sz="2799" u="none" cap="none" strike="noStrike">
                <a:solidFill>
                  <a:srgbClr val="CBD5E1"/>
                </a:solidFill>
                <a:latin typeface="Arimo"/>
                <a:ea typeface="Arimo"/>
                <a:cs typeface="Arimo"/>
                <a:sym typeface="Arimo"/>
              </a:rPr>
              <a:t>Require MFA for sensitive operations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grpSp>
        <p:nvGrpSpPr>
          <p:cNvPr id="229" name="Google Shape;229;p5"/>
          <p:cNvGrpSpPr/>
          <p:nvPr/>
        </p:nvGrpSpPr>
        <p:grpSpPr>
          <a:xfrm>
            <a:off x="731520" y="1554480"/>
            <a:ext cx="2743200" cy="548640"/>
            <a:chOff x="0" y="0"/>
            <a:chExt cx="3657600" cy="731520"/>
          </a:xfrm>
        </p:grpSpPr>
        <p:sp>
          <p:nvSpPr>
            <p:cNvPr id="230" name="Google Shape;230;p5"/>
            <p:cNvSpPr/>
            <p:nvPr/>
          </p:nvSpPr>
          <p:spPr>
            <a:xfrm>
              <a:off x="0" y="0"/>
              <a:ext cx="3657600" cy="731520"/>
            </a:xfrm>
            <a:custGeom>
              <a:rect b="b" l="l" r="r" t="t"/>
              <a:pathLst>
                <a:path extrusionOk="0" h="731520" w="3657600">
                  <a:moveTo>
                    <a:pt x="0" y="0"/>
                  </a:moveTo>
                  <a:lnTo>
                    <a:pt x="3657600" y="0"/>
                  </a:lnTo>
                  <a:lnTo>
                    <a:pt x="3657600" y="731520"/>
                  </a:lnTo>
                  <a:lnTo>
                    <a:pt x="0" y="731520"/>
                  </a:lnTo>
                  <a:close/>
                </a:path>
              </a:pathLst>
            </a:custGeom>
            <a:blipFill rotWithShape="1">
              <a:blip r:embed="rId3">
                <a:alphaModFix amt="0"/>
              </a:blip>
              <a:stretch>
                <a:fillRect b="-47424" l="0" r="0" t="-47424"/>
              </a:stretch>
            </a:blipFill>
            <a:ln>
              <a:noFill/>
            </a:ln>
          </p:spPr>
        </p:sp>
        <p:sp>
          <p:nvSpPr>
            <p:cNvPr id="231" name="Google Shape;231;p5"/>
            <p:cNvSpPr txBox="1"/>
            <p:nvPr/>
          </p:nvSpPr>
          <p:spPr>
            <a:xfrm>
              <a:off x="0" y="9525"/>
              <a:ext cx="3657600" cy="72199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1" i="0" lang="en-US" sz="2799" u="none" cap="none" strike="noStrike">
                  <a:solidFill>
                    <a:srgbClr val="F87171"/>
                  </a:solidFill>
                  <a:latin typeface="Montserrat"/>
                  <a:ea typeface="Montserrat"/>
                  <a:cs typeface="Montserrat"/>
                  <a:sym typeface="Montserrat"/>
                </a:rPr>
                <a:t>BEFORE</a:t>
              </a:r>
              <a:endParaRPr/>
            </a:p>
          </p:txBody>
        </p:sp>
      </p:grpSp>
      <p:grpSp>
        <p:nvGrpSpPr>
          <p:cNvPr id="232" name="Google Shape;232;p5"/>
          <p:cNvGrpSpPr/>
          <p:nvPr/>
        </p:nvGrpSpPr>
        <p:grpSpPr>
          <a:xfrm>
            <a:off x="914400" y="182880"/>
            <a:ext cx="16459200" cy="1188720"/>
            <a:chOff x="0" y="0"/>
            <a:chExt cx="21945600" cy="1584960"/>
          </a:xfrm>
        </p:grpSpPr>
        <p:sp>
          <p:nvSpPr>
            <p:cNvPr id="233" name="Google Shape;233;p5"/>
            <p:cNvSpPr/>
            <p:nvPr/>
          </p:nvSpPr>
          <p:spPr>
            <a:xfrm>
              <a:off x="0" y="0"/>
              <a:ext cx="21945600" cy="1584960"/>
            </a:xfrm>
            <a:custGeom>
              <a:rect b="b" l="l" r="r" t="t"/>
              <a:pathLst>
                <a:path extrusionOk="0" h="1584960" w="21945600">
                  <a:moveTo>
                    <a:pt x="0" y="0"/>
                  </a:moveTo>
                  <a:lnTo>
                    <a:pt x="21945600" y="0"/>
                  </a:lnTo>
                  <a:lnTo>
                    <a:pt x="21945600" y="1584960"/>
                  </a:lnTo>
                  <a:lnTo>
                    <a:pt x="0" y="1584960"/>
                  </a:lnTo>
                  <a:close/>
                </a:path>
              </a:pathLst>
            </a:custGeom>
            <a:blipFill rotWithShape="1">
              <a:blip r:embed="rId3">
                <a:alphaModFix amt="0"/>
              </a:blip>
              <a:stretch>
                <a:fillRect b="-219774" l="0" r="0" t="-219774"/>
              </a:stretch>
            </a:blipFill>
            <a:ln>
              <a:noFill/>
            </a:ln>
          </p:spPr>
        </p:sp>
        <p:sp>
          <p:nvSpPr>
            <p:cNvPr id="234" name="Google Shape;234;p5"/>
            <p:cNvSpPr txBox="1"/>
            <p:nvPr/>
          </p:nvSpPr>
          <p:spPr>
            <a:xfrm>
              <a:off x="0" y="0"/>
              <a:ext cx="21945600" cy="1584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7200" u="none" cap="none" strike="noStrike">
                  <a:solidFill>
                    <a:srgbClr val="FFFFFF"/>
                  </a:solidFill>
                  <a:latin typeface="Montserrat"/>
                  <a:ea typeface="Montserrat"/>
                  <a:cs typeface="Montserrat"/>
                  <a:sym typeface="Montserrat"/>
                </a:rPr>
                <a:t>Hardening Trust Policies</a:t>
              </a:r>
              <a:endParaRPr/>
            </a:p>
          </p:txBody>
        </p:sp>
      </p:grpSp>
      <p:grpSp>
        <p:nvGrpSpPr>
          <p:cNvPr id="235" name="Google Shape;235;p5"/>
          <p:cNvGrpSpPr/>
          <p:nvPr/>
        </p:nvGrpSpPr>
        <p:grpSpPr>
          <a:xfrm>
            <a:off x="731520" y="1554480"/>
            <a:ext cx="2743200" cy="548640"/>
            <a:chOff x="0" y="0"/>
            <a:chExt cx="3657600" cy="731520"/>
          </a:xfrm>
        </p:grpSpPr>
        <p:sp>
          <p:nvSpPr>
            <p:cNvPr id="236" name="Google Shape;236;p5"/>
            <p:cNvSpPr/>
            <p:nvPr/>
          </p:nvSpPr>
          <p:spPr>
            <a:xfrm>
              <a:off x="0" y="0"/>
              <a:ext cx="3657600" cy="731520"/>
            </a:xfrm>
            <a:custGeom>
              <a:rect b="b" l="l" r="r" t="t"/>
              <a:pathLst>
                <a:path extrusionOk="0" h="731520" w="3657600">
                  <a:moveTo>
                    <a:pt x="0" y="0"/>
                  </a:moveTo>
                  <a:lnTo>
                    <a:pt x="3657600" y="0"/>
                  </a:lnTo>
                  <a:lnTo>
                    <a:pt x="3657600" y="731520"/>
                  </a:lnTo>
                  <a:lnTo>
                    <a:pt x="0" y="731520"/>
                  </a:lnTo>
                  <a:close/>
                </a:path>
              </a:pathLst>
            </a:custGeom>
            <a:blipFill rotWithShape="1">
              <a:blip r:embed="rId3">
                <a:alphaModFix amt="0"/>
              </a:blip>
              <a:stretch>
                <a:fillRect b="-47424" l="0" r="0" t="-47424"/>
              </a:stretch>
            </a:blipFill>
            <a:ln>
              <a:noFill/>
            </a:ln>
          </p:spPr>
        </p:sp>
        <p:sp>
          <p:nvSpPr>
            <p:cNvPr id="237" name="Google Shape;237;p5"/>
            <p:cNvSpPr txBox="1"/>
            <p:nvPr/>
          </p:nvSpPr>
          <p:spPr>
            <a:xfrm>
              <a:off x="0" y="9525"/>
              <a:ext cx="3657600" cy="72199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1" i="0" lang="en-US" sz="2799" u="none" cap="none" strike="noStrike">
                  <a:solidFill>
                    <a:srgbClr val="F87171"/>
                  </a:solidFill>
                  <a:latin typeface="Montserrat"/>
                  <a:ea typeface="Montserrat"/>
                  <a:cs typeface="Montserrat"/>
                  <a:sym typeface="Montserrat"/>
                </a:rPr>
                <a:t>BEFORE</a:t>
              </a:r>
              <a:endParaRPr/>
            </a:p>
          </p:txBody>
        </p:sp>
      </p:grpSp>
      <p:grpSp>
        <p:nvGrpSpPr>
          <p:cNvPr id="238" name="Google Shape;238;p5"/>
          <p:cNvGrpSpPr/>
          <p:nvPr/>
        </p:nvGrpSpPr>
        <p:grpSpPr>
          <a:xfrm>
            <a:off x="721995" y="2093595"/>
            <a:ext cx="7882890" cy="2945130"/>
            <a:chOff x="0" y="0"/>
            <a:chExt cx="10510520" cy="3926840"/>
          </a:xfrm>
        </p:grpSpPr>
        <p:sp>
          <p:nvSpPr>
            <p:cNvPr id="239" name="Google Shape;239;p5"/>
            <p:cNvSpPr/>
            <p:nvPr/>
          </p:nvSpPr>
          <p:spPr>
            <a:xfrm>
              <a:off x="12700" y="12700"/>
              <a:ext cx="10485120" cy="3901440"/>
            </a:xfrm>
            <a:custGeom>
              <a:rect b="b" l="l" r="r" t="t"/>
              <a:pathLst>
                <a:path extrusionOk="0" h="3901440" w="10485120">
                  <a:moveTo>
                    <a:pt x="0" y="0"/>
                  </a:moveTo>
                  <a:lnTo>
                    <a:pt x="10485120" y="0"/>
                  </a:lnTo>
                  <a:lnTo>
                    <a:pt x="10485120" y="3901440"/>
                  </a:lnTo>
                  <a:lnTo>
                    <a:pt x="0" y="3901440"/>
                  </a:lnTo>
                  <a:close/>
                </a:path>
              </a:pathLst>
            </a:custGeom>
            <a:solidFill>
              <a:srgbClr val="0D1117"/>
            </a:solidFill>
            <a:ln>
              <a:noFill/>
            </a:ln>
          </p:spPr>
        </p:sp>
        <p:sp>
          <p:nvSpPr>
            <p:cNvPr id="240" name="Google Shape;240;p5"/>
            <p:cNvSpPr/>
            <p:nvPr/>
          </p:nvSpPr>
          <p:spPr>
            <a:xfrm>
              <a:off x="0" y="0"/>
              <a:ext cx="10510520" cy="3926840"/>
            </a:xfrm>
            <a:custGeom>
              <a:rect b="b" l="l" r="r" t="t"/>
              <a:pathLst>
                <a:path extrusionOk="0" h="3926840" w="10510520">
                  <a:moveTo>
                    <a:pt x="12700" y="0"/>
                  </a:moveTo>
                  <a:lnTo>
                    <a:pt x="10497820" y="0"/>
                  </a:lnTo>
                  <a:cubicBezTo>
                    <a:pt x="10504805" y="0"/>
                    <a:pt x="10510520" y="5715"/>
                    <a:pt x="10510520" y="12700"/>
                  </a:cubicBezTo>
                  <a:lnTo>
                    <a:pt x="10510520" y="3914140"/>
                  </a:lnTo>
                  <a:cubicBezTo>
                    <a:pt x="10510520" y="3921125"/>
                    <a:pt x="10504805" y="3926840"/>
                    <a:pt x="10497820" y="3926840"/>
                  </a:cubicBezTo>
                  <a:lnTo>
                    <a:pt x="12700" y="3926840"/>
                  </a:lnTo>
                  <a:cubicBezTo>
                    <a:pt x="5715" y="3926840"/>
                    <a:pt x="0" y="3921125"/>
                    <a:pt x="0" y="3914140"/>
                  </a:cubicBezTo>
                  <a:lnTo>
                    <a:pt x="0" y="12700"/>
                  </a:lnTo>
                  <a:cubicBezTo>
                    <a:pt x="0" y="5715"/>
                    <a:pt x="5715" y="0"/>
                    <a:pt x="12700" y="0"/>
                  </a:cubicBezTo>
                  <a:moveTo>
                    <a:pt x="12700" y="25400"/>
                  </a:moveTo>
                  <a:lnTo>
                    <a:pt x="12700" y="12700"/>
                  </a:lnTo>
                  <a:lnTo>
                    <a:pt x="25400" y="12700"/>
                  </a:lnTo>
                  <a:lnTo>
                    <a:pt x="25400" y="3914140"/>
                  </a:lnTo>
                  <a:lnTo>
                    <a:pt x="12700" y="3914140"/>
                  </a:lnTo>
                  <a:lnTo>
                    <a:pt x="12700" y="3901440"/>
                  </a:lnTo>
                  <a:lnTo>
                    <a:pt x="10497820" y="3901440"/>
                  </a:lnTo>
                  <a:lnTo>
                    <a:pt x="10497820" y="3914140"/>
                  </a:lnTo>
                  <a:lnTo>
                    <a:pt x="10485120" y="3914140"/>
                  </a:lnTo>
                  <a:lnTo>
                    <a:pt x="10485120" y="12700"/>
                  </a:lnTo>
                  <a:lnTo>
                    <a:pt x="10497820" y="12700"/>
                  </a:lnTo>
                  <a:lnTo>
                    <a:pt x="10497820" y="25400"/>
                  </a:lnTo>
                  <a:lnTo>
                    <a:pt x="12700" y="25400"/>
                  </a:lnTo>
                  <a:close/>
                </a:path>
              </a:pathLst>
            </a:cu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1" name="Google Shape;241;p5"/>
          <p:cNvSpPr txBox="1"/>
          <p:nvPr/>
        </p:nvSpPr>
        <p:spPr>
          <a:xfrm>
            <a:off x="1097280" y="2238375"/>
            <a:ext cx="7223760" cy="260794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"Effect": "Allow",</a:t>
            </a:r>
            <a:endParaRPr/>
          </a:p>
          <a:p>
            <a:pPr indent="0" lvl="0" marL="0" marR="0" rtl="0" algn="l">
              <a:lnSpc>
                <a:spcPct val="119958"/>
              </a:lnSpc>
              <a:spcBef>
                <a:spcPts val="0"/>
              </a:spcBef>
              <a:spcAft>
                <a:spcPts val="0"/>
              </a:spcAft>
              <a:buNone/>
            </a:pPr>
            <a:r>
              <a:rPr b="0" i="0" lang="en-US" sz="2400" u="none" cap="none" strike="noStrike">
                <a:solidFill>
                  <a:srgbClr val="F87171"/>
                </a:solidFill>
                <a:latin typeface="Consolas"/>
                <a:ea typeface="Consolas"/>
                <a:cs typeface="Consolas"/>
                <a:sym typeface="Consolas"/>
              </a:rPr>
              <a:t>  "Principal": { "AWS": "...ACCT:root" }</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"Action": "sts:AssumeRole"</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a:t>
            </a:r>
            <a:endParaRPr/>
          </a:p>
        </p:txBody>
      </p:sp>
      <p:grpSp>
        <p:nvGrpSpPr>
          <p:cNvPr id="242" name="Google Shape;242;p5"/>
          <p:cNvGrpSpPr/>
          <p:nvPr/>
        </p:nvGrpSpPr>
        <p:grpSpPr>
          <a:xfrm>
            <a:off x="731520" y="5106352"/>
            <a:ext cx="7863840" cy="562928"/>
            <a:chOff x="0" y="-19050"/>
            <a:chExt cx="10485120" cy="750570"/>
          </a:xfrm>
        </p:grpSpPr>
        <p:sp>
          <p:nvSpPr>
            <p:cNvPr id="243" name="Google Shape;243;p5"/>
            <p:cNvSpPr/>
            <p:nvPr/>
          </p:nvSpPr>
          <p:spPr>
            <a:xfrm>
              <a:off x="0" y="0"/>
              <a:ext cx="10485120" cy="731520"/>
            </a:xfrm>
            <a:custGeom>
              <a:rect b="b" l="l" r="r" t="t"/>
              <a:pathLst>
                <a:path extrusionOk="0" h="731520" w="10485120">
                  <a:moveTo>
                    <a:pt x="0" y="0"/>
                  </a:moveTo>
                  <a:lnTo>
                    <a:pt x="10485120" y="0"/>
                  </a:lnTo>
                  <a:lnTo>
                    <a:pt x="10485120" y="731520"/>
                  </a:lnTo>
                  <a:lnTo>
                    <a:pt x="0" y="731520"/>
                  </a:lnTo>
                  <a:close/>
                </a:path>
              </a:pathLst>
            </a:custGeom>
            <a:blipFill rotWithShape="1">
              <a:blip r:embed="rId3">
                <a:alphaModFix amt="0"/>
              </a:blip>
              <a:stretch>
                <a:fillRect b="-229267" l="0" r="0" t="-229267"/>
              </a:stretch>
            </a:blipFill>
            <a:ln>
              <a:noFill/>
            </a:ln>
          </p:spPr>
        </p:sp>
        <p:sp>
          <p:nvSpPr>
            <p:cNvPr id="244" name="Google Shape;244;p5"/>
            <p:cNvSpPr txBox="1"/>
            <p:nvPr/>
          </p:nvSpPr>
          <p:spPr>
            <a:xfrm>
              <a:off x="0" y="-19050"/>
              <a:ext cx="10485120" cy="750570"/>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0" i="1" lang="en-US" sz="2799" u="none" cap="none" strike="noStrike">
                  <a:solidFill>
                    <a:srgbClr val="F87171"/>
                  </a:solidFill>
                  <a:latin typeface="Arimo"/>
                  <a:ea typeface="Arimo"/>
                  <a:cs typeface="Arimo"/>
                  <a:sym typeface="Arimo"/>
                </a:rPr>
                <a:t>Trusts EVERYONE in the account</a:t>
              </a:r>
              <a:endParaRPr/>
            </a:p>
          </p:txBody>
        </p:sp>
      </p:grpSp>
      <p:grpSp>
        <p:nvGrpSpPr>
          <p:cNvPr id="245" name="Google Shape;245;p5"/>
          <p:cNvGrpSpPr/>
          <p:nvPr/>
        </p:nvGrpSpPr>
        <p:grpSpPr>
          <a:xfrm>
            <a:off x="9692640" y="1554480"/>
            <a:ext cx="2743200" cy="548640"/>
            <a:chOff x="0" y="0"/>
            <a:chExt cx="3657600" cy="731520"/>
          </a:xfrm>
        </p:grpSpPr>
        <p:sp>
          <p:nvSpPr>
            <p:cNvPr id="246" name="Google Shape;246;p5"/>
            <p:cNvSpPr/>
            <p:nvPr/>
          </p:nvSpPr>
          <p:spPr>
            <a:xfrm>
              <a:off x="0" y="0"/>
              <a:ext cx="3657600" cy="731520"/>
            </a:xfrm>
            <a:custGeom>
              <a:rect b="b" l="l" r="r" t="t"/>
              <a:pathLst>
                <a:path extrusionOk="0" h="731520" w="3657600">
                  <a:moveTo>
                    <a:pt x="0" y="0"/>
                  </a:moveTo>
                  <a:lnTo>
                    <a:pt x="3657600" y="0"/>
                  </a:lnTo>
                  <a:lnTo>
                    <a:pt x="3657600" y="731520"/>
                  </a:lnTo>
                  <a:lnTo>
                    <a:pt x="0" y="731520"/>
                  </a:lnTo>
                  <a:close/>
                </a:path>
              </a:pathLst>
            </a:custGeom>
            <a:blipFill rotWithShape="1">
              <a:blip r:embed="rId3">
                <a:alphaModFix amt="0"/>
              </a:blip>
              <a:stretch>
                <a:fillRect b="-47424" l="0" r="0" t="-47424"/>
              </a:stretch>
            </a:blipFill>
            <a:ln>
              <a:noFill/>
            </a:ln>
          </p:spPr>
        </p:sp>
        <p:sp>
          <p:nvSpPr>
            <p:cNvPr id="247" name="Google Shape;247;p5"/>
            <p:cNvSpPr txBox="1"/>
            <p:nvPr/>
          </p:nvSpPr>
          <p:spPr>
            <a:xfrm>
              <a:off x="0" y="9525"/>
              <a:ext cx="3657600" cy="72199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1" i="0" lang="en-US" sz="2799" u="none" cap="none" strike="noStrike">
                  <a:solidFill>
                    <a:srgbClr val="22D3EE"/>
                  </a:solidFill>
                  <a:latin typeface="Montserrat"/>
                  <a:ea typeface="Montserrat"/>
                  <a:cs typeface="Montserrat"/>
                  <a:sym typeface="Montserrat"/>
                </a:rPr>
                <a:t>AFTER</a:t>
              </a:r>
              <a:endParaRPr/>
            </a:p>
          </p:txBody>
        </p:sp>
      </p:grpSp>
      <p:grpSp>
        <p:nvGrpSpPr>
          <p:cNvPr id="248" name="Google Shape;248;p5"/>
          <p:cNvGrpSpPr/>
          <p:nvPr/>
        </p:nvGrpSpPr>
        <p:grpSpPr>
          <a:xfrm>
            <a:off x="9683115" y="2093595"/>
            <a:ext cx="7882890" cy="4591050"/>
            <a:chOff x="0" y="0"/>
            <a:chExt cx="10510520" cy="6121400"/>
          </a:xfrm>
        </p:grpSpPr>
        <p:sp>
          <p:nvSpPr>
            <p:cNvPr id="249" name="Google Shape;249;p5"/>
            <p:cNvSpPr/>
            <p:nvPr/>
          </p:nvSpPr>
          <p:spPr>
            <a:xfrm>
              <a:off x="12700" y="12700"/>
              <a:ext cx="10485120" cy="6096000"/>
            </a:xfrm>
            <a:custGeom>
              <a:rect b="b" l="l" r="r" t="t"/>
              <a:pathLst>
                <a:path extrusionOk="0" h="6096000" w="10485120">
                  <a:moveTo>
                    <a:pt x="0" y="0"/>
                  </a:moveTo>
                  <a:lnTo>
                    <a:pt x="10485120" y="0"/>
                  </a:lnTo>
                  <a:lnTo>
                    <a:pt x="10485120" y="6096000"/>
                  </a:lnTo>
                  <a:lnTo>
                    <a:pt x="0" y="6096000"/>
                  </a:lnTo>
                  <a:close/>
                </a:path>
              </a:pathLst>
            </a:custGeom>
            <a:solidFill>
              <a:srgbClr val="0D1117"/>
            </a:solidFill>
            <a:ln>
              <a:noFill/>
            </a:ln>
          </p:spPr>
        </p:sp>
        <p:sp>
          <p:nvSpPr>
            <p:cNvPr id="250" name="Google Shape;250;p5"/>
            <p:cNvSpPr/>
            <p:nvPr/>
          </p:nvSpPr>
          <p:spPr>
            <a:xfrm>
              <a:off x="0" y="0"/>
              <a:ext cx="10510520" cy="6121400"/>
            </a:xfrm>
            <a:custGeom>
              <a:rect b="b" l="l" r="r" t="t"/>
              <a:pathLst>
                <a:path extrusionOk="0" h="6121400" w="10510520">
                  <a:moveTo>
                    <a:pt x="12700" y="0"/>
                  </a:moveTo>
                  <a:lnTo>
                    <a:pt x="10497820" y="0"/>
                  </a:lnTo>
                  <a:cubicBezTo>
                    <a:pt x="10504805" y="0"/>
                    <a:pt x="10510520" y="5715"/>
                    <a:pt x="10510520" y="12700"/>
                  </a:cubicBezTo>
                  <a:lnTo>
                    <a:pt x="10510520" y="6108700"/>
                  </a:lnTo>
                  <a:cubicBezTo>
                    <a:pt x="10510520" y="6115685"/>
                    <a:pt x="10504805" y="6121400"/>
                    <a:pt x="10497820" y="6121400"/>
                  </a:cubicBezTo>
                  <a:lnTo>
                    <a:pt x="12700" y="6121400"/>
                  </a:lnTo>
                  <a:cubicBezTo>
                    <a:pt x="5715" y="6121400"/>
                    <a:pt x="0" y="6115685"/>
                    <a:pt x="0" y="6108700"/>
                  </a:cubicBezTo>
                  <a:lnTo>
                    <a:pt x="0" y="12700"/>
                  </a:lnTo>
                  <a:cubicBezTo>
                    <a:pt x="0" y="5715"/>
                    <a:pt x="5715" y="0"/>
                    <a:pt x="12700" y="0"/>
                  </a:cubicBezTo>
                  <a:moveTo>
                    <a:pt x="12700" y="25400"/>
                  </a:moveTo>
                  <a:lnTo>
                    <a:pt x="12700" y="12700"/>
                  </a:lnTo>
                  <a:lnTo>
                    <a:pt x="25400" y="12700"/>
                  </a:lnTo>
                  <a:lnTo>
                    <a:pt x="25400" y="6108700"/>
                  </a:lnTo>
                  <a:lnTo>
                    <a:pt x="12700" y="6108700"/>
                  </a:lnTo>
                  <a:lnTo>
                    <a:pt x="12700" y="6096000"/>
                  </a:lnTo>
                  <a:lnTo>
                    <a:pt x="10497820" y="6096000"/>
                  </a:lnTo>
                  <a:lnTo>
                    <a:pt x="10497820" y="6108700"/>
                  </a:lnTo>
                  <a:lnTo>
                    <a:pt x="10485120" y="6108700"/>
                  </a:lnTo>
                  <a:lnTo>
                    <a:pt x="10485120" y="12700"/>
                  </a:lnTo>
                  <a:lnTo>
                    <a:pt x="10497820" y="12700"/>
                  </a:lnTo>
                  <a:lnTo>
                    <a:pt x="10497820" y="25400"/>
                  </a:lnTo>
                  <a:lnTo>
                    <a:pt x="12700" y="25400"/>
                  </a:lnTo>
                  <a:close/>
                </a:path>
              </a:pathLst>
            </a:cu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51" name="Google Shape;251;p5"/>
          <p:cNvSpPr/>
          <p:nvPr/>
        </p:nvSpPr>
        <p:spPr>
          <a:xfrm>
            <a:off x="9692640" y="2103120"/>
            <a:ext cx="109728" cy="4572000"/>
          </a:xfrm>
          <a:custGeom>
            <a:rect b="b" l="l" r="r" t="t"/>
            <a:pathLst>
              <a:path extrusionOk="0" h="6096000" w="146304">
                <a:moveTo>
                  <a:pt x="0" y="0"/>
                </a:moveTo>
                <a:lnTo>
                  <a:pt x="146304" y="0"/>
                </a:lnTo>
                <a:lnTo>
                  <a:pt x="146304" y="6096000"/>
                </a:lnTo>
                <a:lnTo>
                  <a:pt x="0" y="6096000"/>
                </a:lnTo>
                <a:close/>
              </a:path>
            </a:pathLst>
          </a:custGeom>
          <a:solidFill>
            <a:srgbClr val="22D3EE"/>
          </a:solidFill>
          <a:ln>
            <a:noFill/>
          </a:ln>
        </p:spPr>
      </p:sp>
      <p:sp>
        <p:nvSpPr>
          <p:cNvPr id="252" name="Google Shape;252;p5"/>
          <p:cNvSpPr txBox="1"/>
          <p:nvPr/>
        </p:nvSpPr>
        <p:spPr>
          <a:xfrm>
            <a:off x="10058400" y="2238375"/>
            <a:ext cx="7223760" cy="425386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"Effect": "Allow",</a:t>
            </a:r>
            <a:endParaRPr/>
          </a:p>
          <a:p>
            <a:pPr indent="0" lvl="0" marL="0" marR="0" rtl="0" algn="l">
              <a:lnSpc>
                <a:spcPct val="119958"/>
              </a:lnSpc>
              <a:spcBef>
                <a:spcPts val="0"/>
              </a:spcBef>
              <a:spcAft>
                <a:spcPts val="0"/>
              </a:spcAft>
              <a:buNone/>
            </a:pPr>
            <a:r>
              <a:rPr b="0" i="0" lang="en-US" sz="2400" u="none" cap="none" strike="noStrike">
                <a:solidFill>
                  <a:srgbClr val="22D3EE"/>
                </a:solidFill>
                <a:latin typeface="Consolas"/>
                <a:ea typeface="Consolas"/>
                <a:cs typeface="Consolas"/>
                <a:sym typeface="Consolas"/>
              </a:rPr>
              <a:t>  "Principal"</a:t>
            </a:r>
            <a:r>
              <a:rPr b="0" i="0" lang="en-US" sz="2400" u="none" cap="none" strike="noStrike">
                <a:solidFill>
                  <a:srgbClr val="CBD5E1"/>
                </a:solidFill>
                <a:latin typeface="Consolas"/>
                <a:ea typeface="Consolas"/>
                <a:cs typeface="Consolas"/>
                <a:sym typeface="Consolas"/>
              </a:rPr>
              <a:t>: {</a:t>
            </a:r>
            <a:endParaRPr/>
          </a:p>
          <a:p>
            <a:pPr indent="0" lvl="0" marL="0" marR="0" rtl="0" algn="l">
              <a:lnSpc>
                <a:spcPct val="119958"/>
              </a:lnSpc>
              <a:spcBef>
                <a:spcPts val="0"/>
              </a:spcBef>
              <a:spcAft>
                <a:spcPts val="0"/>
              </a:spcAft>
              <a:buNone/>
            </a:pPr>
            <a:r>
              <a:rPr b="0" i="0" lang="en-US" sz="2400" u="none" cap="none" strike="noStrike">
                <a:solidFill>
                  <a:srgbClr val="22D3EE"/>
                </a:solidFill>
                <a:latin typeface="Consolas"/>
                <a:ea typeface="Consolas"/>
                <a:cs typeface="Consolas"/>
                <a:sym typeface="Consolas"/>
              </a:rPr>
              <a:t>    "AWS": "...role/specific-role"</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"Action": "sts:AssumeRole",</a:t>
            </a:r>
            <a:endParaRPr/>
          </a:p>
          <a:p>
            <a:pPr indent="0" lvl="0" marL="0" marR="0" rtl="0" algn="l">
              <a:lnSpc>
                <a:spcPct val="119958"/>
              </a:lnSpc>
              <a:spcBef>
                <a:spcPts val="0"/>
              </a:spcBef>
              <a:spcAft>
                <a:spcPts val="0"/>
              </a:spcAft>
              <a:buNone/>
            </a:pPr>
            <a:r>
              <a:rPr b="0" i="0" lang="en-US" sz="2400" u="none" cap="none" strike="noStrike">
                <a:solidFill>
                  <a:srgbClr val="F59E0B"/>
                </a:solidFill>
                <a:latin typeface="Consolas"/>
                <a:ea typeface="Consolas"/>
                <a:cs typeface="Consolas"/>
                <a:sym typeface="Consolas"/>
              </a:rPr>
              <a:t>  "Condition": {</a:t>
            </a:r>
            <a:endParaRPr/>
          </a:p>
          <a:p>
            <a:pPr indent="0" lvl="0" marL="0" marR="0" rtl="0" algn="l">
              <a:lnSpc>
                <a:spcPct val="119958"/>
              </a:lnSpc>
              <a:spcBef>
                <a:spcPts val="0"/>
              </a:spcBef>
              <a:spcAft>
                <a:spcPts val="0"/>
              </a:spcAft>
              <a:buNone/>
            </a:pPr>
            <a:r>
              <a:rPr b="0" i="0" lang="en-US" sz="2400" u="none" cap="none" strike="noStrike">
                <a:solidFill>
                  <a:srgbClr val="F59E0B"/>
                </a:solidFill>
                <a:latin typeface="Consolas"/>
                <a:ea typeface="Consolas"/>
                <a:cs typeface="Consolas"/>
                <a:sym typeface="Consolas"/>
              </a:rPr>
              <a:t>    "Bool": { "aws:MFA": "true" }</a:t>
            </a:r>
            <a:endParaRPr/>
          </a:p>
          <a:p>
            <a:pPr indent="0" lvl="0" marL="0" marR="0" rtl="0" algn="l">
              <a:lnSpc>
                <a:spcPct val="119958"/>
              </a:lnSpc>
              <a:spcBef>
                <a:spcPts val="0"/>
              </a:spcBef>
              <a:spcAft>
                <a:spcPts val="0"/>
              </a:spcAft>
              <a:buNone/>
            </a:pPr>
            <a:r>
              <a:rPr b="0" i="0" lang="en-US" sz="2400" u="none" cap="none" strike="noStrike">
                <a:solidFill>
                  <a:srgbClr val="F59E0B"/>
                </a:solidFill>
                <a:latin typeface="Consolas"/>
                <a:ea typeface="Consolas"/>
                <a:cs typeface="Consolas"/>
                <a:sym typeface="Consolas"/>
              </a:rPr>
              <a:t>  }</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a:t>
            </a:r>
            <a:endParaRPr/>
          </a:p>
        </p:txBody>
      </p:sp>
      <p:grpSp>
        <p:nvGrpSpPr>
          <p:cNvPr id="253" name="Google Shape;253;p5"/>
          <p:cNvGrpSpPr/>
          <p:nvPr/>
        </p:nvGrpSpPr>
        <p:grpSpPr>
          <a:xfrm>
            <a:off x="9692640" y="6752273"/>
            <a:ext cx="7863840" cy="562927"/>
            <a:chOff x="0" y="-19050"/>
            <a:chExt cx="10485120" cy="750570"/>
          </a:xfrm>
        </p:grpSpPr>
        <p:sp>
          <p:nvSpPr>
            <p:cNvPr id="254" name="Google Shape;254;p5"/>
            <p:cNvSpPr/>
            <p:nvPr/>
          </p:nvSpPr>
          <p:spPr>
            <a:xfrm>
              <a:off x="0" y="0"/>
              <a:ext cx="10485120" cy="731520"/>
            </a:xfrm>
            <a:custGeom>
              <a:rect b="b" l="l" r="r" t="t"/>
              <a:pathLst>
                <a:path extrusionOk="0" h="731520" w="10485120">
                  <a:moveTo>
                    <a:pt x="0" y="0"/>
                  </a:moveTo>
                  <a:lnTo>
                    <a:pt x="10485120" y="0"/>
                  </a:lnTo>
                  <a:lnTo>
                    <a:pt x="10485120" y="731520"/>
                  </a:lnTo>
                  <a:lnTo>
                    <a:pt x="0" y="731520"/>
                  </a:lnTo>
                  <a:close/>
                </a:path>
              </a:pathLst>
            </a:custGeom>
            <a:blipFill rotWithShape="1">
              <a:blip r:embed="rId3">
                <a:alphaModFix amt="0"/>
              </a:blip>
              <a:stretch>
                <a:fillRect b="-229267" l="0" r="0" t="-229267"/>
              </a:stretch>
            </a:blipFill>
            <a:ln>
              <a:noFill/>
            </a:ln>
          </p:spPr>
        </p:sp>
        <p:sp>
          <p:nvSpPr>
            <p:cNvPr id="255" name="Google Shape;255;p5"/>
            <p:cNvSpPr txBox="1"/>
            <p:nvPr/>
          </p:nvSpPr>
          <p:spPr>
            <a:xfrm>
              <a:off x="0" y="-19050"/>
              <a:ext cx="10485120" cy="750570"/>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0" i="1" lang="en-US" sz="2799" u="none" cap="none" strike="noStrike">
                  <a:solidFill>
                    <a:srgbClr val="22D3EE"/>
                  </a:solidFill>
                  <a:latin typeface="Arimo"/>
                  <a:ea typeface="Arimo"/>
                  <a:cs typeface="Arimo"/>
                  <a:sym typeface="Arimo"/>
                </a:rPr>
                <a:t>Trusts ONE role + requires MFA</a:t>
              </a:r>
              <a:endParaRPr/>
            </a:p>
          </p:txBody>
        </p:sp>
      </p:grpSp>
      <p:grpSp>
        <p:nvGrpSpPr>
          <p:cNvPr id="256" name="Google Shape;256;p5"/>
          <p:cNvGrpSpPr/>
          <p:nvPr/>
        </p:nvGrpSpPr>
        <p:grpSpPr>
          <a:xfrm>
            <a:off x="914400" y="8208169"/>
            <a:ext cx="16459200" cy="935831"/>
            <a:chOff x="0" y="-28575"/>
            <a:chExt cx="21945600" cy="1247775"/>
          </a:xfrm>
        </p:grpSpPr>
        <p:sp>
          <p:nvSpPr>
            <p:cNvPr id="257" name="Google Shape;257;p5"/>
            <p:cNvSpPr/>
            <p:nvPr/>
          </p:nvSpPr>
          <p:spPr>
            <a:xfrm>
              <a:off x="0" y="0"/>
              <a:ext cx="21945600" cy="1219200"/>
            </a:xfrm>
            <a:custGeom>
              <a:rect b="b" l="l" r="r" t="t"/>
              <a:pathLst>
                <a:path extrusionOk="0" h="1219200" w="21945600">
                  <a:moveTo>
                    <a:pt x="0" y="0"/>
                  </a:moveTo>
                  <a:lnTo>
                    <a:pt x="21945600" y="0"/>
                  </a:lnTo>
                  <a:lnTo>
                    <a:pt x="21945600" y="1219200"/>
                  </a:lnTo>
                  <a:lnTo>
                    <a:pt x="0" y="1219200"/>
                  </a:lnTo>
                  <a:close/>
                </a:path>
              </a:pathLst>
            </a:custGeom>
            <a:blipFill rotWithShape="1">
              <a:blip r:embed="rId3">
                <a:alphaModFix amt="0"/>
              </a:blip>
              <a:stretch>
                <a:fillRect b="-300701" l="0" r="0" t="-300708"/>
              </a:stretch>
            </a:blipFill>
            <a:ln>
              <a:noFill/>
            </a:ln>
          </p:spPr>
        </p:sp>
        <p:sp>
          <p:nvSpPr>
            <p:cNvPr id="258" name="Google Shape;258;p5"/>
            <p:cNvSpPr txBox="1"/>
            <p:nvPr/>
          </p:nvSpPr>
          <p:spPr>
            <a:xfrm>
              <a:off x="0" y="-28575"/>
              <a:ext cx="21945600" cy="124777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3200">
                  <a:solidFill>
                    <a:srgbClr val="CBD5E1"/>
                  </a:solidFill>
                  <a:latin typeface="Arimo"/>
                  <a:ea typeface="Arimo"/>
                  <a:cs typeface="Arimo"/>
                  <a:sym typeface="Arimo"/>
                </a:rPr>
                <a:t>Remember - t</a:t>
              </a:r>
              <a:r>
                <a:rPr b="0" i="0" lang="en-US" sz="3200" u="none" cap="none" strike="noStrike">
                  <a:solidFill>
                    <a:srgbClr val="CBD5E1"/>
                  </a:solidFill>
                  <a:latin typeface="Arimo"/>
                  <a:ea typeface="Arimo"/>
                  <a:cs typeface="Arimo"/>
                  <a:sym typeface="Arimo"/>
                </a:rPr>
                <a:t>rust policies are resource policie</a:t>
              </a:r>
              <a:r>
                <a:rPr lang="en-US" sz="3200">
                  <a:solidFill>
                    <a:srgbClr val="CBD5E1"/>
                  </a:solidFill>
                  <a:latin typeface="Arimo"/>
                  <a:ea typeface="Arimo"/>
                  <a:cs typeface="Arimo"/>
                  <a:sym typeface="Arimo"/>
                </a:rPr>
                <a:t>s </a:t>
              </a:r>
              <a:r>
                <a:rPr b="0" i="0" lang="en-US" sz="3200" u="none" cap="none" strike="noStrike">
                  <a:solidFill>
                    <a:srgbClr val="CBD5E1"/>
                  </a:solidFill>
                  <a:latin typeface="Arimo"/>
                  <a:ea typeface="Arimo"/>
                  <a:cs typeface="Arimo"/>
                  <a:sym typeface="Arimo"/>
                </a:rPr>
                <a:t>on the TARGET role, not the caller.</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sp>
      <p:grpSp>
        <p:nvGrpSpPr>
          <p:cNvPr id="268" name="Google Shape;268;p6"/>
          <p:cNvGrpSpPr/>
          <p:nvPr/>
        </p:nvGrpSpPr>
        <p:grpSpPr>
          <a:xfrm>
            <a:off x="914400" y="182880"/>
            <a:ext cx="16459200" cy="1188720"/>
            <a:chOff x="0" y="0"/>
            <a:chExt cx="21945600" cy="1584960"/>
          </a:xfrm>
        </p:grpSpPr>
        <p:sp>
          <p:nvSpPr>
            <p:cNvPr id="269" name="Google Shape;269;p6"/>
            <p:cNvSpPr/>
            <p:nvPr/>
          </p:nvSpPr>
          <p:spPr>
            <a:xfrm>
              <a:off x="0" y="0"/>
              <a:ext cx="21945600" cy="1584960"/>
            </a:xfrm>
            <a:custGeom>
              <a:rect b="b" l="l" r="r" t="t"/>
              <a:pathLst>
                <a:path extrusionOk="0" h="1584960" w="21945600">
                  <a:moveTo>
                    <a:pt x="0" y="0"/>
                  </a:moveTo>
                  <a:lnTo>
                    <a:pt x="21945600" y="0"/>
                  </a:lnTo>
                  <a:lnTo>
                    <a:pt x="21945600" y="1584960"/>
                  </a:lnTo>
                  <a:lnTo>
                    <a:pt x="0" y="1584960"/>
                  </a:lnTo>
                  <a:close/>
                </a:path>
              </a:pathLst>
            </a:custGeom>
            <a:blipFill rotWithShape="1">
              <a:blip r:embed="rId4">
                <a:alphaModFix amt="0"/>
              </a:blip>
              <a:stretch>
                <a:fillRect b="-219774" l="0" r="0" t="-219774"/>
              </a:stretch>
            </a:blipFill>
            <a:ln>
              <a:noFill/>
            </a:ln>
          </p:spPr>
        </p:sp>
        <p:sp>
          <p:nvSpPr>
            <p:cNvPr id="270" name="Google Shape;270;p6"/>
            <p:cNvSpPr txBox="1"/>
            <p:nvPr/>
          </p:nvSpPr>
          <p:spPr>
            <a:xfrm>
              <a:off x="0" y="0"/>
              <a:ext cx="21945600" cy="1584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7600" u="none" cap="none" strike="noStrike">
                  <a:solidFill>
                    <a:srgbClr val="FFFFFF"/>
                  </a:solidFill>
                  <a:latin typeface="Montserrat"/>
                  <a:ea typeface="Montserrat"/>
                  <a:cs typeface="Montserrat"/>
                  <a:sym typeface="Montserrat"/>
                </a:rPr>
                <a:t>Resource Constraints</a:t>
              </a:r>
              <a:endParaRPr/>
            </a:p>
          </p:txBody>
        </p:sp>
      </p:grpSp>
      <p:grpSp>
        <p:nvGrpSpPr>
          <p:cNvPr id="271" name="Google Shape;271;p6"/>
          <p:cNvGrpSpPr/>
          <p:nvPr/>
        </p:nvGrpSpPr>
        <p:grpSpPr>
          <a:xfrm>
            <a:off x="731520" y="1554480"/>
            <a:ext cx="2743200" cy="548640"/>
            <a:chOff x="0" y="0"/>
            <a:chExt cx="3657600" cy="731520"/>
          </a:xfrm>
        </p:grpSpPr>
        <p:sp>
          <p:nvSpPr>
            <p:cNvPr id="272" name="Google Shape;272;p6"/>
            <p:cNvSpPr/>
            <p:nvPr/>
          </p:nvSpPr>
          <p:spPr>
            <a:xfrm>
              <a:off x="0" y="0"/>
              <a:ext cx="3657600" cy="731520"/>
            </a:xfrm>
            <a:custGeom>
              <a:rect b="b" l="l" r="r" t="t"/>
              <a:pathLst>
                <a:path extrusionOk="0" h="731520" w="3657600">
                  <a:moveTo>
                    <a:pt x="0" y="0"/>
                  </a:moveTo>
                  <a:lnTo>
                    <a:pt x="3657600" y="0"/>
                  </a:lnTo>
                  <a:lnTo>
                    <a:pt x="3657600" y="731520"/>
                  </a:lnTo>
                  <a:lnTo>
                    <a:pt x="0" y="731520"/>
                  </a:lnTo>
                  <a:close/>
                </a:path>
              </a:pathLst>
            </a:custGeom>
            <a:blipFill rotWithShape="1">
              <a:blip r:embed="rId4">
                <a:alphaModFix amt="0"/>
              </a:blip>
              <a:stretch>
                <a:fillRect b="-47424" l="0" r="0" t="-47424"/>
              </a:stretch>
            </a:blipFill>
            <a:ln>
              <a:noFill/>
            </a:ln>
          </p:spPr>
        </p:sp>
        <p:sp>
          <p:nvSpPr>
            <p:cNvPr id="273" name="Google Shape;273;p6"/>
            <p:cNvSpPr txBox="1"/>
            <p:nvPr/>
          </p:nvSpPr>
          <p:spPr>
            <a:xfrm>
              <a:off x="0" y="9525"/>
              <a:ext cx="3657600" cy="72199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1" i="0" lang="en-US" sz="2799" u="none" cap="none" strike="noStrike">
                  <a:solidFill>
                    <a:srgbClr val="F87171"/>
                  </a:solidFill>
                  <a:latin typeface="Montserrat"/>
                  <a:ea typeface="Montserrat"/>
                  <a:cs typeface="Montserrat"/>
                  <a:sym typeface="Montserrat"/>
                </a:rPr>
                <a:t>BEFORE</a:t>
              </a:r>
              <a:endParaRPr/>
            </a:p>
          </p:txBody>
        </p:sp>
      </p:grpSp>
      <p:grpSp>
        <p:nvGrpSpPr>
          <p:cNvPr id="274" name="Google Shape;274;p6"/>
          <p:cNvGrpSpPr/>
          <p:nvPr/>
        </p:nvGrpSpPr>
        <p:grpSpPr>
          <a:xfrm>
            <a:off x="721995" y="2093595"/>
            <a:ext cx="7882890" cy="4042410"/>
            <a:chOff x="0" y="0"/>
            <a:chExt cx="10510520" cy="5389880"/>
          </a:xfrm>
        </p:grpSpPr>
        <p:sp>
          <p:nvSpPr>
            <p:cNvPr id="275" name="Google Shape;275;p6"/>
            <p:cNvSpPr/>
            <p:nvPr/>
          </p:nvSpPr>
          <p:spPr>
            <a:xfrm>
              <a:off x="12700" y="12700"/>
              <a:ext cx="10485120" cy="5364480"/>
            </a:xfrm>
            <a:custGeom>
              <a:rect b="b" l="l" r="r" t="t"/>
              <a:pathLst>
                <a:path extrusionOk="0" h="5364480" w="10485120">
                  <a:moveTo>
                    <a:pt x="0" y="0"/>
                  </a:moveTo>
                  <a:lnTo>
                    <a:pt x="10485120" y="0"/>
                  </a:lnTo>
                  <a:lnTo>
                    <a:pt x="10485120" y="5364480"/>
                  </a:lnTo>
                  <a:lnTo>
                    <a:pt x="0" y="5364480"/>
                  </a:lnTo>
                  <a:close/>
                </a:path>
              </a:pathLst>
            </a:custGeom>
            <a:solidFill>
              <a:srgbClr val="0D1117"/>
            </a:solidFill>
            <a:ln>
              <a:noFill/>
            </a:ln>
          </p:spPr>
        </p:sp>
        <p:sp>
          <p:nvSpPr>
            <p:cNvPr id="276" name="Google Shape;276;p6"/>
            <p:cNvSpPr/>
            <p:nvPr/>
          </p:nvSpPr>
          <p:spPr>
            <a:xfrm>
              <a:off x="0" y="0"/>
              <a:ext cx="10510520" cy="5389880"/>
            </a:xfrm>
            <a:custGeom>
              <a:rect b="b" l="l" r="r" t="t"/>
              <a:pathLst>
                <a:path extrusionOk="0" h="5389880" w="10510520">
                  <a:moveTo>
                    <a:pt x="12700" y="0"/>
                  </a:moveTo>
                  <a:lnTo>
                    <a:pt x="10497820" y="0"/>
                  </a:lnTo>
                  <a:cubicBezTo>
                    <a:pt x="10504805" y="0"/>
                    <a:pt x="10510520" y="5715"/>
                    <a:pt x="10510520" y="12700"/>
                  </a:cubicBezTo>
                  <a:lnTo>
                    <a:pt x="10510520" y="5377180"/>
                  </a:lnTo>
                  <a:cubicBezTo>
                    <a:pt x="10510520" y="5384165"/>
                    <a:pt x="10504805" y="5389880"/>
                    <a:pt x="10497820" y="5389880"/>
                  </a:cubicBezTo>
                  <a:lnTo>
                    <a:pt x="12700" y="5389880"/>
                  </a:lnTo>
                  <a:cubicBezTo>
                    <a:pt x="5715" y="5389880"/>
                    <a:pt x="0" y="5384165"/>
                    <a:pt x="0" y="5377180"/>
                  </a:cubicBezTo>
                  <a:lnTo>
                    <a:pt x="0" y="12700"/>
                  </a:lnTo>
                  <a:cubicBezTo>
                    <a:pt x="0" y="5715"/>
                    <a:pt x="5715" y="0"/>
                    <a:pt x="12700" y="0"/>
                  </a:cubicBezTo>
                  <a:moveTo>
                    <a:pt x="12700" y="25400"/>
                  </a:moveTo>
                  <a:lnTo>
                    <a:pt x="12700" y="12700"/>
                  </a:lnTo>
                  <a:lnTo>
                    <a:pt x="25400" y="12700"/>
                  </a:lnTo>
                  <a:lnTo>
                    <a:pt x="25400" y="5377180"/>
                  </a:lnTo>
                  <a:lnTo>
                    <a:pt x="12700" y="5377180"/>
                  </a:lnTo>
                  <a:lnTo>
                    <a:pt x="12700" y="5364480"/>
                  </a:lnTo>
                  <a:lnTo>
                    <a:pt x="10497820" y="5364480"/>
                  </a:lnTo>
                  <a:lnTo>
                    <a:pt x="10497820" y="5377180"/>
                  </a:lnTo>
                  <a:lnTo>
                    <a:pt x="10485120" y="5377180"/>
                  </a:lnTo>
                  <a:lnTo>
                    <a:pt x="10485120" y="12700"/>
                  </a:lnTo>
                  <a:lnTo>
                    <a:pt x="10497820" y="12700"/>
                  </a:lnTo>
                  <a:lnTo>
                    <a:pt x="10497820" y="25400"/>
                  </a:lnTo>
                  <a:lnTo>
                    <a:pt x="12700" y="25400"/>
                  </a:lnTo>
                  <a:close/>
                </a:path>
              </a:pathLst>
            </a:cu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77" name="Google Shape;277;p6"/>
          <p:cNvSpPr/>
          <p:nvPr/>
        </p:nvSpPr>
        <p:spPr>
          <a:xfrm>
            <a:off x="731520" y="2103120"/>
            <a:ext cx="109728" cy="4023360"/>
          </a:xfrm>
          <a:custGeom>
            <a:rect b="b" l="l" r="r" t="t"/>
            <a:pathLst>
              <a:path extrusionOk="0" h="5364480" w="146304">
                <a:moveTo>
                  <a:pt x="0" y="0"/>
                </a:moveTo>
                <a:lnTo>
                  <a:pt x="146304" y="0"/>
                </a:lnTo>
                <a:lnTo>
                  <a:pt x="146304" y="5364480"/>
                </a:lnTo>
                <a:lnTo>
                  <a:pt x="0" y="5364480"/>
                </a:lnTo>
                <a:close/>
              </a:path>
            </a:pathLst>
          </a:custGeom>
          <a:solidFill>
            <a:srgbClr val="F87171"/>
          </a:solidFill>
          <a:ln>
            <a:noFill/>
          </a:ln>
        </p:spPr>
      </p:sp>
      <p:grpSp>
        <p:nvGrpSpPr>
          <p:cNvPr id="278" name="Google Shape;278;p6"/>
          <p:cNvGrpSpPr/>
          <p:nvPr/>
        </p:nvGrpSpPr>
        <p:grpSpPr>
          <a:xfrm>
            <a:off x="731520" y="6203633"/>
            <a:ext cx="7863840" cy="562927"/>
            <a:chOff x="0" y="-19050"/>
            <a:chExt cx="10485120" cy="750570"/>
          </a:xfrm>
        </p:grpSpPr>
        <p:sp>
          <p:nvSpPr>
            <p:cNvPr id="279" name="Google Shape;279;p6"/>
            <p:cNvSpPr/>
            <p:nvPr/>
          </p:nvSpPr>
          <p:spPr>
            <a:xfrm>
              <a:off x="0" y="0"/>
              <a:ext cx="10485120" cy="731520"/>
            </a:xfrm>
            <a:custGeom>
              <a:rect b="b" l="l" r="r" t="t"/>
              <a:pathLst>
                <a:path extrusionOk="0" h="731520" w="10485120">
                  <a:moveTo>
                    <a:pt x="0" y="0"/>
                  </a:moveTo>
                  <a:lnTo>
                    <a:pt x="10485120" y="0"/>
                  </a:lnTo>
                  <a:lnTo>
                    <a:pt x="10485120" y="731520"/>
                  </a:lnTo>
                  <a:lnTo>
                    <a:pt x="0" y="731520"/>
                  </a:lnTo>
                  <a:close/>
                </a:path>
              </a:pathLst>
            </a:custGeom>
            <a:blipFill rotWithShape="1">
              <a:blip r:embed="rId4">
                <a:alphaModFix amt="0"/>
              </a:blip>
              <a:stretch>
                <a:fillRect b="-229267" l="0" r="0" t="-229267"/>
              </a:stretch>
            </a:blipFill>
            <a:ln>
              <a:noFill/>
            </a:ln>
          </p:spPr>
        </p:sp>
        <p:sp>
          <p:nvSpPr>
            <p:cNvPr id="280" name="Google Shape;280;p6"/>
            <p:cNvSpPr txBox="1"/>
            <p:nvPr/>
          </p:nvSpPr>
          <p:spPr>
            <a:xfrm>
              <a:off x="0" y="-19050"/>
              <a:ext cx="10485120" cy="750570"/>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0" i="1" lang="en-US" sz="2799" u="none" cap="none" strike="noStrike">
                  <a:solidFill>
                    <a:srgbClr val="F87171"/>
                  </a:solidFill>
                  <a:latin typeface="Arimo"/>
                  <a:ea typeface="Arimo"/>
                  <a:cs typeface="Arimo"/>
                  <a:sym typeface="Arimo"/>
                </a:rPr>
                <a:t>Can modify ANY Lambda</a:t>
              </a:r>
              <a:endParaRPr/>
            </a:p>
          </p:txBody>
        </p:sp>
      </p:grpSp>
      <p:grpSp>
        <p:nvGrpSpPr>
          <p:cNvPr id="281" name="Google Shape;281;p6"/>
          <p:cNvGrpSpPr/>
          <p:nvPr/>
        </p:nvGrpSpPr>
        <p:grpSpPr>
          <a:xfrm>
            <a:off x="9692640" y="1554480"/>
            <a:ext cx="2743200" cy="548640"/>
            <a:chOff x="0" y="0"/>
            <a:chExt cx="3657600" cy="731520"/>
          </a:xfrm>
        </p:grpSpPr>
        <p:sp>
          <p:nvSpPr>
            <p:cNvPr id="282" name="Google Shape;282;p6"/>
            <p:cNvSpPr/>
            <p:nvPr/>
          </p:nvSpPr>
          <p:spPr>
            <a:xfrm>
              <a:off x="0" y="0"/>
              <a:ext cx="3657600" cy="731520"/>
            </a:xfrm>
            <a:custGeom>
              <a:rect b="b" l="l" r="r" t="t"/>
              <a:pathLst>
                <a:path extrusionOk="0" h="731520" w="3657600">
                  <a:moveTo>
                    <a:pt x="0" y="0"/>
                  </a:moveTo>
                  <a:lnTo>
                    <a:pt x="3657600" y="0"/>
                  </a:lnTo>
                  <a:lnTo>
                    <a:pt x="3657600" y="731520"/>
                  </a:lnTo>
                  <a:lnTo>
                    <a:pt x="0" y="731520"/>
                  </a:lnTo>
                  <a:close/>
                </a:path>
              </a:pathLst>
            </a:custGeom>
            <a:blipFill rotWithShape="1">
              <a:blip r:embed="rId4">
                <a:alphaModFix amt="0"/>
              </a:blip>
              <a:stretch>
                <a:fillRect b="-47424" l="0" r="0" t="-47424"/>
              </a:stretch>
            </a:blipFill>
            <a:ln>
              <a:noFill/>
            </a:ln>
          </p:spPr>
        </p:sp>
        <p:sp>
          <p:nvSpPr>
            <p:cNvPr id="283" name="Google Shape;283;p6"/>
            <p:cNvSpPr txBox="1"/>
            <p:nvPr/>
          </p:nvSpPr>
          <p:spPr>
            <a:xfrm>
              <a:off x="0" y="9525"/>
              <a:ext cx="3657600" cy="721995"/>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1" i="0" lang="en-US" sz="2799" u="none" cap="none" strike="noStrike">
                  <a:solidFill>
                    <a:srgbClr val="22D3EE"/>
                  </a:solidFill>
                  <a:latin typeface="Montserrat"/>
                  <a:ea typeface="Montserrat"/>
                  <a:cs typeface="Montserrat"/>
                  <a:sym typeface="Montserrat"/>
                </a:rPr>
                <a:t>AFTER</a:t>
              </a:r>
              <a:endParaRPr/>
            </a:p>
          </p:txBody>
        </p:sp>
      </p:grpSp>
      <p:grpSp>
        <p:nvGrpSpPr>
          <p:cNvPr id="284" name="Google Shape;284;p6"/>
          <p:cNvGrpSpPr/>
          <p:nvPr/>
        </p:nvGrpSpPr>
        <p:grpSpPr>
          <a:xfrm>
            <a:off x="9683115" y="2093595"/>
            <a:ext cx="7882890" cy="4042410"/>
            <a:chOff x="0" y="0"/>
            <a:chExt cx="10510520" cy="5389880"/>
          </a:xfrm>
        </p:grpSpPr>
        <p:sp>
          <p:nvSpPr>
            <p:cNvPr id="285" name="Google Shape;285;p6"/>
            <p:cNvSpPr/>
            <p:nvPr/>
          </p:nvSpPr>
          <p:spPr>
            <a:xfrm>
              <a:off x="12700" y="12700"/>
              <a:ext cx="10485120" cy="5364480"/>
            </a:xfrm>
            <a:custGeom>
              <a:rect b="b" l="l" r="r" t="t"/>
              <a:pathLst>
                <a:path extrusionOk="0" h="5364480" w="10485120">
                  <a:moveTo>
                    <a:pt x="0" y="0"/>
                  </a:moveTo>
                  <a:lnTo>
                    <a:pt x="10485120" y="0"/>
                  </a:lnTo>
                  <a:lnTo>
                    <a:pt x="10485120" y="5364480"/>
                  </a:lnTo>
                  <a:lnTo>
                    <a:pt x="0" y="5364480"/>
                  </a:lnTo>
                  <a:close/>
                </a:path>
              </a:pathLst>
            </a:custGeom>
            <a:solidFill>
              <a:srgbClr val="0D1117"/>
            </a:solidFill>
            <a:ln>
              <a:noFill/>
            </a:ln>
          </p:spPr>
        </p:sp>
        <p:sp>
          <p:nvSpPr>
            <p:cNvPr id="286" name="Google Shape;286;p6"/>
            <p:cNvSpPr/>
            <p:nvPr/>
          </p:nvSpPr>
          <p:spPr>
            <a:xfrm>
              <a:off x="0" y="0"/>
              <a:ext cx="10510520" cy="5389880"/>
            </a:xfrm>
            <a:custGeom>
              <a:rect b="b" l="l" r="r" t="t"/>
              <a:pathLst>
                <a:path extrusionOk="0" h="5389880" w="10510520">
                  <a:moveTo>
                    <a:pt x="12700" y="0"/>
                  </a:moveTo>
                  <a:lnTo>
                    <a:pt x="10497820" y="0"/>
                  </a:lnTo>
                  <a:cubicBezTo>
                    <a:pt x="10504805" y="0"/>
                    <a:pt x="10510520" y="5715"/>
                    <a:pt x="10510520" y="12700"/>
                  </a:cubicBezTo>
                  <a:lnTo>
                    <a:pt x="10510520" y="5377180"/>
                  </a:lnTo>
                  <a:cubicBezTo>
                    <a:pt x="10510520" y="5384165"/>
                    <a:pt x="10504805" y="5389880"/>
                    <a:pt x="10497820" y="5389880"/>
                  </a:cubicBezTo>
                  <a:lnTo>
                    <a:pt x="12700" y="5389880"/>
                  </a:lnTo>
                  <a:cubicBezTo>
                    <a:pt x="5715" y="5389880"/>
                    <a:pt x="0" y="5384165"/>
                    <a:pt x="0" y="5377180"/>
                  </a:cubicBezTo>
                  <a:lnTo>
                    <a:pt x="0" y="12700"/>
                  </a:lnTo>
                  <a:cubicBezTo>
                    <a:pt x="0" y="5715"/>
                    <a:pt x="5715" y="0"/>
                    <a:pt x="12700" y="0"/>
                  </a:cubicBezTo>
                  <a:moveTo>
                    <a:pt x="12700" y="25400"/>
                  </a:moveTo>
                  <a:lnTo>
                    <a:pt x="12700" y="12700"/>
                  </a:lnTo>
                  <a:lnTo>
                    <a:pt x="25400" y="12700"/>
                  </a:lnTo>
                  <a:lnTo>
                    <a:pt x="25400" y="5377180"/>
                  </a:lnTo>
                  <a:lnTo>
                    <a:pt x="12700" y="5377180"/>
                  </a:lnTo>
                  <a:lnTo>
                    <a:pt x="12700" y="5364480"/>
                  </a:lnTo>
                  <a:lnTo>
                    <a:pt x="10497820" y="5364480"/>
                  </a:lnTo>
                  <a:lnTo>
                    <a:pt x="10497820" y="5377180"/>
                  </a:lnTo>
                  <a:lnTo>
                    <a:pt x="10485120" y="5377180"/>
                  </a:lnTo>
                  <a:lnTo>
                    <a:pt x="10485120" y="12700"/>
                  </a:lnTo>
                  <a:lnTo>
                    <a:pt x="10497820" y="12700"/>
                  </a:lnTo>
                  <a:lnTo>
                    <a:pt x="10497820" y="25400"/>
                  </a:lnTo>
                  <a:lnTo>
                    <a:pt x="12700" y="25400"/>
                  </a:lnTo>
                  <a:close/>
                </a:path>
              </a:pathLst>
            </a:cu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7" name="Google Shape;287;p6"/>
          <p:cNvSpPr/>
          <p:nvPr/>
        </p:nvSpPr>
        <p:spPr>
          <a:xfrm>
            <a:off x="9692640" y="2103120"/>
            <a:ext cx="109728" cy="4023360"/>
          </a:xfrm>
          <a:custGeom>
            <a:rect b="b" l="l" r="r" t="t"/>
            <a:pathLst>
              <a:path extrusionOk="0" h="5364480" w="146304">
                <a:moveTo>
                  <a:pt x="0" y="0"/>
                </a:moveTo>
                <a:lnTo>
                  <a:pt x="146304" y="0"/>
                </a:lnTo>
                <a:lnTo>
                  <a:pt x="146304" y="5364480"/>
                </a:lnTo>
                <a:lnTo>
                  <a:pt x="0" y="5364480"/>
                </a:lnTo>
                <a:close/>
              </a:path>
            </a:pathLst>
          </a:custGeom>
          <a:solidFill>
            <a:srgbClr val="22D3EE"/>
          </a:solidFill>
          <a:ln>
            <a:noFill/>
          </a:ln>
        </p:spPr>
      </p:sp>
      <p:grpSp>
        <p:nvGrpSpPr>
          <p:cNvPr id="288" name="Google Shape;288;p6"/>
          <p:cNvGrpSpPr/>
          <p:nvPr/>
        </p:nvGrpSpPr>
        <p:grpSpPr>
          <a:xfrm>
            <a:off x="9692640" y="6203633"/>
            <a:ext cx="7863840" cy="562927"/>
            <a:chOff x="0" y="-19050"/>
            <a:chExt cx="10485120" cy="750570"/>
          </a:xfrm>
        </p:grpSpPr>
        <p:sp>
          <p:nvSpPr>
            <p:cNvPr id="289" name="Google Shape;289;p6"/>
            <p:cNvSpPr/>
            <p:nvPr/>
          </p:nvSpPr>
          <p:spPr>
            <a:xfrm>
              <a:off x="0" y="0"/>
              <a:ext cx="10485120" cy="731520"/>
            </a:xfrm>
            <a:custGeom>
              <a:rect b="b" l="l" r="r" t="t"/>
              <a:pathLst>
                <a:path extrusionOk="0" h="731520" w="10485120">
                  <a:moveTo>
                    <a:pt x="0" y="0"/>
                  </a:moveTo>
                  <a:lnTo>
                    <a:pt x="10485120" y="0"/>
                  </a:lnTo>
                  <a:lnTo>
                    <a:pt x="10485120" y="731520"/>
                  </a:lnTo>
                  <a:lnTo>
                    <a:pt x="0" y="731520"/>
                  </a:lnTo>
                  <a:close/>
                </a:path>
              </a:pathLst>
            </a:custGeom>
            <a:blipFill rotWithShape="1">
              <a:blip r:embed="rId4">
                <a:alphaModFix amt="0"/>
              </a:blip>
              <a:stretch>
                <a:fillRect b="-229267" l="0" r="0" t="-229267"/>
              </a:stretch>
            </a:blipFill>
            <a:ln>
              <a:noFill/>
            </a:ln>
          </p:spPr>
        </p:sp>
        <p:sp>
          <p:nvSpPr>
            <p:cNvPr id="290" name="Google Shape;290;p6"/>
            <p:cNvSpPr txBox="1"/>
            <p:nvPr/>
          </p:nvSpPr>
          <p:spPr>
            <a:xfrm>
              <a:off x="0" y="-19050"/>
              <a:ext cx="10485120" cy="750570"/>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0" i="1" lang="en-US" sz="2799" u="none" cap="none" strike="noStrike">
                  <a:solidFill>
                    <a:srgbClr val="22D3EE"/>
                  </a:solidFill>
                  <a:latin typeface="Arimo"/>
                  <a:ea typeface="Arimo"/>
                  <a:cs typeface="Arimo"/>
                  <a:sym typeface="Arimo"/>
                </a:rPr>
                <a:t>Can only modify</a:t>
              </a:r>
              <a:r>
                <a:rPr i="1" lang="en-US" sz="2799">
                  <a:solidFill>
                    <a:srgbClr val="22D3EE"/>
                  </a:solidFill>
                  <a:latin typeface="Arimo"/>
                  <a:ea typeface="Arimo"/>
                  <a:cs typeface="Arimo"/>
                  <a:sym typeface="Arimo"/>
                </a:rPr>
                <a:t> </a:t>
              </a:r>
              <a:r>
                <a:rPr b="0" i="1" lang="en-US" sz="2799" u="none" cap="none" strike="noStrike">
                  <a:solidFill>
                    <a:srgbClr val="22D3EE"/>
                  </a:solidFill>
                  <a:latin typeface="Arimo"/>
                  <a:ea typeface="Arimo"/>
                  <a:cs typeface="Arimo"/>
                  <a:sym typeface="Arimo"/>
                </a:rPr>
                <a:t>function</a:t>
              </a:r>
              <a:r>
                <a:rPr i="1" lang="en-US" sz="2799">
                  <a:solidFill>
                    <a:srgbClr val="22D3EE"/>
                  </a:solidFill>
                  <a:latin typeface="Arimo"/>
                  <a:ea typeface="Arimo"/>
                  <a:cs typeface="Arimo"/>
                  <a:sym typeface="Arimo"/>
                </a:rPr>
                <a:t> with name my-function</a:t>
              </a:r>
              <a:endParaRPr/>
            </a:p>
          </p:txBody>
        </p:sp>
      </p:grpSp>
      <p:grpSp>
        <p:nvGrpSpPr>
          <p:cNvPr id="291" name="Google Shape;291;p6"/>
          <p:cNvGrpSpPr/>
          <p:nvPr/>
        </p:nvGrpSpPr>
        <p:grpSpPr>
          <a:xfrm>
            <a:off x="914400" y="8025289"/>
            <a:ext cx="16459200" cy="935831"/>
            <a:chOff x="0" y="-28575"/>
            <a:chExt cx="21945600" cy="1247775"/>
          </a:xfrm>
        </p:grpSpPr>
        <p:sp>
          <p:nvSpPr>
            <p:cNvPr id="292" name="Google Shape;292;p6"/>
            <p:cNvSpPr/>
            <p:nvPr/>
          </p:nvSpPr>
          <p:spPr>
            <a:xfrm>
              <a:off x="0" y="0"/>
              <a:ext cx="21945600" cy="1219200"/>
            </a:xfrm>
            <a:custGeom>
              <a:rect b="b" l="l" r="r" t="t"/>
              <a:pathLst>
                <a:path extrusionOk="0" h="1219200" w="21945600">
                  <a:moveTo>
                    <a:pt x="0" y="0"/>
                  </a:moveTo>
                  <a:lnTo>
                    <a:pt x="21945600" y="0"/>
                  </a:lnTo>
                  <a:lnTo>
                    <a:pt x="21945600" y="1219200"/>
                  </a:lnTo>
                  <a:lnTo>
                    <a:pt x="0" y="1219200"/>
                  </a:lnTo>
                  <a:close/>
                </a:path>
              </a:pathLst>
            </a:custGeom>
            <a:blipFill rotWithShape="1">
              <a:blip r:embed="rId4">
                <a:alphaModFix amt="0"/>
              </a:blip>
              <a:stretch>
                <a:fillRect b="-300701" l="0" r="0" t="-300708"/>
              </a:stretch>
            </a:blipFill>
            <a:ln>
              <a:noFill/>
            </a:ln>
          </p:spPr>
        </p:sp>
        <p:sp>
          <p:nvSpPr>
            <p:cNvPr id="293" name="Google Shape;293;p6"/>
            <p:cNvSpPr txBox="1"/>
            <p:nvPr/>
          </p:nvSpPr>
          <p:spPr>
            <a:xfrm>
              <a:off x="0" y="-28575"/>
              <a:ext cx="21945600" cy="124777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200" u="none" cap="none" strike="noStrike">
                  <a:solidFill>
                    <a:srgbClr val="CBD5E1"/>
                  </a:solidFill>
                  <a:latin typeface="Arimo"/>
                  <a:ea typeface="Arimo"/>
                  <a:cs typeface="Arimo"/>
                  <a:sym typeface="Arimo"/>
                </a:rPr>
                <a:t>Wildcards are the enemy. </a:t>
              </a:r>
              <a:r>
                <a:rPr b="1" i="0" lang="en-US" sz="3200" u="none" cap="none" strike="noStrike">
                  <a:solidFill>
                    <a:srgbClr val="F59E0B"/>
                  </a:solidFill>
                  <a:latin typeface="Arimo"/>
                  <a:ea typeface="Arimo"/>
                  <a:cs typeface="Arimo"/>
                  <a:sym typeface="Arimo"/>
                </a:rPr>
                <a:t>Principle of least privilege is our friend.</a:t>
              </a:r>
              <a:endParaRPr/>
            </a:p>
          </p:txBody>
        </p:sp>
      </p:grpSp>
      <p:sp>
        <p:nvSpPr>
          <p:cNvPr id="294" name="Google Shape;294;p6"/>
          <p:cNvSpPr txBox="1"/>
          <p:nvPr/>
        </p:nvSpPr>
        <p:spPr>
          <a:xfrm>
            <a:off x="1097280" y="2238375"/>
            <a:ext cx="7223760" cy="370522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"Action": [</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"lambda:UpdateFunctionCode",</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"lambda:GetFunction",</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"lambda:InvokeFunction"</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a:t>
            </a:r>
            <a:endParaRPr/>
          </a:p>
          <a:p>
            <a:pPr indent="0" lvl="0" marL="0" marR="0" rtl="0" algn="l">
              <a:lnSpc>
                <a:spcPct val="119958"/>
              </a:lnSpc>
              <a:spcBef>
                <a:spcPts val="0"/>
              </a:spcBef>
              <a:spcAft>
                <a:spcPts val="0"/>
              </a:spcAft>
              <a:buNone/>
            </a:pPr>
            <a:r>
              <a:rPr b="0" i="0" lang="en-US" sz="2400" u="none" cap="none" strike="noStrike">
                <a:solidFill>
                  <a:srgbClr val="F87171"/>
                </a:solidFill>
                <a:latin typeface="Consolas"/>
                <a:ea typeface="Consolas"/>
                <a:cs typeface="Consolas"/>
                <a:sym typeface="Consolas"/>
              </a:rPr>
              <a:t>  "Resource": "*"</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a:t>
            </a:r>
            <a:endParaRPr/>
          </a:p>
        </p:txBody>
      </p:sp>
      <p:sp>
        <p:nvSpPr>
          <p:cNvPr id="295" name="Google Shape;295;p6"/>
          <p:cNvSpPr txBox="1"/>
          <p:nvPr/>
        </p:nvSpPr>
        <p:spPr>
          <a:xfrm>
            <a:off x="10058400" y="2238375"/>
            <a:ext cx="7223700" cy="3471300"/>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"Action": [</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"lambda:UpdateFunctionCode",</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"lambda:GetFunction",</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"lambda:InvokeFunction"</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a:t>
            </a:r>
            <a:endParaRPr/>
          </a:p>
          <a:p>
            <a:pPr indent="0" lvl="0" marL="0" marR="0" rtl="0" algn="l">
              <a:lnSpc>
                <a:spcPct val="119958"/>
              </a:lnSpc>
              <a:spcBef>
                <a:spcPts val="0"/>
              </a:spcBef>
              <a:spcAft>
                <a:spcPts val="0"/>
              </a:spcAft>
              <a:buNone/>
            </a:pPr>
            <a:r>
              <a:rPr b="0" i="0" lang="en-US" sz="2400" u="none" cap="none" strike="noStrike">
                <a:solidFill>
                  <a:srgbClr val="A78BFA"/>
                </a:solidFill>
                <a:latin typeface="Consolas"/>
                <a:ea typeface="Consolas"/>
                <a:cs typeface="Consolas"/>
                <a:sym typeface="Consolas"/>
              </a:rPr>
              <a:t>  "Resource": "arn:..function:</a:t>
            </a:r>
            <a:r>
              <a:rPr lang="en-US" sz="2400">
                <a:solidFill>
                  <a:srgbClr val="A78BFA"/>
                </a:solidFill>
                <a:latin typeface="Consolas"/>
                <a:ea typeface="Consolas"/>
                <a:cs typeface="Consolas"/>
                <a:sym typeface="Consolas"/>
              </a:rPr>
              <a:t>my-function</a:t>
            </a:r>
            <a:r>
              <a:rPr b="0" i="0" lang="en-US" sz="2400" u="none" cap="none" strike="noStrike">
                <a:solidFill>
                  <a:srgbClr val="A78BFA"/>
                </a:solidFill>
                <a:latin typeface="Consolas"/>
                <a:ea typeface="Consolas"/>
                <a:cs typeface="Consolas"/>
                <a:sym typeface="Consolas"/>
              </a:rPr>
              <a:t>"</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sp>
      <p:grpSp>
        <p:nvGrpSpPr>
          <p:cNvPr id="305" name="Google Shape;305;p7"/>
          <p:cNvGrpSpPr/>
          <p:nvPr/>
        </p:nvGrpSpPr>
        <p:grpSpPr>
          <a:xfrm>
            <a:off x="914400" y="182880"/>
            <a:ext cx="16459200" cy="1188720"/>
            <a:chOff x="0" y="0"/>
            <a:chExt cx="21945600" cy="1584960"/>
          </a:xfrm>
        </p:grpSpPr>
        <p:sp>
          <p:nvSpPr>
            <p:cNvPr id="306" name="Google Shape;306;p7"/>
            <p:cNvSpPr/>
            <p:nvPr/>
          </p:nvSpPr>
          <p:spPr>
            <a:xfrm>
              <a:off x="0" y="0"/>
              <a:ext cx="21945600" cy="1584960"/>
            </a:xfrm>
            <a:custGeom>
              <a:rect b="b" l="l" r="r" t="t"/>
              <a:pathLst>
                <a:path extrusionOk="0" h="1584960" w="21945600">
                  <a:moveTo>
                    <a:pt x="0" y="0"/>
                  </a:moveTo>
                  <a:lnTo>
                    <a:pt x="21945600" y="0"/>
                  </a:lnTo>
                  <a:lnTo>
                    <a:pt x="21945600" y="1584960"/>
                  </a:lnTo>
                  <a:lnTo>
                    <a:pt x="0" y="1584960"/>
                  </a:lnTo>
                  <a:close/>
                </a:path>
              </a:pathLst>
            </a:custGeom>
            <a:blipFill rotWithShape="1">
              <a:blip r:embed="rId4">
                <a:alphaModFix amt="0"/>
              </a:blip>
              <a:stretch>
                <a:fillRect b="-219774" l="0" r="0" t="-219774"/>
              </a:stretch>
            </a:blipFill>
            <a:ln>
              <a:noFill/>
            </a:ln>
          </p:spPr>
        </p:sp>
        <p:sp>
          <p:nvSpPr>
            <p:cNvPr id="307" name="Google Shape;307;p7"/>
            <p:cNvSpPr txBox="1"/>
            <p:nvPr/>
          </p:nvSpPr>
          <p:spPr>
            <a:xfrm>
              <a:off x="0" y="0"/>
              <a:ext cx="21945600" cy="1584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7200" u="none" cap="none" strike="noStrike">
                  <a:solidFill>
                    <a:srgbClr val="FFFFFF"/>
                  </a:solidFill>
                  <a:latin typeface="Montserrat"/>
                  <a:ea typeface="Montserrat"/>
                  <a:cs typeface="Montserrat"/>
                  <a:sym typeface="Montserrat"/>
                </a:rPr>
                <a:t>Service Control Policies</a:t>
              </a:r>
              <a:endParaRPr/>
            </a:p>
          </p:txBody>
        </p:sp>
      </p:grpSp>
      <p:grpSp>
        <p:nvGrpSpPr>
          <p:cNvPr id="308" name="Google Shape;308;p7"/>
          <p:cNvGrpSpPr/>
          <p:nvPr/>
        </p:nvGrpSpPr>
        <p:grpSpPr>
          <a:xfrm>
            <a:off x="914400" y="1631632"/>
            <a:ext cx="8229600" cy="654367"/>
            <a:chOff x="0" y="-19050"/>
            <a:chExt cx="10972800" cy="872490"/>
          </a:xfrm>
        </p:grpSpPr>
        <p:sp>
          <p:nvSpPr>
            <p:cNvPr id="309" name="Google Shape;309;p7"/>
            <p:cNvSpPr/>
            <p:nvPr/>
          </p:nvSpPr>
          <p:spPr>
            <a:xfrm>
              <a:off x="0" y="0"/>
              <a:ext cx="10972800" cy="853440"/>
            </a:xfrm>
            <a:custGeom>
              <a:rect b="b" l="l" r="r" t="t"/>
              <a:pathLst>
                <a:path extrusionOk="0" h="853440" w="10972800">
                  <a:moveTo>
                    <a:pt x="0" y="0"/>
                  </a:moveTo>
                  <a:lnTo>
                    <a:pt x="10972800" y="0"/>
                  </a:lnTo>
                  <a:lnTo>
                    <a:pt x="10972800" y="853440"/>
                  </a:lnTo>
                  <a:lnTo>
                    <a:pt x="0" y="853440"/>
                  </a:lnTo>
                  <a:close/>
                </a:path>
              </a:pathLst>
            </a:custGeom>
            <a:blipFill rotWithShape="1">
              <a:blip r:embed="rId4">
                <a:alphaModFix amt="0"/>
              </a:blip>
              <a:stretch>
                <a:fillRect b="-200501" l="0" r="0" t="-200501"/>
              </a:stretch>
            </a:blipFill>
            <a:ln>
              <a:noFill/>
            </a:ln>
          </p:spPr>
        </p:sp>
        <p:sp>
          <p:nvSpPr>
            <p:cNvPr id="310" name="Google Shape;310;p7"/>
            <p:cNvSpPr txBox="1"/>
            <p:nvPr/>
          </p:nvSpPr>
          <p:spPr>
            <a:xfrm>
              <a:off x="0" y="-19050"/>
              <a:ext cx="10972800" cy="87249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000" u="none" cap="none" strike="noStrike">
                  <a:solidFill>
                    <a:srgbClr val="CBD5E1"/>
                  </a:solidFill>
                  <a:latin typeface="Arimo"/>
                  <a:ea typeface="Arimo"/>
                  <a:cs typeface="Arimo"/>
                  <a:sym typeface="Arimo"/>
                </a:rPr>
                <a:t>·  Apply to entire AWS Organizations</a:t>
              </a:r>
              <a:endParaRPr/>
            </a:p>
          </p:txBody>
        </p:sp>
      </p:grpSp>
      <p:grpSp>
        <p:nvGrpSpPr>
          <p:cNvPr id="311" name="Google Shape;311;p7"/>
          <p:cNvGrpSpPr/>
          <p:nvPr/>
        </p:nvGrpSpPr>
        <p:grpSpPr>
          <a:xfrm>
            <a:off x="914400" y="2271713"/>
            <a:ext cx="8229600" cy="654367"/>
            <a:chOff x="0" y="-19050"/>
            <a:chExt cx="10972800" cy="872490"/>
          </a:xfrm>
        </p:grpSpPr>
        <p:sp>
          <p:nvSpPr>
            <p:cNvPr id="312" name="Google Shape;312;p7"/>
            <p:cNvSpPr/>
            <p:nvPr/>
          </p:nvSpPr>
          <p:spPr>
            <a:xfrm>
              <a:off x="0" y="0"/>
              <a:ext cx="10972800" cy="853440"/>
            </a:xfrm>
            <a:custGeom>
              <a:rect b="b" l="l" r="r" t="t"/>
              <a:pathLst>
                <a:path extrusionOk="0" h="853440" w="10972800">
                  <a:moveTo>
                    <a:pt x="0" y="0"/>
                  </a:moveTo>
                  <a:lnTo>
                    <a:pt x="10972800" y="0"/>
                  </a:lnTo>
                  <a:lnTo>
                    <a:pt x="10972800" y="853440"/>
                  </a:lnTo>
                  <a:lnTo>
                    <a:pt x="0" y="853440"/>
                  </a:lnTo>
                  <a:close/>
                </a:path>
              </a:pathLst>
            </a:custGeom>
            <a:blipFill rotWithShape="1">
              <a:blip r:embed="rId4">
                <a:alphaModFix amt="0"/>
              </a:blip>
              <a:stretch>
                <a:fillRect b="-200501" l="0" r="0" t="-200501"/>
              </a:stretch>
            </a:blipFill>
            <a:ln>
              <a:noFill/>
            </a:ln>
          </p:spPr>
        </p:sp>
        <p:sp>
          <p:nvSpPr>
            <p:cNvPr id="313" name="Google Shape;313;p7"/>
            <p:cNvSpPr txBox="1"/>
            <p:nvPr/>
          </p:nvSpPr>
          <p:spPr>
            <a:xfrm>
              <a:off x="0" y="-19050"/>
              <a:ext cx="10972800" cy="87249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000" u="none" cap="none" strike="noStrike">
                  <a:solidFill>
                    <a:srgbClr val="CBD5E1"/>
                  </a:solidFill>
                  <a:latin typeface="Arimo"/>
                  <a:ea typeface="Arimo"/>
                  <a:cs typeface="Arimo"/>
                  <a:sym typeface="Arimo"/>
                </a:rPr>
                <a:t>·  Permission LIMITS, not GRANTS</a:t>
              </a:r>
              <a:endParaRPr/>
            </a:p>
          </p:txBody>
        </p:sp>
      </p:grpSp>
      <p:grpSp>
        <p:nvGrpSpPr>
          <p:cNvPr id="314" name="Google Shape;314;p7"/>
          <p:cNvGrpSpPr/>
          <p:nvPr/>
        </p:nvGrpSpPr>
        <p:grpSpPr>
          <a:xfrm>
            <a:off x="914400" y="2911792"/>
            <a:ext cx="8229600" cy="654367"/>
            <a:chOff x="0" y="-19050"/>
            <a:chExt cx="10972800" cy="872490"/>
          </a:xfrm>
        </p:grpSpPr>
        <p:sp>
          <p:nvSpPr>
            <p:cNvPr id="315" name="Google Shape;315;p7"/>
            <p:cNvSpPr/>
            <p:nvPr/>
          </p:nvSpPr>
          <p:spPr>
            <a:xfrm>
              <a:off x="0" y="0"/>
              <a:ext cx="10972800" cy="853440"/>
            </a:xfrm>
            <a:custGeom>
              <a:rect b="b" l="l" r="r" t="t"/>
              <a:pathLst>
                <a:path extrusionOk="0" h="853440" w="10972800">
                  <a:moveTo>
                    <a:pt x="0" y="0"/>
                  </a:moveTo>
                  <a:lnTo>
                    <a:pt x="10972800" y="0"/>
                  </a:lnTo>
                  <a:lnTo>
                    <a:pt x="10972800" y="853440"/>
                  </a:lnTo>
                  <a:lnTo>
                    <a:pt x="0" y="853440"/>
                  </a:lnTo>
                  <a:close/>
                </a:path>
              </a:pathLst>
            </a:custGeom>
            <a:blipFill rotWithShape="1">
              <a:blip r:embed="rId4">
                <a:alphaModFix amt="0"/>
              </a:blip>
              <a:stretch>
                <a:fillRect b="-200501" l="0" r="0" t="-200501"/>
              </a:stretch>
            </a:blipFill>
            <a:ln>
              <a:noFill/>
            </a:ln>
          </p:spPr>
        </p:sp>
        <p:sp>
          <p:nvSpPr>
            <p:cNvPr id="316" name="Google Shape;316;p7"/>
            <p:cNvSpPr txBox="1"/>
            <p:nvPr/>
          </p:nvSpPr>
          <p:spPr>
            <a:xfrm>
              <a:off x="0" y="-19050"/>
              <a:ext cx="10972800" cy="87249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000" u="none" cap="none" strike="noStrike">
                  <a:solidFill>
                    <a:srgbClr val="CBD5E1"/>
                  </a:solidFill>
                  <a:latin typeface="Arimo"/>
                  <a:ea typeface="Arimo"/>
                  <a:cs typeface="Arimo"/>
                  <a:sym typeface="Arimo"/>
                </a:rPr>
                <a:t>·  Even account root user is subject to SCPs</a:t>
              </a:r>
              <a:endParaRPr/>
            </a:p>
          </p:txBody>
        </p:sp>
      </p:grpSp>
      <p:grpSp>
        <p:nvGrpSpPr>
          <p:cNvPr id="317" name="Google Shape;317;p7"/>
          <p:cNvGrpSpPr/>
          <p:nvPr/>
        </p:nvGrpSpPr>
        <p:grpSpPr>
          <a:xfrm>
            <a:off x="721995" y="3922395"/>
            <a:ext cx="8431530" cy="3676650"/>
            <a:chOff x="0" y="0"/>
            <a:chExt cx="11242040" cy="4902200"/>
          </a:xfrm>
        </p:grpSpPr>
        <p:sp>
          <p:nvSpPr>
            <p:cNvPr id="318" name="Google Shape;318;p7"/>
            <p:cNvSpPr/>
            <p:nvPr/>
          </p:nvSpPr>
          <p:spPr>
            <a:xfrm>
              <a:off x="12700" y="12700"/>
              <a:ext cx="11216640" cy="4876800"/>
            </a:xfrm>
            <a:custGeom>
              <a:rect b="b" l="l" r="r" t="t"/>
              <a:pathLst>
                <a:path extrusionOk="0" h="4876800" w="11216640">
                  <a:moveTo>
                    <a:pt x="0" y="0"/>
                  </a:moveTo>
                  <a:lnTo>
                    <a:pt x="11216640" y="0"/>
                  </a:lnTo>
                  <a:lnTo>
                    <a:pt x="11216640" y="4876800"/>
                  </a:lnTo>
                  <a:lnTo>
                    <a:pt x="0" y="4876800"/>
                  </a:lnTo>
                  <a:close/>
                </a:path>
              </a:pathLst>
            </a:custGeom>
            <a:solidFill>
              <a:srgbClr val="0D1117"/>
            </a:solidFill>
            <a:ln>
              <a:noFill/>
            </a:ln>
          </p:spPr>
        </p:sp>
        <p:sp>
          <p:nvSpPr>
            <p:cNvPr id="319" name="Google Shape;319;p7"/>
            <p:cNvSpPr/>
            <p:nvPr/>
          </p:nvSpPr>
          <p:spPr>
            <a:xfrm>
              <a:off x="0" y="0"/>
              <a:ext cx="11242040" cy="4902200"/>
            </a:xfrm>
            <a:custGeom>
              <a:rect b="b" l="l" r="r" t="t"/>
              <a:pathLst>
                <a:path extrusionOk="0" h="4902200" w="11242040">
                  <a:moveTo>
                    <a:pt x="12700" y="0"/>
                  </a:moveTo>
                  <a:lnTo>
                    <a:pt x="11229340" y="0"/>
                  </a:lnTo>
                  <a:cubicBezTo>
                    <a:pt x="11236325" y="0"/>
                    <a:pt x="11242040" y="5715"/>
                    <a:pt x="11242040" y="12700"/>
                  </a:cubicBezTo>
                  <a:lnTo>
                    <a:pt x="11242040" y="4889500"/>
                  </a:lnTo>
                  <a:cubicBezTo>
                    <a:pt x="11242040" y="4896485"/>
                    <a:pt x="11236325" y="4902200"/>
                    <a:pt x="11229340" y="4902200"/>
                  </a:cubicBezTo>
                  <a:lnTo>
                    <a:pt x="12700" y="4902200"/>
                  </a:lnTo>
                  <a:cubicBezTo>
                    <a:pt x="5715" y="4902200"/>
                    <a:pt x="0" y="4896485"/>
                    <a:pt x="0" y="4889500"/>
                  </a:cubicBezTo>
                  <a:lnTo>
                    <a:pt x="0" y="12700"/>
                  </a:lnTo>
                  <a:cubicBezTo>
                    <a:pt x="0" y="5715"/>
                    <a:pt x="5715" y="0"/>
                    <a:pt x="12700" y="0"/>
                  </a:cubicBezTo>
                  <a:moveTo>
                    <a:pt x="12700" y="25400"/>
                  </a:moveTo>
                  <a:lnTo>
                    <a:pt x="12700" y="12700"/>
                  </a:lnTo>
                  <a:lnTo>
                    <a:pt x="25400" y="12700"/>
                  </a:lnTo>
                  <a:lnTo>
                    <a:pt x="25400" y="4889500"/>
                  </a:lnTo>
                  <a:lnTo>
                    <a:pt x="12700" y="4889500"/>
                  </a:lnTo>
                  <a:lnTo>
                    <a:pt x="12700" y="4876800"/>
                  </a:lnTo>
                  <a:lnTo>
                    <a:pt x="11229340" y="4876800"/>
                  </a:lnTo>
                  <a:lnTo>
                    <a:pt x="11229340" y="4889500"/>
                  </a:lnTo>
                  <a:lnTo>
                    <a:pt x="11216640" y="4889500"/>
                  </a:lnTo>
                  <a:lnTo>
                    <a:pt x="11216640" y="12700"/>
                  </a:lnTo>
                  <a:lnTo>
                    <a:pt x="11229340" y="12700"/>
                  </a:lnTo>
                  <a:lnTo>
                    <a:pt x="11229340" y="25400"/>
                  </a:lnTo>
                  <a:lnTo>
                    <a:pt x="12700" y="25400"/>
                  </a:lnTo>
                  <a:close/>
                </a:path>
              </a:pathLst>
            </a:custGeom>
            <a:solidFill>
              <a:srgbClr val="47556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 name="Google Shape;320;p7"/>
          <p:cNvSpPr txBox="1"/>
          <p:nvPr/>
        </p:nvSpPr>
        <p:spPr>
          <a:xfrm>
            <a:off x="1097280" y="4067175"/>
            <a:ext cx="7772400" cy="3339465"/>
          </a:xfrm>
          <a:prstGeom prst="rect">
            <a:avLst/>
          </a:prstGeom>
          <a:noFill/>
          <a:ln>
            <a:noFill/>
          </a:ln>
        </p:spPr>
        <p:txBody>
          <a:bodyPr anchorCtr="0" anchor="t" bIns="0" lIns="0" spcFirstLastPara="1" rIns="0" wrap="square" tIns="0">
            <a:spAutoFit/>
          </a:bodyPr>
          <a:lstStyle/>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a:t>
            </a:r>
            <a:endParaRPr/>
          </a:p>
          <a:p>
            <a:pPr indent="0" lvl="0" marL="0" marR="0" rtl="0" algn="l">
              <a:lnSpc>
                <a:spcPct val="119958"/>
              </a:lnSpc>
              <a:spcBef>
                <a:spcPts val="0"/>
              </a:spcBef>
              <a:spcAft>
                <a:spcPts val="0"/>
              </a:spcAft>
              <a:buNone/>
            </a:pPr>
            <a:r>
              <a:rPr b="0" i="0" lang="en-US" sz="2400" u="none" cap="none" strike="noStrike">
                <a:solidFill>
                  <a:srgbClr val="F87171"/>
                </a:solidFill>
                <a:latin typeface="Consolas"/>
                <a:ea typeface="Consolas"/>
                <a:cs typeface="Consolas"/>
                <a:sym typeface="Consolas"/>
              </a:rPr>
              <a:t>  "Effect": "Deny",</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"Action": [</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"iam:CreateUser",</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"iam:CreateAccessKey",</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"organizations:LeaveOrganization"</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  "Resource": "*"</a:t>
            </a:r>
            <a:endParaRPr/>
          </a:p>
          <a:p>
            <a:pPr indent="0" lvl="0" marL="0" marR="0" rtl="0" algn="l">
              <a:lnSpc>
                <a:spcPct val="119958"/>
              </a:lnSpc>
              <a:spcBef>
                <a:spcPts val="0"/>
              </a:spcBef>
              <a:spcAft>
                <a:spcPts val="0"/>
              </a:spcAft>
              <a:buNone/>
            </a:pPr>
            <a:r>
              <a:rPr b="0" i="0" lang="en-US" sz="2400" u="none" cap="none" strike="noStrike">
                <a:solidFill>
                  <a:srgbClr val="CBD5E1"/>
                </a:solidFill>
                <a:latin typeface="Consolas"/>
                <a:ea typeface="Consolas"/>
                <a:cs typeface="Consolas"/>
                <a:sym typeface="Consolas"/>
              </a:rPr>
              <a:t>}</a:t>
            </a:r>
            <a:endParaRPr/>
          </a:p>
        </p:txBody>
      </p:sp>
      <p:sp>
        <p:nvSpPr>
          <p:cNvPr id="321" name="Google Shape;321;p7"/>
          <p:cNvSpPr/>
          <p:nvPr/>
        </p:nvSpPr>
        <p:spPr>
          <a:xfrm>
            <a:off x="10058400" y="1828800"/>
            <a:ext cx="6400800" cy="731520"/>
          </a:xfrm>
          <a:custGeom>
            <a:rect b="b" l="l" r="r" t="t"/>
            <a:pathLst>
              <a:path extrusionOk="0" h="975360" w="8534400">
                <a:moveTo>
                  <a:pt x="0" y="0"/>
                </a:moveTo>
                <a:lnTo>
                  <a:pt x="8534400" y="0"/>
                </a:lnTo>
                <a:lnTo>
                  <a:pt x="8534400" y="975360"/>
                </a:lnTo>
                <a:lnTo>
                  <a:pt x="0" y="975360"/>
                </a:lnTo>
                <a:close/>
              </a:path>
            </a:pathLst>
          </a:custGeom>
          <a:solidFill>
            <a:srgbClr val="1A2540"/>
          </a:solidFill>
          <a:ln>
            <a:noFill/>
          </a:ln>
        </p:spPr>
      </p:sp>
      <p:sp>
        <p:nvSpPr>
          <p:cNvPr id="322" name="Google Shape;322;p7"/>
          <p:cNvSpPr/>
          <p:nvPr/>
        </p:nvSpPr>
        <p:spPr>
          <a:xfrm>
            <a:off x="10058400" y="1828800"/>
            <a:ext cx="109728" cy="731520"/>
          </a:xfrm>
          <a:custGeom>
            <a:rect b="b" l="l" r="r" t="t"/>
            <a:pathLst>
              <a:path extrusionOk="0" h="975360" w="146304">
                <a:moveTo>
                  <a:pt x="0" y="0"/>
                </a:moveTo>
                <a:lnTo>
                  <a:pt x="146304" y="0"/>
                </a:lnTo>
                <a:lnTo>
                  <a:pt x="146304" y="975360"/>
                </a:lnTo>
                <a:lnTo>
                  <a:pt x="0" y="975360"/>
                </a:lnTo>
                <a:close/>
              </a:path>
            </a:pathLst>
          </a:custGeom>
          <a:solidFill>
            <a:srgbClr val="F59E0B"/>
          </a:solidFill>
          <a:ln>
            <a:noFill/>
          </a:ln>
        </p:spPr>
      </p:sp>
      <p:grpSp>
        <p:nvGrpSpPr>
          <p:cNvPr id="323" name="Google Shape;323;p7"/>
          <p:cNvGrpSpPr/>
          <p:nvPr/>
        </p:nvGrpSpPr>
        <p:grpSpPr>
          <a:xfrm>
            <a:off x="10424160" y="1828800"/>
            <a:ext cx="5486400" cy="731520"/>
            <a:chOff x="0" y="0"/>
            <a:chExt cx="7315200" cy="975360"/>
          </a:xfrm>
        </p:grpSpPr>
        <p:sp>
          <p:nvSpPr>
            <p:cNvPr id="324" name="Google Shape;324;p7"/>
            <p:cNvSpPr/>
            <p:nvPr/>
          </p:nvSpPr>
          <p:spPr>
            <a:xfrm>
              <a:off x="0" y="0"/>
              <a:ext cx="7315200" cy="975360"/>
            </a:xfrm>
            <a:custGeom>
              <a:rect b="b" l="l" r="r" t="t"/>
              <a:pathLst>
                <a:path extrusionOk="0" h="975360" w="7315200">
                  <a:moveTo>
                    <a:pt x="0" y="0"/>
                  </a:moveTo>
                  <a:lnTo>
                    <a:pt x="7315200" y="0"/>
                  </a:lnTo>
                  <a:lnTo>
                    <a:pt x="7315200" y="975360"/>
                  </a:lnTo>
                  <a:lnTo>
                    <a:pt x="0" y="975360"/>
                  </a:lnTo>
                  <a:close/>
                </a:path>
              </a:pathLst>
            </a:custGeom>
            <a:blipFill rotWithShape="1">
              <a:blip r:embed="rId4">
                <a:alphaModFix amt="0"/>
              </a:blip>
              <a:stretch>
                <a:fillRect b="-96130" l="0" r="0" t="-96130"/>
              </a:stretch>
            </a:blipFill>
            <a:ln>
              <a:noFill/>
            </a:ln>
          </p:spPr>
        </p:sp>
        <p:sp>
          <p:nvSpPr>
            <p:cNvPr id="325" name="Google Shape;325;p7"/>
            <p:cNvSpPr txBox="1"/>
            <p:nvPr/>
          </p:nvSpPr>
          <p:spPr>
            <a:xfrm>
              <a:off x="0" y="0"/>
              <a:ext cx="7315200" cy="975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3200" u="none" cap="none" strike="noStrike">
                  <a:solidFill>
                    <a:srgbClr val="F59E0B"/>
                  </a:solidFill>
                  <a:latin typeface="Montserrat"/>
                  <a:ea typeface="Montserrat"/>
                  <a:cs typeface="Montserrat"/>
                  <a:sym typeface="Montserrat"/>
                </a:rPr>
                <a:t>Organization</a:t>
              </a:r>
              <a:endParaRPr/>
            </a:p>
          </p:txBody>
        </p:sp>
      </p:grpSp>
      <p:sp>
        <p:nvSpPr>
          <p:cNvPr id="326" name="Google Shape;326;p7"/>
          <p:cNvSpPr/>
          <p:nvPr/>
        </p:nvSpPr>
        <p:spPr>
          <a:xfrm>
            <a:off x="10972800" y="2926080"/>
            <a:ext cx="5486400" cy="731520"/>
          </a:xfrm>
          <a:custGeom>
            <a:rect b="b" l="l" r="r" t="t"/>
            <a:pathLst>
              <a:path extrusionOk="0" h="975360" w="7315200">
                <a:moveTo>
                  <a:pt x="0" y="0"/>
                </a:moveTo>
                <a:lnTo>
                  <a:pt x="7315200" y="0"/>
                </a:lnTo>
                <a:lnTo>
                  <a:pt x="7315200" y="975360"/>
                </a:lnTo>
                <a:lnTo>
                  <a:pt x="0" y="975360"/>
                </a:lnTo>
                <a:close/>
              </a:path>
            </a:pathLst>
          </a:custGeom>
          <a:solidFill>
            <a:srgbClr val="1A2540"/>
          </a:solidFill>
          <a:ln>
            <a:noFill/>
          </a:ln>
        </p:spPr>
      </p:sp>
      <p:sp>
        <p:nvSpPr>
          <p:cNvPr id="327" name="Google Shape;327;p7"/>
          <p:cNvSpPr/>
          <p:nvPr/>
        </p:nvSpPr>
        <p:spPr>
          <a:xfrm>
            <a:off x="10972800" y="2926080"/>
            <a:ext cx="109728" cy="731520"/>
          </a:xfrm>
          <a:custGeom>
            <a:rect b="b" l="l" r="r" t="t"/>
            <a:pathLst>
              <a:path extrusionOk="0" h="975360" w="146304">
                <a:moveTo>
                  <a:pt x="0" y="0"/>
                </a:moveTo>
                <a:lnTo>
                  <a:pt x="146304" y="0"/>
                </a:lnTo>
                <a:lnTo>
                  <a:pt x="146304" y="975360"/>
                </a:lnTo>
                <a:lnTo>
                  <a:pt x="0" y="975360"/>
                </a:lnTo>
                <a:close/>
              </a:path>
            </a:pathLst>
          </a:custGeom>
          <a:solidFill>
            <a:srgbClr val="F59E0B"/>
          </a:solidFill>
          <a:ln>
            <a:noFill/>
          </a:ln>
        </p:spPr>
      </p:sp>
      <p:grpSp>
        <p:nvGrpSpPr>
          <p:cNvPr id="328" name="Google Shape;328;p7"/>
          <p:cNvGrpSpPr/>
          <p:nvPr/>
        </p:nvGrpSpPr>
        <p:grpSpPr>
          <a:xfrm>
            <a:off x="11338560" y="2926080"/>
            <a:ext cx="4572000" cy="731520"/>
            <a:chOff x="0" y="0"/>
            <a:chExt cx="6096000" cy="975360"/>
          </a:xfrm>
        </p:grpSpPr>
        <p:sp>
          <p:nvSpPr>
            <p:cNvPr id="329" name="Google Shape;329;p7"/>
            <p:cNvSpPr/>
            <p:nvPr/>
          </p:nvSpPr>
          <p:spPr>
            <a:xfrm>
              <a:off x="0" y="0"/>
              <a:ext cx="6096000" cy="975360"/>
            </a:xfrm>
            <a:custGeom>
              <a:rect b="b" l="l" r="r" t="t"/>
              <a:pathLst>
                <a:path extrusionOk="0" h="975360" w="6096000">
                  <a:moveTo>
                    <a:pt x="0" y="0"/>
                  </a:moveTo>
                  <a:lnTo>
                    <a:pt x="6096000" y="0"/>
                  </a:lnTo>
                  <a:lnTo>
                    <a:pt x="6096000" y="975360"/>
                  </a:lnTo>
                  <a:lnTo>
                    <a:pt x="0" y="975360"/>
                  </a:lnTo>
                  <a:close/>
                </a:path>
              </a:pathLst>
            </a:custGeom>
            <a:blipFill rotWithShape="1">
              <a:blip r:embed="rId4">
                <a:alphaModFix amt="0"/>
              </a:blip>
              <a:stretch>
                <a:fillRect b="-71778" l="0" r="0" t="-71778"/>
              </a:stretch>
            </a:blipFill>
            <a:ln>
              <a:noFill/>
            </a:ln>
          </p:spPr>
        </p:sp>
        <p:sp>
          <p:nvSpPr>
            <p:cNvPr id="330" name="Google Shape;330;p7"/>
            <p:cNvSpPr txBox="1"/>
            <p:nvPr/>
          </p:nvSpPr>
          <p:spPr>
            <a:xfrm>
              <a:off x="0" y="0"/>
              <a:ext cx="6096000" cy="975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3200" u="none" cap="none" strike="noStrike">
                  <a:solidFill>
                    <a:srgbClr val="F59E0B"/>
                  </a:solidFill>
                  <a:latin typeface="Montserrat"/>
                  <a:ea typeface="Montserrat"/>
                  <a:cs typeface="Montserrat"/>
                  <a:sym typeface="Montserrat"/>
                </a:rPr>
                <a:t>Organizational Units</a:t>
              </a:r>
              <a:endParaRPr/>
            </a:p>
          </p:txBody>
        </p:sp>
      </p:grpSp>
      <p:sp>
        <p:nvSpPr>
          <p:cNvPr id="331" name="Google Shape;331;p7"/>
          <p:cNvSpPr/>
          <p:nvPr/>
        </p:nvSpPr>
        <p:spPr>
          <a:xfrm>
            <a:off x="11887200" y="4257675"/>
            <a:ext cx="4572000" cy="731520"/>
          </a:xfrm>
          <a:custGeom>
            <a:rect b="b" l="l" r="r" t="t"/>
            <a:pathLst>
              <a:path extrusionOk="0" h="975360" w="6096000">
                <a:moveTo>
                  <a:pt x="0" y="0"/>
                </a:moveTo>
                <a:lnTo>
                  <a:pt x="6096000" y="0"/>
                </a:lnTo>
                <a:lnTo>
                  <a:pt x="6096000" y="975360"/>
                </a:lnTo>
                <a:lnTo>
                  <a:pt x="0" y="975360"/>
                </a:lnTo>
                <a:close/>
              </a:path>
            </a:pathLst>
          </a:custGeom>
          <a:solidFill>
            <a:srgbClr val="1A2540"/>
          </a:solidFill>
          <a:ln>
            <a:noFill/>
          </a:ln>
        </p:spPr>
      </p:sp>
      <p:sp>
        <p:nvSpPr>
          <p:cNvPr id="332" name="Google Shape;332;p7"/>
          <p:cNvSpPr/>
          <p:nvPr/>
        </p:nvSpPr>
        <p:spPr>
          <a:xfrm>
            <a:off x="11887200" y="4257675"/>
            <a:ext cx="109728" cy="731520"/>
          </a:xfrm>
          <a:custGeom>
            <a:rect b="b" l="l" r="r" t="t"/>
            <a:pathLst>
              <a:path extrusionOk="0" h="975360" w="146304">
                <a:moveTo>
                  <a:pt x="0" y="0"/>
                </a:moveTo>
                <a:lnTo>
                  <a:pt x="146304" y="0"/>
                </a:lnTo>
                <a:lnTo>
                  <a:pt x="146304" y="975360"/>
                </a:lnTo>
                <a:lnTo>
                  <a:pt x="0" y="975360"/>
                </a:lnTo>
                <a:close/>
              </a:path>
            </a:pathLst>
          </a:custGeom>
          <a:solidFill>
            <a:srgbClr val="22D3EE"/>
          </a:solidFill>
          <a:ln>
            <a:noFill/>
          </a:ln>
        </p:spPr>
      </p:sp>
      <p:grpSp>
        <p:nvGrpSpPr>
          <p:cNvPr id="333" name="Google Shape;333;p7"/>
          <p:cNvGrpSpPr/>
          <p:nvPr/>
        </p:nvGrpSpPr>
        <p:grpSpPr>
          <a:xfrm>
            <a:off x="12252960" y="4257675"/>
            <a:ext cx="3657600" cy="731520"/>
            <a:chOff x="0" y="0"/>
            <a:chExt cx="4876800" cy="975360"/>
          </a:xfrm>
        </p:grpSpPr>
        <p:sp>
          <p:nvSpPr>
            <p:cNvPr id="334" name="Google Shape;334;p7"/>
            <p:cNvSpPr/>
            <p:nvPr/>
          </p:nvSpPr>
          <p:spPr>
            <a:xfrm>
              <a:off x="0" y="0"/>
              <a:ext cx="4876800" cy="975360"/>
            </a:xfrm>
            <a:custGeom>
              <a:rect b="b" l="l" r="r" t="t"/>
              <a:pathLst>
                <a:path extrusionOk="0" h="975360" w="4876800">
                  <a:moveTo>
                    <a:pt x="0" y="0"/>
                  </a:moveTo>
                  <a:lnTo>
                    <a:pt x="4876800" y="0"/>
                  </a:lnTo>
                  <a:lnTo>
                    <a:pt x="4876800" y="975360"/>
                  </a:lnTo>
                  <a:lnTo>
                    <a:pt x="0" y="975360"/>
                  </a:lnTo>
                  <a:close/>
                </a:path>
              </a:pathLst>
            </a:custGeom>
            <a:blipFill rotWithShape="1">
              <a:blip r:embed="rId4">
                <a:alphaModFix amt="0"/>
              </a:blip>
              <a:stretch>
                <a:fillRect b="-47424" l="0" r="0" t="-47424"/>
              </a:stretch>
            </a:blipFill>
            <a:ln>
              <a:noFill/>
            </a:ln>
          </p:spPr>
        </p:sp>
        <p:sp>
          <p:nvSpPr>
            <p:cNvPr id="335" name="Google Shape;335;p7"/>
            <p:cNvSpPr txBox="1"/>
            <p:nvPr/>
          </p:nvSpPr>
          <p:spPr>
            <a:xfrm>
              <a:off x="0" y="0"/>
              <a:ext cx="4876800" cy="975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3200" u="none" cap="none" strike="noStrike">
                  <a:solidFill>
                    <a:srgbClr val="22D3EE"/>
                  </a:solidFill>
                  <a:latin typeface="Montserrat"/>
                  <a:ea typeface="Montserrat"/>
                  <a:cs typeface="Montserrat"/>
                  <a:sym typeface="Montserrat"/>
                </a:rPr>
                <a:t>Account</a:t>
              </a:r>
              <a:endParaRPr/>
            </a:p>
          </p:txBody>
        </p:sp>
      </p:grpSp>
      <p:sp>
        <p:nvSpPr>
          <p:cNvPr id="336" name="Google Shape;336;p7"/>
          <p:cNvSpPr/>
          <p:nvPr/>
        </p:nvSpPr>
        <p:spPr>
          <a:xfrm>
            <a:off x="12801600" y="5354955"/>
            <a:ext cx="3657600" cy="731520"/>
          </a:xfrm>
          <a:custGeom>
            <a:rect b="b" l="l" r="r" t="t"/>
            <a:pathLst>
              <a:path extrusionOk="0" h="975360" w="4876800">
                <a:moveTo>
                  <a:pt x="0" y="0"/>
                </a:moveTo>
                <a:lnTo>
                  <a:pt x="4876800" y="0"/>
                </a:lnTo>
                <a:lnTo>
                  <a:pt x="4876800" y="975360"/>
                </a:lnTo>
                <a:lnTo>
                  <a:pt x="0" y="975360"/>
                </a:lnTo>
                <a:close/>
              </a:path>
            </a:pathLst>
          </a:custGeom>
          <a:solidFill>
            <a:srgbClr val="1A2540"/>
          </a:solidFill>
          <a:ln>
            <a:noFill/>
          </a:ln>
        </p:spPr>
      </p:sp>
      <p:sp>
        <p:nvSpPr>
          <p:cNvPr id="337" name="Google Shape;337;p7"/>
          <p:cNvSpPr/>
          <p:nvPr/>
        </p:nvSpPr>
        <p:spPr>
          <a:xfrm>
            <a:off x="12801600" y="5354955"/>
            <a:ext cx="109728" cy="731520"/>
          </a:xfrm>
          <a:custGeom>
            <a:rect b="b" l="l" r="r" t="t"/>
            <a:pathLst>
              <a:path extrusionOk="0" h="975360" w="146304">
                <a:moveTo>
                  <a:pt x="0" y="0"/>
                </a:moveTo>
                <a:lnTo>
                  <a:pt x="146304" y="0"/>
                </a:lnTo>
                <a:lnTo>
                  <a:pt x="146304" y="975360"/>
                </a:lnTo>
                <a:lnTo>
                  <a:pt x="0" y="975360"/>
                </a:lnTo>
                <a:close/>
              </a:path>
            </a:pathLst>
          </a:custGeom>
          <a:solidFill>
            <a:srgbClr val="CBD5E1"/>
          </a:solidFill>
          <a:ln>
            <a:noFill/>
          </a:ln>
        </p:spPr>
      </p:sp>
      <p:grpSp>
        <p:nvGrpSpPr>
          <p:cNvPr id="338" name="Google Shape;338;p7"/>
          <p:cNvGrpSpPr/>
          <p:nvPr/>
        </p:nvGrpSpPr>
        <p:grpSpPr>
          <a:xfrm>
            <a:off x="13167360" y="5354955"/>
            <a:ext cx="2743200" cy="731520"/>
            <a:chOff x="0" y="0"/>
            <a:chExt cx="3657600" cy="975360"/>
          </a:xfrm>
        </p:grpSpPr>
        <p:sp>
          <p:nvSpPr>
            <p:cNvPr id="339" name="Google Shape;339;p7"/>
            <p:cNvSpPr/>
            <p:nvPr/>
          </p:nvSpPr>
          <p:spPr>
            <a:xfrm>
              <a:off x="0" y="0"/>
              <a:ext cx="3657600" cy="975360"/>
            </a:xfrm>
            <a:custGeom>
              <a:rect b="b" l="l" r="r" t="t"/>
              <a:pathLst>
                <a:path extrusionOk="0" h="975360" w="3657600">
                  <a:moveTo>
                    <a:pt x="0" y="0"/>
                  </a:moveTo>
                  <a:lnTo>
                    <a:pt x="3657600" y="0"/>
                  </a:lnTo>
                  <a:lnTo>
                    <a:pt x="3657600" y="975360"/>
                  </a:lnTo>
                  <a:lnTo>
                    <a:pt x="0" y="975360"/>
                  </a:lnTo>
                  <a:close/>
                </a:path>
              </a:pathLst>
            </a:custGeom>
            <a:blipFill rotWithShape="1">
              <a:blip r:embed="rId4">
                <a:alphaModFix amt="0"/>
              </a:blip>
              <a:stretch>
                <a:fillRect b="-23067" l="0" r="0" t="-23067"/>
              </a:stretch>
            </a:blipFill>
            <a:ln>
              <a:noFill/>
            </a:ln>
          </p:spPr>
        </p:sp>
        <p:sp>
          <p:nvSpPr>
            <p:cNvPr id="340" name="Google Shape;340;p7"/>
            <p:cNvSpPr txBox="1"/>
            <p:nvPr/>
          </p:nvSpPr>
          <p:spPr>
            <a:xfrm>
              <a:off x="0" y="0"/>
              <a:ext cx="3657600" cy="975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3200" u="none" cap="none" strike="noStrike">
                  <a:solidFill>
                    <a:srgbClr val="CBD5E1"/>
                  </a:solidFill>
                  <a:latin typeface="Montserrat"/>
                  <a:ea typeface="Montserrat"/>
                  <a:cs typeface="Montserrat"/>
                  <a:sym typeface="Montserrat"/>
                </a:rPr>
                <a:t>Principal</a:t>
              </a:r>
              <a:endParaRPr/>
            </a:p>
          </p:txBody>
        </p:sp>
      </p:grpSp>
      <p:grpSp>
        <p:nvGrpSpPr>
          <p:cNvPr id="341" name="Google Shape;341;p7"/>
          <p:cNvGrpSpPr/>
          <p:nvPr/>
        </p:nvGrpSpPr>
        <p:grpSpPr>
          <a:xfrm>
            <a:off x="10972800" y="3643313"/>
            <a:ext cx="5486400" cy="562928"/>
            <a:chOff x="0" y="-19050"/>
            <a:chExt cx="7315200" cy="750570"/>
          </a:xfrm>
        </p:grpSpPr>
        <p:sp>
          <p:nvSpPr>
            <p:cNvPr id="342" name="Google Shape;342;p7"/>
            <p:cNvSpPr/>
            <p:nvPr/>
          </p:nvSpPr>
          <p:spPr>
            <a:xfrm>
              <a:off x="0" y="0"/>
              <a:ext cx="7315200" cy="731520"/>
            </a:xfrm>
            <a:custGeom>
              <a:rect b="b" l="l" r="r" t="t"/>
              <a:pathLst>
                <a:path extrusionOk="0" h="731520" w="7315200">
                  <a:moveTo>
                    <a:pt x="0" y="0"/>
                  </a:moveTo>
                  <a:lnTo>
                    <a:pt x="7315200" y="0"/>
                  </a:lnTo>
                  <a:lnTo>
                    <a:pt x="7315200" y="731520"/>
                  </a:lnTo>
                  <a:lnTo>
                    <a:pt x="0" y="731520"/>
                  </a:lnTo>
                  <a:close/>
                </a:path>
              </a:pathLst>
            </a:custGeom>
            <a:blipFill rotWithShape="1">
              <a:blip r:embed="rId4">
                <a:alphaModFix amt="0"/>
              </a:blip>
              <a:stretch>
                <a:fillRect b="-144831" l="0" r="0" t="-144834"/>
              </a:stretch>
            </a:blipFill>
            <a:ln>
              <a:noFill/>
            </a:ln>
          </p:spPr>
        </p:sp>
        <p:sp>
          <p:nvSpPr>
            <p:cNvPr id="343" name="Google Shape;343;p7"/>
            <p:cNvSpPr txBox="1"/>
            <p:nvPr/>
          </p:nvSpPr>
          <p:spPr>
            <a:xfrm>
              <a:off x="0" y="-19050"/>
              <a:ext cx="7315200" cy="75057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1" lang="en-US" sz="2600" u="none" cap="none" strike="noStrike">
                  <a:solidFill>
                    <a:srgbClr val="F59E0B"/>
                  </a:solidFill>
                  <a:latin typeface="Arimo"/>
                  <a:ea typeface="Arimo"/>
                  <a:cs typeface="Arimo"/>
                  <a:sym typeface="Arimo"/>
                </a:rPr>
                <a:t>← SCP applies here</a:t>
              </a:r>
              <a:endParaRPr/>
            </a:p>
          </p:txBody>
        </p:sp>
      </p:grpSp>
      <p:grpSp>
        <p:nvGrpSpPr>
          <p:cNvPr id="344" name="Google Shape;344;p7"/>
          <p:cNvGrpSpPr/>
          <p:nvPr/>
        </p:nvGrpSpPr>
        <p:grpSpPr>
          <a:xfrm>
            <a:off x="914400" y="8208169"/>
            <a:ext cx="16459200" cy="1159470"/>
            <a:chOff x="0" y="-28575"/>
            <a:chExt cx="21945600" cy="1545960"/>
          </a:xfrm>
        </p:grpSpPr>
        <p:sp>
          <p:nvSpPr>
            <p:cNvPr id="345" name="Google Shape;345;p7"/>
            <p:cNvSpPr/>
            <p:nvPr/>
          </p:nvSpPr>
          <p:spPr>
            <a:xfrm>
              <a:off x="0" y="0"/>
              <a:ext cx="21945600" cy="1517385"/>
            </a:xfrm>
            <a:custGeom>
              <a:rect b="b" l="l" r="r" t="t"/>
              <a:pathLst>
                <a:path extrusionOk="0" h="1517385" w="21945600">
                  <a:moveTo>
                    <a:pt x="0" y="0"/>
                  </a:moveTo>
                  <a:lnTo>
                    <a:pt x="21945600" y="0"/>
                  </a:lnTo>
                  <a:lnTo>
                    <a:pt x="21945600" y="1517385"/>
                  </a:lnTo>
                  <a:lnTo>
                    <a:pt x="0" y="1517385"/>
                  </a:lnTo>
                  <a:close/>
                </a:path>
              </a:pathLst>
            </a:custGeom>
            <a:blipFill rotWithShape="1">
              <a:blip r:embed="rId4">
                <a:alphaModFix amt="0"/>
              </a:blip>
              <a:stretch>
                <a:fillRect b="-221962" l="0" r="0" t="-241608"/>
              </a:stretch>
            </a:blipFill>
            <a:ln>
              <a:noFill/>
            </a:ln>
          </p:spPr>
        </p:sp>
        <p:sp>
          <p:nvSpPr>
            <p:cNvPr id="346" name="Google Shape;346;p7"/>
            <p:cNvSpPr txBox="1"/>
            <p:nvPr/>
          </p:nvSpPr>
          <p:spPr>
            <a:xfrm>
              <a:off x="0" y="-28575"/>
              <a:ext cx="21945600" cy="1545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1" lang="en-US" sz="3200" u="none" cap="none" strike="noStrike">
                  <a:solidFill>
                    <a:srgbClr val="64748B"/>
                  </a:solidFill>
                  <a:latin typeface="Arimo"/>
                  <a:ea typeface="Arimo"/>
                  <a:cs typeface="Arimo"/>
                  <a:sym typeface="Arimo"/>
                </a:rPr>
                <a:t>In this workshop, we are working in one AWS account, but in reality understanding AWS Organizations is critical for enterprise defense.</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sp>
      <p:grpSp>
        <p:nvGrpSpPr>
          <p:cNvPr id="356" name="Google Shape;356;p8"/>
          <p:cNvGrpSpPr/>
          <p:nvPr/>
        </p:nvGrpSpPr>
        <p:grpSpPr>
          <a:xfrm>
            <a:off x="914400" y="182880"/>
            <a:ext cx="16459200" cy="1188720"/>
            <a:chOff x="0" y="0"/>
            <a:chExt cx="21945600" cy="1584960"/>
          </a:xfrm>
        </p:grpSpPr>
        <p:sp>
          <p:nvSpPr>
            <p:cNvPr id="357" name="Google Shape;357;p8"/>
            <p:cNvSpPr/>
            <p:nvPr/>
          </p:nvSpPr>
          <p:spPr>
            <a:xfrm>
              <a:off x="0" y="0"/>
              <a:ext cx="21945600" cy="1584960"/>
            </a:xfrm>
            <a:custGeom>
              <a:rect b="b" l="l" r="r" t="t"/>
              <a:pathLst>
                <a:path extrusionOk="0" h="1584960" w="21945600">
                  <a:moveTo>
                    <a:pt x="0" y="0"/>
                  </a:moveTo>
                  <a:lnTo>
                    <a:pt x="21945600" y="0"/>
                  </a:lnTo>
                  <a:lnTo>
                    <a:pt x="21945600" y="1584960"/>
                  </a:lnTo>
                  <a:lnTo>
                    <a:pt x="0" y="1584960"/>
                  </a:lnTo>
                  <a:close/>
                </a:path>
              </a:pathLst>
            </a:custGeom>
            <a:blipFill rotWithShape="1">
              <a:blip r:embed="rId4">
                <a:alphaModFix amt="0"/>
              </a:blip>
              <a:stretch>
                <a:fillRect b="-219774" l="0" r="0" t="-219774"/>
              </a:stretch>
            </a:blipFill>
            <a:ln>
              <a:noFill/>
            </a:ln>
          </p:spPr>
        </p:sp>
        <p:sp>
          <p:nvSpPr>
            <p:cNvPr id="358" name="Google Shape;358;p8"/>
            <p:cNvSpPr txBox="1"/>
            <p:nvPr/>
          </p:nvSpPr>
          <p:spPr>
            <a:xfrm>
              <a:off x="0" y="0"/>
              <a:ext cx="21945600" cy="1584960"/>
            </a:xfrm>
            <a:prstGeom prst="rect">
              <a:avLst/>
            </a:prstGeom>
            <a:noFill/>
            <a:ln>
              <a:noFill/>
            </a:ln>
          </p:spPr>
          <p:txBody>
            <a:bodyPr anchorCtr="0" anchor="ctr" bIns="0" lIns="0" spcFirstLastPara="1" rIns="0" wrap="square" tIns="0">
              <a:noAutofit/>
            </a:bodyPr>
            <a:lstStyle/>
            <a:p>
              <a:pPr indent="0" lvl="0" marL="0" marR="0" rtl="0" algn="l">
                <a:lnSpc>
                  <a:spcPct val="119985"/>
                </a:lnSpc>
                <a:spcBef>
                  <a:spcPts val="0"/>
                </a:spcBef>
                <a:spcAft>
                  <a:spcPts val="0"/>
                </a:spcAft>
                <a:buNone/>
              </a:pPr>
              <a:r>
                <a:rPr b="1" i="0" lang="en-US" sz="6800" u="none" cap="none" strike="noStrike">
                  <a:solidFill>
                    <a:srgbClr val="FFFFFF"/>
                  </a:solidFill>
                  <a:latin typeface="Montserrat"/>
                  <a:ea typeface="Montserrat"/>
                  <a:cs typeface="Montserrat"/>
                  <a:sym typeface="Montserrat"/>
                </a:rPr>
                <a:t>AWS Organizations: OU Structure</a:t>
              </a:r>
              <a:endParaRPr/>
            </a:p>
          </p:txBody>
        </p:sp>
      </p:grpSp>
      <p:grpSp>
        <p:nvGrpSpPr>
          <p:cNvPr id="359" name="Google Shape;359;p8"/>
          <p:cNvGrpSpPr/>
          <p:nvPr/>
        </p:nvGrpSpPr>
        <p:grpSpPr>
          <a:xfrm>
            <a:off x="914400" y="9088184"/>
            <a:ext cx="16459200" cy="752951"/>
            <a:chOff x="0" y="-28575"/>
            <a:chExt cx="21945600" cy="1003935"/>
          </a:xfrm>
        </p:grpSpPr>
        <p:sp>
          <p:nvSpPr>
            <p:cNvPr id="360" name="Google Shape;360;p8"/>
            <p:cNvSpPr/>
            <p:nvPr/>
          </p:nvSpPr>
          <p:spPr>
            <a:xfrm>
              <a:off x="0" y="0"/>
              <a:ext cx="21945600" cy="975360"/>
            </a:xfrm>
            <a:custGeom>
              <a:rect b="b" l="l" r="r" t="t"/>
              <a:pathLst>
                <a:path extrusionOk="0" h="975360" w="21945600">
                  <a:moveTo>
                    <a:pt x="0" y="0"/>
                  </a:moveTo>
                  <a:lnTo>
                    <a:pt x="21945600" y="0"/>
                  </a:lnTo>
                  <a:lnTo>
                    <a:pt x="21945600" y="975360"/>
                  </a:lnTo>
                  <a:lnTo>
                    <a:pt x="0" y="975360"/>
                  </a:lnTo>
                  <a:close/>
                </a:path>
              </a:pathLst>
            </a:custGeom>
            <a:blipFill rotWithShape="1">
              <a:blip r:embed="rId4">
                <a:alphaModFix amt="0"/>
              </a:blip>
              <a:stretch>
                <a:fillRect b="-388365" l="0" r="0" t="-388365"/>
              </a:stretch>
            </a:blipFill>
            <a:ln>
              <a:noFill/>
            </a:ln>
          </p:spPr>
        </p:sp>
        <p:sp>
          <p:nvSpPr>
            <p:cNvPr id="361" name="Google Shape;361;p8"/>
            <p:cNvSpPr txBox="1"/>
            <p:nvPr/>
          </p:nvSpPr>
          <p:spPr>
            <a:xfrm>
              <a:off x="0" y="-28575"/>
              <a:ext cx="21945600" cy="100393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200" u="none" cap="none" strike="noStrike">
                  <a:solidFill>
                    <a:srgbClr val="CBD5E1"/>
                  </a:solidFill>
                  <a:latin typeface="Arimo"/>
                  <a:ea typeface="Arimo"/>
                  <a:cs typeface="Arimo"/>
                  <a:sym typeface="Arimo"/>
                </a:rPr>
                <a:t>SCPs are attached at the OU level and inherited by all accounts below.</a:t>
              </a:r>
              <a:endParaRPr/>
            </a:p>
          </p:txBody>
        </p:sp>
      </p:grpSp>
      <p:sp>
        <p:nvSpPr>
          <p:cNvPr id="362" name="Google Shape;362;p8"/>
          <p:cNvSpPr/>
          <p:nvPr/>
        </p:nvSpPr>
        <p:spPr>
          <a:xfrm>
            <a:off x="5712330" y="2033549"/>
            <a:ext cx="6863339" cy="6219901"/>
          </a:xfrm>
          <a:custGeom>
            <a:rect b="b" l="l" r="r" t="t"/>
            <a:pathLst>
              <a:path extrusionOk="0" h="6219901" w="6863339">
                <a:moveTo>
                  <a:pt x="0" y="0"/>
                </a:moveTo>
                <a:lnTo>
                  <a:pt x="6863340" y="0"/>
                </a:lnTo>
                <a:lnTo>
                  <a:pt x="6863340" y="6219902"/>
                </a:lnTo>
                <a:lnTo>
                  <a:pt x="0" y="6219902"/>
                </a:lnTo>
                <a:lnTo>
                  <a:pt x="0" y="0"/>
                </a:lnTo>
                <a:close/>
              </a:path>
            </a:pathLst>
          </a:custGeom>
          <a:blipFill rotWithShape="1">
            <a:blip r:embed="rId5">
              <a:alphaModFix/>
            </a:blip>
            <a:stretch>
              <a:fillRect b="0" l="0" r="0" t="0"/>
            </a:stretch>
          </a:blipFill>
          <a:ln>
            <a:noFill/>
          </a:ln>
        </p:spPr>
      </p:sp>
      <p:grpSp>
        <p:nvGrpSpPr>
          <p:cNvPr id="363" name="Google Shape;363;p8"/>
          <p:cNvGrpSpPr/>
          <p:nvPr/>
        </p:nvGrpSpPr>
        <p:grpSpPr>
          <a:xfrm>
            <a:off x="6567472" y="8129246"/>
            <a:ext cx="16459200" cy="745807"/>
            <a:chOff x="0" y="-19050"/>
            <a:chExt cx="21945600" cy="994410"/>
          </a:xfrm>
        </p:grpSpPr>
        <p:sp>
          <p:nvSpPr>
            <p:cNvPr id="364" name="Google Shape;364;p8"/>
            <p:cNvSpPr/>
            <p:nvPr/>
          </p:nvSpPr>
          <p:spPr>
            <a:xfrm>
              <a:off x="0" y="0"/>
              <a:ext cx="21945600" cy="975360"/>
            </a:xfrm>
            <a:custGeom>
              <a:rect b="b" l="l" r="r" t="t"/>
              <a:pathLst>
                <a:path extrusionOk="0" h="975360" w="21945600">
                  <a:moveTo>
                    <a:pt x="0" y="0"/>
                  </a:moveTo>
                  <a:lnTo>
                    <a:pt x="21945600" y="0"/>
                  </a:lnTo>
                  <a:lnTo>
                    <a:pt x="21945600" y="975360"/>
                  </a:lnTo>
                  <a:lnTo>
                    <a:pt x="0" y="975360"/>
                  </a:lnTo>
                  <a:close/>
                </a:path>
              </a:pathLst>
            </a:custGeom>
            <a:blipFill rotWithShape="1">
              <a:blip r:embed="rId4">
                <a:alphaModFix amt="0"/>
              </a:blip>
              <a:stretch>
                <a:fillRect b="-388365" l="0" r="0" t="-388365"/>
              </a:stretch>
            </a:blipFill>
            <a:ln>
              <a:noFill/>
            </a:ln>
          </p:spPr>
        </p:sp>
        <p:sp>
          <p:nvSpPr>
            <p:cNvPr id="365" name="Google Shape;365;p8"/>
            <p:cNvSpPr txBox="1"/>
            <p:nvPr/>
          </p:nvSpPr>
          <p:spPr>
            <a:xfrm>
              <a:off x="0" y="-19050"/>
              <a:ext cx="21945600" cy="99441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1" lang="en-US" sz="2700" u="none" cap="none" strike="noStrike">
                  <a:solidFill>
                    <a:srgbClr val="64748B"/>
                  </a:solidFill>
                  <a:latin typeface="Arimo"/>
                  <a:ea typeface="Arimo"/>
                  <a:cs typeface="Arimo"/>
                  <a:sym typeface="Arimo"/>
                </a:rPr>
                <a:t>Source: towardsthecloud.com</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sp>
      <p:grpSp>
        <p:nvGrpSpPr>
          <p:cNvPr id="375" name="Google Shape;375;p9"/>
          <p:cNvGrpSpPr/>
          <p:nvPr/>
        </p:nvGrpSpPr>
        <p:grpSpPr>
          <a:xfrm>
            <a:off x="914400" y="182880"/>
            <a:ext cx="16459200" cy="1518336"/>
            <a:chOff x="0" y="0"/>
            <a:chExt cx="21945600" cy="2024448"/>
          </a:xfrm>
        </p:grpSpPr>
        <p:sp>
          <p:nvSpPr>
            <p:cNvPr id="376" name="Google Shape;376;p9"/>
            <p:cNvSpPr/>
            <p:nvPr/>
          </p:nvSpPr>
          <p:spPr>
            <a:xfrm>
              <a:off x="0" y="0"/>
              <a:ext cx="21945600" cy="2024448"/>
            </a:xfrm>
            <a:custGeom>
              <a:rect b="b" l="l" r="r" t="t"/>
              <a:pathLst>
                <a:path extrusionOk="0" h="2024448" w="21945600">
                  <a:moveTo>
                    <a:pt x="0" y="0"/>
                  </a:moveTo>
                  <a:lnTo>
                    <a:pt x="21945600" y="0"/>
                  </a:lnTo>
                  <a:lnTo>
                    <a:pt x="21945600" y="2024448"/>
                  </a:lnTo>
                  <a:lnTo>
                    <a:pt x="0" y="2024448"/>
                  </a:lnTo>
                  <a:close/>
                </a:path>
              </a:pathLst>
            </a:custGeom>
            <a:blipFill rotWithShape="1">
              <a:blip r:embed="rId4">
                <a:alphaModFix amt="0"/>
              </a:blip>
              <a:stretch>
                <a:fillRect b="-153368" l="0" r="0" t="-169053"/>
              </a:stretch>
            </a:blipFill>
            <a:ln>
              <a:noFill/>
            </a:ln>
          </p:spPr>
        </p:sp>
        <p:sp>
          <p:nvSpPr>
            <p:cNvPr id="377" name="Google Shape;377;p9"/>
            <p:cNvSpPr txBox="1"/>
            <p:nvPr/>
          </p:nvSpPr>
          <p:spPr>
            <a:xfrm>
              <a:off x="0" y="0"/>
              <a:ext cx="21945600" cy="20244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7600" u="none" cap="none" strike="noStrike">
                  <a:solidFill>
                    <a:srgbClr val="FFFFFF"/>
                  </a:solidFill>
                  <a:latin typeface="Montserrat"/>
                  <a:ea typeface="Montserrat"/>
                  <a:cs typeface="Montserrat"/>
                  <a:sym typeface="Montserrat"/>
                </a:rPr>
                <a:t>Guardrails recap</a:t>
              </a:r>
              <a:endParaRPr/>
            </a:p>
          </p:txBody>
        </p:sp>
      </p:grpSp>
      <p:graphicFrame>
        <p:nvGraphicFramePr>
          <p:cNvPr id="378" name="Google Shape;378;p9"/>
          <p:cNvGraphicFramePr/>
          <p:nvPr/>
        </p:nvGraphicFramePr>
        <p:xfrm>
          <a:off x="914400" y="1645920"/>
          <a:ext cx="3000000" cy="3000000"/>
        </p:xfrm>
        <a:graphic>
          <a:graphicData uri="http://schemas.openxmlformats.org/drawingml/2006/table">
            <a:tbl>
              <a:tblPr>
                <a:noFill/>
                <a:tableStyleId>{8EBCCE26-067B-4FF9-9926-E5A3308F73E1}</a:tableStyleId>
              </a:tblPr>
              <a:tblGrid>
                <a:gridCol w="4747550"/>
                <a:gridCol w="7303900"/>
                <a:gridCol w="4382350"/>
              </a:tblGrid>
              <a:tr h="655025">
                <a:tc>
                  <a:txBody>
                    <a:bodyPr/>
                    <a:lstStyle/>
                    <a:p>
                      <a:pPr indent="0" lvl="0" marL="0" marR="0" rtl="0" algn="l">
                        <a:lnSpc>
                          <a:spcPct val="120007"/>
                        </a:lnSpc>
                        <a:spcBef>
                          <a:spcPts val="0"/>
                        </a:spcBef>
                        <a:spcAft>
                          <a:spcPts val="0"/>
                        </a:spcAft>
                        <a:buNone/>
                      </a:pPr>
                      <a:r>
                        <a:rPr b="1" lang="en-US" sz="2799" u="none" cap="none" strike="noStrike">
                          <a:solidFill>
                            <a:srgbClr val="64748B"/>
                          </a:solidFill>
                          <a:latin typeface="Montserrat"/>
                          <a:ea typeface="Montserrat"/>
                          <a:cs typeface="Montserrat"/>
                          <a:sym typeface="Montserrat"/>
                        </a:rPr>
                        <a:t>Guardrail</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1120"/>
                    </a:solidFill>
                  </a:tcPr>
                </a:tc>
                <a:tc>
                  <a:txBody>
                    <a:bodyPr/>
                    <a:lstStyle/>
                    <a:p>
                      <a:pPr indent="0" lvl="0" marL="0" marR="0" rtl="0" algn="l">
                        <a:lnSpc>
                          <a:spcPct val="120007"/>
                        </a:lnSpc>
                        <a:spcBef>
                          <a:spcPts val="0"/>
                        </a:spcBef>
                        <a:spcAft>
                          <a:spcPts val="0"/>
                        </a:spcAft>
                        <a:buNone/>
                      </a:pPr>
                      <a:r>
                        <a:rPr b="1" lang="en-US" sz="2799" u="none" cap="none" strike="noStrike">
                          <a:solidFill>
                            <a:srgbClr val="64748B"/>
                          </a:solidFill>
                          <a:latin typeface="Montserrat"/>
                          <a:ea typeface="Montserrat"/>
                          <a:cs typeface="Montserrat"/>
                          <a:sym typeface="Montserrat"/>
                        </a:rPr>
                        <a:t>What It Does</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1120"/>
                    </a:solidFill>
                  </a:tcPr>
                </a:tc>
                <a:tc>
                  <a:txBody>
                    <a:bodyPr/>
                    <a:lstStyle/>
                    <a:p>
                      <a:pPr indent="0" lvl="0" marL="0" marR="0" rtl="0" algn="l">
                        <a:lnSpc>
                          <a:spcPct val="120007"/>
                        </a:lnSpc>
                        <a:spcBef>
                          <a:spcPts val="0"/>
                        </a:spcBef>
                        <a:spcAft>
                          <a:spcPts val="0"/>
                        </a:spcAft>
                        <a:buNone/>
                      </a:pPr>
                      <a:r>
                        <a:rPr b="1" lang="en-US" sz="2799" u="none" cap="none" strike="noStrike">
                          <a:solidFill>
                            <a:srgbClr val="64748B"/>
                          </a:solidFill>
                          <a:latin typeface="Montserrat"/>
                          <a:ea typeface="Montserrat"/>
                          <a:cs typeface="Montserrat"/>
                          <a:sym typeface="Montserrat"/>
                        </a:rPr>
                        <a:t>Attached To</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1120"/>
                    </a:solidFill>
                  </a:tcPr>
                </a:tc>
              </a:tr>
              <a:tr h="1296300">
                <a:tc>
                  <a:txBody>
                    <a:bodyPr/>
                    <a:lstStyle/>
                    <a:p>
                      <a:pPr indent="0" lvl="0" marL="0" marR="0" rtl="0" algn="l">
                        <a:lnSpc>
                          <a:spcPct val="120000"/>
                        </a:lnSpc>
                        <a:spcBef>
                          <a:spcPts val="0"/>
                        </a:spcBef>
                        <a:spcAft>
                          <a:spcPts val="0"/>
                        </a:spcAft>
                        <a:buNone/>
                      </a:pPr>
                      <a:r>
                        <a:rPr b="1" lang="en-US" sz="3200" u="none" cap="none" strike="noStrike">
                          <a:solidFill>
                            <a:srgbClr val="FFFFFF"/>
                          </a:solidFill>
                          <a:latin typeface="Montserrat"/>
                          <a:ea typeface="Montserrat"/>
                          <a:cs typeface="Montserrat"/>
                          <a:sym typeface="Montserrat"/>
                        </a:rPr>
                        <a:t>Permissions Boundary</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7"/>
                        </a:lnSpc>
                        <a:spcBef>
                          <a:spcPts val="0"/>
                        </a:spcBef>
                        <a:spcAft>
                          <a:spcPts val="0"/>
                        </a:spcAft>
                        <a:buNone/>
                      </a:pPr>
                      <a:r>
                        <a:rPr lang="en-US" sz="2799" u="none" cap="none" strike="noStrike">
                          <a:solidFill>
                            <a:srgbClr val="CBD5E1"/>
                          </a:solidFill>
                          <a:latin typeface="Arimo"/>
                          <a:ea typeface="Arimo"/>
                          <a:cs typeface="Arimo"/>
                          <a:sym typeface="Arimo"/>
                        </a:rPr>
                        <a:t>Sets max permissions an identity policy can grant — acts as a ceiling</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7"/>
                        </a:lnSpc>
                        <a:spcBef>
                          <a:spcPts val="0"/>
                        </a:spcBef>
                        <a:spcAft>
                          <a:spcPts val="0"/>
                        </a:spcAft>
                        <a:buNone/>
                      </a:pPr>
                      <a:r>
                        <a:rPr lang="en-US" sz="2799" u="none" cap="none" strike="noStrike">
                          <a:solidFill>
                            <a:srgbClr val="CBD5E1"/>
                          </a:solidFill>
                          <a:latin typeface="Arimo"/>
                          <a:ea typeface="Arimo"/>
                          <a:cs typeface="Arimo"/>
                          <a:sym typeface="Arimo"/>
                        </a:rPr>
                        <a:t>IAM user or role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r>
              <a:tr h="1296300">
                <a:tc>
                  <a:txBody>
                    <a:bodyPr/>
                    <a:lstStyle/>
                    <a:p>
                      <a:pPr indent="0" lvl="0" marL="0" marR="0" rtl="0" algn="l">
                        <a:lnSpc>
                          <a:spcPct val="120000"/>
                        </a:lnSpc>
                        <a:spcBef>
                          <a:spcPts val="0"/>
                        </a:spcBef>
                        <a:spcAft>
                          <a:spcPts val="0"/>
                        </a:spcAft>
                        <a:buNone/>
                      </a:pPr>
                      <a:r>
                        <a:rPr b="1" lang="en-US" sz="3200" u="none" cap="none" strike="noStrike">
                          <a:solidFill>
                            <a:srgbClr val="FFFFFF"/>
                          </a:solidFill>
                          <a:latin typeface="Montserrat"/>
                          <a:ea typeface="Montserrat"/>
                          <a:cs typeface="Montserrat"/>
                          <a:sym typeface="Montserrat"/>
                        </a:rPr>
                        <a:t>Trust Policy</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7"/>
                        </a:lnSpc>
                        <a:spcBef>
                          <a:spcPts val="0"/>
                        </a:spcBef>
                        <a:spcAft>
                          <a:spcPts val="0"/>
                        </a:spcAft>
                        <a:buNone/>
                      </a:pPr>
                      <a:r>
                        <a:rPr lang="en-US" sz="2799" u="none" cap="none" strike="noStrike">
                          <a:solidFill>
                            <a:srgbClr val="CBD5E1"/>
                          </a:solidFill>
                          <a:latin typeface="Arimo"/>
                          <a:ea typeface="Arimo"/>
                          <a:cs typeface="Arimo"/>
                          <a:sym typeface="Arimo"/>
                        </a:rPr>
                        <a:t>Controls which principals can assume a role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7"/>
                        </a:lnSpc>
                        <a:spcBef>
                          <a:spcPts val="0"/>
                        </a:spcBef>
                        <a:spcAft>
                          <a:spcPts val="0"/>
                        </a:spcAft>
                        <a:buNone/>
                      </a:pPr>
                      <a:r>
                        <a:rPr lang="en-US" sz="2799" u="none" cap="none" strike="noStrike">
                          <a:solidFill>
                            <a:srgbClr val="CBD5E1"/>
                          </a:solidFill>
                          <a:latin typeface="Arimo"/>
                          <a:ea typeface="Arimo"/>
                          <a:cs typeface="Arimo"/>
                          <a:sym typeface="Arimo"/>
                        </a:rPr>
                        <a:t>IAM role (target role)</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r>
              <a:tr h="1296300">
                <a:tc>
                  <a:txBody>
                    <a:bodyPr/>
                    <a:lstStyle/>
                    <a:p>
                      <a:pPr indent="0" lvl="0" marL="0" marR="0" rtl="0" algn="l">
                        <a:lnSpc>
                          <a:spcPct val="120000"/>
                        </a:lnSpc>
                        <a:spcBef>
                          <a:spcPts val="0"/>
                        </a:spcBef>
                        <a:spcAft>
                          <a:spcPts val="0"/>
                        </a:spcAft>
                        <a:buNone/>
                      </a:pPr>
                      <a:r>
                        <a:rPr b="1" lang="en-US" sz="3200" u="none" cap="none" strike="noStrike">
                          <a:solidFill>
                            <a:srgbClr val="FFFFFF"/>
                          </a:solidFill>
                          <a:latin typeface="Montserrat"/>
                          <a:ea typeface="Montserrat"/>
                          <a:cs typeface="Montserrat"/>
                          <a:sym typeface="Montserrat"/>
                        </a:rPr>
                        <a:t>Condition Keys</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7"/>
                        </a:lnSpc>
                        <a:spcBef>
                          <a:spcPts val="0"/>
                        </a:spcBef>
                        <a:spcAft>
                          <a:spcPts val="0"/>
                        </a:spcAft>
                        <a:buNone/>
                      </a:pPr>
                      <a:r>
                        <a:rPr lang="en-US" sz="2799" u="none" cap="none" strike="noStrike">
                          <a:solidFill>
                            <a:srgbClr val="CBD5E1"/>
                          </a:solidFill>
                          <a:latin typeface="Arimo"/>
                          <a:ea typeface="Arimo"/>
                          <a:cs typeface="Arimo"/>
                          <a:sym typeface="Arimo"/>
                        </a:rPr>
                        <a:t>Adds context-based restrictions (IP, time, MFA, tags)</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7"/>
                        </a:lnSpc>
                        <a:spcBef>
                          <a:spcPts val="0"/>
                        </a:spcBef>
                        <a:spcAft>
                          <a:spcPts val="0"/>
                        </a:spcAft>
                        <a:buNone/>
                      </a:pPr>
                      <a:r>
                        <a:rPr lang="en-US" sz="2799" u="none" cap="none" strike="noStrike">
                          <a:solidFill>
                            <a:srgbClr val="CBD5E1"/>
                          </a:solidFill>
                          <a:latin typeface="Arimo"/>
                          <a:ea typeface="Arimo"/>
                          <a:cs typeface="Arimo"/>
                          <a:sym typeface="Arimo"/>
                        </a:rPr>
                        <a:t>Any policy statement</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r>
              <a:tr h="1296300">
                <a:tc>
                  <a:txBody>
                    <a:bodyPr/>
                    <a:lstStyle/>
                    <a:p>
                      <a:pPr indent="0" lvl="0" marL="0" marR="0" rtl="0" algn="l">
                        <a:lnSpc>
                          <a:spcPct val="120000"/>
                        </a:lnSpc>
                        <a:spcBef>
                          <a:spcPts val="0"/>
                        </a:spcBef>
                        <a:spcAft>
                          <a:spcPts val="0"/>
                        </a:spcAft>
                        <a:buNone/>
                      </a:pPr>
                      <a:r>
                        <a:rPr b="1" lang="en-US" sz="3200" u="none" cap="none" strike="noStrike">
                          <a:solidFill>
                            <a:srgbClr val="FFFFFF"/>
                          </a:solidFill>
                          <a:latin typeface="Montserrat"/>
                          <a:ea typeface="Montserrat"/>
                          <a:cs typeface="Montserrat"/>
                          <a:sym typeface="Montserrat"/>
                        </a:rPr>
                        <a:t>Resource Constraints</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7"/>
                        </a:lnSpc>
                        <a:spcBef>
                          <a:spcPts val="0"/>
                        </a:spcBef>
                        <a:spcAft>
                          <a:spcPts val="0"/>
                        </a:spcAft>
                        <a:buNone/>
                      </a:pPr>
                      <a:r>
                        <a:rPr lang="en-US" sz="2799" u="none" cap="none" strike="noStrike">
                          <a:solidFill>
                            <a:srgbClr val="CBD5E1"/>
                          </a:solidFill>
                          <a:latin typeface="Arimo"/>
                          <a:ea typeface="Arimo"/>
                          <a:cs typeface="Arimo"/>
                          <a:sym typeface="Arimo"/>
                        </a:rPr>
                        <a:t>Scopes Resource element to specific ARN patterns</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7"/>
                        </a:lnSpc>
                        <a:spcBef>
                          <a:spcPts val="0"/>
                        </a:spcBef>
                        <a:spcAft>
                          <a:spcPts val="0"/>
                        </a:spcAft>
                        <a:buNone/>
                      </a:pPr>
                      <a:r>
                        <a:rPr lang="en-US" sz="2799" u="none" cap="none" strike="noStrike">
                          <a:solidFill>
                            <a:srgbClr val="CBD5E1"/>
                          </a:solidFill>
                          <a:latin typeface="Arimo"/>
                          <a:ea typeface="Arimo"/>
                          <a:cs typeface="Arimo"/>
                          <a:sym typeface="Arimo"/>
                        </a:rPr>
                        <a:t>Resource field in any policy</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r>
              <a:tr h="1271775">
                <a:tc>
                  <a:txBody>
                    <a:bodyPr/>
                    <a:lstStyle/>
                    <a:p>
                      <a:pPr indent="0" lvl="0" marL="0" marR="0" rtl="0" algn="l">
                        <a:lnSpc>
                          <a:spcPct val="120000"/>
                        </a:lnSpc>
                        <a:spcBef>
                          <a:spcPts val="0"/>
                        </a:spcBef>
                        <a:spcAft>
                          <a:spcPts val="0"/>
                        </a:spcAft>
                        <a:buNone/>
                      </a:pPr>
                      <a:r>
                        <a:rPr b="1" lang="en-US" sz="3200" u="none" cap="none" strike="noStrike">
                          <a:solidFill>
                            <a:srgbClr val="FFFFFF"/>
                          </a:solidFill>
                          <a:latin typeface="Montserrat"/>
                          <a:ea typeface="Montserrat"/>
                          <a:cs typeface="Montserrat"/>
                          <a:sym typeface="Montserrat"/>
                        </a:rPr>
                        <a:t>Service Control Policies</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7"/>
                        </a:lnSpc>
                        <a:spcBef>
                          <a:spcPts val="0"/>
                        </a:spcBef>
                        <a:spcAft>
                          <a:spcPts val="0"/>
                        </a:spcAft>
                        <a:buNone/>
                      </a:pPr>
                      <a:r>
                        <a:rPr lang="en-US" sz="2799" u="none" cap="none" strike="noStrike">
                          <a:solidFill>
                            <a:srgbClr val="CBD5E1"/>
                          </a:solidFill>
                          <a:latin typeface="Arimo"/>
                          <a:ea typeface="Arimo"/>
                          <a:cs typeface="Arimo"/>
                          <a:sym typeface="Arimo"/>
                        </a:rPr>
                        <a:t>Sets max permissions for all principals in affected accounts</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7"/>
                        </a:lnSpc>
                        <a:spcBef>
                          <a:spcPts val="0"/>
                        </a:spcBef>
                        <a:spcAft>
                          <a:spcPts val="0"/>
                        </a:spcAft>
                        <a:buNone/>
                      </a:pPr>
                      <a:r>
                        <a:rPr lang="en-US" sz="2799" u="none" cap="none" strike="noStrike">
                          <a:solidFill>
                            <a:srgbClr val="CBD5E1"/>
                          </a:solidFill>
                          <a:latin typeface="Arimo"/>
                          <a:ea typeface="Arimo"/>
                          <a:cs typeface="Arimo"/>
                          <a:sym typeface="Arimo"/>
                        </a:rPr>
                        <a:t>AWS Org root, OU, or account</a:t>
                      </a:r>
                      <a:endParaRPr sz="1100" u="none" cap="none" strike="noStrike"/>
                    </a:p>
                  </a:txBody>
                  <a:tcPr marT="137150" marB="137150" marR="137150" marL="13715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1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sp>
      <p:grpSp>
        <p:nvGrpSpPr>
          <p:cNvPr id="388" name="Google Shape;388;p10"/>
          <p:cNvGrpSpPr/>
          <p:nvPr/>
        </p:nvGrpSpPr>
        <p:grpSpPr>
          <a:xfrm>
            <a:off x="1028700" y="1028700"/>
            <a:ext cx="16459200" cy="1518336"/>
            <a:chOff x="0" y="0"/>
            <a:chExt cx="21945600" cy="2024448"/>
          </a:xfrm>
        </p:grpSpPr>
        <p:sp>
          <p:nvSpPr>
            <p:cNvPr id="389" name="Google Shape;389;p10"/>
            <p:cNvSpPr/>
            <p:nvPr/>
          </p:nvSpPr>
          <p:spPr>
            <a:xfrm>
              <a:off x="0" y="0"/>
              <a:ext cx="21945600" cy="2024448"/>
            </a:xfrm>
            <a:custGeom>
              <a:rect b="b" l="l" r="r" t="t"/>
              <a:pathLst>
                <a:path extrusionOk="0" h="2024448" w="21945600">
                  <a:moveTo>
                    <a:pt x="0" y="0"/>
                  </a:moveTo>
                  <a:lnTo>
                    <a:pt x="21945600" y="0"/>
                  </a:lnTo>
                  <a:lnTo>
                    <a:pt x="21945600" y="2024448"/>
                  </a:lnTo>
                  <a:lnTo>
                    <a:pt x="0" y="2024448"/>
                  </a:lnTo>
                  <a:close/>
                </a:path>
              </a:pathLst>
            </a:custGeom>
            <a:blipFill rotWithShape="1">
              <a:blip r:embed="rId4">
                <a:alphaModFix amt="0"/>
              </a:blip>
              <a:stretch>
                <a:fillRect b="-150356" l="0" r="0" t="-172065"/>
              </a:stretch>
            </a:blipFill>
            <a:ln>
              <a:noFill/>
            </a:ln>
          </p:spPr>
        </p:sp>
        <p:sp>
          <p:nvSpPr>
            <p:cNvPr id="390" name="Google Shape;390;p10"/>
            <p:cNvSpPr txBox="1"/>
            <p:nvPr/>
          </p:nvSpPr>
          <p:spPr>
            <a:xfrm>
              <a:off x="0" y="0"/>
              <a:ext cx="21945600" cy="20244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7600" u="none" cap="none" strike="noStrike">
                  <a:solidFill>
                    <a:srgbClr val="FFFFFF"/>
                  </a:solidFill>
                  <a:latin typeface="Montserrat"/>
                  <a:ea typeface="Montserrat"/>
                  <a:cs typeface="Montserrat"/>
                  <a:sym typeface="Montserrat"/>
                </a:rPr>
                <a:t>Use case 1: What strategy?</a:t>
              </a:r>
              <a:endParaRPr/>
            </a:p>
          </p:txBody>
        </p:sp>
      </p:grpSp>
      <p:grpSp>
        <p:nvGrpSpPr>
          <p:cNvPr id="391" name="Google Shape;391;p10"/>
          <p:cNvGrpSpPr/>
          <p:nvPr/>
        </p:nvGrpSpPr>
        <p:grpSpPr>
          <a:xfrm>
            <a:off x="1028700" y="2561749"/>
            <a:ext cx="16459200" cy="1850231"/>
            <a:chOff x="0" y="-28575"/>
            <a:chExt cx="21945600" cy="2466975"/>
          </a:xfrm>
        </p:grpSpPr>
        <p:sp>
          <p:nvSpPr>
            <p:cNvPr id="392" name="Google Shape;392;p10"/>
            <p:cNvSpPr/>
            <p:nvPr/>
          </p:nvSpPr>
          <p:spPr>
            <a:xfrm>
              <a:off x="0" y="0"/>
              <a:ext cx="21945600" cy="2438400"/>
            </a:xfrm>
            <a:custGeom>
              <a:rect b="b" l="l" r="r" t="t"/>
              <a:pathLst>
                <a:path extrusionOk="0" h="2438400" w="21945600">
                  <a:moveTo>
                    <a:pt x="0" y="0"/>
                  </a:moveTo>
                  <a:lnTo>
                    <a:pt x="21945600" y="0"/>
                  </a:lnTo>
                  <a:lnTo>
                    <a:pt x="21945600" y="2438400"/>
                  </a:lnTo>
                  <a:lnTo>
                    <a:pt x="0" y="2438400"/>
                  </a:lnTo>
                  <a:close/>
                </a:path>
              </a:pathLst>
            </a:custGeom>
            <a:blipFill rotWithShape="1">
              <a:blip r:embed="rId4">
                <a:alphaModFix amt="0"/>
              </a:blip>
              <a:stretch>
                <a:fillRect b="-125364" l="0" r="0" t="-125364"/>
              </a:stretch>
            </a:blipFill>
            <a:ln>
              <a:noFill/>
            </a:ln>
          </p:spPr>
        </p:sp>
        <p:sp>
          <p:nvSpPr>
            <p:cNvPr id="393" name="Google Shape;393;p10"/>
            <p:cNvSpPr txBox="1"/>
            <p:nvPr/>
          </p:nvSpPr>
          <p:spPr>
            <a:xfrm>
              <a:off x="0" y="-28575"/>
              <a:ext cx="21945600" cy="246697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600" u="none" cap="none" strike="noStrike">
                  <a:solidFill>
                    <a:srgbClr val="FFFFFF"/>
                  </a:solidFill>
                  <a:latin typeface="Arimo"/>
                  <a:ea typeface="Arimo"/>
                  <a:cs typeface="Arimo"/>
                  <a:sym typeface="Arimo"/>
                </a:rPr>
                <a:t>An ops team needs permission to restart production EC2 instances, but only during their on-call shift window and only when connected to the corporate VPN.</a:t>
              </a:r>
              <a:endParaRPr/>
            </a:p>
          </p:txBody>
        </p:sp>
      </p:grpSp>
      <p:sp>
        <p:nvSpPr>
          <p:cNvPr id="394" name="Google Shape;394;p10"/>
          <p:cNvSpPr/>
          <p:nvPr/>
        </p:nvSpPr>
        <p:spPr>
          <a:xfrm>
            <a:off x="1028700" y="4777740"/>
            <a:ext cx="16459200" cy="36576"/>
          </a:xfrm>
          <a:custGeom>
            <a:rect b="b" l="l" r="r" t="t"/>
            <a:pathLst>
              <a:path extrusionOk="0" h="48768" w="21945600">
                <a:moveTo>
                  <a:pt x="0" y="0"/>
                </a:moveTo>
                <a:lnTo>
                  <a:pt x="21945600" y="0"/>
                </a:lnTo>
                <a:lnTo>
                  <a:pt x="21945600" y="48768"/>
                </a:lnTo>
                <a:lnTo>
                  <a:pt x="0" y="48768"/>
                </a:lnTo>
                <a:close/>
              </a:path>
            </a:pathLst>
          </a:custGeom>
          <a:solidFill>
            <a:srgbClr val="475569"/>
          </a:solidFill>
          <a:ln>
            <a:noFill/>
          </a:ln>
        </p:spPr>
      </p:sp>
      <p:grpSp>
        <p:nvGrpSpPr>
          <p:cNvPr id="395" name="Google Shape;395;p10"/>
          <p:cNvGrpSpPr/>
          <p:nvPr/>
        </p:nvGrpSpPr>
        <p:grpSpPr>
          <a:xfrm>
            <a:off x="1028700" y="5234940"/>
            <a:ext cx="16459200" cy="4023360"/>
            <a:chOff x="1028700" y="5234940"/>
            <a:chExt cx="16459200" cy="4023360"/>
          </a:xfrm>
        </p:grpSpPr>
        <p:sp>
          <p:nvSpPr>
            <p:cNvPr id="396" name="Google Shape;396;p10"/>
            <p:cNvSpPr/>
            <p:nvPr/>
          </p:nvSpPr>
          <p:spPr>
            <a:xfrm>
              <a:off x="1028700" y="5234940"/>
              <a:ext cx="16459200" cy="4023360"/>
            </a:xfrm>
            <a:custGeom>
              <a:rect b="b" l="l" r="r" t="t"/>
              <a:pathLst>
                <a:path extrusionOk="0" h="5364480" w="21945600">
                  <a:moveTo>
                    <a:pt x="0" y="0"/>
                  </a:moveTo>
                  <a:lnTo>
                    <a:pt x="21945600" y="0"/>
                  </a:lnTo>
                  <a:lnTo>
                    <a:pt x="21945600" y="5364480"/>
                  </a:lnTo>
                  <a:lnTo>
                    <a:pt x="0" y="5364480"/>
                  </a:lnTo>
                  <a:close/>
                </a:path>
              </a:pathLst>
            </a:custGeom>
            <a:solidFill>
              <a:srgbClr val="1A2540"/>
            </a:solidFill>
            <a:ln>
              <a:noFill/>
            </a:ln>
          </p:spPr>
        </p:sp>
        <p:grpSp>
          <p:nvGrpSpPr>
            <p:cNvPr id="397" name="Google Shape;397;p10"/>
            <p:cNvGrpSpPr/>
            <p:nvPr/>
          </p:nvGrpSpPr>
          <p:grpSpPr>
            <a:xfrm>
              <a:off x="1577340" y="5417820"/>
              <a:ext cx="15544800" cy="822960"/>
              <a:chOff x="0" y="0"/>
              <a:chExt cx="20726400" cy="1097280"/>
            </a:xfrm>
          </p:grpSpPr>
          <p:sp>
            <p:nvSpPr>
              <p:cNvPr id="398" name="Google Shape;398;p10"/>
              <p:cNvSpPr/>
              <p:nvPr/>
            </p:nvSpPr>
            <p:spPr>
              <a:xfrm>
                <a:off x="0" y="0"/>
                <a:ext cx="20726400" cy="1097280"/>
              </a:xfrm>
              <a:custGeom>
                <a:rect b="b" l="l" r="r" t="t"/>
                <a:pathLst>
                  <a:path extrusionOk="0" h="1097280" w="20726400">
                    <a:moveTo>
                      <a:pt x="0" y="0"/>
                    </a:moveTo>
                    <a:lnTo>
                      <a:pt x="20726400" y="0"/>
                    </a:lnTo>
                    <a:lnTo>
                      <a:pt x="20726400" y="1097280"/>
                    </a:lnTo>
                    <a:lnTo>
                      <a:pt x="0" y="1097280"/>
                    </a:lnTo>
                    <a:close/>
                  </a:path>
                </a:pathLst>
              </a:custGeom>
              <a:blipFill rotWithShape="1">
                <a:blip r:embed="rId4">
                  <a:alphaModFix amt="0"/>
                </a:blip>
                <a:stretch>
                  <a:fillRect b="-317995" l="0" r="0" t="-318002"/>
                </a:stretch>
              </a:blipFill>
              <a:ln>
                <a:noFill/>
              </a:ln>
            </p:spPr>
          </p:sp>
          <p:sp>
            <p:nvSpPr>
              <p:cNvPr id="399" name="Google Shape;399;p10"/>
              <p:cNvSpPr txBox="1"/>
              <p:nvPr/>
            </p:nvSpPr>
            <p:spPr>
              <a:xfrm>
                <a:off x="0" y="9525"/>
                <a:ext cx="20726400" cy="10877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59E0B"/>
                    </a:solidFill>
                    <a:latin typeface="Montserrat"/>
                    <a:ea typeface="Montserrat"/>
                    <a:cs typeface="Montserrat"/>
                    <a:sym typeface="Montserrat"/>
                  </a:rPr>
                  <a:t>Condition Keys</a:t>
                </a:r>
                <a:endParaRPr/>
              </a:p>
            </p:txBody>
          </p:sp>
        </p:grpSp>
        <p:sp>
          <p:nvSpPr>
            <p:cNvPr id="400" name="Google Shape;400;p10"/>
            <p:cNvSpPr txBox="1"/>
            <p:nvPr/>
          </p:nvSpPr>
          <p:spPr>
            <a:xfrm>
              <a:off x="1577340" y="6303645"/>
              <a:ext cx="15544800" cy="1674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CBD5E1"/>
                  </a:solidFill>
                  <a:latin typeface="Arimo"/>
                  <a:ea typeface="Arimo"/>
                  <a:cs typeface="Arimo"/>
                  <a:sym typeface="Arimo"/>
                </a:rPr>
                <a:t>Use aws:CurrentTime with DateGreaterThan / DateLessThan to enforce the time window, and aws:SourceIp to restrict to the VPN CIDR. Both conditions scope ec2:RebootInstances to the right context.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1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sp>
      <p:grpSp>
        <p:nvGrpSpPr>
          <p:cNvPr id="410" name="Google Shape;410;p11"/>
          <p:cNvGrpSpPr/>
          <p:nvPr/>
        </p:nvGrpSpPr>
        <p:grpSpPr>
          <a:xfrm>
            <a:off x="914400" y="725805"/>
            <a:ext cx="16459200" cy="1518336"/>
            <a:chOff x="0" y="0"/>
            <a:chExt cx="21945600" cy="2024448"/>
          </a:xfrm>
        </p:grpSpPr>
        <p:sp>
          <p:nvSpPr>
            <p:cNvPr id="411" name="Google Shape;411;p11"/>
            <p:cNvSpPr/>
            <p:nvPr/>
          </p:nvSpPr>
          <p:spPr>
            <a:xfrm>
              <a:off x="0" y="0"/>
              <a:ext cx="21945600" cy="2024448"/>
            </a:xfrm>
            <a:custGeom>
              <a:rect b="b" l="l" r="r" t="t"/>
              <a:pathLst>
                <a:path extrusionOk="0" h="2024448" w="21945600">
                  <a:moveTo>
                    <a:pt x="0" y="0"/>
                  </a:moveTo>
                  <a:lnTo>
                    <a:pt x="21945600" y="0"/>
                  </a:lnTo>
                  <a:lnTo>
                    <a:pt x="21945600" y="2024448"/>
                  </a:lnTo>
                  <a:lnTo>
                    <a:pt x="0" y="2024448"/>
                  </a:lnTo>
                  <a:close/>
                </a:path>
              </a:pathLst>
            </a:custGeom>
            <a:blipFill rotWithShape="1">
              <a:blip r:embed="rId4">
                <a:alphaModFix amt="0"/>
              </a:blip>
              <a:stretch>
                <a:fillRect b="-150356" l="0" r="0" t="-172065"/>
              </a:stretch>
            </a:blipFill>
            <a:ln>
              <a:noFill/>
            </a:ln>
          </p:spPr>
        </p:sp>
        <p:sp>
          <p:nvSpPr>
            <p:cNvPr id="412" name="Google Shape;412;p11"/>
            <p:cNvSpPr txBox="1"/>
            <p:nvPr/>
          </p:nvSpPr>
          <p:spPr>
            <a:xfrm>
              <a:off x="0" y="0"/>
              <a:ext cx="21945600" cy="20244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7600" u="none" cap="none" strike="noStrike">
                  <a:solidFill>
                    <a:srgbClr val="FFFFFF"/>
                  </a:solidFill>
                  <a:latin typeface="Montserrat"/>
                  <a:ea typeface="Montserrat"/>
                  <a:cs typeface="Montserrat"/>
                  <a:sym typeface="Montserrat"/>
                </a:rPr>
                <a:t>Use case 2: What strategy?</a:t>
              </a:r>
              <a:endParaRPr/>
            </a:p>
          </p:txBody>
        </p:sp>
      </p:grpSp>
      <p:grpSp>
        <p:nvGrpSpPr>
          <p:cNvPr id="413" name="Google Shape;413;p11"/>
          <p:cNvGrpSpPr/>
          <p:nvPr/>
        </p:nvGrpSpPr>
        <p:grpSpPr>
          <a:xfrm>
            <a:off x="914400" y="2258854"/>
            <a:ext cx="16459200" cy="1850231"/>
            <a:chOff x="0" y="-28575"/>
            <a:chExt cx="21945600" cy="2466975"/>
          </a:xfrm>
        </p:grpSpPr>
        <p:sp>
          <p:nvSpPr>
            <p:cNvPr id="414" name="Google Shape;414;p11"/>
            <p:cNvSpPr/>
            <p:nvPr/>
          </p:nvSpPr>
          <p:spPr>
            <a:xfrm>
              <a:off x="0" y="0"/>
              <a:ext cx="21945600" cy="2438400"/>
            </a:xfrm>
            <a:custGeom>
              <a:rect b="b" l="l" r="r" t="t"/>
              <a:pathLst>
                <a:path extrusionOk="0" h="2438400" w="21945600">
                  <a:moveTo>
                    <a:pt x="0" y="0"/>
                  </a:moveTo>
                  <a:lnTo>
                    <a:pt x="21945600" y="0"/>
                  </a:lnTo>
                  <a:lnTo>
                    <a:pt x="21945600" y="2438400"/>
                  </a:lnTo>
                  <a:lnTo>
                    <a:pt x="0" y="2438400"/>
                  </a:lnTo>
                  <a:close/>
                </a:path>
              </a:pathLst>
            </a:custGeom>
            <a:blipFill rotWithShape="1">
              <a:blip r:embed="rId4">
                <a:alphaModFix amt="0"/>
              </a:blip>
              <a:stretch>
                <a:fillRect b="-125364" l="0" r="0" t="-125364"/>
              </a:stretch>
            </a:blipFill>
            <a:ln>
              <a:noFill/>
            </a:ln>
          </p:spPr>
        </p:sp>
        <p:sp>
          <p:nvSpPr>
            <p:cNvPr id="415" name="Google Shape;415;p11"/>
            <p:cNvSpPr txBox="1"/>
            <p:nvPr/>
          </p:nvSpPr>
          <p:spPr>
            <a:xfrm>
              <a:off x="0" y="-28575"/>
              <a:ext cx="21945600" cy="246697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600" u="none" cap="none" strike="noStrike">
                  <a:solidFill>
                    <a:srgbClr val="FFFFFF"/>
                  </a:solidFill>
                  <a:latin typeface="Arimo"/>
                  <a:ea typeface="Arimo"/>
                  <a:cs typeface="Arimo"/>
                  <a:sym typeface="Arimo"/>
                </a:rPr>
                <a:t>Junior developers need to deploy Lambda functions and create IAM execution roles. But you need to guarantee they can never create a role with broader permissions than a pre-approved set — even if they write a policy granting *:*.</a:t>
              </a:r>
              <a:endParaRPr/>
            </a:p>
          </p:txBody>
        </p:sp>
      </p:grpSp>
      <p:sp>
        <p:nvSpPr>
          <p:cNvPr id="416" name="Google Shape;416;p11"/>
          <p:cNvSpPr/>
          <p:nvPr/>
        </p:nvSpPr>
        <p:spPr>
          <a:xfrm>
            <a:off x="914400" y="4474845"/>
            <a:ext cx="16459200" cy="36576"/>
          </a:xfrm>
          <a:custGeom>
            <a:rect b="b" l="l" r="r" t="t"/>
            <a:pathLst>
              <a:path extrusionOk="0" h="48768" w="21945600">
                <a:moveTo>
                  <a:pt x="0" y="0"/>
                </a:moveTo>
                <a:lnTo>
                  <a:pt x="21945600" y="0"/>
                </a:lnTo>
                <a:lnTo>
                  <a:pt x="21945600" y="48768"/>
                </a:lnTo>
                <a:lnTo>
                  <a:pt x="0" y="48768"/>
                </a:lnTo>
                <a:close/>
              </a:path>
            </a:pathLst>
          </a:custGeom>
          <a:solidFill>
            <a:srgbClr val="475569"/>
          </a:solidFill>
          <a:ln>
            <a:noFill/>
          </a:ln>
        </p:spPr>
      </p:sp>
      <p:grpSp>
        <p:nvGrpSpPr>
          <p:cNvPr id="417" name="Google Shape;417;p11"/>
          <p:cNvGrpSpPr/>
          <p:nvPr/>
        </p:nvGrpSpPr>
        <p:grpSpPr>
          <a:xfrm>
            <a:off x="914400" y="4877195"/>
            <a:ext cx="16459200" cy="4023360"/>
            <a:chOff x="914400" y="4932045"/>
            <a:chExt cx="16459200" cy="4023360"/>
          </a:xfrm>
        </p:grpSpPr>
        <p:sp>
          <p:nvSpPr>
            <p:cNvPr id="418" name="Google Shape;418;p11"/>
            <p:cNvSpPr/>
            <p:nvPr/>
          </p:nvSpPr>
          <p:spPr>
            <a:xfrm>
              <a:off x="914400" y="4932045"/>
              <a:ext cx="16459200" cy="4023360"/>
            </a:xfrm>
            <a:custGeom>
              <a:rect b="b" l="l" r="r" t="t"/>
              <a:pathLst>
                <a:path extrusionOk="0" h="5364480" w="21945600">
                  <a:moveTo>
                    <a:pt x="0" y="0"/>
                  </a:moveTo>
                  <a:lnTo>
                    <a:pt x="21945600" y="0"/>
                  </a:lnTo>
                  <a:lnTo>
                    <a:pt x="21945600" y="5364480"/>
                  </a:lnTo>
                  <a:lnTo>
                    <a:pt x="0" y="5364480"/>
                  </a:lnTo>
                  <a:close/>
                </a:path>
              </a:pathLst>
            </a:custGeom>
            <a:solidFill>
              <a:srgbClr val="1A2540"/>
            </a:solidFill>
            <a:ln>
              <a:noFill/>
            </a:ln>
          </p:spPr>
        </p:sp>
        <p:grpSp>
          <p:nvGrpSpPr>
            <p:cNvPr id="419" name="Google Shape;419;p11"/>
            <p:cNvGrpSpPr/>
            <p:nvPr/>
          </p:nvGrpSpPr>
          <p:grpSpPr>
            <a:xfrm>
              <a:off x="1463040" y="5114925"/>
              <a:ext cx="15544800" cy="822960"/>
              <a:chOff x="0" y="0"/>
              <a:chExt cx="20726400" cy="1097280"/>
            </a:xfrm>
          </p:grpSpPr>
          <p:sp>
            <p:nvSpPr>
              <p:cNvPr id="420" name="Google Shape;420;p11"/>
              <p:cNvSpPr/>
              <p:nvPr/>
            </p:nvSpPr>
            <p:spPr>
              <a:xfrm>
                <a:off x="0" y="0"/>
                <a:ext cx="20726400" cy="1097280"/>
              </a:xfrm>
              <a:custGeom>
                <a:rect b="b" l="l" r="r" t="t"/>
                <a:pathLst>
                  <a:path extrusionOk="0" h="1097280" w="20726400">
                    <a:moveTo>
                      <a:pt x="0" y="0"/>
                    </a:moveTo>
                    <a:lnTo>
                      <a:pt x="20726400" y="0"/>
                    </a:lnTo>
                    <a:lnTo>
                      <a:pt x="20726400" y="1097280"/>
                    </a:lnTo>
                    <a:lnTo>
                      <a:pt x="0" y="1097280"/>
                    </a:lnTo>
                    <a:close/>
                  </a:path>
                </a:pathLst>
              </a:custGeom>
              <a:blipFill rotWithShape="1">
                <a:blip r:embed="rId4">
                  <a:alphaModFix amt="0"/>
                </a:blip>
                <a:stretch>
                  <a:fillRect b="-317995" l="0" r="0" t="-318002"/>
                </a:stretch>
              </a:blipFill>
              <a:ln>
                <a:noFill/>
              </a:ln>
            </p:spPr>
          </p:sp>
          <p:sp>
            <p:nvSpPr>
              <p:cNvPr id="421" name="Google Shape;421;p11"/>
              <p:cNvSpPr txBox="1"/>
              <p:nvPr/>
            </p:nvSpPr>
            <p:spPr>
              <a:xfrm>
                <a:off x="0" y="9525"/>
                <a:ext cx="20726400" cy="10877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59E0B"/>
                    </a:solidFill>
                    <a:latin typeface="Montserrat"/>
                    <a:ea typeface="Montserrat"/>
                    <a:cs typeface="Montserrat"/>
                    <a:sym typeface="Montserrat"/>
                  </a:rPr>
                  <a:t>Permissions Boundary</a:t>
                </a:r>
                <a:endParaRPr/>
              </a:p>
            </p:txBody>
          </p:sp>
        </p:grpSp>
        <p:sp>
          <p:nvSpPr>
            <p:cNvPr id="422" name="Google Shape;422;p11"/>
            <p:cNvSpPr txBox="1"/>
            <p:nvPr/>
          </p:nvSpPr>
          <p:spPr>
            <a:xfrm>
              <a:off x="1463040" y="6000750"/>
              <a:ext cx="15544800" cy="1674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CBD5E1"/>
                  </a:solidFill>
                  <a:latin typeface="Arimo"/>
                  <a:ea typeface="Arimo"/>
                  <a:cs typeface="Arimo"/>
                  <a:sym typeface="Arimo"/>
                </a:rPr>
                <a:t>Attach a boundary to each developer principal that defines the maximum permission set. Any role or policy the developer creates is intersected with this boundary. Even *:* is capped at the boundary ceiling.</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1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sp>
      <p:grpSp>
        <p:nvGrpSpPr>
          <p:cNvPr id="432" name="Google Shape;432;p12"/>
          <p:cNvGrpSpPr/>
          <p:nvPr/>
        </p:nvGrpSpPr>
        <p:grpSpPr>
          <a:xfrm>
            <a:off x="914400" y="706755"/>
            <a:ext cx="16459200" cy="1518336"/>
            <a:chOff x="0" y="0"/>
            <a:chExt cx="21945600" cy="2024448"/>
          </a:xfrm>
        </p:grpSpPr>
        <p:sp>
          <p:nvSpPr>
            <p:cNvPr id="433" name="Google Shape;433;p12"/>
            <p:cNvSpPr/>
            <p:nvPr/>
          </p:nvSpPr>
          <p:spPr>
            <a:xfrm>
              <a:off x="0" y="0"/>
              <a:ext cx="21945600" cy="2024448"/>
            </a:xfrm>
            <a:custGeom>
              <a:rect b="b" l="l" r="r" t="t"/>
              <a:pathLst>
                <a:path extrusionOk="0" h="2024448" w="21945600">
                  <a:moveTo>
                    <a:pt x="0" y="0"/>
                  </a:moveTo>
                  <a:lnTo>
                    <a:pt x="21945600" y="0"/>
                  </a:lnTo>
                  <a:lnTo>
                    <a:pt x="21945600" y="2024448"/>
                  </a:lnTo>
                  <a:lnTo>
                    <a:pt x="0" y="2024448"/>
                  </a:lnTo>
                  <a:close/>
                </a:path>
              </a:pathLst>
            </a:custGeom>
            <a:blipFill rotWithShape="1">
              <a:blip r:embed="rId4">
                <a:alphaModFix amt="0"/>
              </a:blip>
              <a:stretch>
                <a:fillRect b="-150356" l="0" r="0" t="-172065"/>
              </a:stretch>
            </a:blipFill>
            <a:ln>
              <a:noFill/>
            </a:ln>
          </p:spPr>
        </p:sp>
        <p:sp>
          <p:nvSpPr>
            <p:cNvPr id="434" name="Google Shape;434;p12"/>
            <p:cNvSpPr txBox="1"/>
            <p:nvPr/>
          </p:nvSpPr>
          <p:spPr>
            <a:xfrm>
              <a:off x="0" y="0"/>
              <a:ext cx="21945600" cy="2024448"/>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7600" u="none" cap="none" strike="noStrike">
                  <a:solidFill>
                    <a:srgbClr val="FFFFFF"/>
                  </a:solidFill>
                  <a:latin typeface="Montserrat"/>
                  <a:ea typeface="Montserrat"/>
                  <a:cs typeface="Montserrat"/>
                  <a:sym typeface="Montserrat"/>
                </a:rPr>
                <a:t>Use case 3: What strategy?</a:t>
              </a:r>
              <a:endParaRPr/>
            </a:p>
          </p:txBody>
        </p:sp>
      </p:grpSp>
      <p:grpSp>
        <p:nvGrpSpPr>
          <p:cNvPr id="435" name="Google Shape;435;p12"/>
          <p:cNvGrpSpPr/>
          <p:nvPr/>
        </p:nvGrpSpPr>
        <p:grpSpPr>
          <a:xfrm>
            <a:off x="914400" y="2239804"/>
            <a:ext cx="16459200" cy="1850231"/>
            <a:chOff x="0" y="-28575"/>
            <a:chExt cx="21945600" cy="2466975"/>
          </a:xfrm>
        </p:grpSpPr>
        <p:sp>
          <p:nvSpPr>
            <p:cNvPr id="436" name="Google Shape;436;p12"/>
            <p:cNvSpPr/>
            <p:nvPr/>
          </p:nvSpPr>
          <p:spPr>
            <a:xfrm>
              <a:off x="0" y="0"/>
              <a:ext cx="21945600" cy="2438400"/>
            </a:xfrm>
            <a:custGeom>
              <a:rect b="b" l="l" r="r" t="t"/>
              <a:pathLst>
                <a:path extrusionOk="0" h="2438400" w="21945600">
                  <a:moveTo>
                    <a:pt x="0" y="0"/>
                  </a:moveTo>
                  <a:lnTo>
                    <a:pt x="21945600" y="0"/>
                  </a:lnTo>
                  <a:lnTo>
                    <a:pt x="21945600" y="2438400"/>
                  </a:lnTo>
                  <a:lnTo>
                    <a:pt x="0" y="2438400"/>
                  </a:lnTo>
                  <a:close/>
                </a:path>
              </a:pathLst>
            </a:custGeom>
            <a:blipFill rotWithShape="1">
              <a:blip r:embed="rId4">
                <a:alphaModFix amt="0"/>
              </a:blip>
              <a:stretch>
                <a:fillRect b="-125364" l="0" r="0" t="-125364"/>
              </a:stretch>
            </a:blipFill>
            <a:ln>
              <a:noFill/>
            </a:ln>
          </p:spPr>
        </p:sp>
        <p:sp>
          <p:nvSpPr>
            <p:cNvPr id="437" name="Google Shape;437;p12"/>
            <p:cNvSpPr txBox="1"/>
            <p:nvPr/>
          </p:nvSpPr>
          <p:spPr>
            <a:xfrm>
              <a:off x="0" y="-28575"/>
              <a:ext cx="21945600" cy="246697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600" u="none" cap="none" strike="noStrike">
                  <a:solidFill>
                    <a:srgbClr val="FFFFFF"/>
                  </a:solidFill>
                  <a:latin typeface="Arimo"/>
                  <a:ea typeface="Arimo"/>
                  <a:cs typeface="Arimo"/>
                  <a:sym typeface="Arimo"/>
                </a:rPr>
                <a:t>A shared analytics S3 bucket needs to be accessible by ETL pipeline roles in three different AWS accounts owned by different business units. No other principals — inside or outside the organization — should have access.</a:t>
              </a:r>
              <a:endParaRPr/>
            </a:p>
          </p:txBody>
        </p:sp>
      </p:grpSp>
      <p:sp>
        <p:nvSpPr>
          <p:cNvPr id="438" name="Google Shape;438;p12"/>
          <p:cNvSpPr/>
          <p:nvPr/>
        </p:nvSpPr>
        <p:spPr>
          <a:xfrm>
            <a:off x="914400" y="4455795"/>
            <a:ext cx="16459200" cy="36576"/>
          </a:xfrm>
          <a:custGeom>
            <a:rect b="b" l="l" r="r" t="t"/>
            <a:pathLst>
              <a:path extrusionOk="0" h="48768" w="21945600">
                <a:moveTo>
                  <a:pt x="0" y="0"/>
                </a:moveTo>
                <a:lnTo>
                  <a:pt x="21945600" y="0"/>
                </a:lnTo>
                <a:lnTo>
                  <a:pt x="21945600" y="48768"/>
                </a:lnTo>
                <a:lnTo>
                  <a:pt x="0" y="48768"/>
                </a:lnTo>
                <a:close/>
              </a:path>
            </a:pathLst>
          </a:custGeom>
          <a:solidFill>
            <a:srgbClr val="475569"/>
          </a:solidFill>
          <a:ln>
            <a:noFill/>
          </a:ln>
        </p:spPr>
      </p:sp>
      <p:grpSp>
        <p:nvGrpSpPr>
          <p:cNvPr id="439" name="Google Shape;439;p12"/>
          <p:cNvGrpSpPr/>
          <p:nvPr/>
        </p:nvGrpSpPr>
        <p:grpSpPr>
          <a:xfrm>
            <a:off x="914400" y="4912995"/>
            <a:ext cx="16459200" cy="4023360"/>
            <a:chOff x="914400" y="4912995"/>
            <a:chExt cx="16459200" cy="4023360"/>
          </a:xfrm>
        </p:grpSpPr>
        <p:sp>
          <p:nvSpPr>
            <p:cNvPr id="440" name="Google Shape;440;p12"/>
            <p:cNvSpPr/>
            <p:nvPr/>
          </p:nvSpPr>
          <p:spPr>
            <a:xfrm>
              <a:off x="914400" y="4912995"/>
              <a:ext cx="16459200" cy="4023360"/>
            </a:xfrm>
            <a:custGeom>
              <a:rect b="b" l="l" r="r" t="t"/>
              <a:pathLst>
                <a:path extrusionOk="0" h="5364480" w="21945600">
                  <a:moveTo>
                    <a:pt x="0" y="0"/>
                  </a:moveTo>
                  <a:lnTo>
                    <a:pt x="21945600" y="0"/>
                  </a:lnTo>
                  <a:lnTo>
                    <a:pt x="21945600" y="5364480"/>
                  </a:lnTo>
                  <a:lnTo>
                    <a:pt x="0" y="5364480"/>
                  </a:lnTo>
                  <a:close/>
                </a:path>
              </a:pathLst>
            </a:custGeom>
            <a:solidFill>
              <a:srgbClr val="1A2540"/>
            </a:solidFill>
            <a:ln>
              <a:noFill/>
            </a:ln>
          </p:spPr>
        </p:sp>
        <p:grpSp>
          <p:nvGrpSpPr>
            <p:cNvPr id="441" name="Google Shape;441;p12"/>
            <p:cNvGrpSpPr/>
            <p:nvPr/>
          </p:nvGrpSpPr>
          <p:grpSpPr>
            <a:xfrm>
              <a:off x="1463040" y="5095875"/>
              <a:ext cx="15544800" cy="878535"/>
              <a:chOff x="0" y="0"/>
              <a:chExt cx="20726400" cy="1171380"/>
            </a:xfrm>
          </p:grpSpPr>
          <p:sp>
            <p:nvSpPr>
              <p:cNvPr id="442" name="Google Shape;442;p12"/>
              <p:cNvSpPr/>
              <p:nvPr/>
            </p:nvSpPr>
            <p:spPr>
              <a:xfrm>
                <a:off x="0" y="0"/>
                <a:ext cx="20726400" cy="1171380"/>
              </a:xfrm>
              <a:custGeom>
                <a:rect b="b" l="l" r="r" t="t"/>
                <a:pathLst>
                  <a:path extrusionOk="0" h="1171380" w="20726400">
                    <a:moveTo>
                      <a:pt x="0" y="0"/>
                    </a:moveTo>
                    <a:lnTo>
                      <a:pt x="20726400" y="0"/>
                    </a:lnTo>
                    <a:lnTo>
                      <a:pt x="20726400" y="1171380"/>
                    </a:lnTo>
                    <a:lnTo>
                      <a:pt x="0" y="1171380"/>
                    </a:lnTo>
                    <a:close/>
                  </a:path>
                </a:pathLst>
              </a:custGeom>
              <a:blipFill rotWithShape="1">
                <a:blip r:embed="rId4">
                  <a:alphaModFix amt="0"/>
                </a:blip>
                <a:stretch>
                  <a:fillRect b="-291594" l="0" r="0" t="-297917"/>
                </a:stretch>
              </a:blipFill>
              <a:ln>
                <a:noFill/>
              </a:ln>
            </p:spPr>
          </p:sp>
          <p:sp>
            <p:nvSpPr>
              <p:cNvPr id="443" name="Google Shape;443;p12"/>
              <p:cNvSpPr txBox="1"/>
              <p:nvPr/>
            </p:nvSpPr>
            <p:spPr>
              <a:xfrm>
                <a:off x="0" y="9525"/>
                <a:ext cx="20726400" cy="1161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4400" u="none" cap="none" strike="noStrike">
                    <a:solidFill>
                      <a:srgbClr val="F59E0B"/>
                    </a:solidFill>
                    <a:latin typeface="Montserrat"/>
                    <a:ea typeface="Montserrat"/>
                    <a:cs typeface="Montserrat"/>
                    <a:sym typeface="Montserrat"/>
                  </a:rPr>
                  <a:t>Resource Policy/Resource Constraints</a:t>
                </a:r>
                <a:endParaRPr/>
              </a:p>
            </p:txBody>
          </p:sp>
        </p:grpSp>
        <p:sp>
          <p:nvSpPr>
            <p:cNvPr id="444" name="Google Shape;444;p12"/>
            <p:cNvSpPr txBox="1"/>
            <p:nvPr/>
          </p:nvSpPr>
          <p:spPr>
            <a:xfrm>
              <a:off x="1463040" y="5981700"/>
              <a:ext cx="15544800" cy="2265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3200" u="none" cap="none" strike="noStrike">
                  <a:solidFill>
                    <a:srgbClr val="CBD5E1"/>
                  </a:solidFill>
                  <a:latin typeface="Arimo"/>
                  <a:ea typeface="Arimo"/>
                  <a:cs typeface="Arimo"/>
                  <a:sym typeface="Arimo"/>
                </a:rPr>
                <a:t>Attach an S3 bucket policy that lists the three cross-account role ARNs as principals. Add aws:PrincipalOrgID as a condition to ensure only principals within your organization are accepted. Cross-account access requires the resource policy — identity policies alone aren't sufficient.</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grpSp>
        <p:nvGrpSpPr>
          <p:cNvPr id="453" name="Google Shape;453;g3be80cdaba9_0_0"/>
          <p:cNvGrpSpPr/>
          <p:nvPr/>
        </p:nvGrpSpPr>
        <p:grpSpPr>
          <a:xfrm>
            <a:off x="213710" y="9541193"/>
            <a:ext cx="16459200" cy="745875"/>
            <a:chOff x="0" y="-19050"/>
            <a:chExt cx="21945600" cy="994500"/>
          </a:xfrm>
        </p:grpSpPr>
        <p:sp>
          <p:nvSpPr>
            <p:cNvPr id="454" name="Google Shape;454;g3be80cdaba9_0_0"/>
            <p:cNvSpPr/>
            <p:nvPr/>
          </p:nvSpPr>
          <p:spPr>
            <a:xfrm>
              <a:off x="0" y="0"/>
              <a:ext cx="21945600" cy="975360"/>
            </a:xfrm>
            <a:custGeom>
              <a:rect b="b" l="l" r="r" t="t"/>
              <a:pathLst>
                <a:path extrusionOk="0" h="975360" w="21945600">
                  <a:moveTo>
                    <a:pt x="0" y="0"/>
                  </a:moveTo>
                  <a:lnTo>
                    <a:pt x="21945600" y="0"/>
                  </a:lnTo>
                  <a:lnTo>
                    <a:pt x="21945600" y="975360"/>
                  </a:lnTo>
                  <a:lnTo>
                    <a:pt x="0" y="975360"/>
                  </a:lnTo>
                  <a:close/>
                </a:path>
              </a:pathLst>
            </a:custGeom>
            <a:blipFill rotWithShape="1">
              <a:blip r:embed="rId3">
                <a:alphaModFix amt="0"/>
              </a:blip>
              <a:stretch>
                <a:fillRect b="-388323" l="0" r="0" t="-388331"/>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5" name="Google Shape;455;g3be80cdaba9_0_0"/>
            <p:cNvSpPr txBox="1"/>
            <p:nvPr/>
          </p:nvSpPr>
          <p:spPr>
            <a:xfrm>
              <a:off x="0" y="-19050"/>
              <a:ext cx="21945600" cy="994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i="1" lang="en-US" sz="2700">
                  <a:solidFill>
                    <a:srgbClr val="64748B"/>
                  </a:solidFill>
                  <a:latin typeface="Arimo"/>
                  <a:ea typeface="Arimo"/>
                  <a:cs typeface="Arimo"/>
                  <a:sym typeface="Arimo"/>
                </a:rPr>
                <a:t>Source: sysdig threat research team</a:t>
              </a:r>
              <a:endParaRPr/>
            </a:p>
          </p:txBody>
        </p:sp>
      </p:grpSp>
      <p:grpSp>
        <p:nvGrpSpPr>
          <p:cNvPr id="456" name="Google Shape;456;g3be80cdaba9_0_0"/>
          <p:cNvGrpSpPr/>
          <p:nvPr/>
        </p:nvGrpSpPr>
        <p:grpSpPr>
          <a:xfrm>
            <a:off x="0" y="2351050"/>
            <a:ext cx="4389120" cy="2579414"/>
            <a:chOff x="0" y="2351050"/>
            <a:chExt cx="4389120" cy="2579414"/>
          </a:xfrm>
        </p:grpSpPr>
        <p:grpSp>
          <p:nvGrpSpPr>
            <p:cNvPr id="457" name="Google Shape;457;g3be80cdaba9_0_0"/>
            <p:cNvGrpSpPr/>
            <p:nvPr/>
          </p:nvGrpSpPr>
          <p:grpSpPr>
            <a:xfrm>
              <a:off x="0" y="3615225"/>
              <a:ext cx="4389120" cy="512100"/>
              <a:chOff x="0" y="0"/>
              <a:chExt cx="5852160" cy="682800"/>
            </a:xfrm>
          </p:grpSpPr>
          <p:sp>
            <p:nvSpPr>
              <p:cNvPr id="458" name="Google Shape;458;g3be80cdaba9_0_0"/>
              <p:cNvSpPr/>
              <p:nvPr/>
            </p:nvSpPr>
            <p:spPr>
              <a:xfrm>
                <a:off x="0" y="0"/>
                <a:ext cx="5852160" cy="682752"/>
              </a:xfrm>
              <a:custGeom>
                <a:rect b="b" l="l" r="r" t="t"/>
                <a:pathLst>
                  <a:path extrusionOk="0" h="682752" w="5852160">
                    <a:moveTo>
                      <a:pt x="0" y="0"/>
                    </a:moveTo>
                    <a:lnTo>
                      <a:pt x="5852160" y="0"/>
                    </a:lnTo>
                    <a:lnTo>
                      <a:pt x="5852160" y="682752"/>
                    </a:lnTo>
                    <a:lnTo>
                      <a:pt x="0" y="682752"/>
                    </a:lnTo>
                    <a:close/>
                  </a:path>
                </a:pathLst>
              </a:custGeom>
              <a:blipFill rotWithShape="1">
                <a:blip r:embed="rId3">
                  <a:alphaModFix amt="0"/>
                </a:blip>
                <a:stretch>
                  <a:fillRect b="-117000" l="0" r="0" t="-1170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g3be80cdaba9_0_0"/>
              <p:cNvSpPr txBox="1"/>
              <p:nvPr/>
            </p:nvSpPr>
            <p:spPr>
              <a:xfrm>
                <a:off x="0" y="0"/>
                <a:ext cx="5852100" cy="682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US" sz="3000">
                    <a:solidFill>
                      <a:srgbClr val="FFFFFF"/>
                    </a:solidFill>
                    <a:latin typeface="Montserrat"/>
                    <a:ea typeface="Montserrat"/>
                    <a:cs typeface="Montserrat"/>
                    <a:sym typeface="Montserrat"/>
                  </a:rPr>
                  <a:t>Initial Access</a:t>
                </a:r>
                <a:endParaRPr/>
              </a:p>
            </p:txBody>
          </p:sp>
        </p:grpSp>
        <p:grpSp>
          <p:nvGrpSpPr>
            <p:cNvPr id="460" name="Google Shape;460;g3be80cdaba9_0_0"/>
            <p:cNvGrpSpPr/>
            <p:nvPr/>
          </p:nvGrpSpPr>
          <p:grpSpPr>
            <a:xfrm>
              <a:off x="0" y="2351050"/>
              <a:ext cx="4389000" cy="2579414"/>
              <a:chOff x="0" y="2351050"/>
              <a:chExt cx="4389000" cy="2579414"/>
            </a:xfrm>
          </p:grpSpPr>
          <p:sp>
            <p:nvSpPr>
              <p:cNvPr descr="Amazon Simple Storage Service (Amazon S3) service icon." id="461" name="Google Shape;461;g3be80cdaba9_0_0"/>
              <p:cNvSpPr/>
              <p:nvPr/>
            </p:nvSpPr>
            <p:spPr>
              <a:xfrm>
                <a:off x="1546127" y="2351050"/>
                <a:ext cx="1143000" cy="1143000"/>
              </a:xfrm>
              <a:custGeom>
                <a:rect b="b" l="l" r="r" t="t"/>
                <a:pathLst>
                  <a:path extrusionOk="0" h="1143000" w="1143000">
                    <a:moveTo>
                      <a:pt x="0" y="0"/>
                    </a:moveTo>
                    <a:lnTo>
                      <a:pt x="1143000" y="0"/>
                    </a:lnTo>
                    <a:lnTo>
                      <a:pt x="1143000" y="1143000"/>
                    </a:lnTo>
                    <a:lnTo>
                      <a:pt x="0" y="1143000"/>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2" name="Google Shape;462;g3be80cdaba9_0_0"/>
              <p:cNvSpPr txBox="1"/>
              <p:nvPr/>
            </p:nvSpPr>
            <p:spPr>
              <a:xfrm>
                <a:off x="0" y="4117764"/>
                <a:ext cx="4389000" cy="812700"/>
              </a:xfrm>
              <a:prstGeom prst="rect">
                <a:avLst/>
              </a:prstGeom>
              <a:noFill/>
              <a:ln>
                <a:noFill/>
              </a:ln>
            </p:spPr>
            <p:txBody>
              <a:bodyPr anchorCtr="0" anchor="t" bIns="0" lIns="0" spcFirstLastPara="1" rIns="0" wrap="square" tIns="0">
                <a:spAutoFit/>
              </a:bodyPr>
              <a:lstStyle/>
              <a:p>
                <a:pPr indent="0" lvl="0" marL="0" marR="0" rtl="0" algn="ctr">
                  <a:lnSpc>
                    <a:spcPct val="119958"/>
                  </a:lnSpc>
                  <a:spcBef>
                    <a:spcPts val="0"/>
                  </a:spcBef>
                  <a:spcAft>
                    <a:spcPts val="0"/>
                  </a:spcAft>
                  <a:buNone/>
                </a:pPr>
                <a:r>
                  <a:rPr lang="en-US" sz="2400">
                    <a:solidFill>
                      <a:srgbClr val="CBD5E1"/>
                    </a:solidFill>
                    <a:latin typeface="Arimo"/>
                    <a:ea typeface="Arimo"/>
                    <a:cs typeface="Arimo"/>
                    <a:sym typeface="Arimo"/>
                  </a:rPr>
                  <a:t>Leaked IAM creds in</a:t>
                </a:r>
                <a:endParaRPr/>
              </a:p>
              <a:p>
                <a:pPr indent="0" lvl="0" marL="0" marR="0" rtl="0" algn="ctr">
                  <a:lnSpc>
                    <a:spcPct val="119958"/>
                  </a:lnSpc>
                  <a:spcBef>
                    <a:spcPts val="0"/>
                  </a:spcBef>
                  <a:spcAft>
                    <a:spcPts val="0"/>
                  </a:spcAft>
                  <a:buNone/>
                </a:pPr>
                <a:r>
                  <a:rPr lang="en-US" sz="2400">
                    <a:solidFill>
                      <a:srgbClr val="CBD5E1"/>
                    </a:solidFill>
                    <a:latin typeface="Arimo"/>
                    <a:ea typeface="Arimo"/>
                    <a:cs typeface="Arimo"/>
                    <a:sym typeface="Arimo"/>
                  </a:rPr>
                  <a:t>public S3 bucket</a:t>
                </a:r>
                <a:endParaRPr/>
              </a:p>
            </p:txBody>
          </p:sp>
        </p:grpSp>
      </p:grpSp>
      <p:sp>
        <p:nvSpPr>
          <p:cNvPr id="463" name="Google Shape;463;g3be80cdaba9_0_0"/>
          <p:cNvSpPr txBox="1"/>
          <p:nvPr/>
        </p:nvSpPr>
        <p:spPr>
          <a:xfrm>
            <a:off x="115334" y="87258"/>
            <a:ext cx="16408500" cy="1948500"/>
          </a:xfrm>
          <a:prstGeom prst="rect">
            <a:avLst/>
          </a:prstGeom>
          <a:noFill/>
          <a:ln>
            <a:noFill/>
          </a:ln>
        </p:spPr>
        <p:txBody>
          <a:bodyPr anchorCtr="0" anchor="t" bIns="0" lIns="0" spcFirstLastPara="1" rIns="0" wrap="square" tIns="0">
            <a:spAutoFit/>
          </a:bodyPr>
          <a:lstStyle/>
          <a:p>
            <a:pPr indent="0" lvl="0" marL="0" rtl="0" algn="l">
              <a:lnSpc>
                <a:spcPct val="119985"/>
              </a:lnSpc>
              <a:spcBef>
                <a:spcPts val="0"/>
              </a:spcBef>
              <a:spcAft>
                <a:spcPts val="0"/>
              </a:spcAft>
              <a:buClr>
                <a:schemeClr val="dk1"/>
              </a:buClr>
              <a:buFont typeface="Arial"/>
              <a:buNone/>
            </a:pPr>
            <a:r>
              <a:rPr b="1" lang="en-US" sz="6800">
                <a:solidFill>
                  <a:schemeClr val="lt1"/>
                </a:solidFill>
                <a:latin typeface="Montserrat"/>
                <a:ea typeface="Montserrat"/>
                <a:cs typeface="Montserrat"/>
                <a:sym typeface="Montserrat"/>
              </a:rPr>
              <a:t>Defense in Depth: Layered Security</a:t>
            </a:r>
            <a:endParaRPr/>
          </a:p>
          <a:p>
            <a:pPr indent="0" lvl="0" marL="0" marR="0" rtl="0" algn="l">
              <a:lnSpc>
                <a:spcPct val="162644"/>
              </a:lnSpc>
              <a:spcBef>
                <a:spcPts val="0"/>
              </a:spcBef>
              <a:spcAft>
                <a:spcPts val="0"/>
              </a:spcAft>
              <a:buNone/>
            </a:pPr>
            <a:r>
              <a:t/>
            </a:r>
            <a:endParaRPr b="1" sz="4500">
              <a:solidFill>
                <a:srgbClr val="FFFFFF"/>
              </a:solidFill>
              <a:latin typeface="Assistant"/>
              <a:ea typeface="Assistant"/>
              <a:cs typeface="Assistant"/>
              <a:sym typeface="Assistant"/>
            </a:endParaRPr>
          </a:p>
        </p:txBody>
      </p:sp>
      <p:grpSp>
        <p:nvGrpSpPr>
          <p:cNvPr id="464" name="Google Shape;464;g3be80cdaba9_0_0"/>
          <p:cNvGrpSpPr/>
          <p:nvPr/>
        </p:nvGrpSpPr>
        <p:grpSpPr>
          <a:xfrm>
            <a:off x="5746337" y="1579851"/>
            <a:ext cx="4776982" cy="3350613"/>
            <a:chOff x="5746337" y="1579851"/>
            <a:chExt cx="4776982" cy="3350613"/>
          </a:xfrm>
        </p:grpSpPr>
        <p:grpSp>
          <p:nvGrpSpPr>
            <p:cNvPr id="465" name="Google Shape;465;g3be80cdaba9_0_0"/>
            <p:cNvGrpSpPr/>
            <p:nvPr/>
          </p:nvGrpSpPr>
          <p:grpSpPr>
            <a:xfrm>
              <a:off x="6134199" y="3615225"/>
              <a:ext cx="4389120" cy="512100"/>
              <a:chOff x="0" y="0"/>
              <a:chExt cx="5852160" cy="682800"/>
            </a:xfrm>
          </p:grpSpPr>
          <p:sp>
            <p:nvSpPr>
              <p:cNvPr id="466" name="Google Shape;466;g3be80cdaba9_0_0"/>
              <p:cNvSpPr/>
              <p:nvPr/>
            </p:nvSpPr>
            <p:spPr>
              <a:xfrm>
                <a:off x="0" y="0"/>
                <a:ext cx="5852160" cy="682752"/>
              </a:xfrm>
              <a:custGeom>
                <a:rect b="b" l="l" r="r" t="t"/>
                <a:pathLst>
                  <a:path extrusionOk="0" h="682752" w="5852160">
                    <a:moveTo>
                      <a:pt x="0" y="0"/>
                    </a:moveTo>
                    <a:lnTo>
                      <a:pt x="5852160" y="0"/>
                    </a:lnTo>
                    <a:lnTo>
                      <a:pt x="5852160" y="682752"/>
                    </a:lnTo>
                    <a:lnTo>
                      <a:pt x="0" y="682752"/>
                    </a:lnTo>
                    <a:close/>
                  </a:path>
                </a:pathLst>
              </a:custGeom>
              <a:blipFill rotWithShape="1">
                <a:blip r:embed="rId3">
                  <a:alphaModFix amt="0"/>
                </a:blip>
                <a:stretch>
                  <a:fillRect b="-117000" l="0" r="0" t="-1170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g3be80cdaba9_0_0"/>
              <p:cNvSpPr txBox="1"/>
              <p:nvPr/>
            </p:nvSpPr>
            <p:spPr>
              <a:xfrm>
                <a:off x="0" y="0"/>
                <a:ext cx="5852100" cy="682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US" sz="3000">
                    <a:solidFill>
                      <a:srgbClr val="FFFFFF"/>
                    </a:solidFill>
                    <a:latin typeface="Montserrat"/>
                    <a:ea typeface="Montserrat"/>
                    <a:cs typeface="Montserrat"/>
                    <a:sym typeface="Montserrat"/>
                  </a:rPr>
                  <a:t>Recon Sweep</a:t>
                </a:r>
                <a:endParaRPr/>
              </a:p>
            </p:txBody>
          </p:sp>
        </p:grpSp>
        <p:sp>
          <p:nvSpPr>
            <p:cNvPr descr="Amazon Bedrock service icon." id="468" name="Google Shape;468;g3be80cdaba9_0_0"/>
            <p:cNvSpPr/>
            <p:nvPr/>
          </p:nvSpPr>
          <p:spPr>
            <a:xfrm>
              <a:off x="7782209" y="2181955"/>
              <a:ext cx="808638" cy="808638"/>
            </a:xfrm>
            <a:custGeom>
              <a:rect b="b" l="l" r="r" t="t"/>
              <a:pathLst>
                <a:path extrusionOk="0" h="808638" w="808638">
                  <a:moveTo>
                    <a:pt x="0" y="0"/>
                  </a:moveTo>
                  <a:lnTo>
                    <a:pt x="808638" y="0"/>
                  </a:lnTo>
                  <a:lnTo>
                    <a:pt x="808638" y="808638"/>
                  </a:lnTo>
                  <a:lnTo>
                    <a:pt x="0" y="808638"/>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g3be80cdaba9_0_0"/>
            <p:cNvSpPr txBox="1"/>
            <p:nvPr/>
          </p:nvSpPr>
          <p:spPr>
            <a:xfrm>
              <a:off x="7034469" y="3005573"/>
              <a:ext cx="2289000" cy="195900"/>
            </a:xfrm>
            <a:prstGeom prst="rect">
              <a:avLst/>
            </a:prstGeom>
            <a:noFill/>
            <a:ln>
              <a:noFill/>
            </a:ln>
          </p:spPr>
          <p:txBody>
            <a:bodyPr anchorCtr="0" anchor="t" bIns="0" lIns="0" spcFirstLastPara="1" rIns="0" wrap="square" tIns="0">
              <a:spAutoFit/>
            </a:bodyPr>
            <a:lstStyle/>
            <a:p>
              <a:pPr indent="0" lvl="0" marL="0" marR="0" rtl="0" algn="ctr">
                <a:lnSpc>
                  <a:spcPct val="120031"/>
                </a:lnSpc>
                <a:spcBef>
                  <a:spcPts val="0"/>
                </a:spcBef>
                <a:spcAft>
                  <a:spcPts val="0"/>
                </a:spcAft>
                <a:buNone/>
              </a:pPr>
              <a:r>
                <a:rPr lang="en-US" sz="1273">
                  <a:solidFill>
                    <a:srgbClr val="FFFFFF"/>
                  </a:solidFill>
                  <a:latin typeface="Arial"/>
                  <a:ea typeface="Arial"/>
                  <a:cs typeface="Arial"/>
                  <a:sym typeface="Arial"/>
                </a:rPr>
                <a:t>Amazon Bedrock</a:t>
              </a:r>
              <a:endParaRPr/>
            </a:p>
          </p:txBody>
        </p:sp>
        <p:sp>
          <p:nvSpPr>
            <p:cNvPr descr="AWS Lambda service icon." id="470" name="Google Shape;470;g3be80cdaba9_0_0"/>
            <p:cNvSpPr/>
            <p:nvPr/>
          </p:nvSpPr>
          <p:spPr>
            <a:xfrm>
              <a:off x="8858883" y="2873682"/>
              <a:ext cx="560724" cy="560724"/>
            </a:xfrm>
            <a:custGeom>
              <a:rect b="b" l="l" r="r" t="t"/>
              <a:pathLst>
                <a:path extrusionOk="0" h="560724" w="560724">
                  <a:moveTo>
                    <a:pt x="0" y="0"/>
                  </a:moveTo>
                  <a:lnTo>
                    <a:pt x="560724" y="0"/>
                  </a:lnTo>
                  <a:lnTo>
                    <a:pt x="560724" y="560724"/>
                  </a:lnTo>
                  <a:lnTo>
                    <a:pt x="0" y="560724"/>
                  </a:lnTo>
                  <a:lnTo>
                    <a:pt x="0" y="0"/>
                  </a:lnTo>
                  <a:close/>
                </a:path>
              </a:pathLst>
            </a:custGeom>
            <a:blipFill rotWithShape="1">
              <a:blip r:embed="rId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Amazon Elastic Compute Cloud (Amazon EC2) service icon." id="471" name="Google Shape;471;g3be80cdaba9_0_0"/>
            <p:cNvSpPr/>
            <p:nvPr/>
          </p:nvSpPr>
          <p:spPr>
            <a:xfrm>
              <a:off x="6412594" y="1579851"/>
              <a:ext cx="725836" cy="725836"/>
            </a:xfrm>
            <a:custGeom>
              <a:rect b="b" l="l" r="r" t="t"/>
              <a:pathLst>
                <a:path extrusionOk="0" h="725836" w="725836">
                  <a:moveTo>
                    <a:pt x="0" y="0"/>
                  </a:moveTo>
                  <a:lnTo>
                    <a:pt x="725837" y="0"/>
                  </a:lnTo>
                  <a:lnTo>
                    <a:pt x="725837" y="725836"/>
                  </a:lnTo>
                  <a:lnTo>
                    <a:pt x="0" y="725836"/>
                  </a:lnTo>
                  <a:lnTo>
                    <a:pt x="0" y="0"/>
                  </a:lnTo>
                  <a:close/>
                </a:path>
              </a:pathLst>
            </a:custGeom>
            <a:blipFill rotWithShape="1">
              <a:blip r:embed="rId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Amazon Relational Database Service (Amazon RDS) service icon." id="472" name="Google Shape;472;g3be80cdaba9_0_0"/>
            <p:cNvSpPr/>
            <p:nvPr/>
          </p:nvSpPr>
          <p:spPr>
            <a:xfrm>
              <a:off x="6775513" y="2563416"/>
              <a:ext cx="710518" cy="710518"/>
            </a:xfrm>
            <a:custGeom>
              <a:rect b="b" l="l" r="r" t="t"/>
              <a:pathLst>
                <a:path extrusionOk="0" h="710518" w="710518">
                  <a:moveTo>
                    <a:pt x="0" y="0"/>
                  </a:moveTo>
                  <a:lnTo>
                    <a:pt x="710517" y="0"/>
                  </a:lnTo>
                  <a:lnTo>
                    <a:pt x="710517" y="710517"/>
                  </a:lnTo>
                  <a:lnTo>
                    <a:pt x="0" y="710517"/>
                  </a:lnTo>
                  <a:lnTo>
                    <a:pt x="0" y="0"/>
                  </a:lnTo>
                  <a:close/>
                </a:path>
              </a:pathLst>
            </a:custGeom>
            <a:blipFill rotWithShape="1">
              <a:blip r:embed="rId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AWS Secrets Manager service icon." id="473" name="Google Shape;473;g3be80cdaba9_0_0"/>
            <p:cNvSpPr/>
            <p:nvPr/>
          </p:nvSpPr>
          <p:spPr>
            <a:xfrm>
              <a:off x="9031266" y="1725558"/>
              <a:ext cx="664718" cy="664718"/>
            </a:xfrm>
            <a:custGeom>
              <a:rect b="b" l="l" r="r" t="t"/>
              <a:pathLst>
                <a:path extrusionOk="0" h="664718" w="664718">
                  <a:moveTo>
                    <a:pt x="0" y="0"/>
                  </a:moveTo>
                  <a:lnTo>
                    <a:pt x="664719" y="0"/>
                  </a:lnTo>
                  <a:lnTo>
                    <a:pt x="664719" y="664718"/>
                  </a:lnTo>
                  <a:lnTo>
                    <a:pt x="0" y="664718"/>
                  </a:lnTo>
                  <a:lnTo>
                    <a:pt x="0" y="0"/>
                  </a:lnTo>
                  <a:close/>
                </a:path>
              </a:pathLst>
            </a:custGeom>
            <a:blipFill rotWithShape="1">
              <a:blip r:embed="rId9">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4" name="Google Shape;474;g3be80cdaba9_0_0"/>
            <p:cNvSpPr txBox="1"/>
            <p:nvPr/>
          </p:nvSpPr>
          <p:spPr>
            <a:xfrm>
              <a:off x="6134199" y="4117764"/>
              <a:ext cx="4389000" cy="812700"/>
            </a:xfrm>
            <a:prstGeom prst="rect">
              <a:avLst/>
            </a:prstGeom>
            <a:noFill/>
            <a:ln>
              <a:noFill/>
            </a:ln>
          </p:spPr>
          <p:txBody>
            <a:bodyPr anchorCtr="0" anchor="t" bIns="0" lIns="0" spcFirstLastPara="1" rIns="0" wrap="square" tIns="0">
              <a:spAutoFit/>
            </a:bodyPr>
            <a:lstStyle/>
            <a:p>
              <a:pPr indent="0" lvl="0" marL="0" marR="0" rtl="0" algn="ctr">
                <a:lnSpc>
                  <a:spcPct val="119958"/>
                </a:lnSpc>
                <a:spcBef>
                  <a:spcPts val="0"/>
                </a:spcBef>
                <a:spcAft>
                  <a:spcPts val="0"/>
                </a:spcAft>
                <a:buNone/>
              </a:pPr>
              <a:r>
                <a:rPr lang="en-US" sz="2400">
                  <a:solidFill>
                    <a:srgbClr val="CBD5E1"/>
                  </a:solidFill>
                  <a:latin typeface="Arimo"/>
                  <a:ea typeface="Arimo"/>
                  <a:cs typeface="Arimo"/>
                  <a:sym typeface="Arimo"/>
                </a:rPr>
                <a:t>ReadOnlyAccess policy,</a:t>
              </a:r>
              <a:endParaRPr/>
            </a:p>
            <a:p>
              <a:pPr indent="0" lvl="0" marL="0" marR="0" rtl="0" algn="ctr">
                <a:lnSpc>
                  <a:spcPct val="119958"/>
                </a:lnSpc>
                <a:spcBef>
                  <a:spcPts val="0"/>
                </a:spcBef>
                <a:spcAft>
                  <a:spcPts val="0"/>
                </a:spcAft>
                <a:buNone/>
              </a:pPr>
              <a:r>
                <a:rPr lang="en-US" sz="2400">
                  <a:solidFill>
                    <a:srgbClr val="CBD5E1"/>
                  </a:solidFill>
                  <a:latin typeface="Arimo"/>
                  <a:ea typeface="Arimo"/>
                  <a:cs typeface="Arimo"/>
                  <a:sym typeface="Arimo"/>
                </a:rPr>
                <a:t>12+ services enumerated</a:t>
              </a:r>
              <a:endParaRPr/>
            </a:p>
          </p:txBody>
        </p:sp>
        <p:sp>
          <p:nvSpPr>
            <p:cNvPr id="475" name="Google Shape;475;g3be80cdaba9_0_0"/>
            <p:cNvSpPr txBox="1"/>
            <p:nvPr/>
          </p:nvSpPr>
          <p:spPr>
            <a:xfrm>
              <a:off x="8345354" y="3437200"/>
              <a:ext cx="1597200" cy="135900"/>
            </a:xfrm>
            <a:prstGeom prst="rect">
              <a:avLst/>
            </a:prstGeom>
            <a:noFill/>
            <a:ln>
              <a:noFill/>
            </a:ln>
          </p:spPr>
          <p:txBody>
            <a:bodyPr anchorCtr="0" anchor="t" bIns="0" lIns="0" spcFirstLastPara="1" rIns="0" wrap="square" tIns="0">
              <a:spAutoFit/>
            </a:bodyPr>
            <a:lstStyle/>
            <a:p>
              <a:pPr indent="0" lvl="0" marL="0" marR="0" rtl="0" algn="ctr">
                <a:lnSpc>
                  <a:spcPct val="119932"/>
                </a:lnSpc>
                <a:spcBef>
                  <a:spcPts val="0"/>
                </a:spcBef>
                <a:spcAft>
                  <a:spcPts val="0"/>
                </a:spcAft>
                <a:buNone/>
              </a:pPr>
              <a:r>
                <a:rPr lang="en-US" sz="883">
                  <a:solidFill>
                    <a:srgbClr val="FFFFFF"/>
                  </a:solidFill>
                  <a:latin typeface="Arial"/>
                  <a:ea typeface="Arial"/>
                  <a:cs typeface="Arial"/>
                  <a:sym typeface="Arial"/>
                </a:rPr>
                <a:t>AWS Lambda</a:t>
              </a:r>
              <a:endParaRPr/>
            </a:p>
          </p:txBody>
        </p:sp>
        <p:sp>
          <p:nvSpPr>
            <p:cNvPr id="476" name="Google Shape;476;g3be80cdaba9_0_0"/>
            <p:cNvSpPr txBox="1"/>
            <p:nvPr/>
          </p:nvSpPr>
          <p:spPr>
            <a:xfrm>
              <a:off x="5746337" y="2326708"/>
              <a:ext cx="2044800" cy="175800"/>
            </a:xfrm>
            <a:prstGeom prst="rect">
              <a:avLst/>
            </a:prstGeom>
            <a:noFill/>
            <a:ln>
              <a:noFill/>
            </a:ln>
          </p:spPr>
          <p:txBody>
            <a:bodyPr anchorCtr="0" anchor="t" bIns="0" lIns="0" spcFirstLastPara="1" rIns="0" wrap="square" tIns="0">
              <a:spAutoFit/>
            </a:bodyPr>
            <a:lstStyle/>
            <a:p>
              <a:pPr indent="0" lvl="0" marL="0" marR="0" rtl="0" algn="ctr">
                <a:lnSpc>
                  <a:spcPct val="119947"/>
                </a:lnSpc>
                <a:spcBef>
                  <a:spcPts val="0"/>
                </a:spcBef>
                <a:spcAft>
                  <a:spcPts val="0"/>
                </a:spcAft>
                <a:buNone/>
              </a:pPr>
              <a:r>
                <a:rPr lang="en-US" sz="1143">
                  <a:solidFill>
                    <a:srgbClr val="FFFFFF"/>
                  </a:solidFill>
                  <a:latin typeface="Arial"/>
                  <a:ea typeface="Arial"/>
                  <a:cs typeface="Arial"/>
                  <a:sym typeface="Arial"/>
                </a:rPr>
                <a:t>Amazon EC2</a:t>
              </a:r>
              <a:endParaRPr/>
            </a:p>
          </p:txBody>
        </p:sp>
        <p:sp>
          <p:nvSpPr>
            <p:cNvPr id="477" name="Google Shape;477;g3be80cdaba9_0_0"/>
            <p:cNvSpPr txBox="1"/>
            <p:nvPr/>
          </p:nvSpPr>
          <p:spPr>
            <a:xfrm>
              <a:off x="5933299" y="3289215"/>
              <a:ext cx="2271000" cy="197700"/>
            </a:xfrm>
            <a:prstGeom prst="rect">
              <a:avLst/>
            </a:prstGeom>
            <a:noFill/>
            <a:ln>
              <a:noFill/>
            </a:ln>
          </p:spPr>
          <p:txBody>
            <a:bodyPr anchorCtr="0" anchor="t" bIns="0" lIns="0" spcFirstLastPara="1" rIns="0" wrap="square" tIns="0">
              <a:spAutoFit/>
            </a:bodyPr>
            <a:lstStyle/>
            <a:p>
              <a:pPr indent="0" lvl="0" marL="0" marR="0" rtl="0" algn="ctr">
                <a:lnSpc>
                  <a:spcPct val="120015"/>
                </a:lnSpc>
                <a:spcBef>
                  <a:spcPts val="0"/>
                </a:spcBef>
                <a:spcAft>
                  <a:spcPts val="0"/>
                </a:spcAft>
                <a:buNone/>
              </a:pPr>
              <a:r>
                <a:rPr lang="en-US" sz="1284">
                  <a:solidFill>
                    <a:srgbClr val="FFFFFF"/>
                  </a:solidFill>
                  <a:latin typeface="Arial"/>
                  <a:ea typeface="Arial"/>
                  <a:cs typeface="Arial"/>
                  <a:sym typeface="Arial"/>
                </a:rPr>
                <a:t>Amazon RDS</a:t>
              </a:r>
              <a:endParaRPr/>
            </a:p>
          </p:txBody>
        </p:sp>
        <p:sp>
          <p:nvSpPr>
            <p:cNvPr id="478" name="Google Shape;478;g3be80cdaba9_0_0"/>
            <p:cNvSpPr txBox="1"/>
            <p:nvPr/>
          </p:nvSpPr>
          <p:spPr>
            <a:xfrm>
              <a:off x="8423880" y="2407340"/>
              <a:ext cx="1893300" cy="161100"/>
            </a:xfrm>
            <a:prstGeom prst="rect">
              <a:avLst/>
            </a:prstGeom>
            <a:noFill/>
            <a:ln>
              <a:noFill/>
            </a:ln>
          </p:spPr>
          <p:txBody>
            <a:bodyPr anchorCtr="0" anchor="t" bIns="0" lIns="0" spcFirstLastPara="1" rIns="0" wrap="square" tIns="0">
              <a:spAutoFit/>
            </a:bodyPr>
            <a:lstStyle/>
            <a:p>
              <a:pPr indent="0" lvl="0" marL="0" marR="0" rtl="0" algn="ctr">
                <a:lnSpc>
                  <a:spcPct val="120076"/>
                </a:lnSpc>
                <a:spcBef>
                  <a:spcPts val="0"/>
                </a:spcBef>
                <a:spcAft>
                  <a:spcPts val="0"/>
                </a:spcAft>
                <a:buNone/>
              </a:pPr>
              <a:r>
                <a:rPr lang="en-US" sz="1046">
                  <a:solidFill>
                    <a:srgbClr val="FFFFFF"/>
                  </a:solidFill>
                  <a:latin typeface="Arial"/>
                  <a:ea typeface="Arial"/>
                  <a:cs typeface="Arial"/>
                  <a:sym typeface="Arial"/>
                </a:rPr>
                <a:t>AWS Secrets Manager</a:t>
              </a:r>
              <a:endParaRPr/>
            </a:p>
          </p:txBody>
        </p:sp>
      </p:grpSp>
      <p:grpSp>
        <p:nvGrpSpPr>
          <p:cNvPr id="479" name="Google Shape;479;g3be80cdaba9_0_0"/>
          <p:cNvGrpSpPr/>
          <p:nvPr/>
        </p:nvGrpSpPr>
        <p:grpSpPr>
          <a:xfrm>
            <a:off x="10982032" y="1942769"/>
            <a:ext cx="6343262" cy="3175302"/>
            <a:chOff x="10982032" y="1942769"/>
            <a:chExt cx="6343262" cy="3175302"/>
          </a:xfrm>
        </p:grpSpPr>
        <p:grpSp>
          <p:nvGrpSpPr>
            <p:cNvPr id="480" name="Google Shape;480;g3be80cdaba9_0_0"/>
            <p:cNvGrpSpPr/>
            <p:nvPr/>
          </p:nvGrpSpPr>
          <p:grpSpPr>
            <a:xfrm>
              <a:off x="12403143" y="3615225"/>
              <a:ext cx="4706100" cy="601650"/>
              <a:chOff x="0" y="0"/>
              <a:chExt cx="6274800" cy="802200"/>
            </a:xfrm>
          </p:grpSpPr>
          <p:sp>
            <p:nvSpPr>
              <p:cNvPr id="481" name="Google Shape;481;g3be80cdaba9_0_0"/>
              <p:cNvSpPr/>
              <p:nvPr/>
            </p:nvSpPr>
            <p:spPr>
              <a:xfrm>
                <a:off x="0" y="0"/>
                <a:ext cx="6274783" cy="802132"/>
              </a:xfrm>
              <a:custGeom>
                <a:rect b="b" l="l" r="r" t="t"/>
                <a:pathLst>
                  <a:path extrusionOk="0" h="802132" w="6274783">
                    <a:moveTo>
                      <a:pt x="0" y="0"/>
                    </a:moveTo>
                    <a:lnTo>
                      <a:pt x="6274783" y="0"/>
                    </a:lnTo>
                    <a:lnTo>
                      <a:pt x="6274783" y="802132"/>
                    </a:lnTo>
                    <a:lnTo>
                      <a:pt x="0" y="802132"/>
                    </a:lnTo>
                    <a:close/>
                  </a:path>
                </a:pathLst>
              </a:custGeom>
              <a:blipFill rotWithShape="1">
                <a:blip r:embed="rId3">
                  <a:alphaModFix amt="0"/>
                </a:blip>
                <a:stretch>
                  <a:fillRect b="-84704" l="0" r="6729" t="-995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g3be80cdaba9_0_0"/>
              <p:cNvSpPr txBox="1"/>
              <p:nvPr/>
            </p:nvSpPr>
            <p:spPr>
              <a:xfrm>
                <a:off x="0" y="0"/>
                <a:ext cx="6274800" cy="802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US" sz="3000">
                    <a:solidFill>
                      <a:srgbClr val="FFFFFF"/>
                    </a:solidFill>
                    <a:latin typeface="Montserrat"/>
                    <a:ea typeface="Montserrat"/>
                    <a:cs typeface="Montserrat"/>
                    <a:sym typeface="Montserrat"/>
                  </a:rPr>
                  <a:t>AssumeRole </a:t>
                </a:r>
                <a:r>
                  <a:rPr b="1" lang="en-US" sz="3000">
                    <a:solidFill>
                      <a:srgbClr val="F87171"/>
                    </a:solidFill>
                    <a:latin typeface="Montserrat"/>
                    <a:ea typeface="Montserrat"/>
                    <a:cs typeface="Montserrat"/>
                    <a:sym typeface="Montserrat"/>
                  </a:rPr>
                  <a:t>BLOCKED</a:t>
                </a:r>
                <a:endParaRPr/>
              </a:p>
            </p:txBody>
          </p:sp>
        </p:grpSp>
        <p:sp>
          <p:nvSpPr>
            <p:cNvPr descr="Role resource icon for the IAM service." id="483" name="Google Shape;483;g3be80cdaba9_0_0"/>
            <p:cNvSpPr/>
            <p:nvPr/>
          </p:nvSpPr>
          <p:spPr>
            <a:xfrm>
              <a:off x="14106045" y="1942769"/>
              <a:ext cx="1165012" cy="1165012"/>
            </a:xfrm>
            <a:custGeom>
              <a:rect b="b" l="l" r="r" t="t"/>
              <a:pathLst>
                <a:path extrusionOk="0" h="1165012" w="1165012">
                  <a:moveTo>
                    <a:pt x="0" y="0"/>
                  </a:moveTo>
                  <a:lnTo>
                    <a:pt x="1165012" y="0"/>
                  </a:lnTo>
                  <a:lnTo>
                    <a:pt x="1165012" y="1165012"/>
                  </a:lnTo>
                  <a:lnTo>
                    <a:pt x="0" y="1165012"/>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g3be80cdaba9_0_0"/>
            <p:cNvSpPr/>
            <p:nvPr/>
          </p:nvSpPr>
          <p:spPr>
            <a:xfrm rot="3598236">
              <a:off x="11123291" y="3255633"/>
              <a:ext cx="479283" cy="602871"/>
            </a:xfrm>
            <a:custGeom>
              <a:rect b="b" l="l" r="r" t="t"/>
              <a:pathLst>
                <a:path extrusionOk="0" h="603407" w="479709">
                  <a:moveTo>
                    <a:pt x="0" y="0"/>
                  </a:moveTo>
                  <a:lnTo>
                    <a:pt x="479709" y="0"/>
                  </a:lnTo>
                  <a:lnTo>
                    <a:pt x="479709" y="603408"/>
                  </a:lnTo>
                  <a:lnTo>
                    <a:pt x="0" y="603408"/>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5" name="Google Shape;485;g3be80cdaba9_0_0"/>
            <p:cNvSpPr txBox="1"/>
            <p:nvPr/>
          </p:nvSpPr>
          <p:spPr>
            <a:xfrm>
              <a:off x="12266394" y="4305371"/>
              <a:ext cx="5058900" cy="812700"/>
            </a:xfrm>
            <a:prstGeom prst="rect">
              <a:avLst/>
            </a:prstGeom>
            <a:noFill/>
            <a:ln>
              <a:noFill/>
            </a:ln>
          </p:spPr>
          <p:txBody>
            <a:bodyPr anchorCtr="0" anchor="t" bIns="0" lIns="0" spcFirstLastPara="1" rIns="0" wrap="square" tIns="0">
              <a:spAutoFit/>
            </a:bodyPr>
            <a:lstStyle/>
            <a:p>
              <a:pPr indent="0" lvl="0" marL="0" marR="0" rtl="0" algn="ctr">
                <a:lnSpc>
                  <a:spcPct val="119958"/>
                </a:lnSpc>
                <a:spcBef>
                  <a:spcPts val="0"/>
                </a:spcBef>
                <a:spcAft>
                  <a:spcPts val="0"/>
                </a:spcAft>
                <a:buNone/>
              </a:pPr>
              <a:r>
                <a:rPr lang="en-US" sz="2400">
                  <a:solidFill>
                    <a:srgbClr val="F87171"/>
                  </a:solidFill>
                  <a:latin typeface="Arimo"/>
                  <a:ea typeface="Arimo"/>
                  <a:cs typeface="Arimo"/>
                  <a:sym typeface="Arimo"/>
                </a:rPr>
                <a:t>Attempted to assume admin roles,</a:t>
              </a:r>
              <a:endParaRPr/>
            </a:p>
            <a:p>
              <a:pPr indent="0" lvl="0" marL="0" marR="0" rtl="0" algn="ctr">
                <a:lnSpc>
                  <a:spcPct val="119958"/>
                </a:lnSpc>
                <a:spcBef>
                  <a:spcPts val="0"/>
                </a:spcBef>
                <a:spcAft>
                  <a:spcPts val="0"/>
                </a:spcAft>
                <a:buNone/>
              </a:pPr>
              <a:r>
                <a:rPr lang="en-US" sz="2400">
                  <a:solidFill>
                    <a:srgbClr val="F87171"/>
                  </a:solidFill>
                  <a:latin typeface="Arimo"/>
                  <a:ea typeface="Arimo"/>
                  <a:cs typeface="Arimo"/>
                  <a:sym typeface="Arimo"/>
                </a:rPr>
                <a:t>denied by trust policy</a:t>
              </a:r>
              <a:endParaRPr/>
            </a:p>
          </p:txBody>
        </p:sp>
        <p:sp>
          <p:nvSpPr>
            <p:cNvPr id="486" name="Google Shape;486;g3be80cdaba9_0_0"/>
            <p:cNvSpPr txBox="1"/>
            <p:nvPr/>
          </p:nvSpPr>
          <p:spPr>
            <a:xfrm>
              <a:off x="13305989" y="3149700"/>
              <a:ext cx="2900400" cy="470400"/>
            </a:xfrm>
            <a:prstGeom prst="rect">
              <a:avLst/>
            </a:prstGeom>
            <a:noFill/>
            <a:ln>
              <a:noFill/>
            </a:ln>
          </p:spPr>
          <p:txBody>
            <a:bodyPr anchorCtr="0" anchor="t" bIns="0" lIns="0" spcFirstLastPara="1" rIns="0" wrap="square" tIns="0">
              <a:spAutoFit/>
            </a:bodyPr>
            <a:lstStyle/>
            <a:p>
              <a:pPr indent="0" lvl="0" marL="0" marR="0" rtl="0" algn="ctr">
                <a:lnSpc>
                  <a:spcPct val="120019"/>
                </a:lnSpc>
                <a:spcBef>
                  <a:spcPts val="0"/>
                </a:spcBef>
                <a:spcAft>
                  <a:spcPts val="0"/>
                </a:spcAft>
                <a:buNone/>
              </a:pPr>
              <a:r>
                <a:rPr lang="en-US" sz="3057">
                  <a:solidFill>
                    <a:srgbClr val="FFFFFF"/>
                  </a:solidFill>
                  <a:latin typeface="Arial"/>
                  <a:ea typeface="Arial"/>
                  <a:cs typeface="Arial"/>
                  <a:sym typeface="Arial"/>
                </a:rPr>
                <a:t>sts:AssumeRole</a:t>
              </a:r>
              <a:endParaRPr/>
            </a:p>
          </p:txBody>
        </p:sp>
      </p:grpSp>
      <p:grpSp>
        <p:nvGrpSpPr>
          <p:cNvPr id="487" name="Google Shape;487;g3be80cdaba9_0_0"/>
          <p:cNvGrpSpPr/>
          <p:nvPr/>
        </p:nvGrpSpPr>
        <p:grpSpPr>
          <a:xfrm>
            <a:off x="5672955" y="6536043"/>
            <a:ext cx="4389120" cy="2716858"/>
            <a:chOff x="5672955" y="6536043"/>
            <a:chExt cx="4389120" cy="2716858"/>
          </a:xfrm>
        </p:grpSpPr>
        <p:sp>
          <p:nvSpPr>
            <p:cNvPr descr="/Users/tara/repos/ws-wrangling-identity-and-access-in-aws/powerpoint-working-dir/aws-icons/aws-sts.png" id="488" name="Google Shape;488;g3be80cdaba9_0_0"/>
            <p:cNvSpPr/>
            <p:nvPr/>
          </p:nvSpPr>
          <p:spPr>
            <a:xfrm>
              <a:off x="7283218" y="6536043"/>
              <a:ext cx="1097280" cy="1097280"/>
            </a:xfrm>
            <a:custGeom>
              <a:rect b="b" l="l" r="r" t="t"/>
              <a:pathLst>
                <a:path extrusionOk="0" h="1463040" w="1463040">
                  <a:moveTo>
                    <a:pt x="0" y="0"/>
                  </a:moveTo>
                  <a:lnTo>
                    <a:pt x="1463040" y="0"/>
                  </a:lnTo>
                  <a:lnTo>
                    <a:pt x="1463040" y="1463040"/>
                  </a:lnTo>
                  <a:lnTo>
                    <a:pt x="0" y="1463040"/>
                  </a:lnTo>
                  <a:lnTo>
                    <a:pt x="0" y="0"/>
                  </a:lnTo>
                  <a:close/>
                </a:path>
              </a:pathLst>
            </a:custGeom>
            <a:blipFill rotWithShape="1">
              <a:blip r:embed="rId12">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89" name="Google Shape;489;g3be80cdaba9_0_0"/>
            <p:cNvGrpSpPr/>
            <p:nvPr/>
          </p:nvGrpSpPr>
          <p:grpSpPr>
            <a:xfrm>
              <a:off x="5672955" y="7937662"/>
              <a:ext cx="4389120" cy="512100"/>
              <a:chOff x="0" y="0"/>
              <a:chExt cx="5852160" cy="682800"/>
            </a:xfrm>
          </p:grpSpPr>
          <p:sp>
            <p:nvSpPr>
              <p:cNvPr id="490" name="Google Shape;490;g3be80cdaba9_0_0"/>
              <p:cNvSpPr/>
              <p:nvPr/>
            </p:nvSpPr>
            <p:spPr>
              <a:xfrm>
                <a:off x="0" y="0"/>
                <a:ext cx="5852160" cy="682752"/>
              </a:xfrm>
              <a:custGeom>
                <a:rect b="b" l="l" r="r" t="t"/>
                <a:pathLst>
                  <a:path extrusionOk="0" h="682752" w="5852160">
                    <a:moveTo>
                      <a:pt x="0" y="0"/>
                    </a:moveTo>
                    <a:lnTo>
                      <a:pt x="5852160" y="0"/>
                    </a:lnTo>
                    <a:lnTo>
                      <a:pt x="5852160" y="682752"/>
                    </a:lnTo>
                    <a:lnTo>
                      <a:pt x="0" y="682752"/>
                    </a:lnTo>
                    <a:close/>
                  </a:path>
                </a:pathLst>
              </a:custGeom>
              <a:blipFill rotWithShape="1">
                <a:blip r:embed="rId3">
                  <a:alphaModFix amt="0"/>
                </a:blip>
                <a:stretch>
                  <a:fillRect b="-117000" l="0" r="0" t="-1170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1" name="Google Shape;491;g3be80cdaba9_0_0"/>
              <p:cNvSpPr txBox="1"/>
              <p:nvPr/>
            </p:nvSpPr>
            <p:spPr>
              <a:xfrm>
                <a:off x="0" y="0"/>
                <a:ext cx="5852100" cy="682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US" sz="3000">
                    <a:solidFill>
                      <a:srgbClr val="FFFFFF"/>
                    </a:solidFill>
                    <a:latin typeface="Montserrat"/>
                    <a:ea typeface="Montserrat"/>
                    <a:cs typeface="Montserrat"/>
                    <a:sym typeface="Montserrat"/>
                  </a:rPr>
                  <a:t>Create Access Key</a:t>
                </a:r>
                <a:endParaRPr/>
              </a:p>
            </p:txBody>
          </p:sp>
        </p:grpSp>
        <p:sp>
          <p:nvSpPr>
            <p:cNvPr id="492" name="Google Shape;492;g3be80cdaba9_0_0"/>
            <p:cNvSpPr txBox="1"/>
            <p:nvPr/>
          </p:nvSpPr>
          <p:spPr>
            <a:xfrm>
              <a:off x="5672955" y="8440201"/>
              <a:ext cx="4389000" cy="812700"/>
            </a:xfrm>
            <a:prstGeom prst="rect">
              <a:avLst/>
            </a:prstGeom>
            <a:noFill/>
            <a:ln>
              <a:noFill/>
            </a:ln>
          </p:spPr>
          <p:txBody>
            <a:bodyPr anchorCtr="0" anchor="t" bIns="0" lIns="0" spcFirstLastPara="1" rIns="0" wrap="square" tIns="0">
              <a:spAutoFit/>
            </a:bodyPr>
            <a:lstStyle/>
            <a:p>
              <a:pPr indent="0" lvl="0" marL="0" marR="0" rtl="0" algn="ctr">
                <a:lnSpc>
                  <a:spcPct val="119958"/>
                </a:lnSpc>
                <a:spcBef>
                  <a:spcPts val="0"/>
                </a:spcBef>
                <a:spcAft>
                  <a:spcPts val="0"/>
                </a:spcAft>
                <a:buNone/>
              </a:pPr>
              <a:r>
                <a:rPr lang="en-US" sz="2400">
                  <a:solidFill>
                    <a:srgbClr val="CBD5E1"/>
                  </a:solidFill>
                  <a:latin typeface="Arimo"/>
                  <a:ea typeface="Arimo"/>
                  <a:cs typeface="Arimo"/>
                  <a:sym typeface="Arimo"/>
                </a:rPr>
                <a:t>Lambda exec role creates</a:t>
              </a:r>
              <a:endParaRPr/>
            </a:p>
            <a:p>
              <a:pPr indent="0" lvl="0" marL="0" marR="0" rtl="0" algn="ctr">
                <a:lnSpc>
                  <a:spcPct val="119958"/>
                </a:lnSpc>
                <a:spcBef>
                  <a:spcPts val="0"/>
                </a:spcBef>
                <a:spcAft>
                  <a:spcPts val="0"/>
                </a:spcAft>
                <a:buNone/>
              </a:pPr>
              <a:r>
                <a:rPr lang="en-US" sz="2400">
                  <a:solidFill>
                    <a:srgbClr val="CBD5E1"/>
                  </a:solidFill>
                  <a:latin typeface="Arimo"/>
                  <a:ea typeface="Arimo"/>
                  <a:cs typeface="Arimo"/>
                  <a:sym typeface="Arimo"/>
                </a:rPr>
                <a:t>key for `frick’ dormant user</a:t>
              </a:r>
              <a:endParaRPr/>
            </a:p>
          </p:txBody>
        </p:sp>
      </p:grpSp>
      <p:grpSp>
        <p:nvGrpSpPr>
          <p:cNvPr id="493" name="Google Shape;493;g3be80cdaba9_0_0"/>
          <p:cNvGrpSpPr/>
          <p:nvPr/>
        </p:nvGrpSpPr>
        <p:grpSpPr>
          <a:xfrm>
            <a:off x="11435104" y="5240596"/>
            <a:ext cx="6737625" cy="3985984"/>
            <a:chOff x="11435104" y="5240596"/>
            <a:chExt cx="6737625" cy="3985984"/>
          </a:xfrm>
        </p:grpSpPr>
        <p:sp>
          <p:nvSpPr>
            <p:cNvPr descr="/Users/tara/repos/ws-wrangling-identity-and-access-in-aws/powerpoint-working-dir/aws-icons/alert.png" id="494" name="Google Shape;494;g3be80cdaba9_0_0"/>
            <p:cNvSpPr/>
            <p:nvPr/>
          </p:nvSpPr>
          <p:spPr>
            <a:xfrm>
              <a:off x="14481364" y="6667757"/>
              <a:ext cx="1097280" cy="1097280"/>
            </a:xfrm>
            <a:custGeom>
              <a:rect b="b" l="l" r="r" t="t"/>
              <a:pathLst>
                <a:path extrusionOk="0" h="1463040" w="1463040">
                  <a:moveTo>
                    <a:pt x="0" y="0"/>
                  </a:moveTo>
                  <a:lnTo>
                    <a:pt x="1463040" y="0"/>
                  </a:lnTo>
                  <a:lnTo>
                    <a:pt x="1463040" y="1463040"/>
                  </a:lnTo>
                  <a:lnTo>
                    <a:pt x="0" y="1463040"/>
                  </a:lnTo>
                  <a:lnTo>
                    <a:pt x="0" y="0"/>
                  </a:lnTo>
                  <a:close/>
                </a:path>
              </a:pathLst>
            </a:custGeom>
            <a:blipFill rotWithShape="1">
              <a:blip r:embed="rId1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495" name="Google Shape;495;g3be80cdaba9_0_0"/>
            <p:cNvGrpSpPr/>
            <p:nvPr/>
          </p:nvGrpSpPr>
          <p:grpSpPr>
            <a:xfrm>
              <a:off x="11435104" y="7929629"/>
              <a:ext cx="6737625" cy="601650"/>
              <a:chOff x="0" y="0"/>
              <a:chExt cx="8983500" cy="802200"/>
            </a:xfrm>
          </p:grpSpPr>
          <p:sp>
            <p:nvSpPr>
              <p:cNvPr id="496" name="Google Shape;496;g3be80cdaba9_0_0"/>
              <p:cNvSpPr/>
              <p:nvPr/>
            </p:nvSpPr>
            <p:spPr>
              <a:xfrm>
                <a:off x="0" y="0"/>
                <a:ext cx="8983416" cy="802132"/>
              </a:xfrm>
              <a:custGeom>
                <a:rect b="b" l="l" r="r" t="t"/>
                <a:pathLst>
                  <a:path extrusionOk="0" h="802132" w="8983416">
                    <a:moveTo>
                      <a:pt x="0" y="0"/>
                    </a:moveTo>
                    <a:lnTo>
                      <a:pt x="8983416" y="0"/>
                    </a:lnTo>
                    <a:lnTo>
                      <a:pt x="8983416" y="802132"/>
                    </a:lnTo>
                    <a:lnTo>
                      <a:pt x="0" y="802132"/>
                    </a:lnTo>
                    <a:close/>
                  </a:path>
                </a:pathLst>
              </a:custGeom>
              <a:blipFill rotWithShape="1">
                <a:blip r:embed="rId3">
                  <a:alphaModFix amt="0"/>
                </a:blip>
                <a:stretch>
                  <a:fillRect b="-84704" l="0" r="34849" t="-9959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7" name="Google Shape;497;g3be80cdaba9_0_0"/>
              <p:cNvSpPr txBox="1"/>
              <p:nvPr/>
            </p:nvSpPr>
            <p:spPr>
              <a:xfrm>
                <a:off x="0" y="0"/>
                <a:ext cx="8983500" cy="802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US" sz="3000">
                    <a:solidFill>
                      <a:srgbClr val="FFFFFF"/>
                    </a:solidFill>
                    <a:latin typeface="Montserrat"/>
                    <a:ea typeface="Montserrat"/>
                    <a:cs typeface="Montserrat"/>
                    <a:sym typeface="Montserrat"/>
                  </a:rPr>
                  <a:t>Full AWS Account Compromise</a:t>
                </a:r>
                <a:endParaRPr/>
              </a:p>
            </p:txBody>
          </p:sp>
        </p:grpSp>
        <p:sp>
          <p:nvSpPr>
            <p:cNvPr id="498" name="Google Shape;498;g3be80cdaba9_0_0"/>
            <p:cNvSpPr/>
            <p:nvPr/>
          </p:nvSpPr>
          <p:spPr>
            <a:xfrm>
              <a:off x="12637278" y="5240596"/>
              <a:ext cx="2392727" cy="2392727"/>
            </a:xfrm>
            <a:custGeom>
              <a:rect b="b" l="l" r="r" t="t"/>
              <a:pathLst>
                <a:path extrusionOk="0" h="2392727" w="2392727">
                  <a:moveTo>
                    <a:pt x="0" y="0"/>
                  </a:moveTo>
                  <a:lnTo>
                    <a:pt x="2392726" y="0"/>
                  </a:lnTo>
                  <a:lnTo>
                    <a:pt x="2392726" y="2392727"/>
                  </a:lnTo>
                  <a:lnTo>
                    <a:pt x="0" y="2392727"/>
                  </a:lnTo>
                  <a:lnTo>
                    <a:pt x="0" y="0"/>
                  </a:lnTo>
                  <a:close/>
                </a:path>
              </a:pathLst>
            </a:custGeom>
            <a:blipFill rotWithShape="1">
              <a:blip r:embed="rId1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9" name="Google Shape;499;g3be80cdaba9_0_0"/>
            <p:cNvSpPr/>
            <p:nvPr/>
          </p:nvSpPr>
          <p:spPr>
            <a:xfrm>
              <a:off x="15536620" y="6461619"/>
              <a:ext cx="1570197" cy="1211014"/>
            </a:xfrm>
            <a:custGeom>
              <a:rect b="b" l="l" r="r" t="t"/>
              <a:pathLst>
                <a:path extrusionOk="0" h="1211014" w="1570197">
                  <a:moveTo>
                    <a:pt x="0" y="0"/>
                  </a:moveTo>
                  <a:lnTo>
                    <a:pt x="1570196" y="0"/>
                  </a:lnTo>
                  <a:lnTo>
                    <a:pt x="1570196" y="1211014"/>
                  </a:lnTo>
                  <a:lnTo>
                    <a:pt x="0" y="1211014"/>
                  </a:lnTo>
                  <a:lnTo>
                    <a:pt x="0" y="0"/>
                  </a:lnTo>
                  <a:close/>
                </a:path>
              </a:pathLst>
            </a:custGeom>
            <a:blipFill rotWithShape="1">
              <a:blip r:embed="rId1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0" name="Google Shape;500;g3be80cdaba9_0_0"/>
            <p:cNvSpPr txBox="1"/>
            <p:nvPr/>
          </p:nvSpPr>
          <p:spPr>
            <a:xfrm>
              <a:off x="12835444" y="8413880"/>
              <a:ext cx="4389000" cy="812700"/>
            </a:xfrm>
            <a:prstGeom prst="rect">
              <a:avLst/>
            </a:prstGeom>
            <a:noFill/>
            <a:ln>
              <a:noFill/>
            </a:ln>
          </p:spPr>
          <p:txBody>
            <a:bodyPr anchorCtr="0" anchor="t" bIns="0" lIns="0" spcFirstLastPara="1" rIns="0" wrap="square" tIns="0">
              <a:spAutoFit/>
            </a:bodyPr>
            <a:lstStyle/>
            <a:p>
              <a:pPr indent="0" lvl="0" marL="0" marR="0" rtl="0" algn="ctr">
                <a:lnSpc>
                  <a:spcPct val="119958"/>
                </a:lnSpc>
                <a:spcBef>
                  <a:spcPts val="0"/>
                </a:spcBef>
                <a:spcAft>
                  <a:spcPts val="0"/>
                </a:spcAft>
                <a:buNone/>
              </a:pPr>
              <a:r>
                <a:rPr lang="en-US" sz="2400">
                  <a:solidFill>
                    <a:srgbClr val="CBD5E1"/>
                  </a:solidFill>
                  <a:latin typeface="Arimo"/>
                  <a:ea typeface="Arimo"/>
                  <a:cs typeface="Arimo"/>
                  <a:sym typeface="Arimo"/>
                </a:rPr>
                <a:t>19 principals chained,</a:t>
              </a:r>
              <a:endParaRPr/>
            </a:p>
            <a:p>
              <a:pPr indent="0" lvl="0" marL="0" marR="0" rtl="0" algn="ctr">
                <a:lnSpc>
                  <a:spcPct val="119958"/>
                </a:lnSpc>
                <a:spcBef>
                  <a:spcPts val="0"/>
                </a:spcBef>
                <a:spcAft>
                  <a:spcPts val="0"/>
                </a:spcAft>
                <a:buNone/>
              </a:pPr>
              <a:r>
                <a:rPr lang="en-US" sz="2400">
                  <a:solidFill>
                    <a:srgbClr val="CBD5E1"/>
                  </a:solidFill>
                  <a:latin typeface="Arimo"/>
                  <a:ea typeface="Arimo"/>
                  <a:cs typeface="Arimo"/>
                  <a:sym typeface="Arimo"/>
                </a:rPr>
                <a:t>LLMjacking + GPU hijack</a:t>
              </a:r>
              <a:endParaRPr/>
            </a:p>
          </p:txBody>
        </p:sp>
      </p:grpSp>
      <p:grpSp>
        <p:nvGrpSpPr>
          <p:cNvPr id="501" name="Google Shape;501;g3be80cdaba9_0_0"/>
          <p:cNvGrpSpPr/>
          <p:nvPr/>
        </p:nvGrpSpPr>
        <p:grpSpPr>
          <a:xfrm>
            <a:off x="115334" y="6030983"/>
            <a:ext cx="5729075" cy="3241698"/>
            <a:chOff x="115334" y="6030983"/>
            <a:chExt cx="5729075" cy="3241698"/>
          </a:xfrm>
        </p:grpSpPr>
        <p:sp>
          <p:nvSpPr>
            <p:cNvPr descr="/Users/tara/repos/ws-wrangling-identity-and-access-in-aws/powerpoint-working-dir/aws-icons/lambda.png" id="502" name="Google Shape;502;g3be80cdaba9_0_0"/>
            <p:cNvSpPr/>
            <p:nvPr/>
          </p:nvSpPr>
          <p:spPr>
            <a:xfrm>
              <a:off x="1761254" y="6713858"/>
              <a:ext cx="1097280" cy="1097280"/>
            </a:xfrm>
            <a:custGeom>
              <a:rect b="b" l="l" r="r" t="t"/>
              <a:pathLst>
                <a:path extrusionOk="0" h="1463040" w="1463040">
                  <a:moveTo>
                    <a:pt x="0" y="0"/>
                  </a:moveTo>
                  <a:lnTo>
                    <a:pt x="1463040" y="0"/>
                  </a:lnTo>
                  <a:lnTo>
                    <a:pt x="1463040" y="1463040"/>
                  </a:lnTo>
                  <a:lnTo>
                    <a:pt x="0" y="1463040"/>
                  </a:lnTo>
                  <a:lnTo>
                    <a:pt x="0" y="0"/>
                  </a:lnTo>
                  <a:close/>
                </a:path>
              </a:pathLst>
            </a:custGeom>
            <a:blipFill rotWithShape="1">
              <a:blip r:embed="rId16">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503" name="Google Shape;503;g3be80cdaba9_0_0"/>
            <p:cNvGrpSpPr/>
            <p:nvPr/>
          </p:nvGrpSpPr>
          <p:grpSpPr>
            <a:xfrm>
              <a:off x="115334" y="7957442"/>
              <a:ext cx="4389120" cy="512100"/>
              <a:chOff x="0" y="0"/>
              <a:chExt cx="5852160" cy="682800"/>
            </a:xfrm>
          </p:grpSpPr>
          <p:sp>
            <p:nvSpPr>
              <p:cNvPr id="504" name="Google Shape;504;g3be80cdaba9_0_0"/>
              <p:cNvSpPr/>
              <p:nvPr/>
            </p:nvSpPr>
            <p:spPr>
              <a:xfrm>
                <a:off x="0" y="0"/>
                <a:ext cx="5852160" cy="682752"/>
              </a:xfrm>
              <a:custGeom>
                <a:rect b="b" l="l" r="r" t="t"/>
                <a:pathLst>
                  <a:path extrusionOk="0" h="682752" w="5852160">
                    <a:moveTo>
                      <a:pt x="0" y="0"/>
                    </a:moveTo>
                    <a:lnTo>
                      <a:pt x="5852160" y="0"/>
                    </a:lnTo>
                    <a:lnTo>
                      <a:pt x="5852160" y="682752"/>
                    </a:lnTo>
                    <a:lnTo>
                      <a:pt x="0" y="682752"/>
                    </a:lnTo>
                    <a:close/>
                  </a:path>
                </a:pathLst>
              </a:custGeom>
              <a:blipFill rotWithShape="1">
                <a:blip r:embed="rId3">
                  <a:alphaModFix amt="0"/>
                </a:blip>
                <a:stretch>
                  <a:fillRect b="-117000" l="0" r="0" t="-1170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5" name="Google Shape;505;g3be80cdaba9_0_0"/>
              <p:cNvSpPr txBox="1"/>
              <p:nvPr/>
            </p:nvSpPr>
            <p:spPr>
              <a:xfrm>
                <a:off x="0" y="0"/>
                <a:ext cx="5852100" cy="6828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US" sz="3000">
                    <a:solidFill>
                      <a:srgbClr val="FFFFFF"/>
                    </a:solidFill>
                    <a:latin typeface="Montserrat"/>
                    <a:ea typeface="Montserrat"/>
                    <a:cs typeface="Montserrat"/>
                    <a:sym typeface="Montserrat"/>
                  </a:rPr>
                  <a:t>Lambda Injection</a:t>
                </a:r>
                <a:endParaRPr/>
              </a:p>
            </p:txBody>
          </p:sp>
        </p:grpSp>
        <p:sp>
          <p:nvSpPr>
            <p:cNvPr id="506" name="Google Shape;506;g3be80cdaba9_0_0"/>
            <p:cNvSpPr/>
            <p:nvPr/>
          </p:nvSpPr>
          <p:spPr>
            <a:xfrm rot="3598236">
              <a:off x="4737625" y="7911724"/>
              <a:ext cx="479283" cy="602871"/>
            </a:xfrm>
            <a:custGeom>
              <a:rect b="b" l="l" r="r" t="t"/>
              <a:pathLst>
                <a:path extrusionOk="0" h="603407" w="479709">
                  <a:moveTo>
                    <a:pt x="0" y="0"/>
                  </a:moveTo>
                  <a:lnTo>
                    <a:pt x="479709" y="0"/>
                  </a:lnTo>
                  <a:lnTo>
                    <a:pt x="479709" y="603407"/>
                  </a:lnTo>
                  <a:lnTo>
                    <a:pt x="0" y="603407"/>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Role resource icon for the IAM service." id="507" name="Google Shape;507;g3be80cdaba9_0_0"/>
            <p:cNvSpPr/>
            <p:nvPr/>
          </p:nvSpPr>
          <p:spPr>
            <a:xfrm>
              <a:off x="4653490" y="6030983"/>
              <a:ext cx="685800" cy="685800"/>
            </a:xfrm>
            <a:custGeom>
              <a:rect b="b" l="l" r="r" t="t"/>
              <a:pathLst>
                <a:path extrusionOk="0" h="685800" w="685800">
                  <a:moveTo>
                    <a:pt x="0" y="0"/>
                  </a:moveTo>
                  <a:lnTo>
                    <a:pt x="685800" y="0"/>
                  </a:lnTo>
                  <a:lnTo>
                    <a:pt x="685800" y="685800"/>
                  </a:lnTo>
                  <a:lnTo>
                    <a:pt x="0" y="685800"/>
                  </a:lnTo>
                  <a:lnTo>
                    <a:pt x="0" y="0"/>
                  </a:lnTo>
                  <a:close/>
                </a:path>
              </a:pathLst>
            </a:custGeom>
            <a:blipFill rotWithShape="1">
              <a:blip r:embed="rId10">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g3be80cdaba9_0_0"/>
            <p:cNvSpPr txBox="1"/>
            <p:nvPr/>
          </p:nvSpPr>
          <p:spPr>
            <a:xfrm>
              <a:off x="115334" y="8459981"/>
              <a:ext cx="4389000" cy="812700"/>
            </a:xfrm>
            <a:prstGeom prst="rect">
              <a:avLst/>
            </a:prstGeom>
            <a:noFill/>
            <a:ln>
              <a:noFill/>
            </a:ln>
          </p:spPr>
          <p:txBody>
            <a:bodyPr anchorCtr="0" anchor="t" bIns="0" lIns="0" spcFirstLastPara="1" rIns="0" wrap="square" tIns="0">
              <a:spAutoFit/>
            </a:bodyPr>
            <a:lstStyle/>
            <a:p>
              <a:pPr indent="0" lvl="0" marL="0" marR="0" rtl="0" algn="ctr">
                <a:lnSpc>
                  <a:spcPct val="119958"/>
                </a:lnSpc>
                <a:spcBef>
                  <a:spcPts val="0"/>
                </a:spcBef>
                <a:spcAft>
                  <a:spcPts val="0"/>
                </a:spcAft>
                <a:buNone/>
              </a:pPr>
              <a:r>
                <a:rPr lang="en-US" sz="2400">
                  <a:solidFill>
                    <a:srgbClr val="CBD5E1"/>
                  </a:solidFill>
                  <a:latin typeface="Arimo"/>
                  <a:ea typeface="Arimo"/>
                  <a:cs typeface="Arimo"/>
                  <a:sym typeface="Arimo"/>
                </a:rPr>
                <a:t>UpdateFunctionCode</a:t>
              </a:r>
              <a:endParaRPr/>
            </a:p>
            <a:p>
              <a:pPr indent="0" lvl="0" marL="0" marR="0" rtl="0" algn="ctr">
                <a:lnSpc>
                  <a:spcPct val="119958"/>
                </a:lnSpc>
                <a:spcBef>
                  <a:spcPts val="0"/>
                </a:spcBef>
                <a:spcAft>
                  <a:spcPts val="0"/>
                </a:spcAft>
                <a:buNone/>
              </a:pPr>
              <a:r>
                <a:rPr lang="en-US" sz="2400">
                  <a:solidFill>
                    <a:srgbClr val="CBD5E1"/>
                  </a:solidFill>
                  <a:latin typeface="Arimo"/>
                  <a:ea typeface="Arimo"/>
                  <a:cs typeface="Arimo"/>
                  <a:sym typeface="Arimo"/>
                </a:rPr>
                <a:t>on ‘EC2-init’ Lambda</a:t>
              </a:r>
              <a:endParaRPr/>
            </a:p>
          </p:txBody>
        </p:sp>
        <p:sp>
          <p:nvSpPr>
            <p:cNvPr id="509" name="Google Shape;509;g3be80cdaba9_0_0"/>
            <p:cNvSpPr txBox="1"/>
            <p:nvPr/>
          </p:nvSpPr>
          <p:spPr>
            <a:xfrm>
              <a:off x="4209109" y="6756043"/>
              <a:ext cx="1635300" cy="12744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1800">
                  <a:solidFill>
                    <a:srgbClr val="F59E0B"/>
                  </a:solidFill>
                  <a:latin typeface="Arial"/>
                  <a:ea typeface="Arial"/>
                  <a:cs typeface="Arial"/>
                  <a:sym typeface="Arial"/>
                </a:rPr>
                <a:t>Escalates privileges with Lambda Execution role</a:t>
              </a:r>
              <a:endParaRPr/>
            </a:p>
          </p:txBody>
        </p:sp>
      </p:grpSp>
      <p:grpSp>
        <p:nvGrpSpPr>
          <p:cNvPr id="510" name="Google Shape;510;g3be80cdaba9_0_0"/>
          <p:cNvGrpSpPr/>
          <p:nvPr/>
        </p:nvGrpSpPr>
        <p:grpSpPr>
          <a:xfrm>
            <a:off x="3687223" y="2047376"/>
            <a:ext cx="2246100" cy="1923161"/>
            <a:chOff x="3687223" y="2047376"/>
            <a:chExt cx="2246100" cy="1923161"/>
          </a:xfrm>
        </p:grpSpPr>
        <p:sp>
          <p:nvSpPr>
            <p:cNvPr id="511" name="Google Shape;511;g3be80cdaba9_0_0"/>
            <p:cNvSpPr/>
            <p:nvPr/>
          </p:nvSpPr>
          <p:spPr>
            <a:xfrm rot="3598236">
              <a:off x="4622291" y="3310775"/>
              <a:ext cx="479283" cy="602871"/>
            </a:xfrm>
            <a:custGeom>
              <a:rect b="b" l="l" r="r" t="t"/>
              <a:pathLst>
                <a:path extrusionOk="0" h="603407" w="479709">
                  <a:moveTo>
                    <a:pt x="0" y="0"/>
                  </a:moveTo>
                  <a:lnTo>
                    <a:pt x="479709" y="0"/>
                  </a:lnTo>
                  <a:lnTo>
                    <a:pt x="479709" y="603407"/>
                  </a:lnTo>
                  <a:lnTo>
                    <a:pt x="0" y="603407"/>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Authenticated user resource icon for the General Icons category." id="512" name="Google Shape;512;g3be80cdaba9_0_0"/>
            <p:cNvSpPr/>
            <p:nvPr/>
          </p:nvSpPr>
          <p:spPr>
            <a:xfrm>
              <a:off x="4518898" y="2047376"/>
              <a:ext cx="685800" cy="685800"/>
            </a:xfrm>
            <a:custGeom>
              <a:rect b="b" l="l" r="r" t="t"/>
              <a:pathLst>
                <a:path extrusionOk="0" h="685800" w="685800">
                  <a:moveTo>
                    <a:pt x="0" y="0"/>
                  </a:moveTo>
                  <a:lnTo>
                    <a:pt x="685800" y="0"/>
                  </a:lnTo>
                  <a:lnTo>
                    <a:pt x="685800" y="685800"/>
                  </a:lnTo>
                  <a:lnTo>
                    <a:pt x="0" y="685800"/>
                  </a:lnTo>
                  <a:lnTo>
                    <a:pt x="0" y="0"/>
                  </a:lnTo>
                  <a:close/>
                </a:path>
              </a:pathLst>
            </a:custGeom>
            <a:blipFill rotWithShape="1">
              <a:blip r:embed="rId17">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3" name="Google Shape;513;g3be80cdaba9_0_0"/>
            <p:cNvSpPr txBox="1"/>
            <p:nvPr/>
          </p:nvSpPr>
          <p:spPr>
            <a:xfrm>
              <a:off x="3687223" y="2817775"/>
              <a:ext cx="2246100" cy="609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1800">
                  <a:solidFill>
                    <a:srgbClr val="FFFFFF"/>
                  </a:solidFill>
                  <a:latin typeface="Arial"/>
                  <a:ea typeface="Arial"/>
                  <a:cs typeface="Arial"/>
                  <a:sym typeface="Arial"/>
                </a:rPr>
                <a:t>Authenticates as compromised user</a:t>
              </a:r>
              <a:endParaRPr/>
            </a:p>
          </p:txBody>
        </p:sp>
      </p:grpSp>
      <p:grpSp>
        <p:nvGrpSpPr>
          <p:cNvPr id="514" name="Google Shape;514;g3be80cdaba9_0_0"/>
          <p:cNvGrpSpPr/>
          <p:nvPr/>
        </p:nvGrpSpPr>
        <p:grpSpPr>
          <a:xfrm>
            <a:off x="9618470" y="6269422"/>
            <a:ext cx="2246100" cy="2416745"/>
            <a:chOff x="9618470" y="6269422"/>
            <a:chExt cx="2246100" cy="2416745"/>
          </a:xfrm>
        </p:grpSpPr>
        <p:sp>
          <p:nvSpPr>
            <p:cNvPr id="515" name="Google Shape;515;g3be80cdaba9_0_0"/>
            <p:cNvSpPr/>
            <p:nvPr/>
          </p:nvSpPr>
          <p:spPr>
            <a:xfrm rot="3598236">
              <a:off x="10460640" y="8026405"/>
              <a:ext cx="479283" cy="602871"/>
            </a:xfrm>
            <a:custGeom>
              <a:rect b="b" l="l" r="r" t="t"/>
              <a:pathLst>
                <a:path extrusionOk="0" h="603407" w="479709">
                  <a:moveTo>
                    <a:pt x="0" y="0"/>
                  </a:moveTo>
                  <a:lnTo>
                    <a:pt x="479708" y="0"/>
                  </a:lnTo>
                  <a:lnTo>
                    <a:pt x="479708" y="603407"/>
                  </a:lnTo>
                  <a:lnTo>
                    <a:pt x="0" y="603407"/>
                  </a:lnTo>
                  <a:lnTo>
                    <a:pt x="0" y="0"/>
                  </a:lnTo>
                  <a:close/>
                </a:path>
              </a:pathLst>
            </a:custGeom>
            <a:blipFill rotWithShape="1">
              <a:blip r:embed="rId11">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Authenticated user resource icon for the General Icons category." id="516" name="Google Shape;516;g3be80cdaba9_0_0"/>
            <p:cNvSpPr/>
            <p:nvPr/>
          </p:nvSpPr>
          <p:spPr>
            <a:xfrm>
              <a:off x="10395584" y="6269422"/>
              <a:ext cx="685800" cy="685800"/>
            </a:xfrm>
            <a:custGeom>
              <a:rect b="b" l="l" r="r" t="t"/>
              <a:pathLst>
                <a:path extrusionOk="0" h="685800" w="685800">
                  <a:moveTo>
                    <a:pt x="0" y="0"/>
                  </a:moveTo>
                  <a:lnTo>
                    <a:pt x="685800" y="0"/>
                  </a:lnTo>
                  <a:lnTo>
                    <a:pt x="685800" y="685800"/>
                  </a:lnTo>
                  <a:lnTo>
                    <a:pt x="0" y="685800"/>
                  </a:lnTo>
                  <a:lnTo>
                    <a:pt x="0" y="0"/>
                  </a:lnTo>
                  <a:close/>
                </a:path>
              </a:pathLst>
            </a:custGeom>
            <a:blipFill rotWithShape="1">
              <a:blip r:embed="rId18">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7" name="Google Shape;517;g3be80cdaba9_0_0"/>
            <p:cNvSpPr txBox="1"/>
            <p:nvPr/>
          </p:nvSpPr>
          <p:spPr>
            <a:xfrm>
              <a:off x="9618470" y="7099844"/>
              <a:ext cx="2246100" cy="9420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lang="en-US" sz="1800">
                  <a:solidFill>
                    <a:srgbClr val="DD344C"/>
                  </a:solidFill>
                  <a:latin typeface="Arial"/>
                  <a:ea typeface="Arial"/>
                  <a:cs typeface="Arial"/>
                  <a:sym typeface="Arial"/>
                </a:rPr>
                <a:t>Authenticates with new access key </a:t>
              </a:r>
              <a:endParaRPr/>
            </a:p>
            <a:p>
              <a:pPr indent="0" lvl="0" marL="0" marR="0" rtl="0" algn="ctr">
                <a:lnSpc>
                  <a:spcPct val="120000"/>
                </a:lnSpc>
                <a:spcBef>
                  <a:spcPts val="0"/>
                </a:spcBef>
                <a:spcAft>
                  <a:spcPts val="0"/>
                </a:spcAft>
                <a:buNone/>
              </a:pPr>
              <a:r>
                <a:rPr lang="en-US" sz="1800">
                  <a:solidFill>
                    <a:srgbClr val="DD344C"/>
                  </a:solidFill>
                  <a:latin typeface="Arial"/>
                  <a:ea typeface="Arial"/>
                  <a:cs typeface="Arial"/>
                  <a:sym typeface="Arial"/>
                </a:rPr>
                <a:t>as ‘frick’ user</a:t>
              </a:r>
              <a:endParaRPr/>
            </a:p>
          </p:txBody>
        </p:sp>
      </p:grpSp>
      <p:sp>
        <p:nvSpPr>
          <p:cNvPr id="518" name="Google Shape;518;g3be80cdaba9_0_0"/>
          <p:cNvSpPr/>
          <p:nvPr/>
        </p:nvSpPr>
        <p:spPr>
          <a:xfrm>
            <a:off x="1841375" y="3833400"/>
            <a:ext cx="5263800" cy="22746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2600">
                <a:latin typeface="Calibri"/>
                <a:ea typeface="Calibri"/>
                <a:cs typeface="Calibri"/>
                <a:sym typeface="Calibri"/>
              </a:rPr>
              <a:t>Possible Defenses:</a:t>
            </a:r>
            <a:endParaRPr b="1" sz="2600">
              <a:latin typeface="Calibri"/>
              <a:ea typeface="Calibri"/>
              <a:cs typeface="Calibri"/>
              <a:sym typeface="Calibri"/>
            </a:endParaRPr>
          </a:p>
          <a:p>
            <a:pPr indent="-393700" lvl="0" marL="457200" rtl="0" algn="l">
              <a:spcBef>
                <a:spcPts val="0"/>
              </a:spcBef>
              <a:spcAft>
                <a:spcPts val="0"/>
              </a:spcAft>
              <a:buSzPts val="2600"/>
              <a:buFont typeface="Calibri"/>
              <a:buChar char="●"/>
            </a:pPr>
            <a:r>
              <a:rPr b="1" lang="en-US" sz="2600">
                <a:latin typeface="Calibri"/>
                <a:ea typeface="Calibri"/>
                <a:cs typeface="Calibri"/>
                <a:sym typeface="Calibri"/>
              </a:rPr>
              <a:t>properly configured resource policy on bucket</a:t>
            </a:r>
            <a:endParaRPr b="1" sz="2600">
              <a:latin typeface="Calibri"/>
              <a:ea typeface="Calibri"/>
              <a:cs typeface="Calibri"/>
              <a:sym typeface="Calibri"/>
            </a:endParaRPr>
          </a:p>
          <a:p>
            <a:pPr indent="-393700" lvl="0" marL="457200" rtl="0" algn="l">
              <a:spcBef>
                <a:spcPts val="0"/>
              </a:spcBef>
              <a:spcAft>
                <a:spcPts val="0"/>
              </a:spcAft>
              <a:buSzPts val="2600"/>
              <a:buFont typeface="Calibri"/>
              <a:buChar char="●"/>
            </a:pPr>
            <a:r>
              <a:rPr b="1" lang="en-US" sz="2600">
                <a:latin typeface="Calibri"/>
                <a:ea typeface="Calibri"/>
                <a:cs typeface="Calibri"/>
                <a:sym typeface="Calibri"/>
              </a:rPr>
              <a:t>Don’t store AWS creds in buckets in plain text</a:t>
            </a:r>
            <a:endParaRPr b="1" sz="26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519" name="Google Shape;519;g3be80cdaba9_0_0"/>
          <p:cNvSpPr/>
          <p:nvPr/>
        </p:nvSpPr>
        <p:spPr>
          <a:xfrm>
            <a:off x="3507600" y="6340500"/>
            <a:ext cx="4776900" cy="28860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2600">
                <a:latin typeface="Calibri"/>
                <a:ea typeface="Calibri"/>
                <a:cs typeface="Calibri"/>
                <a:sym typeface="Calibri"/>
              </a:rPr>
              <a:t>Possible Defenses:</a:t>
            </a:r>
            <a:endParaRPr b="1" sz="2600">
              <a:latin typeface="Calibri"/>
              <a:ea typeface="Calibri"/>
              <a:cs typeface="Calibri"/>
              <a:sym typeface="Calibri"/>
            </a:endParaRPr>
          </a:p>
          <a:p>
            <a:pPr indent="-393700" lvl="0" marL="457200" rtl="0" algn="l">
              <a:spcBef>
                <a:spcPts val="0"/>
              </a:spcBef>
              <a:spcAft>
                <a:spcPts val="0"/>
              </a:spcAft>
              <a:buSzPts val="2600"/>
              <a:buFont typeface="Calibri"/>
              <a:buChar char="●"/>
            </a:pPr>
            <a:r>
              <a:rPr b="1" lang="en-US" sz="2600">
                <a:latin typeface="Calibri"/>
                <a:ea typeface="Calibri"/>
                <a:cs typeface="Calibri"/>
                <a:sym typeface="Calibri"/>
              </a:rPr>
              <a:t>Identity policy restricting ability to update function code</a:t>
            </a:r>
            <a:endParaRPr b="1" sz="2600">
              <a:latin typeface="Calibri"/>
              <a:ea typeface="Calibri"/>
              <a:cs typeface="Calibri"/>
              <a:sym typeface="Calibri"/>
            </a:endParaRPr>
          </a:p>
          <a:p>
            <a:pPr indent="-393700" lvl="0" marL="457200" rtl="0" algn="l">
              <a:spcBef>
                <a:spcPts val="0"/>
              </a:spcBef>
              <a:spcAft>
                <a:spcPts val="0"/>
              </a:spcAft>
              <a:buSzPts val="2600"/>
              <a:buFont typeface="Calibri"/>
              <a:buChar char="●"/>
            </a:pPr>
            <a:r>
              <a:rPr b="1" lang="en-US" sz="2600">
                <a:latin typeface="Calibri"/>
                <a:ea typeface="Calibri"/>
                <a:cs typeface="Calibri"/>
                <a:sym typeface="Calibri"/>
              </a:rPr>
              <a:t>Condition key limiting context from which Lambda code can be updated</a:t>
            </a:r>
            <a:endParaRPr b="1" sz="2600">
              <a:latin typeface="Calibri"/>
              <a:ea typeface="Calibri"/>
              <a:cs typeface="Calibri"/>
              <a:sym typeface="Calibri"/>
            </a:endParaRPr>
          </a:p>
        </p:txBody>
      </p:sp>
      <p:sp>
        <p:nvSpPr>
          <p:cNvPr id="520" name="Google Shape;520;g3be80cdaba9_0_0"/>
          <p:cNvSpPr/>
          <p:nvPr/>
        </p:nvSpPr>
        <p:spPr>
          <a:xfrm>
            <a:off x="8771400" y="6098525"/>
            <a:ext cx="5365800" cy="31752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2600">
                <a:latin typeface="Calibri"/>
                <a:ea typeface="Calibri"/>
                <a:cs typeface="Calibri"/>
                <a:sym typeface="Calibri"/>
              </a:rPr>
              <a:t>Possible Defenses:</a:t>
            </a:r>
            <a:endParaRPr b="1" sz="2600">
              <a:latin typeface="Calibri"/>
              <a:ea typeface="Calibri"/>
              <a:cs typeface="Calibri"/>
              <a:sym typeface="Calibri"/>
            </a:endParaRPr>
          </a:p>
          <a:p>
            <a:pPr indent="-393700" lvl="0" marL="457200" rtl="0" algn="l">
              <a:spcBef>
                <a:spcPts val="0"/>
              </a:spcBef>
              <a:spcAft>
                <a:spcPts val="0"/>
              </a:spcAft>
              <a:buSzPts val="2600"/>
              <a:buFont typeface="Calibri"/>
              <a:buChar char="●"/>
            </a:pPr>
            <a:r>
              <a:rPr b="1" lang="en-US" sz="2600">
                <a:latin typeface="Calibri"/>
                <a:ea typeface="Calibri"/>
                <a:cs typeface="Calibri"/>
                <a:sym typeface="Calibri"/>
              </a:rPr>
              <a:t>Don’t leave old IAM Users laying </a:t>
            </a:r>
            <a:r>
              <a:rPr b="1" lang="en-US" sz="2600">
                <a:latin typeface="Calibri"/>
                <a:ea typeface="Calibri"/>
                <a:cs typeface="Calibri"/>
                <a:sym typeface="Calibri"/>
              </a:rPr>
              <a:t>around</a:t>
            </a:r>
            <a:endParaRPr b="1" sz="2600">
              <a:latin typeface="Calibri"/>
              <a:ea typeface="Calibri"/>
              <a:cs typeface="Calibri"/>
              <a:sym typeface="Calibri"/>
            </a:endParaRPr>
          </a:p>
          <a:p>
            <a:pPr indent="-393700" lvl="0" marL="457200" rtl="0" algn="l">
              <a:spcBef>
                <a:spcPts val="0"/>
              </a:spcBef>
              <a:spcAft>
                <a:spcPts val="0"/>
              </a:spcAft>
              <a:buSzPts val="2600"/>
              <a:buFont typeface="Calibri"/>
              <a:buChar char="●"/>
            </a:pPr>
            <a:r>
              <a:rPr b="1" lang="en-US" sz="2600">
                <a:latin typeface="Calibri"/>
                <a:ea typeface="Calibri"/>
                <a:cs typeface="Calibri"/>
                <a:sym typeface="Calibri"/>
              </a:rPr>
              <a:t>better scope lambda role permissions</a:t>
            </a:r>
            <a:endParaRPr b="1" sz="2600">
              <a:latin typeface="Calibri"/>
              <a:ea typeface="Calibri"/>
              <a:cs typeface="Calibri"/>
              <a:sym typeface="Calibri"/>
            </a:endParaRPr>
          </a:p>
          <a:p>
            <a:pPr indent="-393700" lvl="0" marL="457200" rtl="0" algn="l">
              <a:spcBef>
                <a:spcPts val="0"/>
              </a:spcBef>
              <a:spcAft>
                <a:spcPts val="0"/>
              </a:spcAft>
              <a:buSzPts val="2600"/>
              <a:buFont typeface="Calibri"/>
              <a:buChar char="●"/>
            </a:pPr>
            <a:r>
              <a:rPr b="1" lang="en-US" sz="2600">
                <a:latin typeface="Calibri"/>
                <a:ea typeface="Calibri"/>
                <a:cs typeface="Calibri"/>
                <a:sym typeface="Calibri"/>
              </a:rPr>
              <a:t>permissions boundary on IAM users</a:t>
            </a:r>
            <a:endParaRPr b="1" sz="26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
        <p:nvSpPr>
          <p:cNvPr id="521" name="Google Shape;521;g3be80cdaba9_0_0"/>
          <p:cNvSpPr/>
          <p:nvPr/>
        </p:nvSpPr>
        <p:spPr>
          <a:xfrm>
            <a:off x="12908925" y="5118075"/>
            <a:ext cx="5263800" cy="22746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en-US" sz="2600">
                <a:latin typeface="Calibri"/>
                <a:ea typeface="Calibri"/>
                <a:cs typeface="Calibri"/>
                <a:sym typeface="Calibri"/>
              </a:rPr>
              <a:t>Possible Defenses:</a:t>
            </a:r>
            <a:endParaRPr b="1" sz="2600">
              <a:latin typeface="Calibri"/>
              <a:ea typeface="Calibri"/>
              <a:cs typeface="Calibri"/>
              <a:sym typeface="Calibri"/>
            </a:endParaRPr>
          </a:p>
          <a:p>
            <a:pPr indent="-393700" lvl="0" marL="457200" rtl="0" algn="l">
              <a:spcBef>
                <a:spcPts val="0"/>
              </a:spcBef>
              <a:spcAft>
                <a:spcPts val="0"/>
              </a:spcAft>
              <a:buSzPts val="2600"/>
              <a:buFont typeface="Calibri"/>
              <a:buChar char="●"/>
            </a:pPr>
            <a:r>
              <a:rPr b="1" lang="en-US" sz="2600">
                <a:latin typeface="Calibri"/>
                <a:ea typeface="Calibri"/>
                <a:cs typeface="Calibri"/>
                <a:sym typeface="Calibri"/>
              </a:rPr>
              <a:t>SCP stopping account from accessing Bedrock and/or GPU resources</a:t>
            </a:r>
            <a:endParaRPr b="1" sz="2600">
              <a:latin typeface="Calibri"/>
              <a:ea typeface="Calibri"/>
              <a:cs typeface="Calibri"/>
              <a:sym typeface="Calibri"/>
            </a:endParaRPr>
          </a:p>
          <a:p>
            <a:pPr indent="0" lvl="0" marL="0" rtl="0" algn="l">
              <a:spcBef>
                <a:spcPts val="0"/>
              </a:spcBef>
              <a:spcAft>
                <a:spcPts val="0"/>
              </a:spcAft>
              <a:buNone/>
            </a:pPr>
            <a:r>
              <a:t/>
            </a:r>
            <a:endParaRPr>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14"/>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sp>
      <p:grpSp>
        <p:nvGrpSpPr>
          <p:cNvPr id="531" name="Google Shape;531;p14"/>
          <p:cNvGrpSpPr/>
          <p:nvPr/>
        </p:nvGrpSpPr>
        <p:grpSpPr>
          <a:xfrm>
            <a:off x="3702759" y="2733584"/>
            <a:ext cx="10687217" cy="3736181"/>
            <a:chOff x="0" y="-104775"/>
            <a:chExt cx="14249623" cy="4981575"/>
          </a:xfrm>
        </p:grpSpPr>
        <p:sp>
          <p:nvSpPr>
            <p:cNvPr id="532" name="Google Shape;532;p14"/>
            <p:cNvSpPr/>
            <p:nvPr/>
          </p:nvSpPr>
          <p:spPr>
            <a:xfrm>
              <a:off x="0" y="0"/>
              <a:ext cx="14249623" cy="4876800"/>
            </a:xfrm>
            <a:custGeom>
              <a:rect b="b" l="l" r="r" t="t"/>
              <a:pathLst>
                <a:path extrusionOk="0" h="4876800" w="14249623">
                  <a:moveTo>
                    <a:pt x="0" y="0"/>
                  </a:moveTo>
                  <a:lnTo>
                    <a:pt x="14249623" y="0"/>
                  </a:lnTo>
                  <a:lnTo>
                    <a:pt x="14249623" y="4876800"/>
                  </a:lnTo>
                  <a:lnTo>
                    <a:pt x="0" y="4876800"/>
                  </a:lnTo>
                  <a:close/>
                </a:path>
              </a:pathLst>
            </a:custGeom>
            <a:blipFill rotWithShape="1">
              <a:blip r:embed="rId4">
                <a:alphaModFix amt="0"/>
              </a:blip>
              <a:stretch>
                <a:fillRect b="-32806" l="0" r="-45448" t="-32808"/>
              </a:stretch>
            </a:blipFill>
            <a:ln>
              <a:noFill/>
            </a:ln>
          </p:spPr>
        </p:sp>
        <p:sp>
          <p:nvSpPr>
            <p:cNvPr id="533" name="Google Shape;533;p14"/>
            <p:cNvSpPr txBox="1"/>
            <p:nvPr/>
          </p:nvSpPr>
          <p:spPr>
            <a:xfrm>
              <a:off x="0" y="-104775"/>
              <a:ext cx="14249623" cy="4981575"/>
            </a:xfrm>
            <a:prstGeom prst="rect">
              <a:avLst/>
            </a:prstGeom>
            <a:noFill/>
            <a:ln>
              <a:noFill/>
            </a:ln>
          </p:spPr>
          <p:txBody>
            <a:bodyPr anchorCtr="0" anchor="ctr" bIns="0" lIns="0" spcFirstLastPara="1" rIns="0" wrap="square" tIns="0">
              <a:noAutofit/>
            </a:bodyPr>
            <a:lstStyle/>
            <a:p>
              <a:pPr indent="0" lvl="0" marL="0" marR="0" rtl="0" algn="ctr">
                <a:lnSpc>
                  <a:spcPct val="132000"/>
                </a:lnSpc>
                <a:spcBef>
                  <a:spcPts val="0"/>
                </a:spcBef>
                <a:spcAft>
                  <a:spcPts val="0"/>
                </a:spcAft>
                <a:buNone/>
              </a:pPr>
              <a:r>
                <a:rPr b="1" i="0" lang="en-US" sz="9600" u="none" cap="none" strike="noStrike">
                  <a:solidFill>
                    <a:srgbClr val="FFFFFF"/>
                  </a:solidFill>
                  <a:latin typeface="Montserrat"/>
                  <a:ea typeface="Montserrat"/>
                  <a:cs typeface="Montserrat"/>
                  <a:sym typeface="Montserrat"/>
                </a:rPr>
                <a:t>Policy validation</a:t>
              </a:r>
              <a:endParaRPr/>
            </a:p>
          </p:txBody>
        </p:sp>
      </p:grpSp>
      <p:grpSp>
        <p:nvGrpSpPr>
          <p:cNvPr id="534" name="Google Shape;534;p14"/>
          <p:cNvGrpSpPr/>
          <p:nvPr/>
        </p:nvGrpSpPr>
        <p:grpSpPr>
          <a:xfrm>
            <a:off x="2188367" y="5481843"/>
            <a:ext cx="13716000" cy="987922"/>
            <a:chOff x="0" y="-19050"/>
            <a:chExt cx="18288000" cy="1317228"/>
          </a:xfrm>
        </p:grpSpPr>
        <p:sp>
          <p:nvSpPr>
            <p:cNvPr id="535" name="Google Shape;535;p14"/>
            <p:cNvSpPr/>
            <p:nvPr/>
          </p:nvSpPr>
          <p:spPr>
            <a:xfrm>
              <a:off x="0" y="0"/>
              <a:ext cx="18288000" cy="1298178"/>
            </a:xfrm>
            <a:custGeom>
              <a:rect b="b" l="l" r="r" t="t"/>
              <a:pathLst>
                <a:path extrusionOk="0" h="1298178" w="18288000">
                  <a:moveTo>
                    <a:pt x="0" y="0"/>
                  </a:moveTo>
                  <a:lnTo>
                    <a:pt x="18288000" y="0"/>
                  </a:lnTo>
                  <a:lnTo>
                    <a:pt x="18288000" y="1298178"/>
                  </a:lnTo>
                  <a:lnTo>
                    <a:pt x="0" y="1298178"/>
                  </a:lnTo>
                  <a:close/>
                </a:path>
              </a:pathLst>
            </a:custGeom>
            <a:blipFill rotWithShape="1">
              <a:blip r:embed="rId4">
                <a:alphaModFix amt="0"/>
              </a:blip>
              <a:stretch>
                <a:fillRect b="-240209" l="0" r="0" t="-208728"/>
              </a:stretch>
            </a:blipFill>
            <a:ln>
              <a:noFill/>
            </a:ln>
          </p:spPr>
        </p:sp>
        <p:sp>
          <p:nvSpPr>
            <p:cNvPr id="536" name="Google Shape;536;p14"/>
            <p:cNvSpPr txBox="1"/>
            <p:nvPr/>
          </p:nvSpPr>
          <p:spPr>
            <a:xfrm>
              <a:off x="0" y="-19050"/>
              <a:ext cx="18288000" cy="1317228"/>
            </a:xfrm>
            <a:prstGeom prst="rect">
              <a:avLst/>
            </a:prstGeom>
            <a:noFill/>
            <a:ln>
              <a:noFill/>
            </a:ln>
          </p:spPr>
          <p:txBody>
            <a:bodyPr anchorCtr="0" anchor="ctr" bIns="0" lIns="0" spcFirstLastPara="1" rIns="0" wrap="square" tIns="0">
              <a:noAutofit/>
            </a:bodyPr>
            <a:lstStyle/>
            <a:p>
              <a:pPr indent="0" lvl="0" marL="0" marR="0" rtl="0" algn="l">
                <a:lnSpc>
                  <a:spcPct val="119979"/>
                </a:lnSpc>
                <a:spcBef>
                  <a:spcPts val="0"/>
                </a:spcBef>
                <a:spcAft>
                  <a:spcPts val="0"/>
                </a:spcAft>
                <a:buNone/>
              </a:pPr>
              <a:r>
                <a:rPr b="0" i="0" lang="en-US" sz="4800" u="none" cap="none" strike="noStrike">
                  <a:solidFill>
                    <a:srgbClr val="22D3EE"/>
                  </a:solidFill>
                  <a:latin typeface="Arimo"/>
                  <a:ea typeface="Arimo"/>
                  <a:cs typeface="Arimo"/>
                  <a:sym typeface="Arimo"/>
                </a:rPr>
                <a:t>The never ending quest for well scoped policies</a:t>
              </a:r>
              <a:endParaRPr/>
            </a:p>
          </p:txBody>
        </p:sp>
      </p:grpSp>
      <p:sp>
        <p:nvSpPr>
          <p:cNvPr id="537" name="Google Shape;537;p14"/>
          <p:cNvSpPr/>
          <p:nvPr/>
        </p:nvSpPr>
        <p:spPr>
          <a:xfrm>
            <a:off x="13446537" y="4740259"/>
            <a:ext cx="5617329" cy="6757690"/>
          </a:xfrm>
          <a:custGeom>
            <a:rect b="b" l="l" r="r" t="t"/>
            <a:pathLst>
              <a:path extrusionOk="0" h="6757690" w="5617329">
                <a:moveTo>
                  <a:pt x="0" y="0"/>
                </a:moveTo>
                <a:lnTo>
                  <a:pt x="5617330" y="0"/>
                </a:lnTo>
                <a:lnTo>
                  <a:pt x="5617330" y="6757690"/>
                </a:lnTo>
                <a:lnTo>
                  <a:pt x="0" y="6757690"/>
                </a:lnTo>
                <a:lnTo>
                  <a:pt x="0" y="0"/>
                </a:lnTo>
                <a:close/>
              </a:path>
            </a:pathLst>
          </a:custGeom>
          <a:blipFill rotWithShape="1">
            <a:blip r:embed="rId5">
              <a:alphaModFix/>
            </a:blip>
            <a:stretch>
              <a:fillRect b="0" l="0" r="0" t="0"/>
            </a:stretch>
          </a:blipFill>
          <a:ln>
            <a:noFill/>
          </a:ln>
        </p:spPr>
      </p:sp>
      <p:sp>
        <p:nvSpPr>
          <p:cNvPr id="538" name="Google Shape;538;p14"/>
          <p:cNvSpPr/>
          <p:nvPr/>
        </p:nvSpPr>
        <p:spPr>
          <a:xfrm>
            <a:off x="11863368" y="6766806"/>
            <a:ext cx="3450263" cy="4150692"/>
          </a:xfrm>
          <a:custGeom>
            <a:rect b="b" l="l" r="r" t="t"/>
            <a:pathLst>
              <a:path extrusionOk="0" h="4150692" w="3450263">
                <a:moveTo>
                  <a:pt x="0" y="0"/>
                </a:moveTo>
                <a:lnTo>
                  <a:pt x="3450263" y="0"/>
                </a:lnTo>
                <a:lnTo>
                  <a:pt x="3450263" y="4150692"/>
                </a:lnTo>
                <a:lnTo>
                  <a:pt x="0" y="415069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sp>
      <p:grpSp>
        <p:nvGrpSpPr>
          <p:cNvPr id="548" name="Google Shape;548;p15"/>
          <p:cNvGrpSpPr/>
          <p:nvPr/>
        </p:nvGrpSpPr>
        <p:grpSpPr>
          <a:xfrm>
            <a:off x="914400" y="182880"/>
            <a:ext cx="16459200" cy="1188720"/>
            <a:chOff x="0" y="0"/>
            <a:chExt cx="21945600" cy="1584960"/>
          </a:xfrm>
        </p:grpSpPr>
        <p:sp>
          <p:nvSpPr>
            <p:cNvPr id="549" name="Google Shape;549;p15"/>
            <p:cNvSpPr/>
            <p:nvPr/>
          </p:nvSpPr>
          <p:spPr>
            <a:xfrm>
              <a:off x="0" y="0"/>
              <a:ext cx="21945600" cy="1584960"/>
            </a:xfrm>
            <a:custGeom>
              <a:rect b="b" l="l" r="r" t="t"/>
              <a:pathLst>
                <a:path extrusionOk="0" h="1584960" w="21945600">
                  <a:moveTo>
                    <a:pt x="0" y="0"/>
                  </a:moveTo>
                  <a:lnTo>
                    <a:pt x="21945600" y="0"/>
                  </a:lnTo>
                  <a:lnTo>
                    <a:pt x="21945600" y="1584960"/>
                  </a:lnTo>
                  <a:lnTo>
                    <a:pt x="0" y="1584960"/>
                  </a:lnTo>
                  <a:close/>
                </a:path>
              </a:pathLst>
            </a:custGeom>
            <a:blipFill rotWithShape="1">
              <a:blip r:embed="rId4">
                <a:alphaModFix amt="0"/>
              </a:blip>
              <a:stretch>
                <a:fillRect b="-219774" l="0" r="0" t="-219774"/>
              </a:stretch>
            </a:blipFill>
            <a:ln>
              <a:noFill/>
            </a:ln>
          </p:spPr>
        </p:sp>
        <p:sp>
          <p:nvSpPr>
            <p:cNvPr id="550" name="Google Shape;550;p15"/>
            <p:cNvSpPr txBox="1"/>
            <p:nvPr/>
          </p:nvSpPr>
          <p:spPr>
            <a:xfrm>
              <a:off x="0" y="0"/>
              <a:ext cx="21945600" cy="1584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7600" u="none" cap="none" strike="noStrike">
                  <a:solidFill>
                    <a:srgbClr val="FFFFFF"/>
                  </a:solidFill>
                  <a:latin typeface="Montserrat"/>
                  <a:ea typeface="Montserrat"/>
                  <a:cs typeface="Montserrat"/>
                  <a:sym typeface="Montserrat"/>
                </a:rPr>
                <a:t>IAM Policy Simulator</a:t>
              </a:r>
              <a:endParaRPr/>
            </a:p>
          </p:txBody>
        </p:sp>
      </p:grpSp>
      <p:grpSp>
        <p:nvGrpSpPr>
          <p:cNvPr id="551" name="Google Shape;551;p15"/>
          <p:cNvGrpSpPr/>
          <p:nvPr/>
        </p:nvGrpSpPr>
        <p:grpSpPr>
          <a:xfrm>
            <a:off x="914400" y="1533049"/>
            <a:ext cx="16459200" cy="1159470"/>
            <a:chOff x="0" y="-28575"/>
            <a:chExt cx="21945600" cy="1545960"/>
          </a:xfrm>
        </p:grpSpPr>
        <p:sp>
          <p:nvSpPr>
            <p:cNvPr id="552" name="Google Shape;552;p15"/>
            <p:cNvSpPr/>
            <p:nvPr/>
          </p:nvSpPr>
          <p:spPr>
            <a:xfrm>
              <a:off x="0" y="0"/>
              <a:ext cx="21945600" cy="1517385"/>
            </a:xfrm>
            <a:custGeom>
              <a:rect b="b" l="l" r="r" t="t"/>
              <a:pathLst>
                <a:path extrusionOk="0" h="1517385" w="21945600">
                  <a:moveTo>
                    <a:pt x="0" y="0"/>
                  </a:moveTo>
                  <a:lnTo>
                    <a:pt x="21945600" y="0"/>
                  </a:lnTo>
                  <a:lnTo>
                    <a:pt x="21945600" y="1517385"/>
                  </a:lnTo>
                  <a:lnTo>
                    <a:pt x="0" y="1517385"/>
                  </a:lnTo>
                  <a:close/>
                </a:path>
              </a:pathLst>
            </a:custGeom>
            <a:blipFill rotWithShape="1">
              <a:blip r:embed="rId4">
                <a:alphaModFix amt="0"/>
              </a:blip>
              <a:stretch>
                <a:fillRect b="-221962" l="0" r="0" t="-241608"/>
              </a:stretch>
            </a:blipFill>
            <a:ln>
              <a:noFill/>
            </a:ln>
          </p:spPr>
        </p:sp>
        <p:sp>
          <p:nvSpPr>
            <p:cNvPr id="553" name="Google Shape;553;p15"/>
            <p:cNvSpPr txBox="1"/>
            <p:nvPr/>
          </p:nvSpPr>
          <p:spPr>
            <a:xfrm>
              <a:off x="0" y="-28575"/>
              <a:ext cx="21945600" cy="1545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200" u="none" cap="none" strike="noStrike">
                  <a:solidFill>
                    <a:srgbClr val="CBD5E1"/>
                  </a:solidFill>
                  <a:latin typeface="Arimo"/>
                  <a:ea typeface="Arimo"/>
                  <a:cs typeface="Arimo"/>
                  <a:sym typeface="Arimo"/>
                </a:rPr>
                <a:t>Test before you deploy — simulate API calls against any principal's policies without making real requests.</a:t>
              </a:r>
              <a:endParaRPr/>
            </a:p>
          </p:txBody>
        </p:sp>
      </p:grpSp>
      <p:grpSp>
        <p:nvGrpSpPr>
          <p:cNvPr id="554" name="Google Shape;554;p15"/>
          <p:cNvGrpSpPr/>
          <p:nvPr/>
        </p:nvGrpSpPr>
        <p:grpSpPr>
          <a:xfrm>
            <a:off x="914400" y="2487673"/>
            <a:ext cx="5120640" cy="1554480"/>
            <a:chOff x="0" y="0"/>
            <a:chExt cx="6827520" cy="2072640"/>
          </a:xfrm>
        </p:grpSpPr>
        <p:sp>
          <p:nvSpPr>
            <p:cNvPr id="555" name="Google Shape;555;p15"/>
            <p:cNvSpPr/>
            <p:nvPr/>
          </p:nvSpPr>
          <p:spPr>
            <a:xfrm>
              <a:off x="0" y="0"/>
              <a:ext cx="6827520" cy="2072640"/>
            </a:xfrm>
            <a:custGeom>
              <a:rect b="b" l="l" r="r" t="t"/>
              <a:pathLst>
                <a:path extrusionOk="0" h="2072640" w="6827520">
                  <a:moveTo>
                    <a:pt x="0" y="0"/>
                  </a:moveTo>
                  <a:lnTo>
                    <a:pt x="6827520" y="0"/>
                  </a:lnTo>
                  <a:lnTo>
                    <a:pt x="6827520" y="2072640"/>
                  </a:lnTo>
                  <a:lnTo>
                    <a:pt x="0" y="2072640"/>
                  </a:lnTo>
                  <a:close/>
                </a:path>
              </a:pathLst>
            </a:custGeom>
            <a:blipFill rotWithShape="1">
              <a:blip r:embed="rId4">
                <a:alphaModFix amt="0"/>
              </a:blip>
              <a:stretch>
                <a:fillRect b="-14183" l="0" r="0" t="-14184"/>
              </a:stretch>
            </a:blipFill>
            <a:ln>
              <a:noFill/>
            </a:ln>
          </p:spPr>
        </p:sp>
        <p:sp>
          <p:nvSpPr>
            <p:cNvPr id="556" name="Google Shape;556;p15"/>
            <p:cNvSpPr txBox="1"/>
            <p:nvPr/>
          </p:nvSpPr>
          <p:spPr>
            <a:xfrm>
              <a:off x="0" y="0"/>
              <a:ext cx="6827520" cy="2072640"/>
            </a:xfrm>
            <a:prstGeom prst="rect">
              <a:avLst/>
            </a:prstGeom>
            <a:noFill/>
            <a:ln>
              <a:noFill/>
            </a:ln>
          </p:spPr>
          <p:txBody>
            <a:bodyPr anchorCtr="0" anchor="ctr" bIns="0" lIns="0" spcFirstLastPara="1" rIns="0" wrap="square" tIns="0">
              <a:noAutofit/>
            </a:bodyPr>
            <a:lstStyle/>
            <a:p>
              <a:pPr indent="0" lvl="0" marL="0" marR="0" rtl="0" algn="l">
                <a:lnSpc>
                  <a:spcPct val="119970"/>
                </a:lnSpc>
                <a:spcBef>
                  <a:spcPts val="0"/>
                </a:spcBef>
                <a:spcAft>
                  <a:spcPts val="0"/>
                </a:spcAft>
                <a:buNone/>
              </a:pPr>
              <a:r>
                <a:rPr b="1" i="0" lang="en-US" sz="3400" u="none" cap="none" strike="noStrike">
                  <a:solidFill>
                    <a:srgbClr val="FFFFFF"/>
                  </a:solidFill>
                  <a:latin typeface="Montserrat"/>
                  <a:ea typeface="Montserrat"/>
                  <a:cs typeface="Montserrat"/>
                  <a:sym typeface="Montserrat"/>
                </a:rPr>
                <a:t>Test identity policies</a:t>
              </a:r>
              <a:endParaRPr/>
            </a:p>
          </p:txBody>
        </p:sp>
      </p:grpSp>
      <p:grpSp>
        <p:nvGrpSpPr>
          <p:cNvPr id="557" name="Google Shape;557;p15"/>
          <p:cNvGrpSpPr/>
          <p:nvPr/>
        </p:nvGrpSpPr>
        <p:grpSpPr>
          <a:xfrm>
            <a:off x="914400" y="3440934"/>
            <a:ext cx="7641974" cy="1568767"/>
            <a:chOff x="0" y="-19050"/>
            <a:chExt cx="10189298" cy="2091690"/>
          </a:xfrm>
        </p:grpSpPr>
        <p:sp>
          <p:nvSpPr>
            <p:cNvPr id="558" name="Google Shape;558;p15"/>
            <p:cNvSpPr/>
            <p:nvPr/>
          </p:nvSpPr>
          <p:spPr>
            <a:xfrm>
              <a:off x="0" y="0"/>
              <a:ext cx="10189298" cy="2072640"/>
            </a:xfrm>
            <a:custGeom>
              <a:rect b="b" l="l" r="r" t="t"/>
              <a:pathLst>
                <a:path extrusionOk="0" h="2072640" w="10189298">
                  <a:moveTo>
                    <a:pt x="0" y="0"/>
                  </a:moveTo>
                  <a:lnTo>
                    <a:pt x="10189298" y="0"/>
                  </a:lnTo>
                  <a:lnTo>
                    <a:pt x="10189298" y="2072640"/>
                  </a:lnTo>
                  <a:lnTo>
                    <a:pt x="0" y="2072640"/>
                  </a:lnTo>
                  <a:close/>
                </a:path>
              </a:pathLst>
            </a:custGeom>
            <a:blipFill rotWithShape="1">
              <a:blip r:embed="rId4">
                <a:alphaModFix amt="0"/>
              </a:blip>
              <a:stretch>
                <a:fillRect b="-78367" l="0" r="-34012" t="-78365"/>
              </a:stretch>
            </a:blipFill>
            <a:ln>
              <a:noFill/>
            </a:ln>
          </p:spPr>
        </p:sp>
        <p:sp>
          <p:nvSpPr>
            <p:cNvPr id="559" name="Google Shape;559;p15"/>
            <p:cNvSpPr txBox="1"/>
            <p:nvPr/>
          </p:nvSpPr>
          <p:spPr>
            <a:xfrm>
              <a:off x="0" y="-19050"/>
              <a:ext cx="10189298" cy="2091690"/>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0" i="0" lang="en-US" sz="2799" u="none" cap="none" strike="noStrike">
                  <a:solidFill>
                    <a:srgbClr val="CBD5E1"/>
                  </a:solidFill>
                  <a:latin typeface="Arimo"/>
                  <a:ea typeface="Arimo"/>
                  <a:cs typeface="Arimo"/>
                  <a:sym typeface="Arimo"/>
                </a:rPr>
                <a:t>Pick a principal, pick an action + resource, see ALLOWED or DENIED with the exact statement that made the decision</a:t>
              </a:r>
              <a:endParaRPr/>
            </a:p>
          </p:txBody>
        </p:sp>
      </p:grpSp>
      <p:grpSp>
        <p:nvGrpSpPr>
          <p:cNvPr id="560" name="Google Shape;560;p15"/>
          <p:cNvGrpSpPr/>
          <p:nvPr/>
        </p:nvGrpSpPr>
        <p:grpSpPr>
          <a:xfrm>
            <a:off x="914400" y="4822002"/>
            <a:ext cx="6532587" cy="1554480"/>
            <a:chOff x="0" y="0"/>
            <a:chExt cx="8710116" cy="2072640"/>
          </a:xfrm>
        </p:grpSpPr>
        <p:sp>
          <p:nvSpPr>
            <p:cNvPr id="561" name="Google Shape;561;p15"/>
            <p:cNvSpPr/>
            <p:nvPr/>
          </p:nvSpPr>
          <p:spPr>
            <a:xfrm>
              <a:off x="0" y="0"/>
              <a:ext cx="8710116" cy="2072640"/>
            </a:xfrm>
            <a:custGeom>
              <a:rect b="b" l="l" r="r" t="t"/>
              <a:pathLst>
                <a:path extrusionOk="0" h="2072640" w="8710116">
                  <a:moveTo>
                    <a:pt x="0" y="0"/>
                  </a:moveTo>
                  <a:lnTo>
                    <a:pt x="8710116" y="0"/>
                  </a:lnTo>
                  <a:lnTo>
                    <a:pt x="8710116" y="2072640"/>
                  </a:lnTo>
                  <a:lnTo>
                    <a:pt x="0" y="2072640"/>
                  </a:lnTo>
                  <a:close/>
                </a:path>
              </a:pathLst>
            </a:custGeom>
            <a:blipFill rotWithShape="1">
              <a:blip r:embed="rId4">
                <a:alphaModFix amt="0"/>
              </a:blip>
              <a:stretch>
                <a:fillRect b="-14183" l="0" r="21612" t="-14184"/>
              </a:stretch>
            </a:blipFill>
            <a:ln>
              <a:noFill/>
            </a:ln>
          </p:spPr>
        </p:sp>
        <p:sp>
          <p:nvSpPr>
            <p:cNvPr id="562" name="Google Shape;562;p15"/>
            <p:cNvSpPr txBox="1"/>
            <p:nvPr/>
          </p:nvSpPr>
          <p:spPr>
            <a:xfrm>
              <a:off x="0" y="0"/>
              <a:ext cx="8710116" cy="2072640"/>
            </a:xfrm>
            <a:prstGeom prst="rect">
              <a:avLst/>
            </a:prstGeom>
            <a:noFill/>
            <a:ln>
              <a:noFill/>
            </a:ln>
          </p:spPr>
          <p:txBody>
            <a:bodyPr anchorCtr="0" anchor="ctr" bIns="0" lIns="0" spcFirstLastPara="1" rIns="0" wrap="square" tIns="0">
              <a:noAutofit/>
            </a:bodyPr>
            <a:lstStyle/>
            <a:p>
              <a:pPr indent="0" lvl="0" marL="0" marR="0" rtl="0" algn="l">
                <a:lnSpc>
                  <a:spcPct val="119970"/>
                </a:lnSpc>
                <a:spcBef>
                  <a:spcPts val="0"/>
                </a:spcBef>
                <a:spcAft>
                  <a:spcPts val="0"/>
                </a:spcAft>
                <a:buNone/>
              </a:pPr>
              <a:r>
                <a:rPr b="1" i="0" lang="en-US" sz="3400" u="none" cap="none" strike="noStrike">
                  <a:solidFill>
                    <a:srgbClr val="FFFFFF"/>
                  </a:solidFill>
                  <a:latin typeface="Montserrat"/>
                  <a:ea typeface="Montserrat"/>
                  <a:cs typeface="Montserrat"/>
                  <a:sym typeface="Montserrat"/>
                </a:rPr>
                <a:t>Test boundaries + SCPs</a:t>
              </a:r>
              <a:endParaRPr/>
            </a:p>
          </p:txBody>
        </p:sp>
      </p:grpSp>
      <p:grpSp>
        <p:nvGrpSpPr>
          <p:cNvPr id="563" name="Google Shape;563;p15"/>
          <p:cNvGrpSpPr/>
          <p:nvPr/>
        </p:nvGrpSpPr>
        <p:grpSpPr>
          <a:xfrm>
            <a:off x="914400" y="5700713"/>
            <a:ext cx="6336814" cy="1568768"/>
            <a:chOff x="0" y="-19050"/>
            <a:chExt cx="8449086" cy="2091690"/>
          </a:xfrm>
        </p:grpSpPr>
        <p:sp>
          <p:nvSpPr>
            <p:cNvPr id="564" name="Google Shape;564;p15"/>
            <p:cNvSpPr/>
            <p:nvPr/>
          </p:nvSpPr>
          <p:spPr>
            <a:xfrm>
              <a:off x="0" y="0"/>
              <a:ext cx="8449086" cy="2072640"/>
            </a:xfrm>
            <a:custGeom>
              <a:rect b="b" l="l" r="r" t="t"/>
              <a:pathLst>
                <a:path extrusionOk="0" h="2072640" w="8449086">
                  <a:moveTo>
                    <a:pt x="0" y="0"/>
                  </a:moveTo>
                  <a:lnTo>
                    <a:pt x="8449086" y="0"/>
                  </a:lnTo>
                  <a:lnTo>
                    <a:pt x="8449086" y="2072640"/>
                  </a:lnTo>
                  <a:lnTo>
                    <a:pt x="0" y="2072640"/>
                  </a:lnTo>
                  <a:close/>
                </a:path>
              </a:pathLst>
            </a:custGeom>
            <a:blipFill rotWithShape="1">
              <a:blip r:embed="rId4">
                <a:alphaModFix amt="0"/>
              </a:blip>
              <a:stretch>
                <a:fillRect b="-78367" l="0" r="-61610" t="-78365"/>
              </a:stretch>
            </a:blipFill>
            <a:ln>
              <a:noFill/>
            </a:ln>
          </p:spPr>
        </p:sp>
        <p:sp>
          <p:nvSpPr>
            <p:cNvPr id="565" name="Google Shape;565;p15"/>
            <p:cNvSpPr txBox="1"/>
            <p:nvPr/>
          </p:nvSpPr>
          <p:spPr>
            <a:xfrm>
              <a:off x="0" y="-19050"/>
              <a:ext cx="8449086" cy="2091690"/>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0" i="0" lang="en-US" sz="2799" u="none" cap="none" strike="noStrike">
                  <a:solidFill>
                    <a:srgbClr val="CBD5E1"/>
                  </a:solidFill>
                  <a:latin typeface="Arimo"/>
                  <a:ea typeface="Arimo"/>
                  <a:cs typeface="Arimo"/>
                  <a:sym typeface="Arimo"/>
                </a:rPr>
                <a:t>Simulator evaluates permissions boundaries and organization SCPs in the same flow AWS uses at runtime</a:t>
              </a:r>
              <a:endParaRPr/>
            </a:p>
          </p:txBody>
        </p:sp>
      </p:grpSp>
      <p:grpSp>
        <p:nvGrpSpPr>
          <p:cNvPr id="566" name="Google Shape;566;p15"/>
          <p:cNvGrpSpPr/>
          <p:nvPr/>
        </p:nvGrpSpPr>
        <p:grpSpPr>
          <a:xfrm>
            <a:off x="914400" y="6896993"/>
            <a:ext cx="5120640" cy="1554480"/>
            <a:chOff x="0" y="0"/>
            <a:chExt cx="6827520" cy="2072640"/>
          </a:xfrm>
        </p:grpSpPr>
        <p:sp>
          <p:nvSpPr>
            <p:cNvPr id="567" name="Google Shape;567;p15"/>
            <p:cNvSpPr/>
            <p:nvPr/>
          </p:nvSpPr>
          <p:spPr>
            <a:xfrm>
              <a:off x="0" y="0"/>
              <a:ext cx="6827520" cy="2072640"/>
            </a:xfrm>
            <a:custGeom>
              <a:rect b="b" l="l" r="r" t="t"/>
              <a:pathLst>
                <a:path extrusionOk="0" h="2072640" w="6827520">
                  <a:moveTo>
                    <a:pt x="0" y="0"/>
                  </a:moveTo>
                  <a:lnTo>
                    <a:pt x="6827520" y="0"/>
                  </a:lnTo>
                  <a:lnTo>
                    <a:pt x="6827520" y="2072640"/>
                  </a:lnTo>
                  <a:lnTo>
                    <a:pt x="0" y="2072640"/>
                  </a:lnTo>
                  <a:close/>
                </a:path>
              </a:pathLst>
            </a:custGeom>
            <a:blipFill rotWithShape="1">
              <a:blip r:embed="rId4">
                <a:alphaModFix amt="0"/>
              </a:blip>
              <a:stretch>
                <a:fillRect b="-14183" l="0" r="0" t="-14184"/>
              </a:stretch>
            </a:blipFill>
            <a:ln>
              <a:noFill/>
            </a:ln>
          </p:spPr>
        </p:sp>
        <p:sp>
          <p:nvSpPr>
            <p:cNvPr id="568" name="Google Shape;568;p15"/>
            <p:cNvSpPr txBox="1"/>
            <p:nvPr/>
          </p:nvSpPr>
          <p:spPr>
            <a:xfrm>
              <a:off x="0" y="0"/>
              <a:ext cx="6827520" cy="2072640"/>
            </a:xfrm>
            <a:prstGeom prst="rect">
              <a:avLst/>
            </a:prstGeom>
            <a:noFill/>
            <a:ln>
              <a:noFill/>
            </a:ln>
          </p:spPr>
          <p:txBody>
            <a:bodyPr anchorCtr="0" anchor="ctr" bIns="0" lIns="0" spcFirstLastPara="1" rIns="0" wrap="square" tIns="0">
              <a:noAutofit/>
            </a:bodyPr>
            <a:lstStyle/>
            <a:p>
              <a:pPr indent="0" lvl="0" marL="0" marR="0" rtl="0" algn="l">
                <a:lnSpc>
                  <a:spcPct val="119970"/>
                </a:lnSpc>
                <a:spcBef>
                  <a:spcPts val="0"/>
                </a:spcBef>
                <a:spcAft>
                  <a:spcPts val="0"/>
                </a:spcAft>
                <a:buNone/>
              </a:pPr>
              <a:r>
                <a:rPr b="1" i="0" lang="en-US" sz="3400" u="none" cap="none" strike="noStrike">
                  <a:solidFill>
                    <a:srgbClr val="FFFFFF"/>
                  </a:solidFill>
                  <a:latin typeface="Montserrat"/>
                  <a:ea typeface="Montserrat"/>
                  <a:cs typeface="Montserrat"/>
                  <a:sym typeface="Montserrat"/>
                </a:rPr>
                <a:t>Test resource policies</a:t>
              </a:r>
              <a:endParaRPr/>
            </a:p>
          </p:txBody>
        </p:sp>
      </p:grpSp>
      <p:grpSp>
        <p:nvGrpSpPr>
          <p:cNvPr id="569" name="Google Shape;569;p15"/>
          <p:cNvGrpSpPr/>
          <p:nvPr/>
        </p:nvGrpSpPr>
        <p:grpSpPr>
          <a:xfrm>
            <a:off x="914400" y="7826692"/>
            <a:ext cx="6783451" cy="1568768"/>
            <a:chOff x="0" y="-19050"/>
            <a:chExt cx="9044601" cy="2091690"/>
          </a:xfrm>
        </p:grpSpPr>
        <p:sp>
          <p:nvSpPr>
            <p:cNvPr id="570" name="Google Shape;570;p15"/>
            <p:cNvSpPr/>
            <p:nvPr/>
          </p:nvSpPr>
          <p:spPr>
            <a:xfrm>
              <a:off x="0" y="0"/>
              <a:ext cx="9044601" cy="2072640"/>
            </a:xfrm>
            <a:custGeom>
              <a:rect b="b" l="l" r="r" t="t"/>
              <a:pathLst>
                <a:path extrusionOk="0" h="2072640" w="9044601">
                  <a:moveTo>
                    <a:pt x="0" y="0"/>
                  </a:moveTo>
                  <a:lnTo>
                    <a:pt x="9044601" y="0"/>
                  </a:lnTo>
                  <a:lnTo>
                    <a:pt x="9044601" y="2072640"/>
                  </a:lnTo>
                  <a:lnTo>
                    <a:pt x="0" y="2072640"/>
                  </a:lnTo>
                  <a:close/>
                </a:path>
              </a:pathLst>
            </a:custGeom>
            <a:blipFill rotWithShape="1">
              <a:blip r:embed="rId4">
                <a:alphaModFix amt="0"/>
              </a:blip>
              <a:stretch>
                <a:fillRect b="-78367" l="0" r="-50973" t="-78365"/>
              </a:stretch>
            </a:blipFill>
            <a:ln>
              <a:noFill/>
            </a:ln>
          </p:spPr>
        </p:sp>
        <p:sp>
          <p:nvSpPr>
            <p:cNvPr id="571" name="Google Shape;571;p15"/>
            <p:cNvSpPr txBox="1"/>
            <p:nvPr/>
          </p:nvSpPr>
          <p:spPr>
            <a:xfrm>
              <a:off x="0" y="-19050"/>
              <a:ext cx="9044601" cy="2091690"/>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0" i="0" lang="en-US" sz="2799" u="none" cap="none" strike="noStrike">
                  <a:solidFill>
                    <a:srgbClr val="CBD5E1"/>
                  </a:solidFill>
                  <a:latin typeface="Arimo"/>
                  <a:ea typeface="Arimo"/>
                  <a:cs typeface="Arimo"/>
                  <a:sym typeface="Arimo"/>
                </a:rPr>
                <a:t>Validate S3 bucket policies, trust policies, and other resource policies against specific callers</a:t>
              </a:r>
              <a:endParaRPr/>
            </a:p>
          </p:txBody>
        </p:sp>
      </p:grpSp>
      <p:grpSp>
        <p:nvGrpSpPr>
          <p:cNvPr id="572" name="Google Shape;572;p15"/>
          <p:cNvGrpSpPr/>
          <p:nvPr/>
        </p:nvGrpSpPr>
        <p:grpSpPr>
          <a:xfrm>
            <a:off x="914400" y="9368314"/>
            <a:ext cx="16459200" cy="781526"/>
            <a:chOff x="0" y="-66675"/>
            <a:chExt cx="21945600" cy="1042035"/>
          </a:xfrm>
        </p:grpSpPr>
        <p:sp>
          <p:nvSpPr>
            <p:cNvPr id="573" name="Google Shape;573;p15"/>
            <p:cNvSpPr/>
            <p:nvPr/>
          </p:nvSpPr>
          <p:spPr>
            <a:xfrm>
              <a:off x="0" y="0"/>
              <a:ext cx="21945600" cy="975360"/>
            </a:xfrm>
            <a:custGeom>
              <a:rect b="b" l="l" r="r" t="t"/>
              <a:pathLst>
                <a:path extrusionOk="0" h="975360" w="21945600">
                  <a:moveTo>
                    <a:pt x="0" y="0"/>
                  </a:moveTo>
                  <a:lnTo>
                    <a:pt x="21945600" y="0"/>
                  </a:lnTo>
                  <a:lnTo>
                    <a:pt x="21945600" y="975360"/>
                  </a:lnTo>
                  <a:lnTo>
                    <a:pt x="0" y="975360"/>
                  </a:lnTo>
                  <a:close/>
                </a:path>
              </a:pathLst>
            </a:custGeom>
            <a:blipFill rotWithShape="1">
              <a:blip r:embed="rId4">
                <a:alphaModFix amt="0"/>
              </a:blip>
              <a:stretch>
                <a:fillRect b="-388365" l="0" r="0" t="-388365"/>
              </a:stretch>
            </a:blipFill>
            <a:ln>
              <a:noFill/>
            </a:ln>
          </p:spPr>
        </p:sp>
        <p:sp>
          <p:nvSpPr>
            <p:cNvPr id="574" name="Google Shape;574;p15"/>
            <p:cNvSpPr txBox="1"/>
            <p:nvPr/>
          </p:nvSpPr>
          <p:spPr>
            <a:xfrm>
              <a:off x="0" y="-66675"/>
              <a:ext cx="21945600" cy="104203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200" u="none" cap="none" strike="noStrike">
                  <a:solidFill>
                    <a:srgbClr val="F59E0B"/>
                  </a:solidFill>
                  <a:latin typeface="Consolas"/>
                  <a:ea typeface="Consolas"/>
                  <a:cs typeface="Consolas"/>
                  <a:sym typeface="Consolas"/>
                </a:rPr>
                <a:t>policysim.aws.amazon.com</a:t>
              </a:r>
              <a:endParaRPr/>
            </a:p>
          </p:txBody>
        </p:sp>
      </p:grpSp>
      <p:sp>
        <p:nvSpPr>
          <p:cNvPr id="575" name="Google Shape;575;p15"/>
          <p:cNvSpPr/>
          <p:nvPr/>
        </p:nvSpPr>
        <p:spPr>
          <a:xfrm>
            <a:off x="9043147" y="2873494"/>
            <a:ext cx="8570971" cy="6813922"/>
          </a:xfrm>
          <a:custGeom>
            <a:rect b="b" l="l" r="r" t="t"/>
            <a:pathLst>
              <a:path extrusionOk="0" h="6813922" w="8570971">
                <a:moveTo>
                  <a:pt x="0" y="0"/>
                </a:moveTo>
                <a:lnTo>
                  <a:pt x="8570970" y="0"/>
                </a:lnTo>
                <a:lnTo>
                  <a:pt x="8570970" y="6813922"/>
                </a:lnTo>
                <a:lnTo>
                  <a:pt x="0" y="6813922"/>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16"/>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sp>
      <p:grpSp>
        <p:nvGrpSpPr>
          <p:cNvPr id="585" name="Google Shape;585;p16"/>
          <p:cNvGrpSpPr/>
          <p:nvPr/>
        </p:nvGrpSpPr>
        <p:grpSpPr>
          <a:xfrm>
            <a:off x="914400" y="182880"/>
            <a:ext cx="16459200" cy="1188720"/>
            <a:chOff x="0" y="0"/>
            <a:chExt cx="21945600" cy="1584960"/>
          </a:xfrm>
        </p:grpSpPr>
        <p:sp>
          <p:nvSpPr>
            <p:cNvPr id="586" name="Google Shape;586;p16"/>
            <p:cNvSpPr/>
            <p:nvPr/>
          </p:nvSpPr>
          <p:spPr>
            <a:xfrm>
              <a:off x="0" y="0"/>
              <a:ext cx="21945600" cy="1584960"/>
            </a:xfrm>
            <a:custGeom>
              <a:rect b="b" l="l" r="r" t="t"/>
              <a:pathLst>
                <a:path extrusionOk="0" h="1584960" w="21945600">
                  <a:moveTo>
                    <a:pt x="0" y="0"/>
                  </a:moveTo>
                  <a:lnTo>
                    <a:pt x="21945600" y="0"/>
                  </a:lnTo>
                  <a:lnTo>
                    <a:pt x="21945600" y="1584960"/>
                  </a:lnTo>
                  <a:lnTo>
                    <a:pt x="0" y="1584960"/>
                  </a:lnTo>
                  <a:close/>
                </a:path>
              </a:pathLst>
            </a:custGeom>
            <a:blipFill rotWithShape="1">
              <a:blip r:embed="rId4">
                <a:alphaModFix amt="0"/>
              </a:blip>
              <a:stretch>
                <a:fillRect b="-219774" l="0" r="0" t="-219774"/>
              </a:stretch>
            </a:blipFill>
            <a:ln>
              <a:noFill/>
            </a:ln>
          </p:spPr>
        </p:sp>
        <p:sp>
          <p:nvSpPr>
            <p:cNvPr id="587" name="Google Shape;587;p16"/>
            <p:cNvSpPr txBox="1"/>
            <p:nvPr/>
          </p:nvSpPr>
          <p:spPr>
            <a:xfrm>
              <a:off x="0" y="0"/>
              <a:ext cx="21945600" cy="1584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7600" u="none" cap="none" strike="noStrike">
                  <a:solidFill>
                    <a:srgbClr val="FFFFFF"/>
                  </a:solidFill>
                  <a:latin typeface="Montserrat"/>
                  <a:ea typeface="Montserrat"/>
                  <a:cs typeface="Montserrat"/>
                  <a:sym typeface="Montserrat"/>
                </a:rPr>
                <a:t>IAM Access Analyzer</a:t>
              </a:r>
              <a:endParaRPr/>
            </a:p>
          </p:txBody>
        </p:sp>
      </p:grpSp>
      <p:grpSp>
        <p:nvGrpSpPr>
          <p:cNvPr id="588" name="Google Shape;588;p16"/>
          <p:cNvGrpSpPr/>
          <p:nvPr/>
        </p:nvGrpSpPr>
        <p:grpSpPr>
          <a:xfrm>
            <a:off x="914400" y="1533049"/>
            <a:ext cx="16459200" cy="844391"/>
            <a:chOff x="0" y="-28575"/>
            <a:chExt cx="21945600" cy="1125855"/>
          </a:xfrm>
        </p:grpSpPr>
        <p:sp>
          <p:nvSpPr>
            <p:cNvPr id="589" name="Google Shape;589;p16"/>
            <p:cNvSpPr/>
            <p:nvPr/>
          </p:nvSpPr>
          <p:spPr>
            <a:xfrm>
              <a:off x="0" y="0"/>
              <a:ext cx="21945600" cy="1097280"/>
            </a:xfrm>
            <a:custGeom>
              <a:rect b="b" l="l" r="r" t="t"/>
              <a:pathLst>
                <a:path extrusionOk="0" h="1097280" w="21945600">
                  <a:moveTo>
                    <a:pt x="0" y="0"/>
                  </a:moveTo>
                  <a:lnTo>
                    <a:pt x="21945600" y="0"/>
                  </a:lnTo>
                  <a:lnTo>
                    <a:pt x="21945600" y="1097280"/>
                  </a:lnTo>
                  <a:lnTo>
                    <a:pt x="0" y="1097280"/>
                  </a:lnTo>
                  <a:close/>
                </a:path>
              </a:pathLst>
            </a:custGeom>
            <a:blipFill rotWithShape="1">
              <a:blip r:embed="rId4">
                <a:alphaModFix amt="0"/>
              </a:blip>
              <a:stretch>
                <a:fillRect b="-339650" l="0" r="0" t="-339650"/>
              </a:stretch>
            </a:blipFill>
            <a:ln>
              <a:noFill/>
            </a:ln>
          </p:spPr>
        </p:sp>
        <p:sp>
          <p:nvSpPr>
            <p:cNvPr id="590" name="Google Shape;590;p16"/>
            <p:cNvSpPr txBox="1"/>
            <p:nvPr/>
          </p:nvSpPr>
          <p:spPr>
            <a:xfrm>
              <a:off x="0" y="-28575"/>
              <a:ext cx="21945600" cy="112585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200" u="none" cap="none" strike="noStrike">
                  <a:solidFill>
                    <a:srgbClr val="CBD5E1"/>
                  </a:solidFill>
                  <a:latin typeface="Arimo"/>
                  <a:ea typeface="Arimo"/>
                  <a:cs typeface="Arimo"/>
                  <a:sym typeface="Arimo"/>
                </a:rPr>
                <a:t>Continuous analysis of your IAM environment — find what you missed.</a:t>
              </a:r>
              <a:endParaRPr/>
            </a:p>
          </p:txBody>
        </p:sp>
      </p:grpSp>
      <p:sp>
        <p:nvSpPr>
          <p:cNvPr id="591" name="Google Shape;591;p16"/>
          <p:cNvSpPr/>
          <p:nvPr/>
        </p:nvSpPr>
        <p:spPr>
          <a:xfrm>
            <a:off x="914400" y="2651760"/>
            <a:ext cx="7863840" cy="2468880"/>
          </a:xfrm>
          <a:custGeom>
            <a:rect b="b" l="l" r="r" t="t"/>
            <a:pathLst>
              <a:path extrusionOk="0" h="3291840" w="10485120">
                <a:moveTo>
                  <a:pt x="0" y="0"/>
                </a:moveTo>
                <a:lnTo>
                  <a:pt x="10485120" y="0"/>
                </a:lnTo>
                <a:lnTo>
                  <a:pt x="10485120" y="3291840"/>
                </a:lnTo>
                <a:lnTo>
                  <a:pt x="0" y="3291840"/>
                </a:lnTo>
                <a:close/>
              </a:path>
            </a:pathLst>
          </a:custGeom>
          <a:solidFill>
            <a:srgbClr val="1A2540"/>
          </a:solidFill>
          <a:ln>
            <a:noFill/>
          </a:ln>
        </p:spPr>
      </p:sp>
      <p:sp>
        <p:nvSpPr>
          <p:cNvPr id="592" name="Google Shape;592;p16"/>
          <p:cNvSpPr/>
          <p:nvPr/>
        </p:nvSpPr>
        <p:spPr>
          <a:xfrm>
            <a:off x="914400" y="2651760"/>
            <a:ext cx="109728" cy="2468880"/>
          </a:xfrm>
          <a:custGeom>
            <a:rect b="b" l="l" r="r" t="t"/>
            <a:pathLst>
              <a:path extrusionOk="0" h="3291840" w="146304">
                <a:moveTo>
                  <a:pt x="0" y="0"/>
                </a:moveTo>
                <a:lnTo>
                  <a:pt x="146304" y="0"/>
                </a:lnTo>
                <a:lnTo>
                  <a:pt x="146304" y="3291840"/>
                </a:lnTo>
                <a:lnTo>
                  <a:pt x="0" y="3291840"/>
                </a:lnTo>
                <a:close/>
              </a:path>
            </a:pathLst>
          </a:custGeom>
          <a:solidFill>
            <a:srgbClr val="22D3EE"/>
          </a:solidFill>
          <a:ln>
            <a:noFill/>
          </a:ln>
        </p:spPr>
      </p:sp>
      <p:grpSp>
        <p:nvGrpSpPr>
          <p:cNvPr id="593" name="Google Shape;593;p16"/>
          <p:cNvGrpSpPr/>
          <p:nvPr/>
        </p:nvGrpSpPr>
        <p:grpSpPr>
          <a:xfrm>
            <a:off x="1280160" y="2834640"/>
            <a:ext cx="7223760" cy="731520"/>
            <a:chOff x="0" y="0"/>
            <a:chExt cx="9631680" cy="975360"/>
          </a:xfrm>
        </p:grpSpPr>
        <p:sp>
          <p:nvSpPr>
            <p:cNvPr id="594" name="Google Shape;594;p16"/>
            <p:cNvSpPr/>
            <p:nvPr/>
          </p:nvSpPr>
          <p:spPr>
            <a:xfrm>
              <a:off x="0" y="0"/>
              <a:ext cx="9631680" cy="975360"/>
            </a:xfrm>
            <a:custGeom>
              <a:rect b="b" l="l" r="r" t="t"/>
              <a:pathLst>
                <a:path extrusionOk="0" h="975360" w="9631680">
                  <a:moveTo>
                    <a:pt x="0" y="0"/>
                  </a:moveTo>
                  <a:lnTo>
                    <a:pt x="9631680" y="0"/>
                  </a:lnTo>
                  <a:lnTo>
                    <a:pt x="9631680" y="975360"/>
                  </a:lnTo>
                  <a:lnTo>
                    <a:pt x="0" y="975360"/>
                  </a:lnTo>
                  <a:close/>
                </a:path>
              </a:pathLst>
            </a:custGeom>
            <a:blipFill rotWithShape="1">
              <a:blip r:embed="rId4">
                <a:alphaModFix amt="0"/>
              </a:blip>
              <a:stretch>
                <a:fillRect b="-142396" l="0" r="0" t="-142396"/>
              </a:stretch>
            </a:blipFill>
            <a:ln>
              <a:noFill/>
            </a:ln>
          </p:spPr>
        </p:sp>
        <p:sp>
          <p:nvSpPr>
            <p:cNvPr id="595" name="Google Shape;595;p16"/>
            <p:cNvSpPr txBox="1"/>
            <p:nvPr/>
          </p:nvSpPr>
          <p:spPr>
            <a:xfrm>
              <a:off x="0" y="0"/>
              <a:ext cx="9631680" cy="975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3200" u="none" cap="none" strike="noStrike">
                  <a:solidFill>
                    <a:srgbClr val="F59E0B"/>
                  </a:solidFill>
                  <a:latin typeface="Montserrat"/>
                  <a:ea typeface="Montserrat"/>
                  <a:cs typeface="Montserrat"/>
                  <a:sym typeface="Montserrat"/>
                </a:rPr>
                <a:t>External access findings</a:t>
              </a:r>
              <a:endParaRPr/>
            </a:p>
          </p:txBody>
        </p:sp>
      </p:grpSp>
      <p:sp>
        <p:nvSpPr>
          <p:cNvPr id="596" name="Google Shape;596;p16"/>
          <p:cNvSpPr txBox="1"/>
          <p:nvPr/>
        </p:nvSpPr>
        <p:spPr>
          <a:xfrm>
            <a:off x="1280160" y="3638550"/>
            <a:ext cx="7223760" cy="129921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US" sz="2799" u="none" cap="none" strike="noStrike">
                <a:solidFill>
                  <a:srgbClr val="CBD5E1"/>
                </a:solidFill>
                <a:latin typeface="Arimo"/>
                <a:ea typeface="Arimo"/>
                <a:cs typeface="Arimo"/>
                <a:sym typeface="Arimo"/>
              </a:rPr>
              <a:t>Identifies resources (S3, IAM roles, KMS, SQS) shared with principals outside your account or organization</a:t>
            </a:r>
            <a:endParaRPr/>
          </a:p>
        </p:txBody>
      </p:sp>
      <p:sp>
        <p:nvSpPr>
          <p:cNvPr id="597" name="Google Shape;597;p16"/>
          <p:cNvSpPr/>
          <p:nvPr/>
        </p:nvSpPr>
        <p:spPr>
          <a:xfrm>
            <a:off x="9509760" y="2651760"/>
            <a:ext cx="7863840" cy="2468880"/>
          </a:xfrm>
          <a:custGeom>
            <a:rect b="b" l="l" r="r" t="t"/>
            <a:pathLst>
              <a:path extrusionOk="0" h="3291840" w="10485120">
                <a:moveTo>
                  <a:pt x="0" y="0"/>
                </a:moveTo>
                <a:lnTo>
                  <a:pt x="10485120" y="0"/>
                </a:lnTo>
                <a:lnTo>
                  <a:pt x="10485120" y="3291840"/>
                </a:lnTo>
                <a:lnTo>
                  <a:pt x="0" y="3291840"/>
                </a:lnTo>
                <a:close/>
              </a:path>
            </a:pathLst>
          </a:custGeom>
          <a:solidFill>
            <a:srgbClr val="1A2540"/>
          </a:solidFill>
          <a:ln>
            <a:noFill/>
          </a:ln>
        </p:spPr>
      </p:sp>
      <p:sp>
        <p:nvSpPr>
          <p:cNvPr id="598" name="Google Shape;598;p16"/>
          <p:cNvSpPr/>
          <p:nvPr/>
        </p:nvSpPr>
        <p:spPr>
          <a:xfrm>
            <a:off x="9509760" y="2651760"/>
            <a:ext cx="109728" cy="2468880"/>
          </a:xfrm>
          <a:custGeom>
            <a:rect b="b" l="l" r="r" t="t"/>
            <a:pathLst>
              <a:path extrusionOk="0" h="3291840" w="146304">
                <a:moveTo>
                  <a:pt x="0" y="0"/>
                </a:moveTo>
                <a:lnTo>
                  <a:pt x="146304" y="0"/>
                </a:lnTo>
                <a:lnTo>
                  <a:pt x="146304" y="3291840"/>
                </a:lnTo>
                <a:lnTo>
                  <a:pt x="0" y="3291840"/>
                </a:lnTo>
                <a:close/>
              </a:path>
            </a:pathLst>
          </a:custGeom>
          <a:solidFill>
            <a:srgbClr val="22D3EE"/>
          </a:solidFill>
          <a:ln>
            <a:noFill/>
          </a:ln>
        </p:spPr>
      </p:sp>
      <p:grpSp>
        <p:nvGrpSpPr>
          <p:cNvPr id="599" name="Google Shape;599;p16"/>
          <p:cNvGrpSpPr/>
          <p:nvPr/>
        </p:nvGrpSpPr>
        <p:grpSpPr>
          <a:xfrm>
            <a:off x="9875520" y="2834640"/>
            <a:ext cx="7223760" cy="731520"/>
            <a:chOff x="0" y="0"/>
            <a:chExt cx="9631680" cy="975360"/>
          </a:xfrm>
        </p:grpSpPr>
        <p:sp>
          <p:nvSpPr>
            <p:cNvPr id="600" name="Google Shape;600;p16"/>
            <p:cNvSpPr/>
            <p:nvPr/>
          </p:nvSpPr>
          <p:spPr>
            <a:xfrm>
              <a:off x="0" y="0"/>
              <a:ext cx="9631680" cy="975360"/>
            </a:xfrm>
            <a:custGeom>
              <a:rect b="b" l="l" r="r" t="t"/>
              <a:pathLst>
                <a:path extrusionOk="0" h="975360" w="9631680">
                  <a:moveTo>
                    <a:pt x="0" y="0"/>
                  </a:moveTo>
                  <a:lnTo>
                    <a:pt x="9631680" y="0"/>
                  </a:lnTo>
                  <a:lnTo>
                    <a:pt x="9631680" y="975360"/>
                  </a:lnTo>
                  <a:lnTo>
                    <a:pt x="0" y="975360"/>
                  </a:lnTo>
                  <a:close/>
                </a:path>
              </a:pathLst>
            </a:custGeom>
            <a:blipFill rotWithShape="1">
              <a:blip r:embed="rId4">
                <a:alphaModFix amt="0"/>
              </a:blip>
              <a:stretch>
                <a:fillRect b="-142396" l="0" r="0" t="-142396"/>
              </a:stretch>
            </a:blipFill>
            <a:ln>
              <a:noFill/>
            </a:ln>
          </p:spPr>
        </p:sp>
        <p:sp>
          <p:nvSpPr>
            <p:cNvPr id="601" name="Google Shape;601;p16"/>
            <p:cNvSpPr txBox="1"/>
            <p:nvPr/>
          </p:nvSpPr>
          <p:spPr>
            <a:xfrm>
              <a:off x="0" y="0"/>
              <a:ext cx="9631680" cy="975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3200" u="none" cap="none" strike="noStrike">
                  <a:solidFill>
                    <a:srgbClr val="F59E0B"/>
                  </a:solidFill>
                  <a:latin typeface="Montserrat"/>
                  <a:ea typeface="Montserrat"/>
                  <a:cs typeface="Montserrat"/>
                  <a:sym typeface="Montserrat"/>
                </a:rPr>
                <a:t>Unused access detection</a:t>
              </a:r>
              <a:endParaRPr/>
            </a:p>
          </p:txBody>
        </p:sp>
      </p:grpSp>
      <p:sp>
        <p:nvSpPr>
          <p:cNvPr id="602" name="Google Shape;602;p16"/>
          <p:cNvSpPr txBox="1"/>
          <p:nvPr/>
        </p:nvSpPr>
        <p:spPr>
          <a:xfrm>
            <a:off x="9875520" y="3638550"/>
            <a:ext cx="7223760" cy="129921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US" sz="2799" u="none" cap="none" strike="noStrike">
                <a:solidFill>
                  <a:srgbClr val="CBD5E1"/>
                </a:solidFill>
                <a:latin typeface="Arimo"/>
                <a:ea typeface="Arimo"/>
                <a:cs typeface="Arimo"/>
                <a:sym typeface="Arimo"/>
              </a:rPr>
              <a:t>Finds unused roles, access keys, passwords, and for active principals: unused services and actions</a:t>
            </a:r>
            <a:endParaRPr/>
          </a:p>
        </p:txBody>
      </p:sp>
      <p:sp>
        <p:nvSpPr>
          <p:cNvPr id="603" name="Google Shape;603;p16"/>
          <p:cNvSpPr/>
          <p:nvPr/>
        </p:nvSpPr>
        <p:spPr>
          <a:xfrm>
            <a:off x="914400" y="5486400"/>
            <a:ext cx="7863840" cy="2468880"/>
          </a:xfrm>
          <a:custGeom>
            <a:rect b="b" l="l" r="r" t="t"/>
            <a:pathLst>
              <a:path extrusionOk="0" h="3291840" w="10485120">
                <a:moveTo>
                  <a:pt x="0" y="0"/>
                </a:moveTo>
                <a:lnTo>
                  <a:pt x="10485120" y="0"/>
                </a:lnTo>
                <a:lnTo>
                  <a:pt x="10485120" y="3291840"/>
                </a:lnTo>
                <a:lnTo>
                  <a:pt x="0" y="3291840"/>
                </a:lnTo>
                <a:close/>
              </a:path>
            </a:pathLst>
          </a:custGeom>
          <a:solidFill>
            <a:srgbClr val="1A2540"/>
          </a:solidFill>
          <a:ln>
            <a:noFill/>
          </a:ln>
        </p:spPr>
      </p:sp>
      <p:sp>
        <p:nvSpPr>
          <p:cNvPr id="604" name="Google Shape;604;p16"/>
          <p:cNvSpPr/>
          <p:nvPr/>
        </p:nvSpPr>
        <p:spPr>
          <a:xfrm>
            <a:off x="914400" y="5486400"/>
            <a:ext cx="109728" cy="2468880"/>
          </a:xfrm>
          <a:custGeom>
            <a:rect b="b" l="l" r="r" t="t"/>
            <a:pathLst>
              <a:path extrusionOk="0" h="3291840" w="146304">
                <a:moveTo>
                  <a:pt x="0" y="0"/>
                </a:moveTo>
                <a:lnTo>
                  <a:pt x="146304" y="0"/>
                </a:lnTo>
                <a:lnTo>
                  <a:pt x="146304" y="3291840"/>
                </a:lnTo>
                <a:lnTo>
                  <a:pt x="0" y="3291840"/>
                </a:lnTo>
                <a:close/>
              </a:path>
            </a:pathLst>
          </a:custGeom>
          <a:solidFill>
            <a:srgbClr val="22D3EE"/>
          </a:solidFill>
          <a:ln>
            <a:noFill/>
          </a:ln>
        </p:spPr>
      </p:sp>
      <p:grpSp>
        <p:nvGrpSpPr>
          <p:cNvPr id="605" name="Google Shape;605;p16"/>
          <p:cNvGrpSpPr/>
          <p:nvPr/>
        </p:nvGrpSpPr>
        <p:grpSpPr>
          <a:xfrm>
            <a:off x="1280160" y="5669280"/>
            <a:ext cx="7223760" cy="731520"/>
            <a:chOff x="0" y="0"/>
            <a:chExt cx="9631680" cy="975360"/>
          </a:xfrm>
        </p:grpSpPr>
        <p:sp>
          <p:nvSpPr>
            <p:cNvPr id="606" name="Google Shape;606;p16"/>
            <p:cNvSpPr/>
            <p:nvPr/>
          </p:nvSpPr>
          <p:spPr>
            <a:xfrm>
              <a:off x="0" y="0"/>
              <a:ext cx="9631680" cy="975360"/>
            </a:xfrm>
            <a:custGeom>
              <a:rect b="b" l="l" r="r" t="t"/>
              <a:pathLst>
                <a:path extrusionOk="0" h="975360" w="9631680">
                  <a:moveTo>
                    <a:pt x="0" y="0"/>
                  </a:moveTo>
                  <a:lnTo>
                    <a:pt x="9631680" y="0"/>
                  </a:lnTo>
                  <a:lnTo>
                    <a:pt x="9631680" y="975360"/>
                  </a:lnTo>
                  <a:lnTo>
                    <a:pt x="0" y="975360"/>
                  </a:lnTo>
                  <a:close/>
                </a:path>
              </a:pathLst>
            </a:custGeom>
            <a:blipFill rotWithShape="1">
              <a:blip r:embed="rId4">
                <a:alphaModFix amt="0"/>
              </a:blip>
              <a:stretch>
                <a:fillRect b="-142396" l="0" r="0" t="-142396"/>
              </a:stretch>
            </a:blipFill>
            <a:ln>
              <a:noFill/>
            </a:ln>
          </p:spPr>
        </p:sp>
        <p:sp>
          <p:nvSpPr>
            <p:cNvPr id="607" name="Google Shape;607;p16"/>
            <p:cNvSpPr txBox="1"/>
            <p:nvPr/>
          </p:nvSpPr>
          <p:spPr>
            <a:xfrm>
              <a:off x="0" y="0"/>
              <a:ext cx="9631680" cy="975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3200" u="none" cap="none" strike="noStrike">
                  <a:solidFill>
                    <a:srgbClr val="F59E0B"/>
                  </a:solidFill>
                  <a:latin typeface="Montserrat"/>
                  <a:ea typeface="Montserrat"/>
                  <a:cs typeface="Montserrat"/>
                  <a:sym typeface="Montserrat"/>
                </a:rPr>
                <a:t>Policy validation</a:t>
              </a:r>
              <a:endParaRPr/>
            </a:p>
          </p:txBody>
        </p:sp>
      </p:grpSp>
      <p:sp>
        <p:nvSpPr>
          <p:cNvPr id="608" name="Google Shape;608;p16"/>
          <p:cNvSpPr txBox="1"/>
          <p:nvPr/>
        </p:nvSpPr>
        <p:spPr>
          <a:xfrm>
            <a:off x="1280160" y="6473190"/>
            <a:ext cx="7223760" cy="129921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US" sz="2799" u="none" cap="none" strike="noStrike">
                <a:solidFill>
                  <a:srgbClr val="CBD5E1"/>
                </a:solidFill>
                <a:latin typeface="Arimo"/>
                <a:ea typeface="Arimo"/>
                <a:cs typeface="Arimo"/>
                <a:sym typeface="Arimo"/>
              </a:rPr>
              <a:t>100+ automated checks against AWS best practices and policy grammar as you write policies</a:t>
            </a:r>
            <a:endParaRPr/>
          </a:p>
        </p:txBody>
      </p:sp>
      <p:sp>
        <p:nvSpPr>
          <p:cNvPr id="609" name="Google Shape;609;p16"/>
          <p:cNvSpPr/>
          <p:nvPr/>
        </p:nvSpPr>
        <p:spPr>
          <a:xfrm>
            <a:off x="9509760" y="5486400"/>
            <a:ext cx="7863840" cy="2468880"/>
          </a:xfrm>
          <a:custGeom>
            <a:rect b="b" l="l" r="r" t="t"/>
            <a:pathLst>
              <a:path extrusionOk="0" h="3291840" w="10485120">
                <a:moveTo>
                  <a:pt x="0" y="0"/>
                </a:moveTo>
                <a:lnTo>
                  <a:pt x="10485120" y="0"/>
                </a:lnTo>
                <a:lnTo>
                  <a:pt x="10485120" y="3291840"/>
                </a:lnTo>
                <a:lnTo>
                  <a:pt x="0" y="3291840"/>
                </a:lnTo>
                <a:close/>
              </a:path>
            </a:pathLst>
          </a:custGeom>
          <a:solidFill>
            <a:srgbClr val="1A2540"/>
          </a:solidFill>
          <a:ln>
            <a:noFill/>
          </a:ln>
        </p:spPr>
      </p:sp>
      <p:sp>
        <p:nvSpPr>
          <p:cNvPr id="610" name="Google Shape;610;p16"/>
          <p:cNvSpPr/>
          <p:nvPr/>
        </p:nvSpPr>
        <p:spPr>
          <a:xfrm>
            <a:off x="9509760" y="5486400"/>
            <a:ext cx="109728" cy="2468880"/>
          </a:xfrm>
          <a:custGeom>
            <a:rect b="b" l="l" r="r" t="t"/>
            <a:pathLst>
              <a:path extrusionOk="0" h="3291840" w="146304">
                <a:moveTo>
                  <a:pt x="0" y="0"/>
                </a:moveTo>
                <a:lnTo>
                  <a:pt x="146304" y="0"/>
                </a:lnTo>
                <a:lnTo>
                  <a:pt x="146304" y="3291840"/>
                </a:lnTo>
                <a:lnTo>
                  <a:pt x="0" y="3291840"/>
                </a:lnTo>
                <a:close/>
              </a:path>
            </a:pathLst>
          </a:custGeom>
          <a:solidFill>
            <a:srgbClr val="22D3EE"/>
          </a:solidFill>
          <a:ln>
            <a:noFill/>
          </a:ln>
        </p:spPr>
      </p:sp>
      <p:grpSp>
        <p:nvGrpSpPr>
          <p:cNvPr id="611" name="Google Shape;611;p16"/>
          <p:cNvGrpSpPr/>
          <p:nvPr/>
        </p:nvGrpSpPr>
        <p:grpSpPr>
          <a:xfrm>
            <a:off x="9875520" y="5669280"/>
            <a:ext cx="7223760" cy="731520"/>
            <a:chOff x="0" y="0"/>
            <a:chExt cx="9631680" cy="975360"/>
          </a:xfrm>
        </p:grpSpPr>
        <p:sp>
          <p:nvSpPr>
            <p:cNvPr id="612" name="Google Shape;612;p16"/>
            <p:cNvSpPr/>
            <p:nvPr/>
          </p:nvSpPr>
          <p:spPr>
            <a:xfrm>
              <a:off x="0" y="0"/>
              <a:ext cx="9631680" cy="975360"/>
            </a:xfrm>
            <a:custGeom>
              <a:rect b="b" l="l" r="r" t="t"/>
              <a:pathLst>
                <a:path extrusionOk="0" h="975360" w="9631680">
                  <a:moveTo>
                    <a:pt x="0" y="0"/>
                  </a:moveTo>
                  <a:lnTo>
                    <a:pt x="9631680" y="0"/>
                  </a:lnTo>
                  <a:lnTo>
                    <a:pt x="9631680" y="975360"/>
                  </a:lnTo>
                  <a:lnTo>
                    <a:pt x="0" y="975360"/>
                  </a:lnTo>
                  <a:close/>
                </a:path>
              </a:pathLst>
            </a:custGeom>
            <a:blipFill rotWithShape="1">
              <a:blip r:embed="rId4">
                <a:alphaModFix amt="0"/>
              </a:blip>
              <a:stretch>
                <a:fillRect b="-142396" l="0" r="0" t="-142396"/>
              </a:stretch>
            </a:blipFill>
            <a:ln>
              <a:noFill/>
            </a:ln>
          </p:spPr>
        </p:sp>
        <p:sp>
          <p:nvSpPr>
            <p:cNvPr id="613" name="Google Shape;613;p16"/>
            <p:cNvSpPr txBox="1"/>
            <p:nvPr/>
          </p:nvSpPr>
          <p:spPr>
            <a:xfrm>
              <a:off x="0" y="0"/>
              <a:ext cx="9631680" cy="9753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3200" u="none" cap="none" strike="noStrike">
                  <a:solidFill>
                    <a:srgbClr val="F59E0B"/>
                  </a:solidFill>
                  <a:latin typeface="Montserrat"/>
                  <a:ea typeface="Montserrat"/>
                  <a:cs typeface="Montserrat"/>
                  <a:sym typeface="Montserrat"/>
                </a:rPr>
                <a:t>Custom policy checks</a:t>
              </a:r>
              <a:endParaRPr/>
            </a:p>
          </p:txBody>
        </p:sp>
      </p:grpSp>
      <p:sp>
        <p:nvSpPr>
          <p:cNvPr id="614" name="Google Shape;614;p16"/>
          <p:cNvSpPr txBox="1"/>
          <p:nvPr/>
        </p:nvSpPr>
        <p:spPr>
          <a:xfrm>
            <a:off x="9875520" y="6473190"/>
            <a:ext cx="7223760" cy="1299210"/>
          </a:xfrm>
          <a:prstGeom prst="rect">
            <a:avLst/>
          </a:prstGeom>
          <a:noFill/>
          <a:ln>
            <a:noFill/>
          </a:ln>
        </p:spPr>
        <p:txBody>
          <a:bodyPr anchorCtr="0" anchor="t" bIns="0" lIns="0" spcFirstLastPara="1" rIns="0" wrap="square" tIns="0">
            <a:spAutoFit/>
          </a:bodyPr>
          <a:lstStyle/>
          <a:p>
            <a:pPr indent="0" lvl="0" marL="0" marR="0" rtl="0" algn="l">
              <a:lnSpc>
                <a:spcPct val="120007"/>
              </a:lnSpc>
              <a:spcBef>
                <a:spcPts val="0"/>
              </a:spcBef>
              <a:spcAft>
                <a:spcPts val="0"/>
              </a:spcAft>
              <a:buNone/>
            </a:pPr>
            <a:r>
              <a:rPr b="0" i="0" lang="en-US" sz="2799" u="none" cap="none" strike="noStrike">
                <a:solidFill>
                  <a:srgbClr val="CBD5E1"/>
                </a:solidFill>
                <a:latin typeface="Arimo"/>
                <a:ea typeface="Arimo"/>
                <a:cs typeface="Arimo"/>
                <a:sym typeface="Arimo"/>
              </a:rPr>
              <a:t>Validate policies against your own standards before deployment using automated reasoning</a:t>
            </a:r>
            <a:endParaRPr/>
          </a:p>
        </p:txBody>
      </p:sp>
      <p:grpSp>
        <p:nvGrpSpPr>
          <p:cNvPr id="615" name="Google Shape;615;p16"/>
          <p:cNvGrpSpPr/>
          <p:nvPr/>
        </p:nvGrpSpPr>
        <p:grpSpPr>
          <a:xfrm>
            <a:off x="914400" y="8581073"/>
            <a:ext cx="16459200" cy="745807"/>
            <a:chOff x="0" y="-19050"/>
            <a:chExt cx="21945600" cy="994410"/>
          </a:xfrm>
        </p:grpSpPr>
        <p:sp>
          <p:nvSpPr>
            <p:cNvPr id="616" name="Google Shape;616;p16"/>
            <p:cNvSpPr/>
            <p:nvPr/>
          </p:nvSpPr>
          <p:spPr>
            <a:xfrm>
              <a:off x="0" y="0"/>
              <a:ext cx="21945600" cy="975360"/>
            </a:xfrm>
            <a:custGeom>
              <a:rect b="b" l="l" r="r" t="t"/>
              <a:pathLst>
                <a:path extrusionOk="0" h="975360" w="21945600">
                  <a:moveTo>
                    <a:pt x="0" y="0"/>
                  </a:moveTo>
                  <a:lnTo>
                    <a:pt x="21945600" y="0"/>
                  </a:lnTo>
                  <a:lnTo>
                    <a:pt x="21945600" y="975360"/>
                  </a:lnTo>
                  <a:lnTo>
                    <a:pt x="0" y="975360"/>
                  </a:lnTo>
                  <a:close/>
                </a:path>
              </a:pathLst>
            </a:custGeom>
            <a:blipFill rotWithShape="1">
              <a:blip r:embed="rId4">
                <a:alphaModFix amt="0"/>
              </a:blip>
              <a:stretch>
                <a:fillRect b="-388365" l="0" r="0" t="-388365"/>
              </a:stretch>
            </a:blipFill>
            <a:ln>
              <a:noFill/>
            </a:ln>
          </p:spPr>
        </p:sp>
        <p:sp>
          <p:nvSpPr>
            <p:cNvPr id="617" name="Google Shape;617;p16"/>
            <p:cNvSpPr txBox="1"/>
            <p:nvPr/>
          </p:nvSpPr>
          <p:spPr>
            <a:xfrm>
              <a:off x="0" y="-19050"/>
              <a:ext cx="21945600" cy="994410"/>
            </a:xfrm>
            <a:prstGeom prst="rect">
              <a:avLst/>
            </a:prstGeom>
            <a:noFill/>
            <a:ln>
              <a:noFill/>
            </a:ln>
          </p:spPr>
          <p:txBody>
            <a:bodyPr anchorCtr="0" anchor="ctr" bIns="0" lIns="0" spcFirstLastPara="1" rIns="0" wrap="square" tIns="0">
              <a:noAutofit/>
            </a:bodyPr>
            <a:lstStyle/>
            <a:p>
              <a:pPr indent="0" lvl="0" marL="0" marR="0" rtl="0" algn="l">
                <a:lnSpc>
                  <a:spcPct val="120007"/>
                </a:lnSpc>
                <a:spcBef>
                  <a:spcPts val="0"/>
                </a:spcBef>
                <a:spcAft>
                  <a:spcPts val="0"/>
                </a:spcAft>
                <a:buNone/>
              </a:pPr>
              <a:r>
                <a:rPr b="0" i="1" lang="en-US" sz="2799" u="none" cap="none" strike="noStrike">
                  <a:solidFill>
                    <a:srgbClr val="64748B"/>
                  </a:solidFill>
                  <a:latin typeface="Arimo"/>
                  <a:ea typeface="Arimo"/>
                  <a:cs typeface="Arimo"/>
                  <a:sym typeface="Arimo"/>
                </a:rPr>
                <a:t>Free for external access findings. Unused access detection requires organization-level scope.</a:t>
              </a: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sp>
        <p:nvSpPr>
          <p:cNvPr id="626" name="Google Shape;626;p1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sp>
      <p:sp>
        <p:nvSpPr>
          <p:cNvPr id="627" name="Google Shape;627;p17"/>
          <p:cNvSpPr/>
          <p:nvPr/>
        </p:nvSpPr>
        <p:spPr>
          <a:xfrm>
            <a:off x="462587" y="3769983"/>
            <a:ext cx="6036698" cy="3018349"/>
          </a:xfrm>
          <a:custGeom>
            <a:rect b="b" l="l" r="r" t="t"/>
            <a:pathLst>
              <a:path extrusionOk="0" h="3018349" w="6036698">
                <a:moveTo>
                  <a:pt x="0" y="0"/>
                </a:moveTo>
                <a:lnTo>
                  <a:pt x="6036698" y="0"/>
                </a:lnTo>
                <a:lnTo>
                  <a:pt x="6036698" y="3018349"/>
                </a:lnTo>
                <a:lnTo>
                  <a:pt x="0" y="3018349"/>
                </a:lnTo>
                <a:lnTo>
                  <a:pt x="0" y="0"/>
                </a:lnTo>
                <a:close/>
              </a:path>
            </a:pathLst>
          </a:custGeom>
          <a:blipFill rotWithShape="1">
            <a:blip r:embed="rId4">
              <a:alphaModFix/>
            </a:blip>
            <a:stretch>
              <a:fillRect b="0" l="0" r="0" t="0"/>
            </a:stretch>
          </a:blipFill>
          <a:ln>
            <a:noFill/>
          </a:ln>
        </p:spPr>
      </p:sp>
      <p:sp>
        <p:nvSpPr>
          <p:cNvPr id="628" name="Google Shape;628;p17"/>
          <p:cNvSpPr/>
          <p:nvPr/>
        </p:nvSpPr>
        <p:spPr>
          <a:xfrm>
            <a:off x="12567006" y="1528779"/>
            <a:ext cx="4894960" cy="4095450"/>
          </a:xfrm>
          <a:custGeom>
            <a:rect b="b" l="l" r="r" t="t"/>
            <a:pathLst>
              <a:path extrusionOk="0" h="4095450" w="4894960">
                <a:moveTo>
                  <a:pt x="0" y="0"/>
                </a:moveTo>
                <a:lnTo>
                  <a:pt x="4894960" y="0"/>
                </a:lnTo>
                <a:lnTo>
                  <a:pt x="4894960" y="4095449"/>
                </a:lnTo>
                <a:lnTo>
                  <a:pt x="0" y="4095449"/>
                </a:lnTo>
                <a:lnTo>
                  <a:pt x="0" y="0"/>
                </a:lnTo>
                <a:close/>
              </a:path>
            </a:pathLst>
          </a:custGeom>
          <a:blipFill rotWithShape="1">
            <a:blip r:embed="rId5">
              <a:alphaModFix/>
            </a:blip>
            <a:stretch>
              <a:fillRect b="0" l="0" r="0" t="0"/>
            </a:stretch>
          </a:blipFill>
          <a:ln>
            <a:noFill/>
          </a:ln>
        </p:spPr>
      </p:sp>
      <p:sp>
        <p:nvSpPr>
          <p:cNvPr id="629" name="Google Shape;629;p17"/>
          <p:cNvSpPr/>
          <p:nvPr/>
        </p:nvSpPr>
        <p:spPr>
          <a:xfrm>
            <a:off x="336074" y="8042549"/>
            <a:ext cx="6289725" cy="1863331"/>
          </a:xfrm>
          <a:custGeom>
            <a:rect b="b" l="l" r="r" t="t"/>
            <a:pathLst>
              <a:path extrusionOk="0" h="1863331" w="6289725">
                <a:moveTo>
                  <a:pt x="0" y="0"/>
                </a:moveTo>
                <a:lnTo>
                  <a:pt x="6289725" y="0"/>
                </a:lnTo>
                <a:lnTo>
                  <a:pt x="6289725" y="1863331"/>
                </a:lnTo>
                <a:lnTo>
                  <a:pt x="0" y="1863331"/>
                </a:lnTo>
                <a:lnTo>
                  <a:pt x="0" y="0"/>
                </a:lnTo>
                <a:close/>
              </a:path>
            </a:pathLst>
          </a:custGeom>
          <a:blipFill rotWithShape="1">
            <a:blip r:embed="rId6">
              <a:alphaModFix/>
            </a:blip>
            <a:stretch>
              <a:fillRect b="0" l="0" r="0" t="0"/>
            </a:stretch>
          </a:blipFill>
          <a:ln>
            <a:noFill/>
          </a:ln>
        </p:spPr>
      </p:sp>
      <p:sp>
        <p:nvSpPr>
          <p:cNvPr id="630" name="Google Shape;630;p17"/>
          <p:cNvSpPr/>
          <p:nvPr/>
        </p:nvSpPr>
        <p:spPr>
          <a:xfrm>
            <a:off x="13792133" y="7899822"/>
            <a:ext cx="4273994" cy="2136997"/>
          </a:xfrm>
          <a:custGeom>
            <a:rect b="b" l="l" r="r" t="t"/>
            <a:pathLst>
              <a:path extrusionOk="0" h="2136997" w="4273994">
                <a:moveTo>
                  <a:pt x="0" y="0"/>
                </a:moveTo>
                <a:lnTo>
                  <a:pt x="4273994" y="0"/>
                </a:lnTo>
                <a:lnTo>
                  <a:pt x="4273994" y="2136997"/>
                </a:lnTo>
                <a:lnTo>
                  <a:pt x="0" y="2136997"/>
                </a:lnTo>
                <a:lnTo>
                  <a:pt x="0" y="0"/>
                </a:lnTo>
                <a:close/>
              </a:path>
            </a:pathLst>
          </a:custGeom>
          <a:blipFill rotWithShape="1">
            <a:blip r:embed="rId7">
              <a:alphaModFix/>
            </a:blip>
            <a:stretch>
              <a:fillRect b="0" l="0" r="0" t="0"/>
            </a:stretch>
          </a:blipFill>
          <a:ln>
            <a:noFill/>
          </a:ln>
        </p:spPr>
      </p:sp>
      <p:sp>
        <p:nvSpPr>
          <p:cNvPr id="631" name="Google Shape;631;p17"/>
          <p:cNvSpPr/>
          <p:nvPr/>
        </p:nvSpPr>
        <p:spPr>
          <a:xfrm>
            <a:off x="7184005" y="2620873"/>
            <a:ext cx="2623304" cy="2623304"/>
          </a:xfrm>
          <a:custGeom>
            <a:rect b="b" l="l" r="r" t="t"/>
            <a:pathLst>
              <a:path extrusionOk="0" h="2623304" w="2623304">
                <a:moveTo>
                  <a:pt x="0" y="0"/>
                </a:moveTo>
                <a:lnTo>
                  <a:pt x="2623304" y="0"/>
                </a:lnTo>
                <a:lnTo>
                  <a:pt x="2623304" y="2623305"/>
                </a:lnTo>
                <a:lnTo>
                  <a:pt x="0" y="2623305"/>
                </a:lnTo>
                <a:lnTo>
                  <a:pt x="0" y="0"/>
                </a:lnTo>
                <a:close/>
              </a:path>
            </a:pathLst>
          </a:custGeom>
          <a:blipFill rotWithShape="1">
            <a:blip r:embed="rId8">
              <a:alphaModFix/>
            </a:blip>
            <a:stretch>
              <a:fillRect b="0" l="0" r="0" t="0"/>
            </a:stretch>
          </a:blipFill>
          <a:ln>
            <a:noFill/>
          </a:ln>
        </p:spPr>
      </p:sp>
      <p:sp>
        <p:nvSpPr>
          <p:cNvPr id="632" name="Google Shape;632;p17"/>
          <p:cNvSpPr/>
          <p:nvPr/>
        </p:nvSpPr>
        <p:spPr>
          <a:xfrm>
            <a:off x="10122558" y="5536477"/>
            <a:ext cx="4600745" cy="2013849"/>
          </a:xfrm>
          <a:custGeom>
            <a:rect b="b" l="l" r="r" t="t"/>
            <a:pathLst>
              <a:path extrusionOk="0" h="2013849" w="4600745">
                <a:moveTo>
                  <a:pt x="0" y="0"/>
                </a:moveTo>
                <a:lnTo>
                  <a:pt x="4600744" y="0"/>
                </a:lnTo>
                <a:lnTo>
                  <a:pt x="4600744" y="2013850"/>
                </a:lnTo>
                <a:lnTo>
                  <a:pt x="0" y="2013850"/>
                </a:lnTo>
                <a:lnTo>
                  <a:pt x="0" y="0"/>
                </a:lnTo>
                <a:close/>
              </a:path>
            </a:pathLst>
          </a:custGeom>
          <a:blipFill rotWithShape="1">
            <a:blip r:embed="rId9">
              <a:alphaModFix/>
            </a:blip>
            <a:stretch>
              <a:fillRect b="-63930" l="-22805" r="-18713" t="-5808"/>
            </a:stretch>
          </a:blipFill>
          <a:ln>
            <a:noFill/>
          </a:ln>
        </p:spPr>
      </p:sp>
      <p:sp>
        <p:nvSpPr>
          <p:cNvPr id="633" name="Google Shape;633;p17"/>
          <p:cNvSpPr/>
          <p:nvPr/>
        </p:nvSpPr>
        <p:spPr>
          <a:xfrm>
            <a:off x="7934920" y="7333837"/>
            <a:ext cx="2418160" cy="2572042"/>
          </a:xfrm>
          <a:custGeom>
            <a:rect b="b" l="l" r="r" t="t"/>
            <a:pathLst>
              <a:path extrusionOk="0" h="2572042" w="2418160">
                <a:moveTo>
                  <a:pt x="0" y="0"/>
                </a:moveTo>
                <a:lnTo>
                  <a:pt x="2418160" y="0"/>
                </a:lnTo>
                <a:lnTo>
                  <a:pt x="2418160" y="2572043"/>
                </a:lnTo>
                <a:lnTo>
                  <a:pt x="0" y="2572043"/>
                </a:lnTo>
                <a:lnTo>
                  <a:pt x="0" y="0"/>
                </a:lnTo>
                <a:close/>
              </a:path>
            </a:pathLst>
          </a:custGeom>
          <a:blipFill rotWithShape="1">
            <a:blip r:embed="rId10">
              <a:alphaModFix/>
            </a:blip>
            <a:stretch>
              <a:fillRect b="0" l="0" r="0" t="0"/>
            </a:stretch>
          </a:blipFill>
          <a:ln>
            <a:noFill/>
          </a:ln>
        </p:spPr>
      </p:sp>
      <p:grpSp>
        <p:nvGrpSpPr>
          <p:cNvPr id="634" name="Google Shape;634;p17"/>
          <p:cNvGrpSpPr/>
          <p:nvPr/>
        </p:nvGrpSpPr>
        <p:grpSpPr>
          <a:xfrm>
            <a:off x="914400" y="182880"/>
            <a:ext cx="16459200" cy="1188720"/>
            <a:chOff x="0" y="0"/>
            <a:chExt cx="21945600" cy="1584960"/>
          </a:xfrm>
        </p:grpSpPr>
        <p:sp>
          <p:nvSpPr>
            <p:cNvPr id="635" name="Google Shape;635;p17"/>
            <p:cNvSpPr/>
            <p:nvPr/>
          </p:nvSpPr>
          <p:spPr>
            <a:xfrm>
              <a:off x="0" y="0"/>
              <a:ext cx="21945600" cy="1584960"/>
            </a:xfrm>
            <a:custGeom>
              <a:rect b="b" l="l" r="r" t="t"/>
              <a:pathLst>
                <a:path extrusionOk="0" h="1584960" w="21945600">
                  <a:moveTo>
                    <a:pt x="0" y="0"/>
                  </a:moveTo>
                  <a:lnTo>
                    <a:pt x="21945600" y="0"/>
                  </a:lnTo>
                  <a:lnTo>
                    <a:pt x="21945600" y="1584960"/>
                  </a:lnTo>
                  <a:lnTo>
                    <a:pt x="0" y="1584960"/>
                  </a:lnTo>
                  <a:close/>
                </a:path>
              </a:pathLst>
            </a:custGeom>
            <a:blipFill rotWithShape="1">
              <a:blip r:embed="rId11">
                <a:alphaModFix amt="0"/>
              </a:blip>
              <a:stretch>
                <a:fillRect b="-219774" l="0" r="0" t="-219774"/>
              </a:stretch>
            </a:blipFill>
            <a:ln>
              <a:noFill/>
            </a:ln>
          </p:spPr>
        </p:sp>
        <p:sp>
          <p:nvSpPr>
            <p:cNvPr id="636" name="Google Shape;636;p17"/>
            <p:cNvSpPr txBox="1"/>
            <p:nvPr/>
          </p:nvSpPr>
          <p:spPr>
            <a:xfrm>
              <a:off x="0" y="0"/>
              <a:ext cx="21945600" cy="158496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6400" u="none" cap="none" strike="noStrike">
                  <a:solidFill>
                    <a:srgbClr val="FFFFFF"/>
                  </a:solidFill>
                  <a:latin typeface="Montserrat"/>
                  <a:ea typeface="Montserrat"/>
                  <a:cs typeface="Montserrat"/>
                  <a:sym typeface="Montserrat"/>
                </a:rPr>
                <a:t>Shift Left: Lint Your Policies in CI/CD</a:t>
              </a:r>
              <a:endParaRPr/>
            </a:p>
          </p:txBody>
        </p:sp>
      </p:grpSp>
      <p:grpSp>
        <p:nvGrpSpPr>
          <p:cNvPr id="637" name="Google Shape;637;p17"/>
          <p:cNvGrpSpPr/>
          <p:nvPr/>
        </p:nvGrpSpPr>
        <p:grpSpPr>
          <a:xfrm>
            <a:off x="914400" y="1533049"/>
            <a:ext cx="16459200" cy="752951"/>
            <a:chOff x="0" y="-28575"/>
            <a:chExt cx="21945600" cy="1003935"/>
          </a:xfrm>
        </p:grpSpPr>
        <p:sp>
          <p:nvSpPr>
            <p:cNvPr id="638" name="Google Shape;638;p17"/>
            <p:cNvSpPr/>
            <p:nvPr/>
          </p:nvSpPr>
          <p:spPr>
            <a:xfrm>
              <a:off x="0" y="0"/>
              <a:ext cx="21945600" cy="975360"/>
            </a:xfrm>
            <a:custGeom>
              <a:rect b="b" l="l" r="r" t="t"/>
              <a:pathLst>
                <a:path extrusionOk="0" h="975360" w="21945600">
                  <a:moveTo>
                    <a:pt x="0" y="0"/>
                  </a:moveTo>
                  <a:lnTo>
                    <a:pt x="21945600" y="0"/>
                  </a:lnTo>
                  <a:lnTo>
                    <a:pt x="21945600" y="975360"/>
                  </a:lnTo>
                  <a:lnTo>
                    <a:pt x="0" y="975360"/>
                  </a:lnTo>
                  <a:close/>
                </a:path>
              </a:pathLst>
            </a:custGeom>
            <a:blipFill rotWithShape="1">
              <a:blip r:embed="rId11">
                <a:alphaModFix amt="0"/>
              </a:blip>
              <a:stretch>
                <a:fillRect b="-388365" l="0" r="0" t="-388365"/>
              </a:stretch>
            </a:blipFill>
            <a:ln>
              <a:noFill/>
            </a:ln>
          </p:spPr>
        </p:sp>
        <p:sp>
          <p:nvSpPr>
            <p:cNvPr id="639" name="Google Shape;639;p17"/>
            <p:cNvSpPr txBox="1"/>
            <p:nvPr/>
          </p:nvSpPr>
          <p:spPr>
            <a:xfrm>
              <a:off x="0" y="-28575"/>
              <a:ext cx="21945600" cy="1003935"/>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0" i="0" lang="en-US" sz="3200" u="none" cap="none" strike="noStrike">
                  <a:solidFill>
                    <a:srgbClr val="CBD5E1"/>
                  </a:solidFill>
                  <a:latin typeface="Arimo"/>
                  <a:ea typeface="Arimo"/>
                  <a:cs typeface="Arimo"/>
                  <a:sym typeface="Arimo"/>
                </a:rPr>
                <a:t>Catch IAM misconfigurations before they reach AWS.</a:t>
              </a: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sp>
        <p:nvSpPr>
          <p:cNvPr id="648" name="Google Shape;648;p1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sp>
      <p:grpSp>
        <p:nvGrpSpPr>
          <p:cNvPr id="649" name="Google Shape;649;p18"/>
          <p:cNvGrpSpPr/>
          <p:nvPr/>
        </p:nvGrpSpPr>
        <p:grpSpPr>
          <a:xfrm>
            <a:off x="800100" y="845820"/>
            <a:ext cx="16459200" cy="1280160"/>
            <a:chOff x="0" y="0"/>
            <a:chExt cx="21945600" cy="1706880"/>
          </a:xfrm>
        </p:grpSpPr>
        <p:sp>
          <p:nvSpPr>
            <p:cNvPr id="650" name="Google Shape;650;p18"/>
            <p:cNvSpPr/>
            <p:nvPr/>
          </p:nvSpPr>
          <p:spPr>
            <a:xfrm>
              <a:off x="0" y="0"/>
              <a:ext cx="21945600" cy="1706880"/>
            </a:xfrm>
            <a:custGeom>
              <a:rect b="b" l="l" r="r" t="t"/>
              <a:pathLst>
                <a:path extrusionOk="0" h="1706880" w="21945600">
                  <a:moveTo>
                    <a:pt x="0" y="0"/>
                  </a:moveTo>
                  <a:lnTo>
                    <a:pt x="21945600" y="0"/>
                  </a:lnTo>
                  <a:lnTo>
                    <a:pt x="21945600" y="1706880"/>
                  </a:lnTo>
                  <a:lnTo>
                    <a:pt x="0" y="1706880"/>
                  </a:lnTo>
                  <a:close/>
                </a:path>
              </a:pathLst>
            </a:custGeom>
            <a:blipFill rotWithShape="1">
              <a:blip r:embed="rId4">
                <a:alphaModFix amt="0"/>
              </a:blip>
              <a:stretch>
                <a:fillRect b="-200501" l="0" r="0" t="-200501"/>
              </a:stretch>
            </a:blipFill>
            <a:ln>
              <a:noFill/>
            </a:ln>
          </p:spPr>
        </p:sp>
        <p:sp>
          <p:nvSpPr>
            <p:cNvPr id="651" name="Google Shape;651;p18"/>
            <p:cNvSpPr txBox="1"/>
            <p:nvPr/>
          </p:nvSpPr>
          <p:spPr>
            <a:xfrm>
              <a:off x="0" y="0"/>
              <a:ext cx="21945600" cy="170688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US" sz="7600" u="none" cap="none" strike="noStrike">
                  <a:solidFill>
                    <a:srgbClr val="FFFFFF"/>
                  </a:solidFill>
                  <a:latin typeface="Montserrat"/>
                  <a:ea typeface="Montserrat"/>
                  <a:cs typeface="Montserrat"/>
                  <a:sym typeface="Montserrat"/>
                </a:rPr>
                <a:t>Lab 2: Your Mission</a:t>
              </a:r>
              <a:endParaRPr/>
            </a:p>
          </p:txBody>
        </p:sp>
      </p:grpSp>
      <p:graphicFrame>
        <p:nvGraphicFramePr>
          <p:cNvPr id="652" name="Google Shape;652;p18"/>
          <p:cNvGraphicFramePr/>
          <p:nvPr/>
        </p:nvGraphicFramePr>
        <p:xfrm>
          <a:off x="800100" y="2217420"/>
          <a:ext cx="3000000" cy="3000000"/>
        </p:xfrm>
        <a:graphic>
          <a:graphicData uri="http://schemas.openxmlformats.org/drawingml/2006/table">
            <a:tbl>
              <a:tblPr>
                <a:noFill/>
                <a:tableStyleId>{8EBCCE26-067B-4FF9-9926-E5A3308F73E1}</a:tableStyleId>
              </a:tblPr>
              <a:tblGrid>
                <a:gridCol w="913000"/>
                <a:gridCol w="4564950"/>
                <a:gridCol w="6756125"/>
                <a:gridCol w="4199750"/>
              </a:tblGrid>
              <a:tr h="600850">
                <a:tc>
                  <a:txBody>
                    <a:bodyPr/>
                    <a:lstStyle/>
                    <a:p>
                      <a:pPr indent="0" lvl="0" marL="0" marR="0" rtl="0" algn="ctr">
                        <a:lnSpc>
                          <a:spcPct val="120000"/>
                        </a:lnSpc>
                        <a:spcBef>
                          <a:spcPts val="0"/>
                        </a:spcBef>
                        <a:spcAft>
                          <a:spcPts val="0"/>
                        </a:spcAft>
                        <a:buNone/>
                      </a:pPr>
                      <a:r>
                        <a:rPr b="1" lang="en-US" sz="2600" u="none" cap="none" strike="noStrike">
                          <a:solidFill>
                            <a:srgbClr val="64748B"/>
                          </a:solidFill>
                          <a:latin typeface="Montserrat"/>
                          <a:ea typeface="Montserrat"/>
                          <a:cs typeface="Montserrat"/>
                          <a:sym typeface="Montserrat"/>
                        </a:rPr>
                        <a:t>#</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1120"/>
                    </a:solidFill>
                  </a:tcPr>
                </a:tc>
                <a:tc>
                  <a:txBody>
                    <a:bodyPr/>
                    <a:lstStyle/>
                    <a:p>
                      <a:pPr indent="0" lvl="0" marL="0" marR="0" rtl="0" algn="l">
                        <a:lnSpc>
                          <a:spcPct val="120000"/>
                        </a:lnSpc>
                        <a:spcBef>
                          <a:spcPts val="0"/>
                        </a:spcBef>
                        <a:spcAft>
                          <a:spcPts val="0"/>
                        </a:spcAft>
                        <a:buNone/>
                      </a:pPr>
                      <a:r>
                        <a:rPr b="1" lang="en-US" sz="2600" u="none" cap="none" strike="noStrike">
                          <a:solidFill>
                            <a:srgbClr val="64748B"/>
                          </a:solidFill>
                          <a:latin typeface="Montserrat"/>
                          <a:ea typeface="Montserrat"/>
                          <a:cs typeface="Montserrat"/>
                          <a:sym typeface="Montserrat"/>
                        </a:rPr>
                        <a:t>Exercise</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1120"/>
                    </a:solidFill>
                  </a:tcPr>
                </a:tc>
                <a:tc>
                  <a:txBody>
                    <a:bodyPr/>
                    <a:lstStyle/>
                    <a:p>
                      <a:pPr indent="0" lvl="0" marL="0" marR="0" rtl="0" algn="l">
                        <a:lnSpc>
                          <a:spcPct val="120000"/>
                        </a:lnSpc>
                        <a:spcBef>
                          <a:spcPts val="0"/>
                        </a:spcBef>
                        <a:spcAft>
                          <a:spcPts val="0"/>
                        </a:spcAft>
                        <a:buNone/>
                      </a:pPr>
                      <a:r>
                        <a:rPr b="1" lang="en-US" sz="2600" u="none" cap="none" strike="noStrike">
                          <a:solidFill>
                            <a:srgbClr val="64748B"/>
                          </a:solidFill>
                          <a:latin typeface="Montserrat"/>
                          <a:ea typeface="Montserrat"/>
                          <a:cs typeface="Montserrat"/>
                          <a:sym typeface="Montserrat"/>
                        </a:rPr>
                        <a:t>You Will...</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1120"/>
                    </a:solidFill>
                  </a:tcPr>
                </a:tc>
                <a:tc>
                  <a:txBody>
                    <a:bodyPr/>
                    <a:lstStyle/>
                    <a:p>
                      <a:pPr indent="0" lvl="0" marL="0" marR="0" rtl="0" algn="r">
                        <a:lnSpc>
                          <a:spcPct val="120000"/>
                        </a:lnSpc>
                        <a:spcBef>
                          <a:spcPts val="0"/>
                        </a:spcBef>
                        <a:spcAft>
                          <a:spcPts val="0"/>
                        </a:spcAft>
                        <a:buNone/>
                      </a:pPr>
                      <a:r>
                        <a:rPr b="1" lang="en-US" sz="2600" u="none" cap="none" strike="noStrike">
                          <a:solidFill>
                            <a:srgbClr val="64748B"/>
                          </a:solidFill>
                          <a:latin typeface="Montserrat"/>
                          <a:ea typeface="Montserrat"/>
                          <a:cs typeface="Montserrat"/>
                          <a:sym typeface="Montserrat"/>
                        </a:rPr>
                        <a:t>Guardrail Type</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0B1120"/>
                    </a:solidFill>
                  </a:tcPr>
                </a:tc>
              </a:tr>
              <a:tr h="1170350">
                <a:tc>
                  <a:txBody>
                    <a:bodyPr/>
                    <a:lstStyle/>
                    <a:p>
                      <a:pPr indent="0" lvl="0" marL="0" marR="0" rtl="0" algn="ctr">
                        <a:lnSpc>
                          <a:spcPct val="120000"/>
                        </a:lnSpc>
                        <a:spcBef>
                          <a:spcPts val="0"/>
                        </a:spcBef>
                        <a:spcAft>
                          <a:spcPts val="0"/>
                        </a:spcAft>
                        <a:buNone/>
                      </a:pPr>
                      <a:r>
                        <a:rPr b="1" lang="en-US" sz="3600" u="none" cap="none" strike="noStrike">
                          <a:solidFill>
                            <a:srgbClr val="22D3EE"/>
                          </a:solidFill>
                          <a:latin typeface="Montserrat"/>
                          <a:ea typeface="Montserrat"/>
                          <a:cs typeface="Montserrat"/>
                          <a:sym typeface="Montserrat"/>
                        </a:rPr>
                        <a:t>1</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7"/>
                        </a:lnSpc>
                        <a:spcBef>
                          <a:spcPts val="0"/>
                        </a:spcBef>
                        <a:spcAft>
                          <a:spcPts val="0"/>
                        </a:spcAft>
                        <a:buNone/>
                      </a:pPr>
                      <a:r>
                        <a:rPr b="1" lang="en-US" sz="2799" u="none" cap="none" strike="noStrike">
                          <a:solidFill>
                            <a:srgbClr val="FFFFFF"/>
                          </a:solidFill>
                          <a:latin typeface="Montserrat"/>
                          <a:ea typeface="Montserrat"/>
                          <a:cs typeface="Montserrat"/>
                          <a:sym typeface="Montserrat"/>
                        </a:rPr>
                        <a:t>Permissions Boundary</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None/>
                      </a:pPr>
                      <a:r>
                        <a:rPr lang="en-US" sz="3000" u="none" cap="none" strike="noStrike">
                          <a:solidFill>
                            <a:srgbClr val="CBD5E1"/>
                          </a:solidFill>
                          <a:latin typeface="Arimo"/>
                          <a:ea typeface="Arimo"/>
                          <a:cs typeface="Arimo"/>
                          <a:sym typeface="Arimo"/>
                        </a:rPr>
                        <a:t>Create DeveloperBoundary, apply to policy-developer</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r">
                        <a:lnSpc>
                          <a:spcPct val="120000"/>
                        </a:lnSpc>
                        <a:spcBef>
                          <a:spcPts val="0"/>
                        </a:spcBef>
                        <a:spcAft>
                          <a:spcPts val="0"/>
                        </a:spcAft>
                        <a:buNone/>
                      </a:pPr>
                      <a:r>
                        <a:rPr lang="en-US" sz="2600" u="none" cap="none" strike="noStrike">
                          <a:solidFill>
                            <a:srgbClr val="E2E8F0"/>
                          </a:solidFill>
                          <a:latin typeface="Consolas"/>
                          <a:ea typeface="Consolas"/>
                          <a:cs typeface="Consolas"/>
                          <a:sym typeface="Consolas"/>
                        </a:rPr>
                        <a:t>Perm. Boundary</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r>
              <a:tr h="1170350">
                <a:tc>
                  <a:txBody>
                    <a:bodyPr/>
                    <a:lstStyle/>
                    <a:p>
                      <a:pPr indent="0" lvl="0" marL="0" marR="0" rtl="0" algn="ctr">
                        <a:lnSpc>
                          <a:spcPct val="120000"/>
                        </a:lnSpc>
                        <a:spcBef>
                          <a:spcPts val="0"/>
                        </a:spcBef>
                        <a:spcAft>
                          <a:spcPts val="0"/>
                        </a:spcAft>
                        <a:buNone/>
                      </a:pPr>
                      <a:r>
                        <a:rPr b="1" lang="en-US" sz="3600" u="none" cap="none" strike="noStrike">
                          <a:solidFill>
                            <a:srgbClr val="22D3EE"/>
                          </a:solidFill>
                          <a:latin typeface="Montserrat"/>
                          <a:ea typeface="Montserrat"/>
                          <a:cs typeface="Montserrat"/>
                          <a:sym typeface="Montserrat"/>
                        </a:rPr>
                        <a:t>2</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7"/>
                        </a:lnSpc>
                        <a:spcBef>
                          <a:spcPts val="0"/>
                        </a:spcBef>
                        <a:spcAft>
                          <a:spcPts val="0"/>
                        </a:spcAft>
                        <a:buNone/>
                      </a:pPr>
                      <a:r>
                        <a:rPr b="1" lang="en-US" sz="2799" u="none" cap="none" strike="noStrike">
                          <a:solidFill>
                            <a:srgbClr val="FFFFFF"/>
                          </a:solidFill>
                          <a:latin typeface="Montserrat"/>
                          <a:ea typeface="Montserrat"/>
                          <a:cs typeface="Montserrat"/>
                          <a:sym typeface="Montserrat"/>
                        </a:rPr>
                        <a:t>Trust Policy</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None/>
                      </a:pPr>
                      <a:r>
                        <a:rPr lang="en-US" sz="3000" u="none" cap="none" strike="noStrike">
                          <a:solidFill>
                            <a:srgbClr val="CBD5E1"/>
                          </a:solidFill>
                          <a:latin typeface="Arimo"/>
                          <a:ea typeface="Arimo"/>
                          <a:cs typeface="Arimo"/>
                          <a:sym typeface="Arimo"/>
                        </a:rPr>
                        <a:t>Harden privileged-admin-role trust policy</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r">
                        <a:lnSpc>
                          <a:spcPct val="120000"/>
                        </a:lnSpc>
                        <a:spcBef>
                          <a:spcPts val="0"/>
                        </a:spcBef>
                        <a:spcAft>
                          <a:spcPts val="0"/>
                        </a:spcAft>
                        <a:buNone/>
                      </a:pPr>
                      <a:r>
                        <a:rPr lang="en-US" sz="2600" u="none" cap="none" strike="noStrike">
                          <a:solidFill>
                            <a:srgbClr val="E2E8F0"/>
                          </a:solidFill>
                          <a:latin typeface="Consolas"/>
                          <a:ea typeface="Consolas"/>
                          <a:cs typeface="Consolas"/>
                          <a:sym typeface="Consolas"/>
                        </a:rPr>
                        <a:t>Resource Policy</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r>
              <a:tr h="1170350">
                <a:tc>
                  <a:txBody>
                    <a:bodyPr/>
                    <a:lstStyle/>
                    <a:p>
                      <a:pPr indent="0" lvl="0" marL="0" marR="0" rtl="0" algn="ctr">
                        <a:lnSpc>
                          <a:spcPct val="120000"/>
                        </a:lnSpc>
                        <a:spcBef>
                          <a:spcPts val="0"/>
                        </a:spcBef>
                        <a:spcAft>
                          <a:spcPts val="0"/>
                        </a:spcAft>
                        <a:buNone/>
                      </a:pPr>
                      <a:r>
                        <a:rPr b="1" lang="en-US" sz="3600" u="none" cap="none" strike="noStrike">
                          <a:solidFill>
                            <a:srgbClr val="22D3EE"/>
                          </a:solidFill>
                          <a:latin typeface="Montserrat"/>
                          <a:ea typeface="Montserrat"/>
                          <a:cs typeface="Montserrat"/>
                          <a:sym typeface="Montserrat"/>
                        </a:rPr>
                        <a:t>3</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7"/>
                        </a:lnSpc>
                        <a:spcBef>
                          <a:spcPts val="0"/>
                        </a:spcBef>
                        <a:spcAft>
                          <a:spcPts val="0"/>
                        </a:spcAft>
                        <a:buNone/>
                      </a:pPr>
                      <a:r>
                        <a:rPr b="1" lang="en-US" sz="2799" u="none" cap="none" strike="noStrike">
                          <a:solidFill>
                            <a:srgbClr val="FFFFFF"/>
                          </a:solidFill>
                          <a:latin typeface="Montserrat"/>
                          <a:ea typeface="Montserrat"/>
                          <a:cs typeface="Montserrat"/>
                          <a:sym typeface="Montserrat"/>
                        </a:rPr>
                        <a:t>Condition Key</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None/>
                      </a:pPr>
                      <a:r>
                        <a:rPr lang="en-US" sz="3000" u="none" cap="none" strike="noStrike">
                          <a:solidFill>
                            <a:srgbClr val="CBD5E1"/>
                          </a:solidFill>
                          <a:latin typeface="Arimo"/>
                          <a:ea typeface="Arimo"/>
                          <a:cs typeface="Arimo"/>
                          <a:sym typeface="Arimo"/>
                        </a:rPr>
                        <a:t>Add iam:PassedToService + resource constraint</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r">
                        <a:lnSpc>
                          <a:spcPct val="120000"/>
                        </a:lnSpc>
                        <a:spcBef>
                          <a:spcPts val="0"/>
                        </a:spcBef>
                        <a:spcAft>
                          <a:spcPts val="0"/>
                        </a:spcAft>
                        <a:buNone/>
                      </a:pPr>
                      <a:r>
                        <a:rPr lang="en-US" sz="2600" u="none" cap="none" strike="noStrike">
                          <a:solidFill>
                            <a:srgbClr val="E2E8F0"/>
                          </a:solidFill>
                          <a:latin typeface="Consolas"/>
                          <a:ea typeface="Consolas"/>
                          <a:cs typeface="Consolas"/>
                          <a:sym typeface="Consolas"/>
                        </a:rPr>
                        <a:t>Condition Key</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r>
              <a:tr h="1145875">
                <a:tc>
                  <a:txBody>
                    <a:bodyPr/>
                    <a:lstStyle/>
                    <a:p>
                      <a:pPr indent="0" lvl="0" marL="0" marR="0" rtl="0" algn="ctr">
                        <a:lnSpc>
                          <a:spcPct val="120000"/>
                        </a:lnSpc>
                        <a:spcBef>
                          <a:spcPts val="0"/>
                        </a:spcBef>
                        <a:spcAft>
                          <a:spcPts val="0"/>
                        </a:spcAft>
                        <a:buNone/>
                      </a:pPr>
                      <a:r>
                        <a:rPr b="1" lang="en-US" sz="3600" u="none" cap="none" strike="noStrike">
                          <a:solidFill>
                            <a:srgbClr val="22D3EE"/>
                          </a:solidFill>
                          <a:latin typeface="Montserrat"/>
                          <a:ea typeface="Montserrat"/>
                          <a:cs typeface="Montserrat"/>
                          <a:sym typeface="Montserrat"/>
                        </a:rPr>
                        <a:t>4</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7"/>
                        </a:lnSpc>
                        <a:spcBef>
                          <a:spcPts val="0"/>
                        </a:spcBef>
                        <a:spcAft>
                          <a:spcPts val="0"/>
                        </a:spcAft>
                        <a:buNone/>
                      </a:pPr>
                      <a:r>
                        <a:rPr b="1" lang="en-US" sz="2799" u="none" cap="none" strike="noStrike">
                          <a:solidFill>
                            <a:srgbClr val="FFFFFF"/>
                          </a:solidFill>
                          <a:latin typeface="Montserrat"/>
                          <a:ea typeface="Montserrat"/>
                          <a:cs typeface="Montserrat"/>
                          <a:sym typeface="Montserrat"/>
                        </a:rPr>
                        <a:t>Resource Constraint</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l">
                        <a:lnSpc>
                          <a:spcPct val="120000"/>
                        </a:lnSpc>
                        <a:spcBef>
                          <a:spcPts val="0"/>
                        </a:spcBef>
                        <a:spcAft>
                          <a:spcPts val="0"/>
                        </a:spcAft>
                        <a:buNone/>
                      </a:pPr>
                      <a:r>
                        <a:rPr lang="en-US" sz="3000" u="none" cap="none" strike="noStrike">
                          <a:solidFill>
                            <a:srgbClr val="CBD5E1"/>
                          </a:solidFill>
                          <a:latin typeface="Arimo"/>
                          <a:ea typeface="Arimo"/>
                          <a:cs typeface="Arimo"/>
                          <a:sym typeface="Arimo"/>
                        </a:rPr>
                        <a:t>Scope lambda-developer to dev-* functions</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c>
                  <a:txBody>
                    <a:bodyPr/>
                    <a:lstStyle/>
                    <a:p>
                      <a:pPr indent="0" lvl="0" marL="0" marR="0" rtl="0" algn="r">
                        <a:lnSpc>
                          <a:spcPct val="120000"/>
                        </a:lnSpc>
                        <a:spcBef>
                          <a:spcPts val="0"/>
                        </a:spcBef>
                        <a:spcAft>
                          <a:spcPts val="0"/>
                        </a:spcAft>
                        <a:buNone/>
                      </a:pPr>
                      <a:r>
                        <a:rPr lang="en-US" sz="2600" u="none" cap="none" strike="noStrike">
                          <a:solidFill>
                            <a:srgbClr val="E2E8F0"/>
                          </a:solidFill>
                          <a:latin typeface="Consolas"/>
                          <a:ea typeface="Consolas"/>
                          <a:cs typeface="Consolas"/>
                          <a:sym typeface="Consolas"/>
                        </a:rPr>
                        <a:t>Identity Policy</a:t>
                      </a:r>
                      <a:endParaRPr sz="1100" u="none" cap="none" strike="noStrike"/>
                    </a:p>
                  </a:txBody>
                  <a:tcPr marT="109725" marB="109725" marR="109725" marL="109725"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1A2540"/>
                    </a:solidFill>
                  </a:tcPr>
                </a:tc>
              </a:tr>
            </a:tbl>
          </a:graphicData>
        </a:graphic>
      </p:graphicFrame>
      <p:grpSp>
        <p:nvGrpSpPr>
          <p:cNvPr id="653" name="Google Shape;653;p18"/>
          <p:cNvGrpSpPr/>
          <p:nvPr/>
        </p:nvGrpSpPr>
        <p:grpSpPr>
          <a:xfrm>
            <a:off x="800100" y="8343900"/>
            <a:ext cx="16459200" cy="914400"/>
            <a:chOff x="0" y="0"/>
            <a:chExt cx="21945600" cy="1219200"/>
          </a:xfrm>
        </p:grpSpPr>
        <p:sp>
          <p:nvSpPr>
            <p:cNvPr id="654" name="Google Shape;654;p18"/>
            <p:cNvSpPr/>
            <p:nvPr/>
          </p:nvSpPr>
          <p:spPr>
            <a:xfrm>
              <a:off x="0" y="0"/>
              <a:ext cx="21945600" cy="1219200"/>
            </a:xfrm>
            <a:custGeom>
              <a:rect b="b" l="l" r="r" t="t"/>
              <a:pathLst>
                <a:path extrusionOk="0" h="1219200" w="21945600">
                  <a:moveTo>
                    <a:pt x="0" y="0"/>
                  </a:moveTo>
                  <a:lnTo>
                    <a:pt x="21945600" y="0"/>
                  </a:lnTo>
                  <a:lnTo>
                    <a:pt x="21945600" y="1219200"/>
                  </a:lnTo>
                  <a:lnTo>
                    <a:pt x="0" y="1219200"/>
                  </a:lnTo>
                  <a:close/>
                </a:path>
              </a:pathLst>
            </a:custGeom>
            <a:blipFill rotWithShape="1">
              <a:blip r:embed="rId4">
                <a:alphaModFix amt="0"/>
              </a:blip>
              <a:stretch>
                <a:fillRect b="-300701" l="0" r="0" t="-300708"/>
              </a:stretch>
            </a:blipFill>
            <a:ln>
              <a:noFill/>
            </a:ln>
          </p:spPr>
        </p:sp>
        <p:sp>
          <p:nvSpPr>
            <p:cNvPr id="655" name="Google Shape;655;p18"/>
            <p:cNvSpPr txBox="1"/>
            <p:nvPr/>
          </p:nvSpPr>
          <p:spPr>
            <a:xfrm>
              <a:off x="0" y="0"/>
              <a:ext cx="21945600" cy="1219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i="0" lang="en-US" sz="4000" u="none" cap="none" strike="noStrike">
                  <a:solidFill>
                    <a:srgbClr val="F59E0B"/>
                  </a:solidFill>
                  <a:latin typeface="Montserrat"/>
                  <a:ea typeface="Montserrat"/>
                  <a:cs typeface="Montserrat"/>
                  <a:sym typeface="Montserrat"/>
                </a:rPr>
                <a:t>Exploit → Remediate → Verify. 45 minutes.</a:t>
              </a: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19"/>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9257" l="0" r="0" t="-9258"/>
            </a:stretch>
          </a:blipFill>
          <a:ln>
            <a:noFill/>
          </a:ln>
        </p:spPr>
      </p:sp>
      <p:grpSp>
        <p:nvGrpSpPr>
          <p:cNvPr id="665" name="Google Shape;665;p19"/>
          <p:cNvGrpSpPr/>
          <p:nvPr/>
        </p:nvGrpSpPr>
        <p:grpSpPr>
          <a:xfrm>
            <a:off x="263320" y="1554437"/>
            <a:ext cx="17761360" cy="3736181"/>
            <a:chOff x="0" y="-104775"/>
            <a:chExt cx="23681813" cy="4981575"/>
          </a:xfrm>
        </p:grpSpPr>
        <p:sp>
          <p:nvSpPr>
            <p:cNvPr id="666" name="Google Shape;666;p19"/>
            <p:cNvSpPr/>
            <p:nvPr/>
          </p:nvSpPr>
          <p:spPr>
            <a:xfrm>
              <a:off x="0" y="0"/>
              <a:ext cx="23681813" cy="4876800"/>
            </a:xfrm>
            <a:custGeom>
              <a:rect b="b" l="l" r="r" t="t"/>
              <a:pathLst>
                <a:path extrusionOk="0" h="4876800" w="23681813">
                  <a:moveTo>
                    <a:pt x="0" y="0"/>
                  </a:moveTo>
                  <a:lnTo>
                    <a:pt x="23681813" y="0"/>
                  </a:lnTo>
                  <a:lnTo>
                    <a:pt x="23681813" y="4876800"/>
                  </a:lnTo>
                  <a:lnTo>
                    <a:pt x="0" y="4876800"/>
                  </a:lnTo>
                  <a:close/>
                </a:path>
              </a:pathLst>
            </a:custGeom>
            <a:blipFill rotWithShape="1">
              <a:blip r:embed="rId4">
                <a:alphaModFix amt="0"/>
              </a:blip>
              <a:stretch>
                <a:fillRect b="-32806" l="0" r="12478" t="-32808"/>
              </a:stretch>
            </a:blipFill>
            <a:ln>
              <a:noFill/>
            </a:ln>
          </p:spPr>
        </p:sp>
        <p:sp>
          <p:nvSpPr>
            <p:cNvPr id="667" name="Google Shape;667;p19"/>
            <p:cNvSpPr txBox="1"/>
            <p:nvPr/>
          </p:nvSpPr>
          <p:spPr>
            <a:xfrm>
              <a:off x="0" y="-104775"/>
              <a:ext cx="23681813" cy="4981575"/>
            </a:xfrm>
            <a:prstGeom prst="rect">
              <a:avLst/>
            </a:prstGeom>
            <a:noFill/>
            <a:ln>
              <a:noFill/>
            </a:ln>
          </p:spPr>
          <p:txBody>
            <a:bodyPr anchorCtr="0" anchor="ctr" bIns="0" lIns="0" spcFirstLastPara="1" rIns="0" wrap="square" tIns="0">
              <a:noAutofit/>
            </a:bodyPr>
            <a:lstStyle/>
            <a:p>
              <a:pPr indent="0" lvl="0" marL="0" marR="0" rtl="0" algn="ctr">
                <a:lnSpc>
                  <a:spcPct val="132000"/>
                </a:lnSpc>
                <a:spcBef>
                  <a:spcPts val="0"/>
                </a:spcBef>
                <a:spcAft>
                  <a:spcPts val="0"/>
                </a:spcAft>
                <a:buNone/>
              </a:pPr>
              <a:r>
                <a:rPr b="1" i="0" lang="en-US" sz="9600" u="none" cap="none" strike="noStrike">
                  <a:solidFill>
                    <a:srgbClr val="FFFFFF"/>
                  </a:solidFill>
                  <a:latin typeface="Montserrat"/>
                  <a:ea typeface="Montserrat"/>
                  <a:cs typeface="Montserrat"/>
                  <a:sym typeface="Montserrat"/>
                </a:rPr>
                <a:t>Thank you</a:t>
              </a:r>
              <a:endParaRPr/>
            </a:p>
          </p:txBody>
        </p:sp>
      </p:grpSp>
      <p:sp>
        <p:nvSpPr>
          <p:cNvPr id="668" name="Google Shape;668;p19"/>
          <p:cNvSpPr/>
          <p:nvPr/>
        </p:nvSpPr>
        <p:spPr>
          <a:xfrm>
            <a:off x="6907696" y="4469232"/>
            <a:ext cx="4472609" cy="4114800"/>
          </a:xfrm>
          <a:custGeom>
            <a:rect b="b" l="l" r="r" t="t"/>
            <a:pathLst>
              <a:path extrusionOk="0" h="4114800" w="4472609">
                <a:moveTo>
                  <a:pt x="0" y="0"/>
                </a:moveTo>
                <a:lnTo>
                  <a:pt x="4472608" y="0"/>
                </a:lnTo>
                <a:lnTo>
                  <a:pt x="4472608" y="4114800"/>
                </a:lnTo>
                <a:lnTo>
                  <a:pt x="0" y="4114800"/>
                </a:lnTo>
                <a:lnTo>
                  <a:pt x="0" y="0"/>
                </a:lnTo>
                <a:close/>
              </a:path>
            </a:pathLst>
          </a:custGeom>
          <a:blipFill rotWithShape="1">
            <a:blip r:embed="rId5">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